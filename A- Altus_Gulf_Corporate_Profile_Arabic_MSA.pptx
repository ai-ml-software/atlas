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الزيارات (مليون)</c:v>
                </c:pt>
              </c:strCache>
            </c:strRef>
          </c:tx>
          <c:spPr>
            <a:solidFill>
              <a:srgbClr val="C9A15A"/>
            </a:solidFill>
            <a:effectLst/>
          </c:spPr>
          <c:invertIfNegative val="0"/>
          <c:dPt>
            <c:idx val="0"/>
            <c:invertIfNegative val="0"/>
            <c:bubble3D val="0"/>
            <c:extLst>
              <c:ext xmlns:c16="http://schemas.microsoft.com/office/drawing/2014/chart" uri="{C3380CC4-5D6E-409C-BE32-E72D297353CC}">
                <c16:uniqueId val="{00000001-A359-4A12-9AA8-9C0E72032586}"/>
              </c:ext>
            </c:extLst>
          </c:dPt>
          <c:dPt>
            <c:idx val="1"/>
            <c:invertIfNegative val="0"/>
            <c:bubble3D val="0"/>
            <c:spPr>
              <a:solidFill>
                <a:srgbClr val="0F5C42"/>
              </a:solidFill>
              <a:effectLst/>
            </c:spPr>
            <c:extLst>
              <c:ext xmlns:c16="http://schemas.microsoft.com/office/drawing/2014/chart" uri="{C3380CC4-5D6E-409C-BE32-E72D297353CC}">
                <c16:uniqueId val="{00000003-A359-4A12-9AA8-9C0E72032586}"/>
              </c:ext>
            </c:extLst>
          </c:dPt>
          <c:dPt>
            <c:idx val="2"/>
            <c:invertIfNegative val="0"/>
            <c:bubble3D val="0"/>
            <c:spPr>
              <a:solidFill>
                <a:srgbClr val="13273A"/>
              </a:solidFill>
              <a:effectLst/>
            </c:spPr>
            <c:extLst>
              <c:ext xmlns:c16="http://schemas.microsoft.com/office/drawing/2014/chart" uri="{C3380CC4-5D6E-409C-BE32-E72D297353CC}">
                <c16:uniqueId val="{00000005-A359-4A12-9AA8-9C0E72032586}"/>
              </c:ext>
            </c:extLst>
          </c:dPt>
          <c:dPt>
            <c:idx val="3"/>
            <c:invertIfNegative val="0"/>
            <c:bubble3D val="0"/>
            <c:spPr>
              <a:solidFill>
                <a:srgbClr val="13273A"/>
              </a:solidFill>
              <a:effectLst/>
            </c:spPr>
            <c:extLst>
              <c:ext xmlns:c16="http://schemas.microsoft.com/office/drawing/2014/chart" uri="{C3380CC4-5D6E-409C-BE32-E72D297353CC}">
                <c16:uniqueId val="{00000007-A359-4A12-9AA8-9C0E72032586}"/>
              </c:ext>
            </c:extLst>
          </c:dPt>
          <c:dPt>
            <c:idx val="4"/>
            <c:invertIfNegative val="0"/>
            <c:bubble3D val="0"/>
            <c:spPr>
              <a:solidFill>
                <a:srgbClr val="13273A"/>
              </a:solidFill>
              <a:effectLst/>
            </c:spPr>
            <c:extLst>
              <c:ext xmlns:c16="http://schemas.microsoft.com/office/drawing/2014/chart" uri="{C3380CC4-5D6E-409C-BE32-E72D297353CC}">
                <c16:uniqueId val="{00000009-A359-4A12-9AA8-9C0E72032586}"/>
              </c:ext>
            </c:extLst>
          </c:dPt>
          <c:dLbls>
            <c:numFmt formatCode="#,##0" sourceLinked="0"/>
            <c:spPr>
              <a:noFill/>
              <a:ln>
                <a:noFill/>
              </a:ln>
              <a:effectLst/>
            </c:spPr>
            <c:txPr>
              <a:bodyPr/>
              <a:lstStyle/>
              <a:p>
                <a:pPr>
                  <a:defRPr sz="900" b="1" i="0" u="none" strike="noStrike">
                    <a:solidFill>
                      <a:srgbClr val="0B1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مستهدف 2030</c:v>
                </c:pt>
                <c:pt idx="1">
                  <c:v>2025</c:v>
                </c:pt>
                <c:pt idx="2">
                  <c:v>2024</c:v>
                </c:pt>
                <c:pt idx="3">
                  <c:v>2023</c:v>
                </c:pt>
                <c:pt idx="4">
                  <c:v>2022</c:v>
                </c:pt>
              </c:strCache>
            </c:strRef>
          </c:cat>
          <c:val>
            <c:numRef>
              <c:f>Sheet1!$B$2:$B$6</c:f>
              <c:numCache>
                <c:formatCode>General</c:formatCode>
                <c:ptCount val="5"/>
                <c:pt idx="0">
                  <c:v>150</c:v>
                </c:pt>
                <c:pt idx="1">
                  <c:v>122</c:v>
                </c:pt>
                <c:pt idx="2">
                  <c:v>116</c:v>
                </c:pt>
                <c:pt idx="3">
                  <c:v>106</c:v>
                </c:pt>
                <c:pt idx="4">
                  <c:v>94</c:v>
                </c:pt>
              </c:numCache>
            </c:numRef>
          </c:val>
          <c:extLst>
            <c:ext xmlns:c16="http://schemas.microsoft.com/office/drawing/2014/chart" uri="{C3380CC4-5D6E-409C-BE32-E72D297353CC}">
              <c16:uniqueId val="{0000000A-A359-4A12-9AA8-9C0E7203258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4DDCB"/>
            </a:solidFill>
            <a:prstDash val="solid"/>
            <a:round/>
          </a:ln>
        </c:spPr>
        <c:txPr>
          <a:bodyPr/>
          <a:lstStyle/>
          <a:p>
            <a:pPr>
              <a:defRPr sz="900" b="0" i="0" u="none" strike="noStrike">
                <a:solidFill>
                  <a:srgbClr val="6B675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الغرف (بالآلاف)</c:v>
                </c:pt>
              </c:strCache>
            </c:strRef>
          </c:tx>
          <c:spPr>
            <a:solidFill>
              <a:srgbClr val="13273A"/>
            </a:solidFill>
            <a:effectLst/>
          </c:spPr>
          <c:invertIfNegative val="0"/>
          <c:dPt>
            <c:idx val="0"/>
            <c:invertIfNegative val="0"/>
            <c:bubble3D val="0"/>
            <c:extLst>
              <c:ext xmlns:c16="http://schemas.microsoft.com/office/drawing/2014/chart" uri="{C3380CC4-5D6E-409C-BE32-E72D297353CC}">
                <c16:uniqueId val="{00000001-27FA-4ED1-B3EE-501867A5711D}"/>
              </c:ext>
            </c:extLst>
          </c:dPt>
          <c:dPt>
            <c:idx val="1"/>
            <c:invertIfNegative val="0"/>
            <c:bubble3D val="0"/>
            <c:spPr>
              <a:solidFill>
                <a:srgbClr val="0F5C42"/>
              </a:solidFill>
              <a:effectLst/>
            </c:spPr>
            <c:extLst>
              <c:ext xmlns:c16="http://schemas.microsoft.com/office/drawing/2014/chart" uri="{C3380CC4-5D6E-409C-BE32-E72D297353CC}">
                <c16:uniqueId val="{00000003-27FA-4ED1-B3EE-501867A5711D}"/>
              </c:ext>
            </c:extLst>
          </c:dPt>
          <c:dPt>
            <c:idx val="2"/>
            <c:invertIfNegative val="0"/>
            <c:bubble3D val="0"/>
            <c:spPr>
              <a:solidFill>
                <a:srgbClr val="C9A15A"/>
              </a:solidFill>
              <a:effectLst/>
            </c:spPr>
            <c:extLst>
              <c:ext xmlns:c16="http://schemas.microsoft.com/office/drawing/2014/chart" uri="{C3380CC4-5D6E-409C-BE32-E72D297353CC}">
                <c16:uniqueId val="{00000005-27FA-4ED1-B3EE-501867A5711D}"/>
              </c:ext>
            </c:extLst>
          </c:dPt>
          <c:dLbls>
            <c:numFmt formatCode="#,##0" sourceLinked="0"/>
            <c:spPr>
              <a:noFill/>
              <a:ln>
                <a:noFill/>
              </a:ln>
              <a:effectLst/>
            </c:spPr>
            <c:txPr>
              <a:bodyPr/>
              <a:lstStyle/>
              <a:p>
                <a:pPr>
                  <a:defRPr sz="900" b="1" i="0" u="none" strike="noStrike">
                    <a:solidFill>
                      <a:srgbClr val="0B1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المخزون القائم (الربع الأول 2025)</c:v>
                </c:pt>
                <c:pt idx="1">
                  <c:v>قيد الإنشاء / التخطيط</c:v>
                </c:pt>
                <c:pt idx="2">
                  <c:v>الإجمالي المتوقع بحلول 2030</c:v>
                </c:pt>
              </c:strCache>
            </c:strRef>
          </c:cat>
          <c:val>
            <c:numRef>
              <c:f>Sheet1!$B$2:$B$4</c:f>
              <c:numCache>
                <c:formatCode>General</c:formatCode>
                <c:ptCount val="3"/>
                <c:pt idx="0">
                  <c:v>168</c:v>
                </c:pt>
                <c:pt idx="1">
                  <c:v>100</c:v>
                </c:pt>
                <c:pt idx="2">
                  <c:v>362</c:v>
                </c:pt>
              </c:numCache>
            </c:numRef>
          </c:val>
          <c:extLst>
            <c:ext xmlns:c16="http://schemas.microsoft.com/office/drawing/2014/chart" uri="{C3380CC4-5D6E-409C-BE32-E72D297353CC}">
              <c16:uniqueId val="{00000006-27FA-4ED1-B3EE-501867A5711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r"/>
        <c:numFmt formatCode="General" sourceLinked="1"/>
        <c:majorTickMark val="out"/>
        <c:minorTickMark val="none"/>
        <c:tickLblPos val="nextTo"/>
        <c:spPr>
          <a:ln w="12700" cap="flat">
            <a:solidFill>
              <a:srgbClr val="E4DDCB"/>
            </a:solidFill>
            <a:prstDash val="solid"/>
            <a:round/>
          </a:ln>
        </c:spPr>
        <c:txPr>
          <a:bodyPr/>
          <a:lstStyle/>
          <a:p>
            <a:pPr>
              <a:defRPr sz="850" b="0" i="0" u="none" strike="noStrike">
                <a:solidFill>
                  <a:srgbClr val="6B675F"/>
                </a:solidFill>
                <a:latin typeface="Arial"/>
              </a:defRPr>
            </a:pPr>
            <a:endParaRPr lang="en-US"/>
          </a:p>
        </c:txPr>
        <c:crossAx val="2094734552"/>
        <c:crosses val="autoZero"/>
        <c:auto val="1"/>
        <c:lblAlgn val="ctr"/>
        <c:lblOffset val="100"/>
        <c:noMultiLvlLbl val="1"/>
      </c:catAx>
      <c:valAx>
        <c:axId val="2094734552"/>
        <c:scaling>
          <c:orientation val="maxMin"/>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01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 Id="rId14" Type="http://schemas.openxmlformats.org/officeDocument/2006/relationships/image" Target="../media/image3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6.pn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3.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1.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4.png"/><Relationship Id="rId7"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7.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jpg"/><Relationship Id="rId10" Type="http://schemas.openxmlformats.org/officeDocument/2006/relationships/image" Target="../media/image52.png"/><Relationship Id="rId4" Type="http://schemas.openxmlformats.org/officeDocument/2006/relationships/image" Target="../media/image3.jp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pic>
        <p:nvPicPr>
          <p:cNvPr id="2" name="Image 0" descr="/home/claude/assets/icons/compass.png"/>
          <p:cNvPicPr>
            <a:picLocks noChangeAspect="1"/>
          </p:cNvPicPr>
          <p:nvPr/>
        </p:nvPicPr>
        <p:blipFill>
          <a:blip r:embed="rId3"/>
          <a:stretch>
            <a:fillRect/>
          </a:stretch>
        </p:blipFill>
        <p:spPr>
          <a:xfrm>
            <a:off x="-4663440" y="0"/>
            <a:ext cx="91440" cy="91440"/>
          </a:xfrm>
          <a:prstGeom prst="rect">
            <a:avLst/>
          </a:prstGeom>
        </p:spPr>
      </p:pic>
      <p:sp>
        <p:nvSpPr>
          <p:cNvPr id="3" name="Text 0"/>
          <p:cNvSpPr/>
          <p:nvPr/>
        </p:nvSpPr>
        <p:spPr>
          <a:xfrm>
            <a:off x="502920" y="1051560"/>
            <a:ext cx="6556248" cy="274320"/>
          </a:xfrm>
          <a:prstGeom prst="rect">
            <a:avLst/>
          </a:prstGeom>
          <a:noFill/>
          <a:ln/>
        </p:spPr>
        <p:txBody>
          <a:bodyPr wrap="square" rtlCol="0" anchor="ctr"/>
          <a:lstStyle/>
          <a:p>
            <a:pPr marL="0" indent="0" algn="ctr" rtl="1">
              <a:lnSpc>
                <a:spcPct val="98000"/>
              </a:lnSpc>
              <a:buNone/>
            </a:pPr>
            <a:r>
              <a:rPr lang="ar-SA" altLang="en-US" sz="1130" b="1" dirty="0">
                <a:solidFill>
                  <a:srgbClr val="C1501D"/>
                </a:solidFill>
                <a:latin typeface="Arial" pitchFamily="34" charset="0"/>
                <a:ea typeface="Arial" pitchFamily="34" charset="-122"/>
                <a:cs typeface="Arial" pitchFamily="34" charset="-120"/>
              </a:rPr>
              <a:t>الاستشارات الاستراتيجية واستشارات الأعمال</a:t>
            </a:r>
            <a:endParaRPr lang="ar-SA" sz="1130" dirty="0"/>
          </a:p>
        </p:txBody>
      </p:sp>
      <p:pic>
        <p:nvPicPr>
          <p:cNvPr id="4" name="Image 1" descr="/home/claude/assets/logo_transparent.png"/>
          <p:cNvPicPr>
            <a:picLocks noChangeAspect="1"/>
          </p:cNvPicPr>
          <p:nvPr/>
        </p:nvPicPr>
        <p:blipFill>
          <a:blip r:embed="rId4"/>
          <a:stretch>
            <a:fillRect/>
          </a:stretch>
        </p:blipFill>
        <p:spPr>
          <a:xfrm>
            <a:off x="2363724" y="1554480"/>
            <a:ext cx="2834640" cy="1889790"/>
          </a:xfrm>
          <a:prstGeom prst="rect">
            <a:avLst/>
          </a:prstGeom>
        </p:spPr>
      </p:pic>
      <p:sp>
        <p:nvSpPr>
          <p:cNvPr id="5" name="Shape 1"/>
          <p:cNvSpPr/>
          <p:nvPr/>
        </p:nvSpPr>
        <p:spPr>
          <a:xfrm>
            <a:off x="2775204" y="4160520"/>
            <a:ext cx="2011680" cy="0"/>
          </a:xfrm>
          <a:prstGeom prst="line">
            <a:avLst/>
          </a:prstGeom>
          <a:noFill/>
          <a:ln w="12700">
            <a:solidFill>
              <a:srgbClr val="C9A15A"/>
            </a:solidFill>
            <a:prstDash val="solid"/>
          </a:ln>
        </p:spPr>
      </p:sp>
      <p:sp>
        <p:nvSpPr>
          <p:cNvPr id="6" name="Shape 2"/>
          <p:cNvSpPr/>
          <p:nvPr/>
        </p:nvSpPr>
        <p:spPr>
          <a:xfrm>
            <a:off x="3749040" y="4128516"/>
            <a:ext cx="64008" cy="64008"/>
          </a:xfrm>
          <a:prstGeom prst="ellipse">
            <a:avLst/>
          </a:prstGeom>
          <a:solidFill>
            <a:srgbClr val="C1501D"/>
          </a:solidFill>
          <a:ln/>
        </p:spPr>
      </p:sp>
      <p:sp>
        <p:nvSpPr>
          <p:cNvPr id="7" name="Text 3"/>
          <p:cNvSpPr/>
          <p:nvPr/>
        </p:nvSpPr>
        <p:spPr>
          <a:xfrm>
            <a:off x="502920" y="4434840"/>
            <a:ext cx="6556248" cy="502920"/>
          </a:xfrm>
          <a:prstGeom prst="rect">
            <a:avLst/>
          </a:prstGeom>
          <a:noFill/>
          <a:ln/>
        </p:spPr>
        <p:txBody>
          <a:bodyPr wrap="square" rtlCol="0" anchor="ctr"/>
          <a:lstStyle/>
          <a:p>
            <a:pPr marL="0" indent="0" algn="ctr" rtl="1">
              <a:lnSpc>
                <a:spcPct val="98000"/>
              </a:lnSpc>
              <a:buNone/>
            </a:pPr>
            <a:r>
              <a:rPr lang="ar-SA" altLang="en-US" sz="3300" dirty="0">
                <a:solidFill>
                  <a:srgbClr val="FFFFFF"/>
                </a:solidFill>
                <a:latin typeface="Arial" pitchFamily="34" charset="0"/>
                <a:ea typeface="Arial" pitchFamily="34" charset="-122"/>
                <a:cs typeface="Arial" pitchFamily="34" charset="-120"/>
              </a:rPr>
              <a:t>الملف التعريفي للشركة</a:t>
            </a:r>
            <a:endParaRPr lang="ar-SA" sz="3300" dirty="0"/>
          </a:p>
        </p:txBody>
      </p:sp>
      <p:sp>
        <p:nvSpPr>
          <p:cNvPr id="8" name="Text 4"/>
          <p:cNvSpPr/>
          <p:nvPr/>
        </p:nvSpPr>
        <p:spPr>
          <a:xfrm>
            <a:off x="502920" y="4983480"/>
            <a:ext cx="6556248" cy="274320"/>
          </a:xfrm>
          <a:prstGeom prst="rect">
            <a:avLst/>
          </a:prstGeom>
          <a:noFill/>
          <a:ln/>
        </p:spPr>
        <p:txBody>
          <a:bodyPr wrap="square" rtlCol="0" anchor="ctr"/>
          <a:lstStyle/>
          <a:p>
            <a:pPr marL="0" indent="0" algn="ctr" rtl="1">
              <a:lnSpc>
                <a:spcPct val="98000"/>
              </a:lnSpc>
              <a:buNone/>
            </a:pPr>
            <a:r>
              <a:rPr lang="ar-SA" altLang="en-US" sz="1130" dirty="0">
                <a:solidFill>
                  <a:srgbClr val="B9C3CC"/>
                </a:solidFill>
                <a:latin typeface="Arial" pitchFamily="34" charset="0"/>
                <a:ea typeface="Arial" pitchFamily="34" charset="-122"/>
                <a:cs typeface="Arial" pitchFamily="34" charset="-120"/>
              </a:rPr>
              <a:t>إصدار 2026</a:t>
            </a:r>
            <a:endParaRPr lang="ar-SA" sz="1130" dirty="0"/>
          </a:p>
        </p:txBody>
      </p:sp>
      <p:sp>
        <p:nvSpPr>
          <p:cNvPr id="9" name="Text 5"/>
          <p:cNvSpPr/>
          <p:nvPr/>
        </p:nvSpPr>
        <p:spPr>
          <a:xfrm>
            <a:off x="822960" y="5532120"/>
            <a:ext cx="5916168" cy="777240"/>
          </a:xfrm>
          <a:prstGeom prst="rect">
            <a:avLst/>
          </a:prstGeom>
          <a:noFill/>
          <a:ln/>
        </p:spPr>
        <p:txBody>
          <a:bodyPr wrap="square" rtlCol="0" anchor="ctr"/>
          <a:lstStyle/>
          <a:p>
            <a:pPr marL="0" indent="0" algn="ctr" rtl="1">
              <a:lnSpc>
                <a:spcPct val="127400"/>
              </a:lnSpc>
              <a:buNone/>
            </a:pPr>
            <a:r>
              <a:rPr lang="ar-SA" altLang="en-US" sz="1490" dirty="0">
                <a:solidFill>
                  <a:srgbClr val="E4C98A"/>
                </a:solidFill>
                <a:latin typeface="Arial" pitchFamily="34" charset="0"/>
                <a:ea typeface="Arial" pitchFamily="34" charset="-122"/>
                <a:cs typeface="Arial" pitchFamily="34" charset="-120"/>
              </a:rPr>
              <a:t>“المستقبل لمن يستعدّ له.
نحن لا نكتفي بمواكبة السوق، بل نُسهم في صياغته.”</a:t>
            </a:r>
            <a:endParaRPr lang="ar-SA" sz="1490" dirty="0"/>
          </a:p>
        </p:txBody>
      </p:sp>
      <p:sp>
        <p:nvSpPr>
          <p:cNvPr id="10" name="Text 6"/>
          <p:cNvSpPr/>
          <p:nvPr/>
        </p:nvSpPr>
        <p:spPr>
          <a:xfrm>
            <a:off x="914400" y="6537960"/>
            <a:ext cx="5733288" cy="548640"/>
          </a:xfrm>
          <a:prstGeom prst="rect">
            <a:avLst/>
          </a:prstGeom>
          <a:noFill/>
          <a:ln/>
        </p:spPr>
        <p:txBody>
          <a:bodyPr wrap="square" rtlCol="0" anchor="ctr"/>
          <a:lstStyle/>
          <a:p>
            <a:pPr marL="0" indent="0" algn="ctr" rtl="1">
              <a:lnSpc>
                <a:spcPct val="117600"/>
              </a:lnSpc>
              <a:buNone/>
            </a:pPr>
            <a:r>
              <a:rPr lang="ar-SA" altLang="en-US" sz="1130" dirty="0">
                <a:solidFill>
                  <a:srgbClr val="B9C3CC"/>
                </a:solidFill>
                <a:latin typeface="Arial" pitchFamily="34" charset="0"/>
                <a:ea typeface="Arial" pitchFamily="34" charset="-122"/>
                <a:cs typeface="Arial" pitchFamily="34" charset="-120"/>
              </a:rPr>
              <a:t>بيت خبرة استراتيجي متخصص يعمل عند نقطة التقاء عمليات الضيافة بذكاء الأعمال التطبيقي، ومصمَّم لعقد المملكة المقبل.</a:t>
            </a:r>
            <a:endParaRPr lang="ar-SA" sz="1130" dirty="0"/>
          </a:p>
        </p:txBody>
      </p:sp>
      <p:sp>
        <p:nvSpPr>
          <p:cNvPr id="11" name="Text 7"/>
          <p:cNvSpPr/>
          <p:nvPr/>
        </p:nvSpPr>
        <p:spPr>
          <a:xfrm>
            <a:off x="5420106" y="7315200"/>
            <a:ext cx="1639062" cy="457200"/>
          </a:xfrm>
          <a:prstGeom prst="rect">
            <a:avLst/>
          </a:prstGeom>
          <a:noFill/>
          <a:ln/>
        </p:spPr>
        <p:txBody>
          <a:bodyPr wrap="square" rtlCol="0" anchor="ctr"/>
          <a:lstStyle/>
          <a:p>
            <a:pPr marL="0" indent="0" algn="ctr">
              <a:buNone/>
            </a:pPr>
            <a:r>
              <a:rPr lang="en-US" sz="2600" dirty="0">
                <a:solidFill>
                  <a:srgbClr val="E4C98A"/>
                </a:solidFill>
                <a:latin typeface="Arial" pitchFamily="34" charset="0"/>
                <a:ea typeface="Arial" pitchFamily="34" charset="-122"/>
                <a:cs typeface="Arial" pitchFamily="34" charset="-120"/>
              </a:rPr>
              <a:t>60+</a:t>
            </a:r>
            <a:endParaRPr lang="en-US" sz="2600" dirty="0"/>
          </a:p>
        </p:txBody>
      </p:sp>
      <p:sp>
        <p:nvSpPr>
          <p:cNvPr id="12" name="Text 8"/>
          <p:cNvSpPr/>
          <p:nvPr/>
        </p:nvSpPr>
        <p:spPr>
          <a:xfrm>
            <a:off x="5465826" y="7772400"/>
            <a:ext cx="1547622" cy="365760"/>
          </a:xfrm>
          <a:prstGeom prst="rect">
            <a:avLst/>
          </a:prstGeom>
          <a:noFill/>
          <a:ln/>
        </p:spPr>
        <p:txBody>
          <a:bodyPr wrap="square" rtlCol="0" anchor="ctr"/>
          <a:lstStyle/>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سنوات خبرة قيادية</a:t>
            </a:r>
            <a:endParaRPr lang="ar-SA" sz="880" dirty="0"/>
          </a:p>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مجتمعة</a:t>
            </a:r>
            <a:endParaRPr lang="ar-SA" sz="880" dirty="0"/>
          </a:p>
        </p:txBody>
      </p:sp>
      <p:sp>
        <p:nvSpPr>
          <p:cNvPr id="13" name="Shape 9"/>
          <p:cNvSpPr/>
          <p:nvPr/>
        </p:nvSpPr>
        <p:spPr>
          <a:xfrm>
            <a:off x="5420106" y="7360920"/>
            <a:ext cx="0" cy="777240"/>
          </a:xfrm>
          <a:prstGeom prst="line">
            <a:avLst/>
          </a:prstGeom>
          <a:noFill/>
          <a:ln w="9525">
            <a:solidFill>
              <a:srgbClr val="2A3B4C"/>
            </a:solidFill>
            <a:prstDash val="solid"/>
          </a:ln>
        </p:spPr>
      </p:sp>
      <p:sp>
        <p:nvSpPr>
          <p:cNvPr id="14" name="Text 10"/>
          <p:cNvSpPr/>
          <p:nvPr/>
        </p:nvSpPr>
        <p:spPr>
          <a:xfrm>
            <a:off x="3781044" y="7315200"/>
            <a:ext cx="1639062" cy="457200"/>
          </a:xfrm>
          <a:prstGeom prst="rect">
            <a:avLst/>
          </a:prstGeom>
          <a:noFill/>
          <a:ln/>
        </p:spPr>
        <p:txBody>
          <a:bodyPr wrap="square" rtlCol="0" anchor="ctr"/>
          <a:lstStyle/>
          <a:p>
            <a:pPr marL="0" indent="0" algn="ctr">
              <a:buNone/>
            </a:pPr>
            <a:r>
              <a:rPr lang="en-US" sz="2600" dirty="0">
                <a:solidFill>
                  <a:srgbClr val="E4C98A"/>
                </a:solidFill>
                <a:latin typeface="Arial" pitchFamily="34" charset="0"/>
                <a:ea typeface="Arial" pitchFamily="34" charset="-122"/>
                <a:cs typeface="Arial" pitchFamily="34" charset="-120"/>
              </a:rPr>
              <a:t>2</a:t>
            </a:r>
            <a:endParaRPr lang="en-US" sz="2600" dirty="0"/>
          </a:p>
        </p:txBody>
      </p:sp>
      <p:sp>
        <p:nvSpPr>
          <p:cNvPr id="15" name="Text 11"/>
          <p:cNvSpPr/>
          <p:nvPr/>
        </p:nvSpPr>
        <p:spPr>
          <a:xfrm>
            <a:off x="3826764" y="7772400"/>
            <a:ext cx="1547622" cy="365760"/>
          </a:xfrm>
          <a:prstGeom prst="rect">
            <a:avLst/>
          </a:prstGeom>
          <a:noFill/>
          <a:ln/>
        </p:spPr>
        <p:txBody>
          <a:bodyPr wrap="square" rtlCol="0" anchor="ctr"/>
          <a:lstStyle/>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قسمان</a:t>
            </a:r>
            <a:endParaRPr lang="ar-SA" sz="880" dirty="0"/>
          </a:p>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متكاملان</a:t>
            </a:r>
            <a:endParaRPr lang="ar-SA" sz="880" dirty="0"/>
          </a:p>
        </p:txBody>
      </p:sp>
      <p:sp>
        <p:nvSpPr>
          <p:cNvPr id="16" name="Shape 12"/>
          <p:cNvSpPr/>
          <p:nvPr/>
        </p:nvSpPr>
        <p:spPr>
          <a:xfrm>
            <a:off x="3781044" y="7360920"/>
            <a:ext cx="0" cy="777240"/>
          </a:xfrm>
          <a:prstGeom prst="line">
            <a:avLst/>
          </a:prstGeom>
          <a:noFill/>
          <a:ln w="9525">
            <a:solidFill>
              <a:srgbClr val="2A3B4C"/>
            </a:solidFill>
            <a:prstDash val="solid"/>
          </a:ln>
        </p:spPr>
      </p:sp>
      <p:sp>
        <p:nvSpPr>
          <p:cNvPr id="17" name="Text 13"/>
          <p:cNvSpPr/>
          <p:nvPr/>
        </p:nvSpPr>
        <p:spPr>
          <a:xfrm>
            <a:off x="2141982" y="7315200"/>
            <a:ext cx="1639062" cy="457200"/>
          </a:xfrm>
          <a:prstGeom prst="rect">
            <a:avLst/>
          </a:prstGeom>
          <a:noFill/>
          <a:ln/>
        </p:spPr>
        <p:txBody>
          <a:bodyPr wrap="square" rtlCol="0" anchor="ctr"/>
          <a:lstStyle/>
          <a:p>
            <a:pPr marL="0" indent="0" algn="ctr">
              <a:buNone/>
            </a:pPr>
            <a:r>
              <a:rPr lang="en-US" sz="2600" dirty="0">
                <a:solidFill>
                  <a:srgbClr val="E4C98A"/>
                </a:solidFill>
                <a:latin typeface="Arial" pitchFamily="34" charset="0"/>
                <a:ea typeface="Arial" pitchFamily="34" charset="-122"/>
                <a:cs typeface="Arial" pitchFamily="34" charset="-120"/>
              </a:rPr>
              <a:t>12</a:t>
            </a:r>
            <a:endParaRPr lang="en-US" sz="2600" dirty="0"/>
          </a:p>
        </p:txBody>
      </p:sp>
      <p:sp>
        <p:nvSpPr>
          <p:cNvPr id="18" name="Text 14"/>
          <p:cNvSpPr/>
          <p:nvPr/>
        </p:nvSpPr>
        <p:spPr>
          <a:xfrm>
            <a:off x="2187702" y="7772400"/>
            <a:ext cx="1547622" cy="365760"/>
          </a:xfrm>
          <a:prstGeom prst="rect">
            <a:avLst/>
          </a:prstGeom>
          <a:noFill/>
          <a:ln/>
        </p:spPr>
        <p:txBody>
          <a:bodyPr wrap="square" rtlCol="0" anchor="ctr"/>
          <a:lstStyle/>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قطاعًا</a:t>
            </a:r>
            <a:endParaRPr lang="ar-SA" sz="880" dirty="0"/>
          </a:p>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نخدمه</a:t>
            </a:r>
            <a:endParaRPr lang="ar-SA" sz="880" dirty="0"/>
          </a:p>
        </p:txBody>
      </p:sp>
      <p:sp>
        <p:nvSpPr>
          <p:cNvPr id="19" name="Shape 15"/>
          <p:cNvSpPr/>
          <p:nvPr/>
        </p:nvSpPr>
        <p:spPr>
          <a:xfrm>
            <a:off x="2141982" y="7360920"/>
            <a:ext cx="0" cy="777240"/>
          </a:xfrm>
          <a:prstGeom prst="line">
            <a:avLst/>
          </a:prstGeom>
          <a:noFill/>
          <a:ln w="9525">
            <a:solidFill>
              <a:srgbClr val="2A3B4C"/>
            </a:solidFill>
            <a:prstDash val="solid"/>
          </a:ln>
        </p:spPr>
      </p:sp>
      <p:sp>
        <p:nvSpPr>
          <p:cNvPr id="20" name="Text 16"/>
          <p:cNvSpPr/>
          <p:nvPr/>
        </p:nvSpPr>
        <p:spPr>
          <a:xfrm>
            <a:off x="502920" y="7315200"/>
            <a:ext cx="1639062" cy="457200"/>
          </a:xfrm>
          <a:prstGeom prst="rect">
            <a:avLst/>
          </a:prstGeom>
          <a:noFill/>
          <a:ln/>
        </p:spPr>
        <p:txBody>
          <a:bodyPr wrap="square" rtlCol="0" anchor="ctr"/>
          <a:lstStyle/>
          <a:p>
            <a:pPr marL="0" indent="0" algn="ctr">
              <a:buNone/>
            </a:pPr>
            <a:r>
              <a:rPr lang="en-US" sz="2600" dirty="0">
                <a:solidFill>
                  <a:srgbClr val="E4C98A"/>
                </a:solidFill>
                <a:latin typeface="Arial" pitchFamily="34" charset="0"/>
                <a:ea typeface="Arial" pitchFamily="34" charset="-122"/>
                <a:cs typeface="Arial" pitchFamily="34" charset="-120"/>
              </a:rPr>
              <a:t>1</a:t>
            </a:r>
            <a:endParaRPr lang="en-US" sz="2600" dirty="0"/>
          </a:p>
        </p:txBody>
      </p:sp>
      <p:sp>
        <p:nvSpPr>
          <p:cNvPr id="21" name="Text 17"/>
          <p:cNvSpPr/>
          <p:nvPr/>
        </p:nvSpPr>
        <p:spPr>
          <a:xfrm>
            <a:off x="548640" y="7772400"/>
            <a:ext cx="1547622" cy="365760"/>
          </a:xfrm>
          <a:prstGeom prst="rect">
            <a:avLst/>
          </a:prstGeom>
          <a:noFill/>
          <a:ln/>
        </p:spPr>
        <p:txBody>
          <a:bodyPr wrap="square" rtlCol="0" anchor="ctr"/>
          <a:lstStyle/>
          <a:p>
            <a:pPr marL="0" indent="0" algn="ctr" rtl="1">
              <a:lnSpc>
                <a:spcPct val="102900"/>
              </a:lnSpc>
              <a:buNone/>
            </a:pPr>
            <a:r>
              <a:rPr lang="ar-SA" altLang="en-US" sz="880" dirty="0">
                <a:solidFill>
                  <a:srgbClr val="B9C3CC"/>
                </a:solidFill>
                <a:latin typeface="Arial" pitchFamily="34" charset="0"/>
                <a:ea typeface="Arial" pitchFamily="34" charset="-122"/>
                <a:cs typeface="Arial" pitchFamily="34" charset="-120"/>
              </a:rPr>
              <a:t>منصة خاصة بالشركة</a:t>
            </a:r>
            <a:endParaRPr lang="ar-SA" sz="880" dirty="0"/>
          </a:p>
        </p:txBody>
      </p:sp>
      <p:sp>
        <p:nvSpPr>
          <p:cNvPr id="22" name="Text 18"/>
          <p:cNvSpPr/>
          <p:nvPr/>
        </p:nvSpPr>
        <p:spPr>
          <a:xfrm>
            <a:off x="502920" y="8778240"/>
            <a:ext cx="6556248" cy="274320"/>
          </a:xfrm>
          <a:prstGeom prst="rect">
            <a:avLst/>
          </a:prstGeom>
          <a:noFill/>
          <a:ln/>
        </p:spPr>
        <p:txBody>
          <a:bodyPr wrap="square" rtlCol="0" anchor="ctr"/>
          <a:lstStyle/>
          <a:p>
            <a:pPr marL="0" indent="0" algn="ctr" rtl="1">
              <a:lnSpc>
                <a:spcPct val="98000"/>
              </a:lnSpc>
              <a:buNone/>
            </a:pPr>
            <a:r>
              <a:rPr lang="ar-SA" altLang="en-US" sz="1030" b="1" dirty="0">
                <a:solidFill>
                  <a:srgbClr val="C1501D"/>
                </a:solidFill>
                <a:latin typeface="Arial" pitchFamily="34" charset="0"/>
                <a:ea typeface="Arial" pitchFamily="34" charset="-122"/>
                <a:cs typeface="Arial" pitchFamily="34" charset="-120"/>
              </a:rPr>
              <a:t>الرياض  •  المملكة العربية السعودية  •  الخليج والشرق الأوسط وشمال أفريقيا</a:t>
            </a:r>
            <a:endParaRPr lang="ar-SA" sz="1030" dirty="0"/>
          </a:p>
        </p:txBody>
      </p:sp>
      <p:sp>
        <p:nvSpPr>
          <p:cNvPr id="23" name="Text 19"/>
          <p:cNvSpPr/>
          <p:nvPr/>
        </p:nvSpPr>
        <p:spPr>
          <a:xfrm>
            <a:off x="502920" y="9144000"/>
            <a:ext cx="6556248" cy="320040"/>
          </a:xfrm>
          <a:prstGeom prst="rect">
            <a:avLst/>
          </a:prstGeom>
          <a:noFill/>
          <a:ln/>
        </p:spPr>
        <p:txBody>
          <a:bodyPr wrap="square" rtlCol="0" anchor="ctr"/>
          <a:lstStyle/>
          <a:p>
            <a:pPr marL="0" indent="0" algn="ctr" rtl="1">
              <a:lnSpc>
                <a:spcPct val="98000"/>
              </a:lnSpc>
              <a:buNone/>
            </a:pPr>
            <a:r>
              <a:rPr lang="ar-SA" altLang="en-US" sz="1240" dirty="0">
                <a:solidFill>
                  <a:srgbClr val="B9C3CC"/>
                </a:solidFill>
                <a:latin typeface="Arial" pitchFamily="34" charset="0"/>
                <a:ea typeface="Arial" pitchFamily="34" charset="-122"/>
                <a:cs typeface="Arial" pitchFamily="34" charset="-120"/>
              </a:rPr>
              <a:t>الارتقاء بالضيافة وأداء الأعمال</a:t>
            </a:r>
            <a:endParaRPr lang="ar-SA" sz="124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دليل هذا المستند</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المحتويات</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دليل إلى أقسام هذا المستند الخمسة والعشرين، بدءًا من نبذة عن الشركة ومحفظة خدماتها، وصولًا إلى منصتنا الرقمية الخاصة وبيانات السوق والقيادة التنفيذية.</a:t>
            </a:r>
            <a:endParaRPr lang="ar-SA" sz="1180" dirty="0"/>
          </a:p>
        </p:txBody>
      </p:sp>
      <p:sp>
        <p:nvSpPr>
          <p:cNvPr id="5" name="Text 3"/>
          <p:cNvSpPr/>
          <p:nvPr/>
        </p:nvSpPr>
        <p:spPr>
          <a:xfrm>
            <a:off x="6647688" y="224028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01</a:t>
            </a:r>
            <a:endParaRPr lang="en-US" sz="1600" dirty="0"/>
          </a:p>
        </p:txBody>
      </p:sp>
      <p:sp>
        <p:nvSpPr>
          <p:cNvPr id="6" name="Text 4"/>
          <p:cNvSpPr/>
          <p:nvPr/>
        </p:nvSpPr>
        <p:spPr>
          <a:xfrm>
            <a:off x="4087368" y="225856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رسالة من المؤسسين</a:t>
            </a:r>
            <a:endParaRPr lang="ar-SA" sz="1060" dirty="0"/>
          </a:p>
        </p:txBody>
      </p:sp>
      <p:sp>
        <p:nvSpPr>
          <p:cNvPr id="7" name="Text 5"/>
          <p:cNvSpPr/>
          <p:nvPr/>
        </p:nvSpPr>
        <p:spPr>
          <a:xfrm>
            <a:off x="3767328" y="225856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03</a:t>
            </a:r>
            <a:endParaRPr lang="en-US" sz="1030" dirty="0"/>
          </a:p>
        </p:txBody>
      </p:sp>
      <p:sp>
        <p:nvSpPr>
          <p:cNvPr id="8" name="Shape 6"/>
          <p:cNvSpPr/>
          <p:nvPr/>
        </p:nvSpPr>
        <p:spPr>
          <a:xfrm>
            <a:off x="3767328" y="2660904"/>
            <a:ext cx="3291840" cy="0"/>
          </a:xfrm>
          <a:prstGeom prst="line">
            <a:avLst/>
          </a:prstGeom>
          <a:noFill/>
          <a:ln w="6350">
            <a:solidFill>
              <a:srgbClr val="E4DDCB"/>
            </a:solidFill>
            <a:prstDash val="solid"/>
          </a:ln>
        </p:spPr>
      </p:sp>
      <p:sp>
        <p:nvSpPr>
          <p:cNvPr id="9" name="Text 7"/>
          <p:cNvSpPr/>
          <p:nvPr/>
        </p:nvSpPr>
        <p:spPr>
          <a:xfrm>
            <a:off x="6647688" y="278892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02</a:t>
            </a:r>
            <a:endParaRPr lang="en-US" sz="1600" dirty="0"/>
          </a:p>
        </p:txBody>
      </p:sp>
      <p:sp>
        <p:nvSpPr>
          <p:cNvPr id="10" name="Text 8"/>
          <p:cNvSpPr/>
          <p:nvPr/>
        </p:nvSpPr>
        <p:spPr>
          <a:xfrm>
            <a:off x="4087368" y="280720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نبذة عن الشركة</a:t>
            </a:r>
            <a:endParaRPr lang="ar-SA" sz="1060" dirty="0"/>
          </a:p>
        </p:txBody>
      </p:sp>
      <p:sp>
        <p:nvSpPr>
          <p:cNvPr id="11" name="Text 9"/>
          <p:cNvSpPr/>
          <p:nvPr/>
        </p:nvSpPr>
        <p:spPr>
          <a:xfrm>
            <a:off x="3767328" y="280720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04</a:t>
            </a:r>
            <a:endParaRPr lang="en-US" sz="1030" dirty="0"/>
          </a:p>
        </p:txBody>
      </p:sp>
      <p:sp>
        <p:nvSpPr>
          <p:cNvPr id="12" name="Shape 10"/>
          <p:cNvSpPr/>
          <p:nvPr/>
        </p:nvSpPr>
        <p:spPr>
          <a:xfrm>
            <a:off x="3767328" y="3209544"/>
            <a:ext cx="3291840" cy="0"/>
          </a:xfrm>
          <a:prstGeom prst="line">
            <a:avLst/>
          </a:prstGeom>
          <a:noFill/>
          <a:ln w="6350">
            <a:solidFill>
              <a:srgbClr val="E4DDCB"/>
            </a:solidFill>
            <a:prstDash val="solid"/>
          </a:ln>
        </p:spPr>
      </p:sp>
      <p:sp>
        <p:nvSpPr>
          <p:cNvPr id="13" name="Text 11"/>
          <p:cNvSpPr/>
          <p:nvPr/>
        </p:nvSpPr>
        <p:spPr>
          <a:xfrm>
            <a:off x="6647688" y="333756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03</a:t>
            </a:r>
            <a:endParaRPr lang="en-US" sz="1600" dirty="0"/>
          </a:p>
        </p:txBody>
      </p:sp>
      <p:sp>
        <p:nvSpPr>
          <p:cNvPr id="14" name="Text 12"/>
          <p:cNvSpPr/>
          <p:nvPr/>
        </p:nvSpPr>
        <p:spPr>
          <a:xfrm>
            <a:off x="4087368" y="335584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لماذا Altus Gulf</a:t>
            </a:r>
            <a:endParaRPr lang="ar-SA" sz="1060" dirty="0"/>
          </a:p>
        </p:txBody>
      </p:sp>
      <p:sp>
        <p:nvSpPr>
          <p:cNvPr id="15" name="Text 13"/>
          <p:cNvSpPr/>
          <p:nvPr/>
        </p:nvSpPr>
        <p:spPr>
          <a:xfrm>
            <a:off x="3767328" y="335584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05</a:t>
            </a:r>
            <a:endParaRPr lang="en-US" sz="1030" dirty="0"/>
          </a:p>
        </p:txBody>
      </p:sp>
      <p:sp>
        <p:nvSpPr>
          <p:cNvPr id="16" name="Shape 14"/>
          <p:cNvSpPr/>
          <p:nvPr/>
        </p:nvSpPr>
        <p:spPr>
          <a:xfrm>
            <a:off x="3767328" y="3758184"/>
            <a:ext cx="3291840" cy="0"/>
          </a:xfrm>
          <a:prstGeom prst="line">
            <a:avLst/>
          </a:prstGeom>
          <a:noFill/>
          <a:ln w="6350">
            <a:solidFill>
              <a:srgbClr val="E4DDCB"/>
            </a:solidFill>
            <a:prstDash val="solid"/>
          </a:ln>
        </p:spPr>
      </p:sp>
      <p:sp>
        <p:nvSpPr>
          <p:cNvPr id="17" name="Text 15"/>
          <p:cNvSpPr/>
          <p:nvPr/>
        </p:nvSpPr>
        <p:spPr>
          <a:xfrm>
            <a:off x="6647688" y="388620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04</a:t>
            </a:r>
            <a:endParaRPr lang="en-US" sz="1600" dirty="0"/>
          </a:p>
        </p:txBody>
      </p:sp>
      <p:sp>
        <p:nvSpPr>
          <p:cNvPr id="18" name="Text 16"/>
          <p:cNvSpPr/>
          <p:nvPr/>
        </p:nvSpPr>
        <p:spPr>
          <a:xfrm>
            <a:off x="4087368" y="390448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حلول الضيافة</a:t>
            </a:r>
            <a:endParaRPr lang="ar-SA" sz="1060" dirty="0"/>
          </a:p>
        </p:txBody>
      </p:sp>
      <p:sp>
        <p:nvSpPr>
          <p:cNvPr id="19" name="Text 17"/>
          <p:cNvSpPr/>
          <p:nvPr/>
        </p:nvSpPr>
        <p:spPr>
          <a:xfrm>
            <a:off x="3767328" y="390448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06</a:t>
            </a:r>
            <a:endParaRPr lang="en-US" sz="1030" dirty="0"/>
          </a:p>
        </p:txBody>
      </p:sp>
      <p:sp>
        <p:nvSpPr>
          <p:cNvPr id="20" name="Shape 18"/>
          <p:cNvSpPr/>
          <p:nvPr/>
        </p:nvSpPr>
        <p:spPr>
          <a:xfrm>
            <a:off x="3767328" y="4306824"/>
            <a:ext cx="3291840" cy="0"/>
          </a:xfrm>
          <a:prstGeom prst="line">
            <a:avLst/>
          </a:prstGeom>
          <a:noFill/>
          <a:ln w="6350">
            <a:solidFill>
              <a:srgbClr val="E4DDCB"/>
            </a:solidFill>
            <a:prstDash val="solid"/>
          </a:ln>
        </p:spPr>
      </p:sp>
      <p:sp>
        <p:nvSpPr>
          <p:cNvPr id="21" name="Text 19"/>
          <p:cNvSpPr/>
          <p:nvPr/>
        </p:nvSpPr>
        <p:spPr>
          <a:xfrm>
            <a:off x="6647688" y="443484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05</a:t>
            </a:r>
            <a:endParaRPr lang="en-US" sz="1600" dirty="0"/>
          </a:p>
        </p:txBody>
      </p:sp>
      <p:sp>
        <p:nvSpPr>
          <p:cNvPr id="22" name="Text 20"/>
          <p:cNvSpPr/>
          <p:nvPr/>
        </p:nvSpPr>
        <p:spPr>
          <a:xfrm>
            <a:off x="4087368" y="445312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حلول نمو الأعمال</a:t>
            </a:r>
            <a:endParaRPr lang="ar-SA" sz="1060" dirty="0"/>
          </a:p>
        </p:txBody>
      </p:sp>
      <p:sp>
        <p:nvSpPr>
          <p:cNvPr id="23" name="Text 21"/>
          <p:cNvSpPr/>
          <p:nvPr/>
        </p:nvSpPr>
        <p:spPr>
          <a:xfrm>
            <a:off x="3767328" y="445312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07</a:t>
            </a:r>
            <a:endParaRPr lang="en-US" sz="1030" dirty="0"/>
          </a:p>
        </p:txBody>
      </p:sp>
      <p:sp>
        <p:nvSpPr>
          <p:cNvPr id="24" name="Shape 22"/>
          <p:cNvSpPr/>
          <p:nvPr/>
        </p:nvSpPr>
        <p:spPr>
          <a:xfrm>
            <a:off x="3767328" y="4855464"/>
            <a:ext cx="3291840" cy="0"/>
          </a:xfrm>
          <a:prstGeom prst="line">
            <a:avLst/>
          </a:prstGeom>
          <a:noFill/>
          <a:ln w="6350">
            <a:solidFill>
              <a:srgbClr val="E4DDCB"/>
            </a:solidFill>
            <a:prstDash val="solid"/>
          </a:ln>
        </p:spPr>
      </p:sp>
      <p:sp>
        <p:nvSpPr>
          <p:cNvPr id="25" name="Text 23"/>
          <p:cNvSpPr/>
          <p:nvPr/>
        </p:nvSpPr>
        <p:spPr>
          <a:xfrm>
            <a:off x="6647688" y="498348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06</a:t>
            </a:r>
            <a:endParaRPr lang="en-US" sz="1600" dirty="0"/>
          </a:p>
        </p:txBody>
      </p:sp>
      <p:sp>
        <p:nvSpPr>
          <p:cNvPr id="26" name="Text 24"/>
          <p:cNvSpPr/>
          <p:nvPr/>
        </p:nvSpPr>
        <p:spPr>
          <a:xfrm>
            <a:off x="4087368" y="500176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منصة Altus Gulf للمعرفة والأداء في قطاع الضيافة</a:t>
            </a:r>
            <a:endParaRPr lang="ar-SA" sz="1060" dirty="0"/>
          </a:p>
        </p:txBody>
      </p:sp>
      <p:sp>
        <p:nvSpPr>
          <p:cNvPr id="27" name="Text 25"/>
          <p:cNvSpPr/>
          <p:nvPr/>
        </p:nvSpPr>
        <p:spPr>
          <a:xfrm>
            <a:off x="3767328" y="500176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08</a:t>
            </a:r>
            <a:endParaRPr lang="en-US" sz="1030" dirty="0"/>
          </a:p>
        </p:txBody>
      </p:sp>
      <p:sp>
        <p:nvSpPr>
          <p:cNvPr id="28" name="Shape 26"/>
          <p:cNvSpPr/>
          <p:nvPr/>
        </p:nvSpPr>
        <p:spPr>
          <a:xfrm>
            <a:off x="3767328" y="5404104"/>
            <a:ext cx="3291840" cy="0"/>
          </a:xfrm>
          <a:prstGeom prst="line">
            <a:avLst/>
          </a:prstGeom>
          <a:noFill/>
          <a:ln w="6350">
            <a:solidFill>
              <a:srgbClr val="E4DDCB"/>
            </a:solidFill>
            <a:prstDash val="solid"/>
          </a:ln>
        </p:spPr>
      </p:sp>
      <p:sp>
        <p:nvSpPr>
          <p:cNvPr id="29" name="Text 27"/>
          <p:cNvSpPr/>
          <p:nvPr/>
        </p:nvSpPr>
        <p:spPr>
          <a:xfrm>
            <a:off x="6647688" y="553212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07</a:t>
            </a:r>
            <a:endParaRPr lang="en-US" sz="1600" dirty="0"/>
          </a:p>
        </p:txBody>
      </p:sp>
      <p:sp>
        <p:nvSpPr>
          <p:cNvPr id="30" name="Text 28"/>
          <p:cNvSpPr/>
          <p:nvPr/>
        </p:nvSpPr>
        <p:spPr>
          <a:xfrm>
            <a:off x="4087368" y="555040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ما يميّز نموذج Altus Gulf</a:t>
            </a:r>
            <a:endParaRPr lang="ar-SA" sz="1060" dirty="0"/>
          </a:p>
        </p:txBody>
      </p:sp>
      <p:sp>
        <p:nvSpPr>
          <p:cNvPr id="31" name="Text 29"/>
          <p:cNvSpPr/>
          <p:nvPr/>
        </p:nvSpPr>
        <p:spPr>
          <a:xfrm>
            <a:off x="3767328" y="555040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09</a:t>
            </a:r>
            <a:endParaRPr lang="en-US" sz="1030" dirty="0"/>
          </a:p>
        </p:txBody>
      </p:sp>
      <p:sp>
        <p:nvSpPr>
          <p:cNvPr id="32" name="Shape 30"/>
          <p:cNvSpPr/>
          <p:nvPr/>
        </p:nvSpPr>
        <p:spPr>
          <a:xfrm>
            <a:off x="3767328" y="5952744"/>
            <a:ext cx="3291840" cy="0"/>
          </a:xfrm>
          <a:prstGeom prst="line">
            <a:avLst/>
          </a:prstGeom>
          <a:noFill/>
          <a:ln w="6350">
            <a:solidFill>
              <a:srgbClr val="E4DDCB"/>
            </a:solidFill>
            <a:prstDash val="solid"/>
          </a:ln>
        </p:spPr>
      </p:sp>
      <p:sp>
        <p:nvSpPr>
          <p:cNvPr id="33" name="Text 31"/>
          <p:cNvSpPr/>
          <p:nvPr/>
        </p:nvSpPr>
        <p:spPr>
          <a:xfrm>
            <a:off x="6647688" y="608076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08</a:t>
            </a:r>
            <a:endParaRPr lang="en-US" sz="1600" dirty="0"/>
          </a:p>
        </p:txBody>
      </p:sp>
      <p:sp>
        <p:nvSpPr>
          <p:cNvPr id="34" name="Text 32"/>
          <p:cNvSpPr/>
          <p:nvPr/>
        </p:nvSpPr>
        <p:spPr>
          <a:xfrm>
            <a:off x="4087368" y="609904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القطاعات التي نخدمها</a:t>
            </a:r>
            <a:endParaRPr lang="ar-SA" sz="1060" dirty="0"/>
          </a:p>
        </p:txBody>
      </p:sp>
      <p:sp>
        <p:nvSpPr>
          <p:cNvPr id="35" name="Text 33"/>
          <p:cNvSpPr/>
          <p:nvPr/>
        </p:nvSpPr>
        <p:spPr>
          <a:xfrm>
            <a:off x="3767328" y="609904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10</a:t>
            </a:r>
            <a:endParaRPr lang="en-US" sz="1030" dirty="0"/>
          </a:p>
        </p:txBody>
      </p:sp>
      <p:sp>
        <p:nvSpPr>
          <p:cNvPr id="36" name="Shape 34"/>
          <p:cNvSpPr/>
          <p:nvPr/>
        </p:nvSpPr>
        <p:spPr>
          <a:xfrm>
            <a:off x="3767328" y="6501384"/>
            <a:ext cx="3291840" cy="0"/>
          </a:xfrm>
          <a:prstGeom prst="line">
            <a:avLst/>
          </a:prstGeom>
          <a:noFill/>
          <a:ln w="6350">
            <a:solidFill>
              <a:srgbClr val="E4DDCB"/>
            </a:solidFill>
            <a:prstDash val="solid"/>
          </a:ln>
        </p:spPr>
      </p:sp>
      <p:sp>
        <p:nvSpPr>
          <p:cNvPr id="37" name="Text 35"/>
          <p:cNvSpPr/>
          <p:nvPr/>
        </p:nvSpPr>
        <p:spPr>
          <a:xfrm>
            <a:off x="6647688" y="662940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09</a:t>
            </a:r>
            <a:endParaRPr lang="en-US" sz="1600" dirty="0"/>
          </a:p>
        </p:txBody>
      </p:sp>
      <p:sp>
        <p:nvSpPr>
          <p:cNvPr id="38" name="Text 36"/>
          <p:cNvSpPr/>
          <p:nvPr/>
        </p:nvSpPr>
        <p:spPr>
          <a:xfrm>
            <a:off x="4087368" y="664768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إطار Altus Ascent™‎ (مسار الارتقاء)</a:t>
            </a:r>
            <a:endParaRPr lang="ar-SA" sz="1060" dirty="0"/>
          </a:p>
        </p:txBody>
      </p:sp>
      <p:sp>
        <p:nvSpPr>
          <p:cNvPr id="39" name="Text 37"/>
          <p:cNvSpPr/>
          <p:nvPr/>
        </p:nvSpPr>
        <p:spPr>
          <a:xfrm>
            <a:off x="3767328" y="664768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11</a:t>
            </a:r>
            <a:endParaRPr lang="en-US" sz="1030" dirty="0"/>
          </a:p>
        </p:txBody>
      </p:sp>
      <p:sp>
        <p:nvSpPr>
          <p:cNvPr id="40" name="Shape 38"/>
          <p:cNvSpPr/>
          <p:nvPr/>
        </p:nvSpPr>
        <p:spPr>
          <a:xfrm>
            <a:off x="3767328" y="7050024"/>
            <a:ext cx="3291840" cy="0"/>
          </a:xfrm>
          <a:prstGeom prst="line">
            <a:avLst/>
          </a:prstGeom>
          <a:noFill/>
          <a:ln w="6350">
            <a:solidFill>
              <a:srgbClr val="E4DDCB"/>
            </a:solidFill>
            <a:prstDash val="solid"/>
          </a:ln>
        </p:spPr>
      </p:sp>
      <p:sp>
        <p:nvSpPr>
          <p:cNvPr id="41" name="Text 39"/>
          <p:cNvSpPr/>
          <p:nvPr/>
        </p:nvSpPr>
        <p:spPr>
          <a:xfrm>
            <a:off x="6647688" y="717804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10</a:t>
            </a:r>
            <a:endParaRPr lang="en-US" sz="1600" dirty="0"/>
          </a:p>
        </p:txBody>
      </p:sp>
      <p:sp>
        <p:nvSpPr>
          <p:cNvPr id="42" name="Text 40"/>
          <p:cNvSpPr/>
          <p:nvPr/>
        </p:nvSpPr>
        <p:spPr>
          <a:xfrm>
            <a:off x="4087368" y="719632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الأطر الاستراتيجية</a:t>
            </a:r>
            <a:endParaRPr lang="ar-SA" sz="1060" dirty="0"/>
          </a:p>
        </p:txBody>
      </p:sp>
      <p:sp>
        <p:nvSpPr>
          <p:cNvPr id="43" name="Text 41"/>
          <p:cNvSpPr/>
          <p:nvPr/>
        </p:nvSpPr>
        <p:spPr>
          <a:xfrm>
            <a:off x="3767328" y="719632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12</a:t>
            </a:r>
            <a:endParaRPr lang="en-US" sz="1030" dirty="0"/>
          </a:p>
        </p:txBody>
      </p:sp>
      <p:sp>
        <p:nvSpPr>
          <p:cNvPr id="44" name="Shape 42"/>
          <p:cNvSpPr/>
          <p:nvPr/>
        </p:nvSpPr>
        <p:spPr>
          <a:xfrm>
            <a:off x="3767328" y="7598664"/>
            <a:ext cx="3291840" cy="0"/>
          </a:xfrm>
          <a:prstGeom prst="line">
            <a:avLst/>
          </a:prstGeom>
          <a:noFill/>
          <a:ln w="6350">
            <a:solidFill>
              <a:srgbClr val="E4DDCB"/>
            </a:solidFill>
            <a:prstDash val="solid"/>
          </a:ln>
        </p:spPr>
      </p:sp>
      <p:sp>
        <p:nvSpPr>
          <p:cNvPr id="45" name="Text 43"/>
          <p:cNvSpPr/>
          <p:nvPr/>
        </p:nvSpPr>
        <p:spPr>
          <a:xfrm>
            <a:off x="6647688" y="772668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11</a:t>
            </a:r>
            <a:endParaRPr lang="en-US" sz="1600" dirty="0"/>
          </a:p>
        </p:txBody>
      </p:sp>
      <p:sp>
        <p:nvSpPr>
          <p:cNvPr id="46" name="Text 44"/>
          <p:cNvSpPr/>
          <p:nvPr/>
        </p:nvSpPr>
        <p:spPr>
          <a:xfrm>
            <a:off x="4087368" y="774496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القدرات المؤسسية</a:t>
            </a:r>
            <a:endParaRPr lang="ar-SA" sz="1060" dirty="0"/>
          </a:p>
        </p:txBody>
      </p:sp>
      <p:sp>
        <p:nvSpPr>
          <p:cNvPr id="47" name="Text 45"/>
          <p:cNvSpPr/>
          <p:nvPr/>
        </p:nvSpPr>
        <p:spPr>
          <a:xfrm>
            <a:off x="3767328" y="774496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13</a:t>
            </a:r>
            <a:endParaRPr lang="en-US" sz="1030" dirty="0"/>
          </a:p>
        </p:txBody>
      </p:sp>
      <p:sp>
        <p:nvSpPr>
          <p:cNvPr id="48" name="Shape 46"/>
          <p:cNvSpPr/>
          <p:nvPr/>
        </p:nvSpPr>
        <p:spPr>
          <a:xfrm>
            <a:off x="3767328" y="8147304"/>
            <a:ext cx="3291840" cy="0"/>
          </a:xfrm>
          <a:prstGeom prst="line">
            <a:avLst/>
          </a:prstGeom>
          <a:noFill/>
          <a:ln w="6350">
            <a:solidFill>
              <a:srgbClr val="E4DDCB"/>
            </a:solidFill>
            <a:prstDash val="solid"/>
          </a:ln>
        </p:spPr>
      </p:sp>
      <p:sp>
        <p:nvSpPr>
          <p:cNvPr id="49" name="Text 47"/>
          <p:cNvSpPr/>
          <p:nvPr/>
        </p:nvSpPr>
        <p:spPr>
          <a:xfrm>
            <a:off x="6647688" y="827532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12</a:t>
            </a:r>
            <a:endParaRPr lang="en-US" sz="1600" dirty="0"/>
          </a:p>
        </p:txBody>
      </p:sp>
      <p:sp>
        <p:nvSpPr>
          <p:cNvPr id="50" name="Text 48"/>
          <p:cNvSpPr/>
          <p:nvPr/>
        </p:nvSpPr>
        <p:spPr>
          <a:xfrm>
            <a:off x="4087368" y="829360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مصمَّمة لدعم رؤية السعودية 2030</a:t>
            </a:r>
            <a:endParaRPr lang="ar-SA" sz="1060" dirty="0"/>
          </a:p>
        </p:txBody>
      </p:sp>
      <p:sp>
        <p:nvSpPr>
          <p:cNvPr id="51" name="Text 49"/>
          <p:cNvSpPr/>
          <p:nvPr/>
        </p:nvSpPr>
        <p:spPr>
          <a:xfrm>
            <a:off x="3767328" y="829360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14</a:t>
            </a:r>
            <a:endParaRPr lang="en-US" sz="1030" dirty="0"/>
          </a:p>
        </p:txBody>
      </p:sp>
      <p:sp>
        <p:nvSpPr>
          <p:cNvPr id="52" name="Shape 50"/>
          <p:cNvSpPr/>
          <p:nvPr/>
        </p:nvSpPr>
        <p:spPr>
          <a:xfrm>
            <a:off x="3767328" y="8695944"/>
            <a:ext cx="3291840" cy="0"/>
          </a:xfrm>
          <a:prstGeom prst="line">
            <a:avLst/>
          </a:prstGeom>
          <a:noFill/>
          <a:ln w="6350">
            <a:solidFill>
              <a:srgbClr val="E4DDCB"/>
            </a:solidFill>
            <a:prstDash val="solid"/>
          </a:ln>
        </p:spPr>
      </p:sp>
      <p:sp>
        <p:nvSpPr>
          <p:cNvPr id="53" name="Text 51"/>
          <p:cNvSpPr/>
          <p:nvPr/>
        </p:nvSpPr>
        <p:spPr>
          <a:xfrm>
            <a:off x="6647688" y="882396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13</a:t>
            </a:r>
            <a:endParaRPr lang="en-US" sz="1600" dirty="0"/>
          </a:p>
        </p:txBody>
      </p:sp>
      <p:sp>
        <p:nvSpPr>
          <p:cNvPr id="54" name="Text 52"/>
          <p:cNvSpPr/>
          <p:nvPr/>
        </p:nvSpPr>
        <p:spPr>
          <a:xfrm>
            <a:off x="4087368" y="884224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فرصة السوق</a:t>
            </a:r>
            <a:endParaRPr lang="ar-SA" sz="1060" dirty="0"/>
          </a:p>
        </p:txBody>
      </p:sp>
      <p:sp>
        <p:nvSpPr>
          <p:cNvPr id="55" name="Text 53"/>
          <p:cNvSpPr/>
          <p:nvPr/>
        </p:nvSpPr>
        <p:spPr>
          <a:xfrm>
            <a:off x="3767328" y="884224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15</a:t>
            </a:r>
            <a:endParaRPr lang="en-US" sz="1030" dirty="0"/>
          </a:p>
        </p:txBody>
      </p:sp>
      <p:sp>
        <p:nvSpPr>
          <p:cNvPr id="56" name="Shape 54"/>
          <p:cNvSpPr/>
          <p:nvPr/>
        </p:nvSpPr>
        <p:spPr>
          <a:xfrm>
            <a:off x="3767328" y="9244584"/>
            <a:ext cx="3291840" cy="0"/>
          </a:xfrm>
          <a:prstGeom prst="line">
            <a:avLst/>
          </a:prstGeom>
          <a:noFill/>
          <a:ln w="6350">
            <a:solidFill>
              <a:srgbClr val="E4DDCB"/>
            </a:solidFill>
            <a:prstDash val="solid"/>
          </a:ln>
        </p:spPr>
      </p:sp>
      <p:sp>
        <p:nvSpPr>
          <p:cNvPr id="57" name="Text 55"/>
          <p:cNvSpPr/>
          <p:nvPr/>
        </p:nvSpPr>
        <p:spPr>
          <a:xfrm>
            <a:off x="3127248" y="224028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14</a:t>
            </a:r>
            <a:endParaRPr lang="en-US" sz="1600" dirty="0"/>
          </a:p>
        </p:txBody>
      </p:sp>
      <p:sp>
        <p:nvSpPr>
          <p:cNvPr id="58" name="Text 56"/>
          <p:cNvSpPr/>
          <p:nvPr/>
        </p:nvSpPr>
        <p:spPr>
          <a:xfrm>
            <a:off x="566928" y="225856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دراسات حالة توضيحية — الجزء الأول</a:t>
            </a:r>
            <a:endParaRPr lang="ar-SA" sz="1060" dirty="0"/>
          </a:p>
        </p:txBody>
      </p:sp>
      <p:sp>
        <p:nvSpPr>
          <p:cNvPr id="59" name="Text 57"/>
          <p:cNvSpPr/>
          <p:nvPr/>
        </p:nvSpPr>
        <p:spPr>
          <a:xfrm>
            <a:off x="246888" y="225856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16</a:t>
            </a:r>
            <a:endParaRPr lang="en-US" sz="1030" dirty="0"/>
          </a:p>
        </p:txBody>
      </p:sp>
      <p:sp>
        <p:nvSpPr>
          <p:cNvPr id="60" name="Shape 58"/>
          <p:cNvSpPr/>
          <p:nvPr/>
        </p:nvSpPr>
        <p:spPr>
          <a:xfrm>
            <a:off x="246888" y="2660904"/>
            <a:ext cx="3291840" cy="0"/>
          </a:xfrm>
          <a:prstGeom prst="line">
            <a:avLst/>
          </a:prstGeom>
          <a:noFill/>
          <a:ln w="6350">
            <a:solidFill>
              <a:srgbClr val="E4DDCB"/>
            </a:solidFill>
            <a:prstDash val="solid"/>
          </a:ln>
        </p:spPr>
      </p:sp>
      <p:sp>
        <p:nvSpPr>
          <p:cNvPr id="61" name="Text 59"/>
          <p:cNvSpPr/>
          <p:nvPr/>
        </p:nvSpPr>
        <p:spPr>
          <a:xfrm>
            <a:off x="3127248" y="278892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15</a:t>
            </a:r>
            <a:endParaRPr lang="en-US" sz="1600" dirty="0"/>
          </a:p>
        </p:txBody>
      </p:sp>
      <p:sp>
        <p:nvSpPr>
          <p:cNvPr id="62" name="Text 60"/>
          <p:cNvSpPr/>
          <p:nvPr/>
        </p:nvSpPr>
        <p:spPr>
          <a:xfrm>
            <a:off x="566928" y="280720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دراسات حالة توضيحية — الجزء الثاني</a:t>
            </a:r>
            <a:endParaRPr lang="ar-SA" sz="1060" dirty="0"/>
          </a:p>
        </p:txBody>
      </p:sp>
      <p:sp>
        <p:nvSpPr>
          <p:cNvPr id="63" name="Text 61"/>
          <p:cNvSpPr/>
          <p:nvPr/>
        </p:nvSpPr>
        <p:spPr>
          <a:xfrm>
            <a:off x="246888" y="280720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17</a:t>
            </a:r>
            <a:endParaRPr lang="en-US" sz="1030" dirty="0"/>
          </a:p>
        </p:txBody>
      </p:sp>
      <p:sp>
        <p:nvSpPr>
          <p:cNvPr id="64" name="Shape 62"/>
          <p:cNvSpPr/>
          <p:nvPr/>
        </p:nvSpPr>
        <p:spPr>
          <a:xfrm>
            <a:off x="246888" y="3209544"/>
            <a:ext cx="3291840" cy="0"/>
          </a:xfrm>
          <a:prstGeom prst="line">
            <a:avLst/>
          </a:prstGeom>
          <a:noFill/>
          <a:ln w="6350">
            <a:solidFill>
              <a:srgbClr val="E4DDCB"/>
            </a:solidFill>
            <a:prstDash val="solid"/>
          </a:ln>
        </p:spPr>
      </p:sp>
      <p:sp>
        <p:nvSpPr>
          <p:cNvPr id="65" name="Text 63"/>
          <p:cNvSpPr/>
          <p:nvPr/>
        </p:nvSpPr>
        <p:spPr>
          <a:xfrm>
            <a:off x="3127248" y="333756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16</a:t>
            </a:r>
            <a:endParaRPr lang="en-US" sz="1600" dirty="0"/>
          </a:p>
        </p:txBody>
      </p:sp>
      <p:sp>
        <p:nvSpPr>
          <p:cNvPr id="66" name="Text 64"/>
          <p:cNvSpPr/>
          <p:nvPr/>
        </p:nvSpPr>
        <p:spPr>
          <a:xfrm>
            <a:off x="566928" y="335584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إسلام محروس، شريك مؤسس</a:t>
            </a:r>
            <a:endParaRPr lang="ar-SA" sz="1060" dirty="0"/>
          </a:p>
        </p:txBody>
      </p:sp>
      <p:sp>
        <p:nvSpPr>
          <p:cNvPr id="67" name="Text 65"/>
          <p:cNvSpPr/>
          <p:nvPr/>
        </p:nvSpPr>
        <p:spPr>
          <a:xfrm>
            <a:off x="246888" y="335584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18</a:t>
            </a:r>
            <a:endParaRPr lang="en-US" sz="1030" dirty="0"/>
          </a:p>
        </p:txBody>
      </p:sp>
      <p:sp>
        <p:nvSpPr>
          <p:cNvPr id="68" name="Shape 66"/>
          <p:cNvSpPr/>
          <p:nvPr/>
        </p:nvSpPr>
        <p:spPr>
          <a:xfrm>
            <a:off x="246888" y="3758184"/>
            <a:ext cx="3291840" cy="0"/>
          </a:xfrm>
          <a:prstGeom prst="line">
            <a:avLst/>
          </a:prstGeom>
          <a:noFill/>
          <a:ln w="6350">
            <a:solidFill>
              <a:srgbClr val="E4DDCB"/>
            </a:solidFill>
            <a:prstDash val="solid"/>
          </a:ln>
        </p:spPr>
      </p:sp>
      <p:sp>
        <p:nvSpPr>
          <p:cNvPr id="69" name="Text 67"/>
          <p:cNvSpPr/>
          <p:nvPr/>
        </p:nvSpPr>
        <p:spPr>
          <a:xfrm>
            <a:off x="3127248" y="388620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17</a:t>
            </a:r>
            <a:endParaRPr lang="en-US" sz="1600" dirty="0"/>
          </a:p>
        </p:txBody>
      </p:sp>
      <p:sp>
        <p:nvSpPr>
          <p:cNvPr id="70" name="Text 68"/>
          <p:cNvSpPr/>
          <p:nvPr/>
        </p:nvSpPr>
        <p:spPr>
          <a:xfrm>
            <a:off x="566928" y="390448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حسام الصمادي، شريك مؤسس</a:t>
            </a:r>
            <a:endParaRPr lang="ar-SA" sz="1060" dirty="0"/>
          </a:p>
        </p:txBody>
      </p:sp>
      <p:sp>
        <p:nvSpPr>
          <p:cNvPr id="71" name="Text 69"/>
          <p:cNvSpPr/>
          <p:nvPr/>
        </p:nvSpPr>
        <p:spPr>
          <a:xfrm>
            <a:off x="246888" y="390448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19</a:t>
            </a:r>
            <a:endParaRPr lang="en-US" sz="1030" dirty="0"/>
          </a:p>
        </p:txBody>
      </p:sp>
      <p:sp>
        <p:nvSpPr>
          <p:cNvPr id="72" name="Shape 70"/>
          <p:cNvSpPr/>
          <p:nvPr/>
        </p:nvSpPr>
        <p:spPr>
          <a:xfrm>
            <a:off x="246888" y="4306824"/>
            <a:ext cx="3291840" cy="0"/>
          </a:xfrm>
          <a:prstGeom prst="line">
            <a:avLst/>
          </a:prstGeom>
          <a:noFill/>
          <a:ln w="6350">
            <a:solidFill>
              <a:srgbClr val="E4DDCB"/>
            </a:solidFill>
            <a:prstDash val="solid"/>
          </a:ln>
        </p:spPr>
      </p:sp>
      <p:sp>
        <p:nvSpPr>
          <p:cNvPr id="73" name="Text 71"/>
          <p:cNvSpPr/>
          <p:nvPr/>
        </p:nvSpPr>
        <p:spPr>
          <a:xfrm>
            <a:off x="3127248" y="443484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18</a:t>
            </a:r>
            <a:endParaRPr lang="en-US" sz="1600" dirty="0"/>
          </a:p>
        </p:txBody>
      </p:sp>
      <p:sp>
        <p:nvSpPr>
          <p:cNvPr id="74" name="Text 72"/>
          <p:cNvSpPr/>
          <p:nvPr/>
        </p:nvSpPr>
        <p:spPr>
          <a:xfrm>
            <a:off x="566928" y="445312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الشراكات الاستراتيجية</a:t>
            </a:r>
            <a:endParaRPr lang="ar-SA" sz="1060" dirty="0"/>
          </a:p>
        </p:txBody>
      </p:sp>
      <p:sp>
        <p:nvSpPr>
          <p:cNvPr id="75" name="Text 73"/>
          <p:cNvSpPr/>
          <p:nvPr/>
        </p:nvSpPr>
        <p:spPr>
          <a:xfrm>
            <a:off x="246888" y="445312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20</a:t>
            </a:r>
            <a:endParaRPr lang="en-US" sz="1030" dirty="0"/>
          </a:p>
        </p:txBody>
      </p:sp>
      <p:sp>
        <p:nvSpPr>
          <p:cNvPr id="76" name="Shape 74"/>
          <p:cNvSpPr/>
          <p:nvPr/>
        </p:nvSpPr>
        <p:spPr>
          <a:xfrm>
            <a:off x="246888" y="4855464"/>
            <a:ext cx="3291840" cy="0"/>
          </a:xfrm>
          <a:prstGeom prst="line">
            <a:avLst/>
          </a:prstGeom>
          <a:noFill/>
          <a:ln w="6350">
            <a:solidFill>
              <a:srgbClr val="E4DDCB"/>
            </a:solidFill>
            <a:prstDash val="solid"/>
          </a:ln>
        </p:spPr>
      </p:sp>
      <p:sp>
        <p:nvSpPr>
          <p:cNvPr id="77" name="Text 75"/>
          <p:cNvSpPr/>
          <p:nvPr/>
        </p:nvSpPr>
        <p:spPr>
          <a:xfrm>
            <a:off x="3127248" y="498348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19</a:t>
            </a:r>
            <a:endParaRPr lang="en-US" sz="1600" dirty="0"/>
          </a:p>
        </p:txBody>
      </p:sp>
      <p:sp>
        <p:nvSpPr>
          <p:cNvPr id="78" name="Text 76"/>
          <p:cNvSpPr/>
          <p:nvPr/>
        </p:nvSpPr>
        <p:spPr>
          <a:xfrm>
            <a:off x="566928" y="500176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قيمنا</a:t>
            </a:r>
            <a:endParaRPr lang="ar-SA" sz="1060" dirty="0"/>
          </a:p>
        </p:txBody>
      </p:sp>
      <p:sp>
        <p:nvSpPr>
          <p:cNvPr id="79" name="Text 77"/>
          <p:cNvSpPr/>
          <p:nvPr/>
        </p:nvSpPr>
        <p:spPr>
          <a:xfrm>
            <a:off x="246888" y="500176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21</a:t>
            </a:r>
            <a:endParaRPr lang="en-US" sz="1030" dirty="0"/>
          </a:p>
        </p:txBody>
      </p:sp>
      <p:sp>
        <p:nvSpPr>
          <p:cNvPr id="80" name="Shape 78"/>
          <p:cNvSpPr/>
          <p:nvPr/>
        </p:nvSpPr>
        <p:spPr>
          <a:xfrm>
            <a:off x="246888" y="5404104"/>
            <a:ext cx="3291840" cy="0"/>
          </a:xfrm>
          <a:prstGeom prst="line">
            <a:avLst/>
          </a:prstGeom>
          <a:noFill/>
          <a:ln w="6350">
            <a:solidFill>
              <a:srgbClr val="E4DDCB"/>
            </a:solidFill>
            <a:prstDash val="solid"/>
          </a:ln>
        </p:spPr>
      </p:sp>
      <p:sp>
        <p:nvSpPr>
          <p:cNvPr id="81" name="Text 79"/>
          <p:cNvSpPr/>
          <p:nvPr/>
        </p:nvSpPr>
        <p:spPr>
          <a:xfrm>
            <a:off x="3127248" y="553212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20</a:t>
            </a:r>
            <a:endParaRPr lang="en-US" sz="1600" dirty="0"/>
          </a:p>
        </p:txBody>
      </p:sp>
      <p:sp>
        <p:nvSpPr>
          <p:cNvPr id="82" name="Text 80"/>
          <p:cNvSpPr/>
          <p:nvPr/>
        </p:nvSpPr>
        <p:spPr>
          <a:xfrm>
            <a:off x="566928" y="555040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البيئة والمجتمع والحوكمة (ESG) والاستدامة</a:t>
            </a:r>
            <a:endParaRPr lang="ar-SA" sz="1060" dirty="0"/>
          </a:p>
        </p:txBody>
      </p:sp>
      <p:sp>
        <p:nvSpPr>
          <p:cNvPr id="83" name="Text 81"/>
          <p:cNvSpPr/>
          <p:nvPr/>
        </p:nvSpPr>
        <p:spPr>
          <a:xfrm>
            <a:off x="246888" y="555040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22</a:t>
            </a:r>
            <a:endParaRPr lang="en-US" sz="1030" dirty="0"/>
          </a:p>
        </p:txBody>
      </p:sp>
      <p:sp>
        <p:nvSpPr>
          <p:cNvPr id="84" name="Shape 82"/>
          <p:cNvSpPr/>
          <p:nvPr/>
        </p:nvSpPr>
        <p:spPr>
          <a:xfrm>
            <a:off x="246888" y="5952744"/>
            <a:ext cx="3291840" cy="0"/>
          </a:xfrm>
          <a:prstGeom prst="line">
            <a:avLst/>
          </a:prstGeom>
          <a:noFill/>
          <a:ln w="6350">
            <a:solidFill>
              <a:srgbClr val="E4DDCB"/>
            </a:solidFill>
            <a:prstDash val="solid"/>
          </a:ln>
        </p:spPr>
      </p:sp>
      <p:sp>
        <p:nvSpPr>
          <p:cNvPr id="85" name="Text 83"/>
          <p:cNvSpPr/>
          <p:nvPr/>
        </p:nvSpPr>
        <p:spPr>
          <a:xfrm>
            <a:off x="3127248" y="608076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21</a:t>
            </a:r>
            <a:endParaRPr lang="en-US" sz="1600" dirty="0"/>
          </a:p>
        </p:txBody>
      </p:sp>
      <p:sp>
        <p:nvSpPr>
          <p:cNvPr id="86" name="Text 84"/>
          <p:cNvSpPr/>
          <p:nvPr/>
        </p:nvSpPr>
        <p:spPr>
          <a:xfrm>
            <a:off x="566928" y="609904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الرقمنة والذكاء الاصطناعي</a:t>
            </a:r>
            <a:endParaRPr lang="ar-SA" sz="1060" dirty="0"/>
          </a:p>
        </p:txBody>
      </p:sp>
      <p:sp>
        <p:nvSpPr>
          <p:cNvPr id="87" name="Text 85"/>
          <p:cNvSpPr/>
          <p:nvPr/>
        </p:nvSpPr>
        <p:spPr>
          <a:xfrm>
            <a:off x="246888" y="609904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23</a:t>
            </a:r>
            <a:endParaRPr lang="en-US" sz="1030" dirty="0"/>
          </a:p>
        </p:txBody>
      </p:sp>
      <p:sp>
        <p:nvSpPr>
          <p:cNvPr id="88" name="Shape 86"/>
          <p:cNvSpPr/>
          <p:nvPr/>
        </p:nvSpPr>
        <p:spPr>
          <a:xfrm>
            <a:off x="246888" y="6501384"/>
            <a:ext cx="3291840" cy="0"/>
          </a:xfrm>
          <a:prstGeom prst="line">
            <a:avLst/>
          </a:prstGeom>
          <a:noFill/>
          <a:ln w="6350">
            <a:solidFill>
              <a:srgbClr val="E4DDCB"/>
            </a:solidFill>
            <a:prstDash val="solid"/>
          </a:ln>
        </p:spPr>
      </p:sp>
      <p:sp>
        <p:nvSpPr>
          <p:cNvPr id="89" name="Text 87"/>
          <p:cNvSpPr/>
          <p:nvPr/>
        </p:nvSpPr>
        <p:spPr>
          <a:xfrm>
            <a:off x="3127248" y="662940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22</a:t>
            </a:r>
            <a:endParaRPr lang="en-US" sz="1600" dirty="0"/>
          </a:p>
        </p:txBody>
      </p:sp>
      <p:sp>
        <p:nvSpPr>
          <p:cNvPr id="90" name="Text 88"/>
          <p:cNvSpPr/>
          <p:nvPr/>
        </p:nvSpPr>
        <p:spPr>
          <a:xfrm>
            <a:off x="566928" y="664768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لماذا يختار العملاء Altus Gulf</a:t>
            </a:r>
            <a:endParaRPr lang="ar-SA" sz="1060" dirty="0"/>
          </a:p>
        </p:txBody>
      </p:sp>
      <p:sp>
        <p:nvSpPr>
          <p:cNvPr id="91" name="Text 89"/>
          <p:cNvSpPr/>
          <p:nvPr/>
        </p:nvSpPr>
        <p:spPr>
          <a:xfrm>
            <a:off x="246888" y="664768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24</a:t>
            </a:r>
            <a:endParaRPr lang="en-US" sz="1030" dirty="0"/>
          </a:p>
        </p:txBody>
      </p:sp>
      <p:sp>
        <p:nvSpPr>
          <p:cNvPr id="92" name="Shape 90"/>
          <p:cNvSpPr/>
          <p:nvPr/>
        </p:nvSpPr>
        <p:spPr>
          <a:xfrm>
            <a:off x="246888" y="7050024"/>
            <a:ext cx="3291840" cy="0"/>
          </a:xfrm>
          <a:prstGeom prst="line">
            <a:avLst/>
          </a:prstGeom>
          <a:noFill/>
          <a:ln w="6350">
            <a:solidFill>
              <a:srgbClr val="E4DDCB"/>
            </a:solidFill>
            <a:prstDash val="solid"/>
          </a:ln>
        </p:spPr>
      </p:sp>
      <p:sp>
        <p:nvSpPr>
          <p:cNvPr id="93" name="Text 91"/>
          <p:cNvSpPr/>
          <p:nvPr/>
        </p:nvSpPr>
        <p:spPr>
          <a:xfrm>
            <a:off x="3127248" y="7178040"/>
            <a:ext cx="411480" cy="384048"/>
          </a:xfrm>
          <a:prstGeom prst="rect">
            <a:avLst/>
          </a:prstGeom>
          <a:noFill/>
          <a:ln/>
        </p:spPr>
        <p:txBody>
          <a:bodyPr wrap="square" rtlCol="0" anchor="t"/>
          <a:lstStyle/>
          <a:p>
            <a:pPr marL="0" indent="0" algn="r">
              <a:buNone/>
            </a:pPr>
            <a:r>
              <a:rPr lang="en-US" sz="1600" dirty="0">
                <a:solidFill>
                  <a:srgbClr val="C1501D"/>
                </a:solidFill>
                <a:latin typeface="Arial" pitchFamily="34" charset="0"/>
                <a:ea typeface="Arial" pitchFamily="34" charset="-122"/>
                <a:cs typeface="Arial" pitchFamily="34" charset="-120"/>
              </a:rPr>
              <a:t>23</a:t>
            </a:r>
            <a:endParaRPr lang="en-US" sz="1600" dirty="0"/>
          </a:p>
        </p:txBody>
      </p:sp>
      <p:sp>
        <p:nvSpPr>
          <p:cNvPr id="94" name="Text 92"/>
          <p:cNvSpPr/>
          <p:nvPr/>
        </p:nvSpPr>
        <p:spPr>
          <a:xfrm>
            <a:off x="566928" y="7196328"/>
            <a:ext cx="2514600" cy="384048"/>
          </a:xfrm>
          <a:prstGeom prst="rect">
            <a:avLst/>
          </a:prstGeom>
          <a:noFill/>
          <a:ln/>
        </p:spPr>
        <p:txBody>
          <a:bodyPr wrap="square" rtlCol="0" anchor="t"/>
          <a:lstStyle/>
          <a:p>
            <a:pPr marL="0" indent="0" algn="r" rtl="1">
              <a:lnSpc>
                <a:spcPct val="102900"/>
              </a:lnSpc>
              <a:buNone/>
            </a:pPr>
            <a:r>
              <a:rPr lang="ar-SA" altLang="en-US" sz="1060" dirty="0">
                <a:solidFill>
                  <a:srgbClr val="0B1B2B"/>
                </a:solidFill>
                <a:latin typeface="Arial" pitchFamily="34" charset="0"/>
                <a:ea typeface="Arial" pitchFamily="34" charset="-122"/>
                <a:cs typeface="Arial" pitchFamily="34" charset="-120"/>
              </a:rPr>
              <a:t>الختام والتواصل</a:t>
            </a:r>
            <a:endParaRPr lang="ar-SA" sz="1060" dirty="0"/>
          </a:p>
        </p:txBody>
      </p:sp>
      <p:sp>
        <p:nvSpPr>
          <p:cNvPr id="95" name="Text 93"/>
          <p:cNvSpPr/>
          <p:nvPr/>
        </p:nvSpPr>
        <p:spPr>
          <a:xfrm>
            <a:off x="246888" y="7196328"/>
            <a:ext cx="411480" cy="274320"/>
          </a:xfrm>
          <a:prstGeom prst="rect">
            <a:avLst/>
          </a:prstGeom>
          <a:noFill/>
          <a:ln/>
        </p:spPr>
        <p:txBody>
          <a:bodyPr wrap="square" rtlCol="0" anchor="ctr"/>
          <a:lstStyle/>
          <a:p>
            <a:pPr marL="0" indent="0" algn="l">
              <a:buNone/>
            </a:pPr>
            <a:r>
              <a:rPr lang="en-US" sz="1030" dirty="0">
                <a:solidFill>
                  <a:srgbClr val="6B675F"/>
                </a:solidFill>
                <a:latin typeface="Arial" pitchFamily="34" charset="0"/>
                <a:ea typeface="Arial" pitchFamily="34" charset="-122"/>
                <a:cs typeface="Arial" pitchFamily="34" charset="-120"/>
              </a:rPr>
              <a:t>25</a:t>
            </a:r>
            <a:endParaRPr lang="en-US" sz="1030" dirty="0"/>
          </a:p>
        </p:txBody>
      </p:sp>
      <p:sp>
        <p:nvSpPr>
          <p:cNvPr id="96" name="Shape 94"/>
          <p:cNvSpPr/>
          <p:nvPr/>
        </p:nvSpPr>
        <p:spPr>
          <a:xfrm>
            <a:off x="246888" y="7598664"/>
            <a:ext cx="3291840" cy="0"/>
          </a:xfrm>
          <a:prstGeom prst="line">
            <a:avLst/>
          </a:prstGeom>
          <a:noFill/>
          <a:ln w="6350">
            <a:solidFill>
              <a:srgbClr val="E4DDCB"/>
            </a:solidFill>
            <a:prstDash val="solid"/>
          </a:ln>
        </p:spPr>
      </p:sp>
      <p:sp>
        <p:nvSpPr>
          <p:cNvPr id="97" name="Shape 95"/>
          <p:cNvSpPr/>
          <p:nvPr/>
        </p:nvSpPr>
        <p:spPr>
          <a:xfrm>
            <a:off x="502920" y="10186416"/>
            <a:ext cx="6556248" cy="0"/>
          </a:xfrm>
          <a:prstGeom prst="line">
            <a:avLst/>
          </a:prstGeom>
          <a:noFill/>
          <a:ln w="9525">
            <a:solidFill>
              <a:srgbClr val="E4DDCB"/>
            </a:solidFill>
            <a:prstDash val="solid"/>
          </a:ln>
        </p:spPr>
      </p:sp>
      <p:sp>
        <p:nvSpPr>
          <p:cNvPr id="98" name="Text 96"/>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99" name="Text 97"/>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02</a:t>
            </a:r>
            <a:endParaRPr lang="ar-SA" sz="88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01  •  منظور القيادة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رسالة من المؤسسين</a:t>
            </a:r>
            <a:endParaRPr lang="ar-SA" sz="2780" dirty="0"/>
          </a:p>
        </p:txBody>
      </p:sp>
      <p:sp>
        <p:nvSpPr>
          <p:cNvPr id="4" name="Text 2"/>
          <p:cNvSpPr/>
          <p:nvPr/>
        </p:nvSpPr>
        <p:spPr>
          <a:xfrm>
            <a:off x="2898648" y="1554480"/>
            <a:ext cx="4160520" cy="1380744"/>
          </a:xfrm>
          <a:prstGeom prst="rect">
            <a:avLst/>
          </a:prstGeom>
          <a:noFill/>
          <a:ln/>
        </p:spPr>
        <p:txBody>
          <a:bodyPr wrap="square" rtlCol="0" anchor="t"/>
          <a:lstStyle/>
          <a:p>
            <a:pPr marL="0" indent="0" algn="r" rtl="1">
              <a:lnSpc>
                <a:spcPct val="127400"/>
              </a:lnSpc>
              <a:buNone/>
            </a:pPr>
            <a:r>
              <a:rPr lang="ar-SA" altLang="en-US" sz="1130" dirty="0">
                <a:solidFill>
                  <a:srgbClr val="2B2A27"/>
                </a:solidFill>
                <a:latin typeface="Arial" pitchFamily="34" charset="0"/>
                <a:ea typeface="Arial" pitchFamily="34" charset="-122"/>
                <a:cs typeface="Arial" pitchFamily="34" charset="-120"/>
              </a:rPr>
              <a:t>تتطور التجارة العالمية بوتيرة غير مسبوقة، ولم تعد أطر التشغيل التقليدية وحدها كافية لتحقيق الريادة في السوق. ومع تشكّل البنية المستقبلية للأعمال، تبرز حقيقة واحدة: أن التميّز الحقيقي ينبع من التكامل الوثيق بين رأس المال البشري والابتكار التقني.</a:t>
            </a:r>
            <a:endParaRPr lang="ar-SA" sz="1130" dirty="0"/>
          </a:p>
        </p:txBody>
      </p:sp>
      <p:sp>
        <p:nvSpPr>
          <p:cNvPr id="5" name="Text 3"/>
          <p:cNvSpPr/>
          <p:nvPr/>
        </p:nvSpPr>
        <p:spPr>
          <a:xfrm>
            <a:off x="2898648" y="3136392"/>
            <a:ext cx="4160520" cy="1165860"/>
          </a:xfrm>
          <a:prstGeom prst="rect">
            <a:avLst/>
          </a:prstGeom>
          <a:noFill/>
          <a:ln/>
        </p:spPr>
        <p:txBody>
          <a:bodyPr wrap="square" rtlCol="0" anchor="t"/>
          <a:lstStyle/>
          <a:p>
            <a:pPr marL="0" indent="0" algn="r" rtl="1">
              <a:lnSpc>
                <a:spcPct val="127400"/>
              </a:lnSpc>
              <a:buNone/>
            </a:pPr>
            <a:r>
              <a:rPr lang="ar-SA" altLang="en-US" sz="1130" dirty="0">
                <a:solidFill>
                  <a:srgbClr val="2B2A27"/>
                </a:solidFill>
                <a:latin typeface="Arial" pitchFamily="34" charset="0"/>
                <a:ea typeface="Arial" pitchFamily="34" charset="-122"/>
                <a:cs typeface="Arial" pitchFamily="34" charset="-120"/>
              </a:rPr>
              <a:t>أسسنا Altus Gulf لسدّ فجوة هيكلية في السوق؛ فكثيرًا ما يُطلب من ملّاك الأصول وفرق القيادة العليا الاختيار بين مستشاري مشغّلي الضيافة التقليديين ووكالات رقمية قائمة بذاتها. وتقف Altus Gulf عند نقطة التقاء دقيقة ومتعددة التخصصات بين الطرفين.</a:t>
            </a:r>
            <a:endParaRPr lang="ar-SA" sz="1130" dirty="0"/>
          </a:p>
        </p:txBody>
      </p:sp>
      <p:sp>
        <p:nvSpPr>
          <p:cNvPr id="6" name="Text 4"/>
          <p:cNvSpPr/>
          <p:nvPr/>
        </p:nvSpPr>
        <p:spPr>
          <a:xfrm>
            <a:off x="2898648" y="4503420"/>
            <a:ext cx="4160520" cy="1595628"/>
          </a:xfrm>
          <a:prstGeom prst="rect">
            <a:avLst/>
          </a:prstGeom>
          <a:noFill/>
          <a:ln/>
        </p:spPr>
        <p:txBody>
          <a:bodyPr wrap="square" rtlCol="0" anchor="t"/>
          <a:lstStyle/>
          <a:p>
            <a:pPr marL="0" indent="0" algn="r" rtl="1">
              <a:lnSpc>
                <a:spcPct val="127400"/>
              </a:lnSpc>
              <a:buNone/>
            </a:pPr>
            <a:r>
              <a:rPr lang="ar-SA" altLang="en-US" sz="1130" dirty="0">
                <a:solidFill>
                  <a:srgbClr val="2B2A27"/>
                </a:solidFill>
                <a:latin typeface="Arial" pitchFamily="34" charset="0"/>
                <a:ea typeface="Arial" pitchFamily="34" charset="-122"/>
                <a:cs typeface="Arial" pitchFamily="34" charset="-120"/>
              </a:rPr>
              <a:t>نُقدّم الدليل على الحدس. فنحن ننطلق من التحليلات التجريبية المتقدمة، ونُسهم في هندسة نمو قابل للقياس، وندعم تحويل الأصول المادية إلى مؤسسات عالية الأداء تعتمد الرقمنة أولًا. وقد امتدّ هذا الإيمان اليوم إلى المنتج؛ إذ تعمل منصتنا الخاصة Altus Gulf للمعرفة والأداء في قطاع الضيافة على مأسسة الخبرة ذاتها التي نقدّم بها استشاراتنا.</a:t>
            </a:r>
            <a:endParaRPr lang="ar-SA" sz="1130" dirty="0"/>
          </a:p>
        </p:txBody>
      </p:sp>
      <p:sp>
        <p:nvSpPr>
          <p:cNvPr id="7" name="Text 5"/>
          <p:cNvSpPr/>
          <p:nvPr/>
        </p:nvSpPr>
        <p:spPr>
          <a:xfrm>
            <a:off x="2898648" y="6300216"/>
            <a:ext cx="4160520" cy="1165860"/>
          </a:xfrm>
          <a:prstGeom prst="rect">
            <a:avLst/>
          </a:prstGeom>
          <a:noFill/>
          <a:ln/>
        </p:spPr>
        <p:txBody>
          <a:bodyPr wrap="square" rtlCol="0" anchor="t"/>
          <a:lstStyle/>
          <a:p>
            <a:pPr marL="0" indent="0" algn="r" rtl="1">
              <a:lnSpc>
                <a:spcPct val="127400"/>
              </a:lnSpc>
              <a:buNone/>
            </a:pPr>
            <a:r>
              <a:rPr lang="ar-SA" altLang="en-US" sz="1130" dirty="0">
                <a:solidFill>
                  <a:srgbClr val="2B2A27"/>
                </a:solidFill>
                <a:latin typeface="Arial" pitchFamily="34" charset="0"/>
                <a:ea typeface="Arial" pitchFamily="34" charset="-122"/>
                <a:cs typeface="Arial" pitchFamily="34" charset="-120"/>
              </a:rPr>
              <a:t>نهجنا واضح وبسيط: نقف إلى جانبك كتفًا بكتف، من المخطط الأول مرورًا بالتنفيذ المستمر وما بعده، حتى تبلغ مؤسستك مستوى أعلى من الاتساق التشغيلي والاستقرار والثقة. قد ينتهي التعاقد، لكن الشراكة تبقى.</a:t>
            </a:r>
            <a:endParaRPr lang="ar-SA" sz="1130" dirty="0"/>
          </a:p>
        </p:txBody>
      </p:sp>
      <p:sp>
        <p:nvSpPr>
          <p:cNvPr id="8" name="Shape 6"/>
          <p:cNvSpPr/>
          <p:nvPr/>
        </p:nvSpPr>
        <p:spPr>
          <a:xfrm>
            <a:off x="2898648" y="7868412"/>
            <a:ext cx="4160520" cy="1051560"/>
          </a:xfrm>
          <a:prstGeom prst="roundRect">
            <a:avLst>
              <a:gd name="adj" fmla="val 3478"/>
            </a:avLst>
          </a:prstGeom>
          <a:solidFill>
            <a:srgbClr val="0B1B2B"/>
          </a:solidFill>
          <a:ln/>
        </p:spPr>
      </p:sp>
      <p:sp>
        <p:nvSpPr>
          <p:cNvPr id="9" name="Text 7"/>
          <p:cNvSpPr/>
          <p:nvPr/>
        </p:nvSpPr>
        <p:spPr>
          <a:xfrm>
            <a:off x="6464808" y="7822692"/>
            <a:ext cx="457200" cy="548640"/>
          </a:xfrm>
          <a:prstGeom prst="rect">
            <a:avLst/>
          </a:prstGeom>
          <a:noFill/>
          <a:ln/>
        </p:spPr>
        <p:txBody>
          <a:bodyPr wrap="square" rtlCol="0" anchor="ctr"/>
          <a:lstStyle/>
          <a:p>
            <a:pPr marL="0" indent="0" algn="r">
              <a:buNone/>
            </a:pPr>
            <a:r>
              <a:rPr lang="en-US" sz="4000" b="1" dirty="0">
                <a:solidFill>
                  <a:srgbClr val="C9A15A"/>
                </a:solidFill>
                <a:latin typeface="Arial" pitchFamily="34" charset="0"/>
                <a:ea typeface="Arial" pitchFamily="34" charset="-122"/>
                <a:cs typeface="Arial" pitchFamily="34" charset="-120"/>
              </a:rPr>
              <a:t>"</a:t>
            </a:r>
            <a:endParaRPr lang="en-US" sz="4000" dirty="0"/>
          </a:p>
        </p:txBody>
      </p:sp>
      <p:sp>
        <p:nvSpPr>
          <p:cNvPr id="10" name="Text 8"/>
          <p:cNvSpPr/>
          <p:nvPr/>
        </p:nvSpPr>
        <p:spPr>
          <a:xfrm>
            <a:off x="3127248" y="7996428"/>
            <a:ext cx="3657600" cy="621792"/>
          </a:xfrm>
          <a:prstGeom prst="rect">
            <a:avLst/>
          </a:prstGeom>
          <a:noFill/>
          <a:ln/>
        </p:spPr>
        <p:txBody>
          <a:bodyPr wrap="square" rtlCol="0" anchor="t"/>
          <a:lstStyle/>
          <a:p>
            <a:pPr marL="0" indent="0" algn="r" rtl="1">
              <a:lnSpc>
                <a:spcPct val="119560"/>
              </a:lnSpc>
              <a:buNone/>
            </a:pPr>
            <a:r>
              <a:rPr lang="ar-SA" altLang="en-US" sz="1110" dirty="0">
                <a:solidFill>
                  <a:srgbClr val="FFFFFF"/>
                </a:solidFill>
                <a:latin typeface="Arial" pitchFamily="34" charset="0"/>
                <a:ea typeface="Arial" pitchFamily="34" charset="-122"/>
                <a:cs typeface="Arial" pitchFamily="34" charset="-120"/>
              </a:rPr>
              <a:t>الاعتبارات التجارية جزء من واقع الأعمال، لكنها عندنا تأتي في المرتبة الثانية. أما الأولوية فهي أن نساعدك على صنع قصة نجاح حقيقية.</a:t>
            </a:r>
            <a:endParaRPr lang="ar-SA" sz="1110" dirty="0"/>
          </a:p>
        </p:txBody>
      </p:sp>
      <p:sp>
        <p:nvSpPr>
          <p:cNvPr id="11" name="Text 9"/>
          <p:cNvSpPr/>
          <p:nvPr/>
        </p:nvSpPr>
        <p:spPr>
          <a:xfrm>
            <a:off x="3127248" y="8654796"/>
            <a:ext cx="3657600" cy="228600"/>
          </a:xfrm>
          <a:prstGeom prst="rect">
            <a:avLst/>
          </a:prstGeom>
          <a:noFill/>
          <a:ln/>
        </p:spPr>
        <p:txBody>
          <a:bodyPr wrap="square" rtlCol="0" anchor="ctr"/>
          <a:lstStyle/>
          <a:p>
            <a:pPr marL="0" indent="0" algn="r" rtl="1">
              <a:lnSpc>
                <a:spcPct val="98000"/>
              </a:lnSpc>
              <a:buNone/>
            </a:pPr>
            <a:r>
              <a:rPr lang="ar-SA" altLang="en-US" sz="850" b="1" dirty="0">
                <a:solidFill>
                  <a:srgbClr val="E4C98A"/>
                </a:solidFill>
                <a:latin typeface="Arial" pitchFamily="34" charset="0"/>
                <a:ea typeface="Arial" pitchFamily="34" charset="-122"/>
                <a:cs typeface="Arial" pitchFamily="34" charset="-120"/>
              </a:rPr>
              <a:t>إسلام محروس  •  حسام </a:t>
            </a:r>
            <a:r>
              <a:rPr lang="ar-SA" altLang="en-US" sz="850" b="1" dirty="0" smtClean="0">
                <a:solidFill>
                  <a:srgbClr val="E4C98A"/>
                </a:solidFill>
                <a:latin typeface="Arial" pitchFamily="34" charset="0"/>
                <a:ea typeface="Arial" pitchFamily="34" charset="-122"/>
                <a:cs typeface="Arial" pitchFamily="34" charset="-120"/>
              </a:rPr>
              <a:t>صمادي — </a:t>
            </a:r>
            <a:r>
              <a:rPr lang="ar-SA" altLang="en-US" sz="850" b="1" dirty="0">
                <a:solidFill>
                  <a:srgbClr val="E4C98A"/>
                </a:solidFill>
                <a:latin typeface="Arial" pitchFamily="34" charset="0"/>
                <a:ea typeface="Arial" pitchFamily="34" charset="-122"/>
                <a:cs typeface="Arial" pitchFamily="34" charset="-120"/>
              </a:rPr>
              <a:t>الشريكان المؤسسان، Altus Gulf</a:t>
            </a:r>
            <a:endParaRPr lang="ar-SA" sz="850" dirty="0"/>
          </a:p>
        </p:txBody>
      </p:sp>
      <p:sp>
        <p:nvSpPr>
          <p:cNvPr id="12" name="Shape 10"/>
          <p:cNvSpPr/>
          <p:nvPr/>
        </p:nvSpPr>
        <p:spPr>
          <a:xfrm>
            <a:off x="502920" y="1554480"/>
            <a:ext cx="2121408" cy="2331720"/>
          </a:xfrm>
          <a:prstGeom prst="roundRect">
            <a:avLst>
              <a:gd name="adj" fmla="val 2155"/>
            </a:avLst>
          </a:prstGeom>
          <a:solidFill>
            <a:srgbClr val="FFFFFF"/>
          </a:solidFill>
          <a:ln w="9525">
            <a:solidFill>
              <a:srgbClr val="E4DDCB"/>
            </a:solidFill>
            <a:prstDash val="solid"/>
          </a:ln>
        </p:spPr>
      </p:sp>
      <p:sp>
        <p:nvSpPr>
          <p:cNvPr id="13" name="Shape 11"/>
          <p:cNvSpPr/>
          <p:nvPr/>
        </p:nvSpPr>
        <p:spPr>
          <a:xfrm>
            <a:off x="877824" y="1755648"/>
            <a:ext cx="1371600" cy="1371600"/>
          </a:xfrm>
          <a:prstGeom prst="ellipse">
            <a:avLst/>
          </a:prstGeom>
          <a:solidFill>
            <a:srgbClr val="F3EEE4"/>
          </a:solidFill>
          <a:ln w="19050">
            <a:solidFill>
              <a:srgbClr val="C9A15A"/>
            </a:solidFill>
            <a:prstDash val="solid"/>
          </a:ln>
        </p:spPr>
      </p:sp>
      <p:pic>
        <p:nvPicPr>
          <p:cNvPr id="14" name="Image 0" descr="/home/claude/assets/founder_islam.jpg"/>
          <p:cNvPicPr>
            <a:picLocks noChangeAspect="1"/>
          </p:cNvPicPr>
          <p:nvPr/>
        </p:nvPicPr>
        <p:blipFill>
          <a:blip r:embed="rId3"/>
          <a:stretch>
            <a:fillRect/>
          </a:stretch>
        </p:blipFill>
        <p:spPr>
          <a:xfrm>
            <a:off x="950976" y="1828800"/>
            <a:ext cx="1225296" cy="1225296"/>
          </a:xfrm>
          <a:prstGeom prst="ellipse">
            <a:avLst/>
          </a:prstGeom>
        </p:spPr>
      </p:pic>
      <p:sp>
        <p:nvSpPr>
          <p:cNvPr id="15" name="Text 12"/>
          <p:cNvSpPr/>
          <p:nvPr/>
        </p:nvSpPr>
        <p:spPr>
          <a:xfrm>
            <a:off x="594360" y="3246120"/>
            <a:ext cx="1938528" cy="274320"/>
          </a:xfrm>
          <a:prstGeom prst="rect">
            <a:avLst/>
          </a:prstGeom>
          <a:noFill/>
          <a:ln/>
        </p:spPr>
        <p:txBody>
          <a:bodyPr wrap="square" rtlCol="0" anchor="ctr"/>
          <a:lstStyle/>
          <a:p>
            <a:pPr marL="0" indent="0" algn="ctr" rtl="1">
              <a:lnSpc>
                <a:spcPct val="98000"/>
              </a:lnSpc>
              <a:buNone/>
            </a:pPr>
            <a:r>
              <a:rPr lang="ar-SA" altLang="en-US" sz="1440" b="1" dirty="0">
                <a:solidFill>
                  <a:srgbClr val="0B1B2B"/>
                </a:solidFill>
                <a:latin typeface="Arial" pitchFamily="34" charset="0"/>
                <a:ea typeface="Arial" pitchFamily="34" charset="-122"/>
                <a:cs typeface="Arial" pitchFamily="34" charset="-120"/>
              </a:rPr>
              <a:t>إسلام محروس</a:t>
            </a:r>
            <a:endParaRPr lang="ar-SA" sz="1440" dirty="0"/>
          </a:p>
        </p:txBody>
      </p:sp>
      <p:sp>
        <p:nvSpPr>
          <p:cNvPr id="16" name="Text 13"/>
          <p:cNvSpPr/>
          <p:nvPr/>
        </p:nvSpPr>
        <p:spPr>
          <a:xfrm>
            <a:off x="640080" y="3438144"/>
            <a:ext cx="1847088" cy="420624"/>
          </a:xfrm>
          <a:prstGeom prst="rect">
            <a:avLst/>
          </a:prstGeom>
          <a:noFill/>
          <a:ln/>
        </p:spPr>
        <p:txBody>
          <a:bodyPr wrap="square" rtlCol="0" anchor="ctr"/>
          <a:lstStyle/>
          <a:p>
            <a:pPr marL="0" indent="0" algn="ctr" rtl="1">
              <a:lnSpc>
                <a:spcPct val="107800"/>
              </a:lnSpc>
              <a:buNone/>
            </a:pPr>
            <a:r>
              <a:rPr lang="ar-SA" altLang="en-US" sz="740" dirty="0">
                <a:solidFill>
                  <a:srgbClr val="6B675F"/>
                </a:solidFill>
                <a:latin typeface="Arial" pitchFamily="34" charset="0"/>
                <a:ea typeface="Arial" pitchFamily="34" charset="-122"/>
                <a:cs typeface="Arial" pitchFamily="34" charset="-120"/>
              </a:rPr>
              <a:t>شريك مؤسس — العلامة التجارية والاستراتيجية التجارية والتحول الرقمي المدعوم بالذكاء الاصطناعي</a:t>
            </a:r>
            <a:endParaRPr lang="ar-SA" sz="740" dirty="0"/>
          </a:p>
        </p:txBody>
      </p:sp>
      <p:sp>
        <p:nvSpPr>
          <p:cNvPr id="17" name="Shape 14"/>
          <p:cNvSpPr/>
          <p:nvPr/>
        </p:nvSpPr>
        <p:spPr>
          <a:xfrm>
            <a:off x="502920" y="4114800"/>
            <a:ext cx="2121408" cy="2331720"/>
          </a:xfrm>
          <a:prstGeom prst="roundRect">
            <a:avLst>
              <a:gd name="adj" fmla="val 2155"/>
            </a:avLst>
          </a:prstGeom>
          <a:solidFill>
            <a:srgbClr val="FFFFFF"/>
          </a:solidFill>
          <a:ln w="9525">
            <a:solidFill>
              <a:srgbClr val="E4DDCB"/>
            </a:solidFill>
            <a:prstDash val="solid"/>
          </a:ln>
        </p:spPr>
      </p:sp>
      <p:sp>
        <p:nvSpPr>
          <p:cNvPr id="18" name="Shape 15"/>
          <p:cNvSpPr/>
          <p:nvPr/>
        </p:nvSpPr>
        <p:spPr>
          <a:xfrm>
            <a:off x="877824" y="4315968"/>
            <a:ext cx="1371600" cy="1371600"/>
          </a:xfrm>
          <a:prstGeom prst="ellipse">
            <a:avLst/>
          </a:prstGeom>
          <a:solidFill>
            <a:srgbClr val="F3EEE4"/>
          </a:solidFill>
          <a:ln w="19050">
            <a:solidFill>
              <a:srgbClr val="C9A15A"/>
            </a:solidFill>
            <a:prstDash val="solid"/>
          </a:ln>
        </p:spPr>
      </p:sp>
      <p:pic>
        <p:nvPicPr>
          <p:cNvPr id="19" name="Image 1" descr="/home/claude/assets/founder_hossam.jpg"/>
          <p:cNvPicPr>
            <a:picLocks noChangeAspect="1"/>
          </p:cNvPicPr>
          <p:nvPr/>
        </p:nvPicPr>
        <p:blipFill>
          <a:blip r:embed="rId4"/>
          <a:stretch>
            <a:fillRect/>
          </a:stretch>
        </p:blipFill>
        <p:spPr>
          <a:xfrm>
            <a:off x="950976" y="4389120"/>
            <a:ext cx="1225296" cy="1225296"/>
          </a:xfrm>
          <a:prstGeom prst="ellipse">
            <a:avLst/>
          </a:prstGeom>
        </p:spPr>
      </p:pic>
      <p:sp>
        <p:nvSpPr>
          <p:cNvPr id="20" name="Text 16"/>
          <p:cNvSpPr/>
          <p:nvPr/>
        </p:nvSpPr>
        <p:spPr>
          <a:xfrm>
            <a:off x="594360" y="5806440"/>
            <a:ext cx="1938528" cy="274320"/>
          </a:xfrm>
          <a:prstGeom prst="rect">
            <a:avLst/>
          </a:prstGeom>
          <a:noFill/>
          <a:ln/>
        </p:spPr>
        <p:txBody>
          <a:bodyPr wrap="square" rtlCol="0" anchor="ctr"/>
          <a:lstStyle/>
          <a:p>
            <a:pPr marL="0" indent="0" algn="ctr" rtl="1">
              <a:lnSpc>
                <a:spcPct val="98000"/>
              </a:lnSpc>
              <a:buNone/>
            </a:pPr>
            <a:r>
              <a:rPr lang="ar-SA" altLang="en-US" sz="1440" b="1" dirty="0">
                <a:solidFill>
                  <a:srgbClr val="0B1B2B"/>
                </a:solidFill>
                <a:latin typeface="Arial" pitchFamily="34" charset="0"/>
                <a:ea typeface="Arial" pitchFamily="34" charset="-122"/>
                <a:cs typeface="Arial" pitchFamily="34" charset="-120"/>
              </a:rPr>
              <a:t>حسام الصمادي</a:t>
            </a:r>
            <a:endParaRPr lang="ar-SA" sz="1440" dirty="0"/>
          </a:p>
        </p:txBody>
      </p:sp>
      <p:sp>
        <p:nvSpPr>
          <p:cNvPr id="21" name="Text 17"/>
          <p:cNvSpPr/>
          <p:nvPr/>
        </p:nvSpPr>
        <p:spPr>
          <a:xfrm>
            <a:off x="640080" y="5998464"/>
            <a:ext cx="1847088" cy="420624"/>
          </a:xfrm>
          <a:prstGeom prst="rect">
            <a:avLst/>
          </a:prstGeom>
          <a:noFill/>
          <a:ln/>
        </p:spPr>
        <p:txBody>
          <a:bodyPr wrap="square" rtlCol="0" anchor="ctr"/>
          <a:lstStyle/>
          <a:p>
            <a:pPr marL="0" indent="0" algn="ctr" rtl="1">
              <a:lnSpc>
                <a:spcPct val="107800"/>
              </a:lnSpc>
              <a:buNone/>
            </a:pPr>
            <a:r>
              <a:rPr lang="ar-SA" altLang="en-US" sz="740" dirty="0">
                <a:solidFill>
                  <a:srgbClr val="6B675F"/>
                </a:solidFill>
                <a:latin typeface="Arial" pitchFamily="34" charset="0"/>
                <a:ea typeface="Arial" pitchFamily="34" charset="-122"/>
                <a:cs typeface="Arial" pitchFamily="34" charset="-120"/>
              </a:rPr>
              <a:t>شريك مؤسس — عمليات الضيافة وإدارة الأصول</a:t>
            </a:r>
            <a:endParaRPr lang="ar-SA" sz="740" dirty="0"/>
          </a:p>
        </p:txBody>
      </p:sp>
      <p:sp>
        <p:nvSpPr>
          <p:cNvPr id="22" name="Text 18"/>
          <p:cNvSpPr/>
          <p:nvPr/>
        </p:nvSpPr>
        <p:spPr>
          <a:xfrm>
            <a:off x="1917192" y="6675120"/>
            <a:ext cx="707136" cy="365760"/>
          </a:xfrm>
          <a:prstGeom prst="rect">
            <a:avLst/>
          </a:prstGeom>
          <a:noFill/>
          <a:ln/>
        </p:spPr>
        <p:txBody>
          <a:bodyPr wrap="square" rtlCol="0" anchor="ctr"/>
          <a:lstStyle/>
          <a:p>
            <a:pPr marL="0" indent="0" algn="ctr">
              <a:buNone/>
            </a:pPr>
            <a:r>
              <a:rPr lang="en-US" sz="2000" dirty="0">
                <a:solidFill>
                  <a:srgbClr val="C1501D"/>
                </a:solidFill>
                <a:latin typeface="Arial" pitchFamily="34" charset="0"/>
                <a:ea typeface="Arial" pitchFamily="34" charset="-122"/>
                <a:cs typeface="Arial" pitchFamily="34" charset="-120"/>
              </a:rPr>
              <a:t>60+</a:t>
            </a:r>
            <a:endParaRPr lang="en-US" sz="2000" dirty="0"/>
          </a:p>
        </p:txBody>
      </p:sp>
      <p:sp>
        <p:nvSpPr>
          <p:cNvPr id="23" name="Text 19"/>
          <p:cNvSpPr/>
          <p:nvPr/>
        </p:nvSpPr>
        <p:spPr>
          <a:xfrm>
            <a:off x="1944624" y="7059168"/>
            <a:ext cx="652272" cy="457200"/>
          </a:xfrm>
          <a:prstGeom prst="rect">
            <a:avLst/>
          </a:prstGeom>
          <a:noFill/>
          <a:ln/>
        </p:spPr>
        <p:txBody>
          <a:bodyPr wrap="square" rtlCol="0" anchor="ctr"/>
          <a:lstStyle/>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سنوات خبرة</a:t>
            </a:r>
            <a:endParaRPr lang="ar-SA" sz="780" dirty="0"/>
          </a:p>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قيادية مجتمعة</a:t>
            </a:r>
            <a:endParaRPr lang="ar-SA" sz="780" dirty="0"/>
          </a:p>
        </p:txBody>
      </p:sp>
      <p:sp>
        <p:nvSpPr>
          <p:cNvPr id="24" name="Text 20"/>
          <p:cNvSpPr/>
          <p:nvPr/>
        </p:nvSpPr>
        <p:spPr>
          <a:xfrm>
            <a:off x="1210056" y="6675120"/>
            <a:ext cx="707136" cy="365760"/>
          </a:xfrm>
          <a:prstGeom prst="rect">
            <a:avLst/>
          </a:prstGeom>
          <a:noFill/>
          <a:ln/>
        </p:spPr>
        <p:txBody>
          <a:bodyPr wrap="square" rtlCol="0" anchor="ctr"/>
          <a:lstStyle/>
          <a:p>
            <a:pPr marL="0" indent="0" algn="ctr">
              <a:buNone/>
            </a:pPr>
            <a:r>
              <a:rPr lang="en-US" sz="2000" dirty="0">
                <a:solidFill>
                  <a:srgbClr val="C1501D"/>
                </a:solidFill>
                <a:latin typeface="Arial" pitchFamily="34" charset="0"/>
                <a:ea typeface="Arial" pitchFamily="34" charset="-122"/>
                <a:cs typeface="Arial" pitchFamily="34" charset="-120"/>
              </a:rPr>
              <a:t>4</a:t>
            </a:r>
            <a:endParaRPr lang="en-US" sz="2000" dirty="0"/>
          </a:p>
        </p:txBody>
      </p:sp>
      <p:sp>
        <p:nvSpPr>
          <p:cNvPr id="25" name="Text 21"/>
          <p:cNvSpPr/>
          <p:nvPr/>
        </p:nvSpPr>
        <p:spPr>
          <a:xfrm>
            <a:off x="1237488" y="7059168"/>
            <a:ext cx="652272" cy="457200"/>
          </a:xfrm>
          <a:prstGeom prst="rect">
            <a:avLst/>
          </a:prstGeom>
          <a:noFill/>
          <a:ln/>
        </p:spPr>
        <p:txBody>
          <a:bodyPr wrap="square" rtlCol="0" anchor="ctr"/>
          <a:lstStyle/>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أنظمة علامات</a:t>
            </a:r>
            <a:endParaRPr lang="ar-SA" sz="780" dirty="0"/>
          </a:p>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عالمية</a:t>
            </a:r>
            <a:endParaRPr lang="ar-SA" sz="780" dirty="0"/>
          </a:p>
        </p:txBody>
      </p:sp>
      <p:sp>
        <p:nvSpPr>
          <p:cNvPr id="26" name="Text 22"/>
          <p:cNvSpPr/>
          <p:nvPr/>
        </p:nvSpPr>
        <p:spPr>
          <a:xfrm>
            <a:off x="502920" y="6675120"/>
            <a:ext cx="707136" cy="365760"/>
          </a:xfrm>
          <a:prstGeom prst="rect">
            <a:avLst/>
          </a:prstGeom>
          <a:noFill/>
          <a:ln/>
        </p:spPr>
        <p:txBody>
          <a:bodyPr wrap="square" rtlCol="0" anchor="ctr"/>
          <a:lstStyle/>
          <a:p>
            <a:pPr marL="0" indent="0" algn="ctr">
              <a:buNone/>
            </a:pPr>
            <a:r>
              <a:rPr lang="en-US" sz="2000" dirty="0">
                <a:solidFill>
                  <a:srgbClr val="C1501D"/>
                </a:solidFill>
                <a:latin typeface="Arial" pitchFamily="34" charset="0"/>
                <a:ea typeface="Arial" pitchFamily="34" charset="-122"/>
                <a:cs typeface="Arial" pitchFamily="34" charset="-120"/>
              </a:rPr>
              <a:t>3</a:t>
            </a:r>
            <a:endParaRPr lang="en-US" sz="2000" dirty="0"/>
          </a:p>
        </p:txBody>
      </p:sp>
      <p:sp>
        <p:nvSpPr>
          <p:cNvPr id="27" name="Text 23"/>
          <p:cNvSpPr/>
          <p:nvPr/>
        </p:nvSpPr>
        <p:spPr>
          <a:xfrm>
            <a:off x="530352" y="7059168"/>
            <a:ext cx="652272" cy="457200"/>
          </a:xfrm>
          <a:prstGeom prst="rect">
            <a:avLst/>
          </a:prstGeom>
          <a:noFill/>
          <a:ln/>
        </p:spPr>
        <p:txBody>
          <a:bodyPr wrap="square" rtlCol="0" anchor="ctr"/>
          <a:lstStyle/>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المناطق: الخليج،</a:t>
            </a:r>
            <a:endParaRPr lang="ar-SA" sz="780" dirty="0"/>
          </a:p>
          <a:p>
            <a:pPr marL="0" indent="0" algn="ctr" rtl="1">
              <a:lnSpc>
                <a:spcPct val="102900"/>
              </a:lnSpc>
              <a:buNone/>
            </a:pPr>
            <a:r>
              <a:rPr lang="ar-SA" altLang="en-US" sz="780" dirty="0">
                <a:solidFill>
                  <a:srgbClr val="6B675F"/>
                </a:solidFill>
                <a:latin typeface="Arial" pitchFamily="34" charset="0"/>
                <a:ea typeface="Arial" pitchFamily="34" charset="-122"/>
                <a:cs typeface="Arial" pitchFamily="34" charset="-120"/>
              </a:rPr>
              <a:t>مصر، شمال أفريقيا</a:t>
            </a:r>
            <a:endParaRPr lang="ar-SA" sz="780" dirty="0"/>
          </a:p>
        </p:txBody>
      </p:sp>
      <p:pic>
        <p:nvPicPr>
          <p:cNvPr id="28" name="Image 2" descr="/home/claude/assets/monogram.png"/>
          <p:cNvPicPr>
            <a:picLocks noChangeAspect="1"/>
          </p:cNvPicPr>
          <p:nvPr/>
        </p:nvPicPr>
        <p:blipFill>
          <a:blip r:embed="rId5">
            <a:alphaModFix amt="22000"/>
          </a:blip>
          <a:stretch>
            <a:fillRect/>
          </a:stretch>
        </p:blipFill>
        <p:spPr>
          <a:xfrm>
            <a:off x="3278124" y="9189720"/>
            <a:ext cx="1005840" cy="859536"/>
          </a:xfrm>
          <a:prstGeom prst="rect">
            <a:avLst/>
          </a:prstGeom>
        </p:spPr>
      </p:pic>
      <p:sp>
        <p:nvSpPr>
          <p:cNvPr id="29" name="Shape 24"/>
          <p:cNvSpPr/>
          <p:nvPr/>
        </p:nvSpPr>
        <p:spPr>
          <a:xfrm>
            <a:off x="502920" y="10186416"/>
            <a:ext cx="6556248" cy="0"/>
          </a:xfrm>
          <a:prstGeom prst="line">
            <a:avLst/>
          </a:prstGeom>
          <a:noFill/>
          <a:ln w="9525">
            <a:solidFill>
              <a:srgbClr val="E4DDCB"/>
            </a:solidFill>
            <a:prstDash val="solid"/>
          </a:ln>
        </p:spPr>
      </p:sp>
      <p:sp>
        <p:nvSpPr>
          <p:cNvPr id="30" name="Text 25"/>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1" name="Text 26"/>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03</a:t>
            </a:r>
            <a:endParaRPr lang="ar-SA" sz="88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02  •  من نحن</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نبذة عن الشركة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Altus Gulf شركة استشارات استراتيجية متخصصة، قائمة على معايير دولية صارمة. نعمل حيث تلتقي عمليات الضيافة بذكاء الأعمال التطبيقي، ونخدم ملّاك الأصول والمستثمرين والشركات الطموحة في المملكة العربية السعودية ودول الخليج والأسواق العالمية.</a:t>
            </a:r>
            <a:endParaRPr lang="ar-SA" sz="1180" dirty="0"/>
          </a:p>
        </p:txBody>
      </p:sp>
      <p:sp>
        <p:nvSpPr>
          <p:cNvPr id="5" name="Shape 3"/>
          <p:cNvSpPr/>
          <p:nvPr/>
        </p:nvSpPr>
        <p:spPr>
          <a:xfrm>
            <a:off x="3918204" y="2103120"/>
            <a:ext cx="3140964" cy="1691640"/>
          </a:xfrm>
          <a:prstGeom prst="roundRect">
            <a:avLst>
              <a:gd name="adj" fmla="val 2703"/>
            </a:avLst>
          </a:prstGeom>
          <a:solidFill>
            <a:srgbClr val="0B1B2B"/>
          </a:solidFill>
          <a:ln/>
        </p:spPr>
      </p:sp>
      <p:sp>
        <p:nvSpPr>
          <p:cNvPr id="6" name="Text 4"/>
          <p:cNvSpPr/>
          <p:nvPr/>
        </p:nvSpPr>
        <p:spPr>
          <a:xfrm>
            <a:off x="4137660" y="2286000"/>
            <a:ext cx="2702052" cy="228600"/>
          </a:xfrm>
          <a:prstGeom prst="rect">
            <a:avLst/>
          </a:prstGeom>
          <a:noFill/>
          <a:ln/>
        </p:spPr>
        <p:txBody>
          <a:bodyPr wrap="square" rtlCol="0" anchor="ctr"/>
          <a:lstStyle/>
          <a:p>
            <a:pPr marL="0" indent="0" algn="r" rtl="1">
              <a:lnSpc>
                <a:spcPct val="98000"/>
              </a:lnSpc>
              <a:buNone/>
            </a:pPr>
            <a:r>
              <a:rPr lang="ar-SA" altLang="en-US" sz="1030" b="1" dirty="0">
                <a:solidFill>
                  <a:srgbClr val="E4C98A"/>
                </a:solidFill>
                <a:latin typeface="Arial" pitchFamily="34" charset="0"/>
                <a:ea typeface="Arial" pitchFamily="34" charset="-122"/>
                <a:cs typeface="Arial" pitchFamily="34" charset="-120"/>
              </a:rPr>
              <a:t>رؤيتنا</a:t>
            </a:r>
            <a:endParaRPr lang="ar-SA" sz="1030" dirty="0"/>
          </a:p>
        </p:txBody>
      </p:sp>
      <p:sp>
        <p:nvSpPr>
          <p:cNvPr id="7" name="Text 5"/>
          <p:cNvSpPr/>
          <p:nvPr/>
        </p:nvSpPr>
        <p:spPr>
          <a:xfrm>
            <a:off x="4137660" y="2596896"/>
            <a:ext cx="2702052" cy="1097280"/>
          </a:xfrm>
          <a:prstGeom prst="rect">
            <a:avLst/>
          </a:prstGeom>
          <a:noFill/>
          <a:ln/>
        </p:spPr>
        <p:txBody>
          <a:bodyPr wrap="square" rtlCol="0" anchor="t"/>
          <a:lstStyle/>
          <a:p>
            <a:pPr marL="0" indent="0" algn="r" rtl="1">
              <a:lnSpc>
                <a:spcPct val="125440"/>
              </a:lnSpc>
              <a:buNone/>
            </a:pPr>
            <a:r>
              <a:rPr lang="ar-SA" altLang="en-US" sz="1080" dirty="0">
                <a:solidFill>
                  <a:srgbClr val="B9C3CC"/>
                </a:solidFill>
                <a:latin typeface="Arial" pitchFamily="34" charset="0"/>
                <a:ea typeface="Arial" pitchFamily="34" charset="-122"/>
                <a:cs typeface="Arial" pitchFamily="34" charset="-120"/>
              </a:rPr>
              <a:t>أن نكون محفّزًا استراتيجيًا رائدًا للتميّز في الضيافة وللتحول المؤسسي، ندعم المؤسسين الجريئين والشركات المتنامية وأصحاب الرؤى وهم يرسمون مستقبل أداء الأعمال.</a:t>
            </a:r>
            <a:endParaRPr lang="ar-SA" sz="1080" dirty="0"/>
          </a:p>
        </p:txBody>
      </p:sp>
      <p:sp>
        <p:nvSpPr>
          <p:cNvPr id="8" name="Shape 6"/>
          <p:cNvSpPr/>
          <p:nvPr/>
        </p:nvSpPr>
        <p:spPr>
          <a:xfrm>
            <a:off x="502920" y="2103120"/>
            <a:ext cx="3140964" cy="1691640"/>
          </a:xfrm>
          <a:prstGeom prst="roundRect">
            <a:avLst>
              <a:gd name="adj" fmla="val 2703"/>
            </a:avLst>
          </a:prstGeom>
          <a:solidFill>
            <a:srgbClr val="FFFFFF"/>
          </a:solidFill>
          <a:ln w="9525">
            <a:solidFill>
              <a:srgbClr val="E4DDCB"/>
            </a:solidFill>
            <a:prstDash val="solid"/>
          </a:ln>
        </p:spPr>
      </p:sp>
      <p:sp>
        <p:nvSpPr>
          <p:cNvPr id="9" name="Text 7"/>
          <p:cNvSpPr/>
          <p:nvPr/>
        </p:nvSpPr>
        <p:spPr>
          <a:xfrm>
            <a:off x="722376" y="2286000"/>
            <a:ext cx="2702052" cy="228600"/>
          </a:xfrm>
          <a:prstGeom prst="rect">
            <a:avLst/>
          </a:prstGeom>
          <a:noFill/>
          <a:ln/>
        </p:spPr>
        <p:txBody>
          <a:bodyPr wrap="square" rtlCol="0" anchor="ctr"/>
          <a:lstStyle/>
          <a:p>
            <a:pPr marL="0" indent="0" algn="r" rtl="1">
              <a:lnSpc>
                <a:spcPct val="98000"/>
              </a:lnSpc>
              <a:buNone/>
            </a:pPr>
            <a:r>
              <a:rPr lang="ar-SA" altLang="en-US" sz="1030" b="1" dirty="0">
                <a:solidFill>
                  <a:srgbClr val="C1501D"/>
                </a:solidFill>
                <a:latin typeface="Arial" pitchFamily="34" charset="0"/>
                <a:ea typeface="Arial" pitchFamily="34" charset="-122"/>
                <a:cs typeface="Arial" pitchFamily="34" charset="-120"/>
              </a:rPr>
              <a:t>رسالتنا</a:t>
            </a:r>
            <a:endParaRPr lang="ar-SA" sz="1030" dirty="0"/>
          </a:p>
        </p:txBody>
      </p:sp>
      <p:sp>
        <p:nvSpPr>
          <p:cNvPr id="10" name="Text 8"/>
          <p:cNvSpPr/>
          <p:nvPr/>
        </p:nvSpPr>
        <p:spPr>
          <a:xfrm>
            <a:off x="722376" y="2596896"/>
            <a:ext cx="2702052" cy="1097280"/>
          </a:xfrm>
          <a:prstGeom prst="rect">
            <a:avLst/>
          </a:prstGeom>
          <a:noFill/>
          <a:ln/>
        </p:spPr>
        <p:txBody>
          <a:bodyPr wrap="square" rtlCol="0" anchor="t"/>
          <a:lstStyle/>
          <a:p>
            <a:pPr marL="0" indent="0" algn="r" rtl="1">
              <a:lnSpc>
                <a:spcPct val="125440"/>
              </a:lnSpc>
              <a:buNone/>
            </a:pPr>
            <a:r>
              <a:rPr lang="ar-SA" altLang="en-US" sz="1080" dirty="0">
                <a:solidFill>
                  <a:srgbClr val="2B2A27"/>
                </a:solidFill>
                <a:latin typeface="Arial" pitchFamily="34" charset="0"/>
                <a:ea typeface="Arial" pitchFamily="34" charset="-122"/>
                <a:cs typeface="Arial" pitchFamily="34" charset="-120"/>
              </a:rPr>
              <a:t>تمكين ملّاك الأصول والمستثمرين وقادة الأعمال باستراتيجية قابلة للتنفيذ، وبنية تقنية تطبيقية، وأطر لرأس المال البشري، بما يدعم نمو الإيرادات المستدام والاستقلالية التشغيلية وتجارب متميزة باستمرار عبر كل نقطة تواصل مادية ورقمية.</a:t>
            </a:r>
            <a:endParaRPr lang="ar-SA" sz="1080" dirty="0"/>
          </a:p>
        </p:txBody>
      </p:sp>
      <p:sp>
        <p:nvSpPr>
          <p:cNvPr id="11" name="Text 9"/>
          <p:cNvSpPr/>
          <p:nvPr/>
        </p:nvSpPr>
        <p:spPr>
          <a:xfrm>
            <a:off x="502920" y="4023360"/>
            <a:ext cx="6556248" cy="219456"/>
          </a:xfrm>
          <a:prstGeom prst="rect">
            <a:avLst/>
          </a:prstGeom>
          <a:noFill/>
          <a:ln/>
        </p:spPr>
        <p:txBody>
          <a:bodyPr wrap="square" rtlCol="0" anchor="ctr"/>
          <a:lstStyle/>
          <a:p>
            <a:pPr marL="0" indent="0" algn="r" rtl="1">
              <a:lnSpc>
                <a:spcPct val="98000"/>
              </a:lnSpc>
              <a:buNone/>
            </a:pPr>
            <a:r>
              <a:rPr lang="ar-SA" altLang="en-US" sz="980" b="1" dirty="0">
                <a:solidFill>
                  <a:srgbClr val="C1501D"/>
                </a:solidFill>
                <a:latin typeface="Arial" pitchFamily="34" charset="0"/>
                <a:ea typeface="Arial" pitchFamily="34" charset="-122"/>
                <a:cs typeface="Arial" pitchFamily="34" charset="-120"/>
              </a:rPr>
              <a:t>غايتنا</a:t>
            </a:r>
            <a:endParaRPr lang="ar-SA" sz="980" dirty="0"/>
          </a:p>
        </p:txBody>
      </p:sp>
      <p:sp>
        <p:nvSpPr>
          <p:cNvPr id="12" name="Text 10"/>
          <p:cNvSpPr/>
          <p:nvPr/>
        </p:nvSpPr>
        <p:spPr>
          <a:xfrm>
            <a:off x="502920" y="4279392"/>
            <a:ext cx="6556248" cy="685800"/>
          </a:xfrm>
          <a:prstGeom prst="rect">
            <a:avLst/>
          </a:prstGeom>
          <a:noFill/>
          <a:ln/>
        </p:spPr>
        <p:txBody>
          <a:bodyPr wrap="square" rtlCol="0" anchor="t"/>
          <a:lstStyle/>
          <a:p>
            <a:pPr marL="0" indent="0" algn="r" rtl="1">
              <a:lnSpc>
                <a:spcPct val="129360"/>
              </a:lnSpc>
              <a:buNone/>
            </a:pPr>
            <a:r>
              <a:rPr lang="ar-SA" altLang="en-US" sz="1340" dirty="0">
                <a:solidFill>
                  <a:srgbClr val="0B1B2B"/>
                </a:solidFill>
                <a:latin typeface="Arial" pitchFamily="34" charset="0"/>
                <a:ea typeface="Arial" pitchFamily="34" charset="-122"/>
                <a:cs typeface="Arial" pitchFamily="34" charset="-120"/>
              </a:rPr>
              <a:t>قلب رسالتنا النابض هو دعم الشركات الناشئة والمؤسسات المتنامية وكل مستثمر أو رائد أعمال يحمل طموحًا جريئًا، بصفتنا شريكًا استراتيجيًا موثوقًا يساعد على تحويل الطموح إلى نتائج عملية عالية القيمة في دول الخليج وخارجها.</a:t>
            </a:r>
            <a:endParaRPr lang="ar-SA" sz="1340" dirty="0"/>
          </a:p>
        </p:txBody>
      </p:sp>
      <p:sp>
        <p:nvSpPr>
          <p:cNvPr id="13" name="Text 11"/>
          <p:cNvSpPr/>
          <p:nvPr/>
        </p:nvSpPr>
        <p:spPr>
          <a:xfrm>
            <a:off x="502920" y="5230368"/>
            <a:ext cx="6556248" cy="219456"/>
          </a:xfrm>
          <a:prstGeom prst="rect">
            <a:avLst/>
          </a:prstGeom>
          <a:noFill/>
          <a:ln/>
        </p:spPr>
        <p:txBody>
          <a:bodyPr wrap="square" rtlCol="0" anchor="ctr"/>
          <a:lstStyle/>
          <a:p>
            <a:pPr marL="0" indent="0" algn="r" rtl="1">
              <a:lnSpc>
                <a:spcPct val="98000"/>
              </a:lnSpc>
              <a:buNone/>
            </a:pPr>
            <a:r>
              <a:rPr lang="ar-SA" altLang="en-US" sz="980" b="1" dirty="0">
                <a:solidFill>
                  <a:srgbClr val="C1501D"/>
                </a:solidFill>
                <a:latin typeface="Arial" pitchFamily="34" charset="0"/>
                <a:ea typeface="Arial" pitchFamily="34" charset="-122"/>
                <a:cs typeface="Arial" pitchFamily="34" charset="-120"/>
              </a:rPr>
              <a:t>فلسفتنا الأساسية</a:t>
            </a:r>
            <a:endParaRPr lang="ar-SA" sz="980" dirty="0"/>
          </a:p>
        </p:txBody>
      </p:sp>
      <p:sp>
        <p:nvSpPr>
          <p:cNvPr id="14" name="Shape 12"/>
          <p:cNvSpPr/>
          <p:nvPr/>
        </p:nvSpPr>
        <p:spPr>
          <a:xfrm>
            <a:off x="4995672" y="5541264"/>
            <a:ext cx="2063496" cy="1874520"/>
          </a:xfrm>
          <a:prstGeom prst="roundRect">
            <a:avLst>
              <a:gd name="adj" fmla="val 2927"/>
            </a:avLst>
          </a:prstGeom>
          <a:solidFill>
            <a:srgbClr val="FFFFFF"/>
          </a:solidFill>
          <a:ln w="9525">
            <a:solidFill>
              <a:srgbClr val="E4DDCB"/>
            </a:solidFill>
            <a:prstDash val="solid"/>
          </a:ln>
        </p:spPr>
      </p:sp>
      <p:sp>
        <p:nvSpPr>
          <p:cNvPr id="15" name="Shape 13"/>
          <p:cNvSpPr/>
          <p:nvPr/>
        </p:nvSpPr>
        <p:spPr>
          <a:xfrm>
            <a:off x="6455664" y="5742432"/>
            <a:ext cx="402336" cy="402336"/>
          </a:xfrm>
          <a:prstGeom prst="ellipse">
            <a:avLst/>
          </a:prstGeom>
          <a:solidFill>
            <a:srgbClr val="0F5C42"/>
          </a:solidFill>
          <a:ln/>
        </p:spPr>
      </p:sp>
      <p:pic>
        <p:nvPicPr>
          <p:cNvPr id="16" name="Image 0" descr="/home/claude/assets/icons/compass.png"/>
          <p:cNvPicPr>
            <a:picLocks noChangeAspect="1"/>
          </p:cNvPicPr>
          <p:nvPr/>
        </p:nvPicPr>
        <p:blipFill>
          <a:blip r:embed="rId3"/>
          <a:stretch>
            <a:fillRect/>
          </a:stretch>
        </p:blipFill>
        <p:spPr>
          <a:xfrm>
            <a:off x="6552225" y="5838993"/>
            <a:ext cx="209215" cy="209215"/>
          </a:xfrm>
          <a:prstGeom prst="rect">
            <a:avLst/>
          </a:prstGeom>
        </p:spPr>
      </p:pic>
      <p:sp>
        <p:nvSpPr>
          <p:cNvPr id="17" name="Text 14"/>
          <p:cNvSpPr/>
          <p:nvPr/>
        </p:nvSpPr>
        <p:spPr>
          <a:xfrm>
            <a:off x="5196840" y="5724144"/>
            <a:ext cx="1094232"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انضباط في صف المالك</a:t>
            </a:r>
            <a:endParaRPr lang="ar-SA" sz="1290" dirty="0"/>
          </a:p>
        </p:txBody>
      </p:sp>
      <p:sp>
        <p:nvSpPr>
          <p:cNvPr id="18" name="Text 15"/>
          <p:cNvSpPr/>
          <p:nvPr/>
        </p:nvSpPr>
        <p:spPr>
          <a:xfrm>
            <a:off x="5196840" y="6309360"/>
            <a:ext cx="1661160" cy="10698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نقف في صف المالك: باستقلالية وانخراط وثيق، ويُقاس عملنا بعوائدك لا بساعات عملنا المفوترة.</a:t>
            </a:r>
            <a:endParaRPr lang="ar-SA" sz="1000" dirty="0"/>
          </a:p>
        </p:txBody>
      </p:sp>
      <p:sp>
        <p:nvSpPr>
          <p:cNvPr id="19" name="Shape 16"/>
          <p:cNvSpPr/>
          <p:nvPr/>
        </p:nvSpPr>
        <p:spPr>
          <a:xfrm>
            <a:off x="2749296" y="5541264"/>
            <a:ext cx="2063496" cy="1874520"/>
          </a:xfrm>
          <a:prstGeom prst="roundRect">
            <a:avLst>
              <a:gd name="adj" fmla="val 2927"/>
            </a:avLst>
          </a:prstGeom>
          <a:solidFill>
            <a:srgbClr val="FFFFFF"/>
          </a:solidFill>
          <a:ln w="9525">
            <a:solidFill>
              <a:srgbClr val="E4DDCB"/>
            </a:solidFill>
            <a:prstDash val="solid"/>
          </a:ln>
        </p:spPr>
      </p:sp>
      <p:sp>
        <p:nvSpPr>
          <p:cNvPr id="20" name="Shape 17"/>
          <p:cNvSpPr/>
          <p:nvPr/>
        </p:nvSpPr>
        <p:spPr>
          <a:xfrm>
            <a:off x="4209288" y="5742432"/>
            <a:ext cx="402336" cy="402336"/>
          </a:xfrm>
          <a:prstGeom prst="ellipse">
            <a:avLst/>
          </a:prstGeom>
          <a:solidFill>
            <a:srgbClr val="0F5C42"/>
          </a:solidFill>
          <a:ln/>
        </p:spPr>
      </p:sp>
      <p:pic>
        <p:nvPicPr>
          <p:cNvPr id="21" name="Image 1" descr="/home/claude/assets/icons/chartline.png"/>
          <p:cNvPicPr>
            <a:picLocks noChangeAspect="1"/>
          </p:cNvPicPr>
          <p:nvPr/>
        </p:nvPicPr>
        <p:blipFill>
          <a:blip r:embed="rId4"/>
          <a:stretch>
            <a:fillRect/>
          </a:stretch>
        </p:blipFill>
        <p:spPr>
          <a:xfrm>
            <a:off x="4305849" y="5838993"/>
            <a:ext cx="209215" cy="209215"/>
          </a:xfrm>
          <a:prstGeom prst="rect">
            <a:avLst/>
          </a:prstGeom>
        </p:spPr>
      </p:pic>
      <p:sp>
        <p:nvSpPr>
          <p:cNvPr id="22" name="Text 18"/>
          <p:cNvSpPr/>
          <p:nvPr/>
        </p:nvSpPr>
        <p:spPr>
          <a:xfrm>
            <a:off x="2950464" y="5724144"/>
            <a:ext cx="1094232"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الدليل قبل الحدس</a:t>
            </a:r>
            <a:endParaRPr lang="ar-SA" sz="1290" dirty="0"/>
          </a:p>
        </p:txBody>
      </p:sp>
      <p:sp>
        <p:nvSpPr>
          <p:cNvPr id="23" name="Text 19"/>
          <p:cNvSpPr/>
          <p:nvPr/>
        </p:nvSpPr>
        <p:spPr>
          <a:xfrm>
            <a:off x="2950464" y="6309360"/>
            <a:ext cx="1661160" cy="10698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تستند كل توصية إلى تحليلات تجريبية ونمذجة مالية وانضباط تشغيلي مُجرَّب ميدانيًا.</a:t>
            </a:r>
            <a:endParaRPr lang="ar-SA" sz="1000" dirty="0"/>
          </a:p>
        </p:txBody>
      </p:sp>
      <p:sp>
        <p:nvSpPr>
          <p:cNvPr id="24" name="Shape 20"/>
          <p:cNvSpPr/>
          <p:nvPr/>
        </p:nvSpPr>
        <p:spPr>
          <a:xfrm>
            <a:off x="502920" y="5541264"/>
            <a:ext cx="2063496" cy="1874520"/>
          </a:xfrm>
          <a:prstGeom prst="roundRect">
            <a:avLst>
              <a:gd name="adj" fmla="val 2927"/>
            </a:avLst>
          </a:prstGeom>
          <a:solidFill>
            <a:srgbClr val="FFFFFF"/>
          </a:solidFill>
          <a:ln w="9525">
            <a:solidFill>
              <a:srgbClr val="E4DDCB"/>
            </a:solidFill>
            <a:prstDash val="solid"/>
          </a:ln>
        </p:spPr>
      </p:sp>
      <p:sp>
        <p:nvSpPr>
          <p:cNvPr id="25" name="Shape 21"/>
          <p:cNvSpPr/>
          <p:nvPr/>
        </p:nvSpPr>
        <p:spPr>
          <a:xfrm>
            <a:off x="1962912" y="5742432"/>
            <a:ext cx="402336" cy="402336"/>
          </a:xfrm>
          <a:prstGeom prst="ellipse">
            <a:avLst/>
          </a:prstGeom>
          <a:solidFill>
            <a:srgbClr val="0F5C42"/>
          </a:solidFill>
          <a:ln/>
        </p:spPr>
      </p:sp>
      <p:pic>
        <p:nvPicPr>
          <p:cNvPr id="26" name="Image 2" descr="/home/claude/assets/icons/handshake.png"/>
          <p:cNvPicPr>
            <a:picLocks noChangeAspect="1"/>
          </p:cNvPicPr>
          <p:nvPr/>
        </p:nvPicPr>
        <p:blipFill>
          <a:blip r:embed="rId5"/>
          <a:stretch>
            <a:fillRect/>
          </a:stretch>
        </p:blipFill>
        <p:spPr>
          <a:xfrm>
            <a:off x="2059473" y="5838993"/>
            <a:ext cx="209215" cy="209215"/>
          </a:xfrm>
          <a:prstGeom prst="rect">
            <a:avLst/>
          </a:prstGeom>
        </p:spPr>
      </p:pic>
      <p:sp>
        <p:nvSpPr>
          <p:cNvPr id="27" name="Text 22"/>
          <p:cNvSpPr/>
          <p:nvPr/>
        </p:nvSpPr>
        <p:spPr>
          <a:xfrm>
            <a:off x="704088" y="5724144"/>
            <a:ext cx="1094232" cy="713232"/>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شراكة تتجاوز نطاق التعاقد</a:t>
            </a:r>
            <a:endParaRPr lang="ar-SA" sz="1290" dirty="0"/>
          </a:p>
        </p:txBody>
      </p:sp>
      <p:sp>
        <p:nvSpPr>
          <p:cNvPr id="28" name="Text 23"/>
          <p:cNvSpPr/>
          <p:nvPr/>
        </p:nvSpPr>
        <p:spPr>
          <a:xfrm>
            <a:off x="704088" y="6547104"/>
            <a:ext cx="1661160" cy="832104"/>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تتحول الارتباطات إلى تحالفات ممتدة. ونظل معنيّين بمسار عملائنا طويلًا بعد التسليم.</a:t>
            </a:r>
            <a:endParaRPr lang="ar-SA" sz="1000" dirty="0"/>
          </a:p>
        </p:txBody>
      </p:sp>
      <p:sp>
        <p:nvSpPr>
          <p:cNvPr id="29" name="Shape 24"/>
          <p:cNvSpPr/>
          <p:nvPr/>
        </p:nvSpPr>
        <p:spPr>
          <a:xfrm>
            <a:off x="502920" y="7644384"/>
            <a:ext cx="6556248" cy="621792"/>
          </a:xfrm>
          <a:prstGeom prst="roundRect">
            <a:avLst>
              <a:gd name="adj" fmla="val 7353"/>
            </a:avLst>
          </a:prstGeom>
          <a:solidFill>
            <a:srgbClr val="F3EEE4"/>
          </a:solidFill>
          <a:ln w="9525">
            <a:solidFill>
              <a:srgbClr val="E4DDCB"/>
            </a:solidFill>
            <a:prstDash val="solid"/>
          </a:ln>
        </p:spPr>
      </p:sp>
      <p:sp>
        <p:nvSpPr>
          <p:cNvPr id="30" name="Text 25"/>
          <p:cNvSpPr/>
          <p:nvPr/>
        </p:nvSpPr>
        <p:spPr>
          <a:xfrm>
            <a:off x="731520" y="7708392"/>
            <a:ext cx="6099048" cy="493776"/>
          </a:xfrm>
          <a:prstGeom prst="rect">
            <a:avLst/>
          </a:prstGeom>
          <a:noFill/>
          <a:ln/>
        </p:spPr>
        <p:txBody>
          <a:bodyPr wrap="square" rtlCol="0" anchor="ctr"/>
          <a:lstStyle/>
          <a:p>
            <a:pPr marL="0" indent="0" algn="ctr" rtl="1">
              <a:lnSpc>
                <a:spcPct val="112700"/>
              </a:lnSpc>
              <a:buNone/>
            </a:pPr>
            <a:r>
              <a:rPr lang="ar-SA" altLang="en-US" sz="1110" dirty="0">
                <a:solidFill>
                  <a:srgbClr val="2B2A27"/>
                </a:solidFill>
                <a:latin typeface="Arial" pitchFamily="34" charset="0"/>
                <a:ea typeface="Arial" pitchFamily="34" charset="-122"/>
                <a:cs typeface="Arial" pitchFamily="34" charset="-120"/>
              </a:rPr>
              <a:t>ممارستان متكاملتان في بيت واحد: </a:t>
            </a:r>
            <a:r>
              <a:rPr lang="ar-SA" altLang="en-US" sz="1110" b="1" dirty="0">
                <a:solidFill>
                  <a:srgbClr val="0F5C42"/>
                </a:solidFill>
                <a:latin typeface="Arial" pitchFamily="34" charset="0"/>
                <a:ea typeface="Arial" pitchFamily="34" charset="-122"/>
                <a:cs typeface="Arial" pitchFamily="34" charset="-120"/>
              </a:rPr>
              <a:t>حلول الضيافة</a:t>
            </a:r>
            <a:r>
              <a:rPr lang="ar-SA" altLang="en-US" sz="1110" dirty="0">
                <a:solidFill>
                  <a:srgbClr val="2B2A27"/>
                </a:solidFill>
                <a:latin typeface="Arial" pitchFamily="34" charset="0"/>
                <a:ea typeface="Arial" pitchFamily="34" charset="-122"/>
                <a:cs typeface="Arial" pitchFamily="34" charset="-120"/>
              </a:rPr>
              <a:t> و</a:t>
            </a:r>
            <a:r>
              <a:rPr lang="ar-SA" altLang="en-US" sz="1110" b="1" dirty="0">
                <a:solidFill>
                  <a:srgbClr val="0F5C42"/>
                </a:solidFill>
                <a:latin typeface="Arial" pitchFamily="34" charset="0"/>
                <a:ea typeface="Arial" pitchFamily="34" charset="-122"/>
                <a:cs typeface="Arial" pitchFamily="34" charset="-120"/>
              </a:rPr>
              <a:t>حلول نمو الأعمال</a:t>
            </a:r>
            <a:r>
              <a:rPr lang="ar-SA" altLang="en-US" sz="1110" dirty="0">
                <a:solidFill>
                  <a:srgbClr val="2B2A27"/>
                </a:solidFill>
                <a:latin typeface="Arial" pitchFamily="34" charset="0"/>
                <a:ea typeface="Arial" pitchFamily="34" charset="-122"/>
                <a:cs typeface="Arial" pitchFamily="34" charset="-120"/>
              </a:rPr>
              <a:t>، يتبادلان الخبرة التشغيلية والحس الرقمي المتقدّم.</a:t>
            </a:r>
            <a:endParaRPr lang="ar-SA" sz="1110" dirty="0"/>
          </a:p>
        </p:txBody>
      </p:sp>
      <p:sp>
        <p:nvSpPr>
          <p:cNvPr id="31" name="Shape 26"/>
          <p:cNvSpPr/>
          <p:nvPr/>
        </p:nvSpPr>
        <p:spPr>
          <a:xfrm>
            <a:off x="502920" y="10186416"/>
            <a:ext cx="6556248" cy="0"/>
          </a:xfrm>
          <a:prstGeom prst="line">
            <a:avLst/>
          </a:prstGeom>
          <a:noFill/>
          <a:ln w="9525">
            <a:solidFill>
              <a:srgbClr val="E4DDCB"/>
            </a:solidFill>
            <a:prstDash val="solid"/>
          </a:ln>
        </p:spPr>
      </p:sp>
      <p:sp>
        <p:nvSpPr>
          <p:cNvPr id="32" name="Text 27"/>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3" name="Text 28"/>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04</a:t>
            </a:r>
            <a:endParaRPr lang="ar-SA" sz="88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03  •  ما يميّز Altus Gulf</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لماذا Altus Gulf</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كثيرًا ما يعمل قطاع الاستشارات في جزر منفصلة: التشغيل التقليدي في جهة، والتحول الرقمي في جهة أخرى. وقد أُسست Altus Gulf لسدّ هذه الفجوة الهيكلية بمهمة واحدة متكاملة.</a:t>
            </a:r>
            <a:endParaRPr lang="ar-SA" sz="1180" dirty="0"/>
          </a:p>
        </p:txBody>
      </p:sp>
      <p:sp>
        <p:nvSpPr>
          <p:cNvPr id="5" name="Shape 3"/>
          <p:cNvSpPr/>
          <p:nvPr/>
        </p:nvSpPr>
        <p:spPr>
          <a:xfrm>
            <a:off x="3895344" y="2103120"/>
            <a:ext cx="3163824" cy="1508760"/>
          </a:xfrm>
          <a:prstGeom prst="roundRect">
            <a:avLst>
              <a:gd name="adj" fmla="val 3636"/>
            </a:avLst>
          </a:prstGeom>
          <a:solidFill>
            <a:srgbClr val="FFFFFF"/>
          </a:solidFill>
          <a:ln w="9525">
            <a:solidFill>
              <a:srgbClr val="E4DDCB"/>
            </a:solidFill>
            <a:prstDash val="solid"/>
          </a:ln>
        </p:spPr>
      </p:sp>
      <p:sp>
        <p:nvSpPr>
          <p:cNvPr id="6" name="Shape 4"/>
          <p:cNvSpPr/>
          <p:nvPr/>
        </p:nvSpPr>
        <p:spPr>
          <a:xfrm>
            <a:off x="6455664" y="2304288"/>
            <a:ext cx="402336" cy="402336"/>
          </a:xfrm>
          <a:prstGeom prst="ellipse">
            <a:avLst/>
          </a:prstGeom>
          <a:solidFill>
            <a:srgbClr val="0F5C42"/>
          </a:solidFill>
          <a:ln/>
        </p:spPr>
      </p:sp>
      <p:pic>
        <p:nvPicPr>
          <p:cNvPr id="7" name="Image 0" descr="/home/claude/assets/icons/compass.png"/>
          <p:cNvPicPr>
            <a:picLocks noChangeAspect="1"/>
          </p:cNvPicPr>
          <p:nvPr/>
        </p:nvPicPr>
        <p:blipFill>
          <a:blip r:embed="rId3"/>
          <a:stretch>
            <a:fillRect/>
          </a:stretch>
        </p:blipFill>
        <p:spPr>
          <a:xfrm>
            <a:off x="6552225" y="2400849"/>
            <a:ext cx="209215" cy="209215"/>
          </a:xfrm>
          <a:prstGeom prst="rect">
            <a:avLst/>
          </a:prstGeom>
        </p:spPr>
      </p:pic>
      <p:sp>
        <p:nvSpPr>
          <p:cNvPr id="8" name="Text 5"/>
          <p:cNvSpPr/>
          <p:nvPr/>
        </p:nvSpPr>
        <p:spPr>
          <a:xfrm>
            <a:off x="4096512"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استشارات في صف المالك</a:t>
            </a:r>
            <a:endParaRPr lang="ar-SA" sz="1290" dirty="0"/>
          </a:p>
        </p:txBody>
      </p:sp>
      <p:sp>
        <p:nvSpPr>
          <p:cNvPr id="9" name="Text 6"/>
          <p:cNvSpPr/>
          <p:nvPr/>
        </p:nvSpPr>
        <p:spPr>
          <a:xfrm>
            <a:off x="4096512" y="2688336"/>
            <a:ext cx="2761488" cy="8869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إشراف مستقل إلى جانب العميل على امتداد دورة حياة الأصل، يساعد على حماية الميزانيات وإحكام إدارة اتفاقيات إدارة الفنادق (HMA) ومعالجة مخاطر المشغّل والمقاول نيابةً عن المالك.</a:t>
            </a:r>
            <a:endParaRPr lang="ar-SA" sz="1000" dirty="0"/>
          </a:p>
        </p:txBody>
      </p:sp>
      <p:sp>
        <p:nvSpPr>
          <p:cNvPr id="10" name="Shape 7"/>
          <p:cNvSpPr/>
          <p:nvPr/>
        </p:nvSpPr>
        <p:spPr>
          <a:xfrm>
            <a:off x="502920" y="2103120"/>
            <a:ext cx="3163824" cy="1508760"/>
          </a:xfrm>
          <a:prstGeom prst="roundRect">
            <a:avLst>
              <a:gd name="adj" fmla="val 3636"/>
            </a:avLst>
          </a:prstGeom>
          <a:solidFill>
            <a:srgbClr val="FFFFFF"/>
          </a:solidFill>
          <a:ln w="9525">
            <a:solidFill>
              <a:srgbClr val="E4DDCB"/>
            </a:solidFill>
            <a:prstDash val="solid"/>
          </a:ln>
        </p:spPr>
      </p:sp>
      <p:sp>
        <p:nvSpPr>
          <p:cNvPr id="11" name="Shape 8"/>
          <p:cNvSpPr/>
          <p:nvPr/>
        </p:nvSpPr>
        <p:spPr>
          <a:xfrm>
            <a:off x="3063240" y="2304288"/>
            <a:ext cx="402336" cy="402336"/>
          </a:xfrm>
          <a:prstGeom prst="ellipse">
            <a:avLst/>
          </a:prstGeom>
          <a:solidFill>
            <a:srgbClr val="0F5C42"/>
          </a:solidFill>
          <a:ln/>
        </p:spPr>
      </p:sp>
      <p:pic>
        <p:nvPicPr>
          <p:cNvPr id="12" name="Image 1" descr="/home/claude/assets/icons/cogs.png"/>
          <p:cNvPicPr>
            <a:picLocks noChangeAspect="1"/>
          </p:cNvPicPr>
          <p:nvPr/>
        </p:nvPicPr>
        <p:blipFill>
          <a:blip r:embed="rId4"/>
          <a:stretch>
            <a:fillRect/>
          </a:stretch>
        </p:blipFill>
        <p:spPr>
          <a:xfrm>
            <a:off x="3159801" y="2400849"/>
            <a:ext cx="209215" cy="209215"/>
          </a:xfrm>
          <a:prstGeom prst="rect">
            <a:avLst/>
          </a:prstGeom>
        </p:spPr>
      </p:pic>
      <p:sp>
        <p:nvSpPr>
          <p:cNvPr id="13" name="Text 9"/>
          <p:cNvSpPr/>
          <p:nvPr/>
        </p:nvSpPr>
        <p:spPr>
          <a:xfrm>
            <a:off x="704088"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عمق بمستوى المشغّلين</a:t>
            </a:r>
            <a:endParaRPr lang="ar-SA" sz="1290" dirty="0"/>
          </a:p>
        </p:txBody>
      </p:sp>
      <p:sp>
        <p:nvSpPr>
          <p:cNvPr id="14" name="Text 10"/>
          <p:cNvSpPr/>
          <p:nvPr/>
        </p:nvSpPr>
        <p:spPr>
          <a:xfrm>
            <a:off x="704088" y="2688336"/>
            <a:ext cx="2761488" cy="8869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قيادات تشكّلت داخل منظومات ماريوت وIHG وستاروود وأكور، بخبرة تتجاوز 60 عامًا مجتمعة في إدارة الأرباح والخسائر، لا في الأطر النظرية.</a:t>
            </a:r>
            <a:endParaRPr lang="ar-SA" sz="1000" dirty="0"/>
          </a:p>
        </p:txBody>
      </p:sp>
      <p:sp>
        <p:nvSpPr>
          <p:cNvPr id="15" name="Shape 11"/>
          <p:cNvSpPr/>
          <p:nvPr/>
        </p:nvSpPr>
        <p:spPr>
          <a:xfrm>
            <a:off x="3895344" y="3758184"/>
            <a:ext cx="3163824" cy="1508760"/>
          </a:xfrm>
          <a:prstGeom prst="roundRect">
            <a:avLst>
              <a:gd name="adj" fmla="val 3636"/>
            </a:avLst>
          </a:prstGeom>
          <a:solidFill>
            <a:srgbClr val="FFFFFF"/>
          </a:solidFill>
          <a:ln w="9525">
            <a:solidFill>
              <a:srgbClr val="E4DDCB"/>
            </a:solidFill>
            <a:prstDash val="solid"/>
          </a:ln>
        </p:spPr>
      </p:sp>
      <p:sp>
        <p:nvSpPr>
          <p:cNvPr id="16" name="Shape 12"/>
          <p:cNvSpPr/>
          <p:nvPr/>
        </p:nvSpPr>
        <p:spPr>
          <a:xfrm>
            <a:off x="6455664" y="3959352"/>
            <a:ext cx="402336" cy="402336"/>
          </a:xfrm>
          <a:prstGeom prst="ellipse">
            <a:avLst/>
          </a:prstGeom>
          <a:solidFill>
            <a:srgbClr val="0F5C42"/>
          </a:solidFill>
          <a:ln/>
        </p:spPr>
      </p:sp>
      <p:pic>
        <p:nvPicPr>
          <p:cNvPr id="17" name="Image 2" descr="/home/claude/assets/icons/layers.png"/>
          <p:cNvPicPr>
            <a:picLocks noChangeAspect="1"/>
          </p:cNvPicPr>
          <p:nvPr/>
        </p:nvPicPr>
        <p:blipFill>
          <a:blip r:embed="rId5"/>
          <a:stretch>
            <a:fillRect/>
          </a:stretch>
        </p:blipFill>
        <p:spPr>
          <a:xfrm>
            <a:off x="6552225" y="4055913"/>
            <a:ext cx="209215" cy="209215"/>
          </a:xfrm>
          <a:prstGeom prst="rect">
            <a:avLst/>
          </a:prstGeom>
        </p:spPr>
      </p:pic>
      <p:sp>
        <p:nvSpPr>
          <p:cNvPr id="18" name="Text 13"/>
          <p:cNvSpPr/>
          <p:nvPr/>
        </p:nvSpPr>
        <p:spPr>
          <a:xfrm>
            <a:off x="4096512" y="3941064"/>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نموذج مزدوج التخصص</a:t>
            </a:r>
            <a:endParaRPr lang="ar-SA" sz="1290" dirty="0"/>
          </a:p>
        </p:txBody>
      </p:sp>
      <p:sp>
        <p:nvSpPr>
          <p:cNvPr id="19" name="Text 14"/>
          <p:cNvSpPr/>
          <p:nvPr/>
        </p:nvSpPr>
        <p:spPr>
          <a:xfrm>
            <a:off x="4096512" y="4343400"/>
            <a:ext cx="2761488" cy="8869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عمليات ضيافة تتكامل مع ذكاء تجاري مدعوم بالذكاء الاصطناعي، لهندسة النمو في المجالين في آنٍ واحد.</a:t>
            </a:r>
            <a:endParaRPr lang="ar-SA" sz="1000" dirty="0"/>
          </a:p>
        </p:txBody>
      </p:sp>
      <p:sp>
        <p:nvSpPr>
          <p:cNvPr id="20" name="Shape 15"/>
          <p:cNvSpPr/>
          <p:nvPr/>
        </p:nvSpPr>
        <p:spPr>
          <a:xfrm>
            <a:off x="502920" y="3758184"/>
            <a:ext cx="3163824" cy="1508760"/>
          </a:xfrm>
          <a:prstGeom prst="roundRect">
            <a:avLst>
              <a:gd name="adj" fmla="val 3636"/>
            </a:avLst>
          </a:prstGeom>
          <a:solidFill>
            <a:srgbClr val="FFFFFF"/>
          </a:solidFill>
          <a:ln w="9525">
            <a:solidFill>
              <a:srgbClr val="E4DDCB"/>
            </a:solidFill>
            <a:prstDash val="solid"/>
          </a:ln>
        </p:spPr>
      </p:sp>
      <p:sp>
        <p:nvSpPr>
          <p:cNvPr id="21" name="Shape 16"/>
          <p:cNvSpPr/>
          <p:nvPr/>
        </p:nvSpPr>
        <p:spPr>
          <a:xfrm>
            <a:off x="3063240" y="3959352"/>
            <a:ext cx="402336" cy="402336"/>
          </a:xfrm>
          <a:prstGeom prst="ellipse">
            <a:avLst/>
          </a:prstGeom>
          <a:solidFill>
            <a:srgbClr val="0F5C42"/>
          </a:solidFill>
          <a:ln/>
        </p:spPr>
      </p:sp>
      <p:pic>
        <p:nvPicPr>
          <p:cNvPr id="22" name="Image 3" descr="/home/claude/assets/icons/globe.png"/>
          <p:cNvPicPr>
            <a:picLocks noChangeAspect="1"/>
          </p:cNvPicPr>
          <p:nvPr/>
        </p:nvPicPr>
        <p:blipFill>
          <a:blip r:embed="rId6"/>
          <a:stretch>
            <a:fillRect/>
          </a:stretch>
        </p:blipFill>
        <p:spPr>
          <a:xfrm>
            <a:off x="3159801" y="4055913"/>
            <a:ext cx="209215" cy="209215"/>
          </a:xfrm>
          <a:prstGeom prst="rect">
            <a:avLst/>
          </a:prstGeom>
        </p:spPr>
      </p:pic>
      <p:sp>
        <p:nvSpPr>
          <p:cNvPr id="23" name="Text 17"/>
          <p:cNvSpPr/>
          <p:nvPr/>
        </p:nvSpPr>
        <p:spPr>
          <a:xfrm>
            <a:off x="704088" y="3941064"/>
            <a:ext cx="2194560"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إلمام إقليمي ومعايير عالمية</a:t>
            </a:r>
            <a:endParaRPr lang="ar-SA" sz="1290" dirty="0"/>
          </a:p>
        </p:txBody>
      </p:sp>
      <p:sp>
        <p:nvSpPr>
          <p:cNvPr id="24" name="Text 18"/>
          <p:cNvSpPr/>
          <p:nvPr/>
        </p:nvSpPr>
        <p:spPr>
          <a:xfrm>
            <a:off x="704088" y="4526280"/>
            <a:ext cx="2761488" cy="70408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معرفة راسخة بالسوقين السعودي والخليجي، وتقديم ثنائي اللغة، وتطبيق معايير مرجعية دولية من الفئة الأولى دون تخفيف.</a:t>
            </a:r>
            <a:endParaRPr lang="ar-SA" sz="1000" dirty="0"/>
          </a:p>
        </p:txBody>
      </p:sp>
      <p:sp>
        <p:nvSpPr>
          <p:cNvPr id="25" name="Shape 19"/>
          <p:cNvSpPr/>
          <p:nvPr/>
        </p:nvSpPr>
        <p:spPr>
          <a:xfrm>
            <a:off x="3895344" y="5413248"/>
            <a:ext cx="3163824" cy="1508760"/>
          </a:xfrm>
          <a:prstGeom prst="roundRect">
            <a:avLst>
              <a:gd name="adj" fmla="val 3636"/>
            </a:avLst>
          </a:prstGeom>
          <a:solidFill>
            <a:srgbClr val="FFFFFF"/>
          </a:solidFill>
          <a:ln w="9525">
            <a:solidFill>
              <a:srgbClr val="E4DDCB"/>
            </a:solidFill>
            <a:prstDash val="solid"/>
          </a:ln>
        </p:spPr>
      </p:sp>
      <p:sp>
        <p:nvSpPr>
          <p:cNvPr id="26" name="Shape 20"/>
          <p:cNvSpPr/>
          <p:nvPr/>
        </p:nvSpPr>
        <p:spPr>
          <a:xfrm>
            <a:off x="6455664" y="5614416"/>
            <a:ext cx="402336" cy="402336"/>
          </a:xfrm>
          <a:prstGeom prst="ellipse">
            <a:avLst/>
          </a:prstGeom>
          <a:solidFill>
            <a:srgbClr val="0F5C42"/>
          </a:solidFill>
          <a:ln/>
        </p:spPr>
      </p:sp>
      <p:pic>
        <p:nvPicPr>
          <p:cNvPr id="27" name="Image 4" descr="/home/claude/assets/icons/chartline.png"/>
          <p:cNvPicPr>
            <a:picLocks noChangeAspect="1"/>
          </p:cNvPicPr>
          <p:nvPr/>
        </p:nvPicPr>
        <p:blipFill>
          <a:blip r:embed="rId7"/>
          <a:stretch>
            <a:fillRect/>
          </a:stretch>
        </p:blipFill>
        <p:spPr>
          <a:xfrm>
            <a:off x="6552225" y="5710977"/>
            <a:ext cx="209215" cy="209215"/>
          </a:xfrm>
          <a:prstGeom prst="rect">
            <a:avLst/>
          </a:prstGeom>
        </p:spPr>
      </p:pic>
      <p:sp>
        <p:nvSpPr>
          <p:cNvPr id="28" name="Text 21"/>
          <p:cNvSpPr/>
          <p:nvPr/>
        </p:nvSpPr>
        <p:spPr>
          <a:xfrm>
            <a:off x="4096512" y="5596128"/>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الدليل قبل الحدس</a:t>
            </a:r>
            <a:endParaRPr lang="ar-SA" sz="1290" dirty="0"/>
          </a:p>
        </p:txBody>
      </p:sp>
      <p:sp>
        <p:nvSpPr>
          <p:cNvPr id="29" name="Text 22"/>
          <p:cNvSpPr/>
          <p:nvPr/>
        </p:nvSpPr>
        <p:spPr>
          <a:xfrm>
            <a:off x="4096512" y="5998464"/>
            <a:ext cx="2761488" cy="8869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تحل التحليلات التجريبية والنمذجة المالية وانضباط سيجما ستة (Six Sigma) محل الرأي الشخصي. وكل توصية قابلة للقياس والتدقيق.</a:t>
            </a:r>
            <a:endParaRPr lang="ar-SA" sz="1000" dirty="0"/>
          </a:p>
        </p:txBody>
      </p:sp>
      <p:sp>
        <p:nvSpPr>
          <p:cNvPr id="30" name="Shape 23"/>
          <p:cNvSpPr/>
          <p:nvPr/>
        </p:nvSpPr>
        <p:spPr>
          <a:xfrm>
            <a:off x="502920" y="5413248"/>
            <a:ext cx="3163824" cy="1508760"/>
          </a:xfrm>
          <a:prstGeom prst="roundRect">
            <a:avLst>
              <a:gd name="adj" fmla="val 3636"/>
            </a:avLst>
          </a:prstGeom>
          <a:solidFill>
            <a:srgbClr val="FFFFFF"/>
          </a:solidFill>
          <a:ln w="9525">
            <a:solidFill>
              <a:srgbClr val="E4DDCB"/>
            </a:solidFill>
            <a:prstDash val="solid"/>
          </a:ln>
        </p:spPr>
      </p:sp>
      <p:sp>
        <p:nvSpPr>
          <p:cNvPr id="31" name="Shape 24"/>
          <p:cNvSpPr/>
          <p:nvPr/>
        </p:nvSpPr>
        <p:spPr>
          <a:xfrm>
            <a:off x="3063240" y="5614416"/>
            <a:ext cx="402336" cy="402336"/>
          </a:xfrm>
          <a:prstGeom prst="ellipse">
            <a:avLst/>
          </a:prstGeom>
          <a:solidFill>
            <a:srgbClr val="0F5C42"/>
          </a:solidFill>
          <a:ln/>
        </p:spPr>
      </p:sp>
      <p:pic>
        <p:nvPicPr>
          <p:cNvPr id="32" name="Image 5" descr="/home/claude/assets/icons/handshake.png"/>
          <p:cNvPicPr>
            <a:picLocks noChangeAspect="1"/>
          </p:cNvPicPr>
          <p:nvPr/>
        </p:nvPicPr>
        <p:blipFill>
          <a:blip r:embed="rId8"/>
          <a:stretch>
            <a:fillRect/>
          </a:stretch>
        </p:blipFill>
        <p:spPr>
          <a:xfrm>
            <a:off x="3159801" y="5710977"/>
            <a:ext cx="209215" cy="209215"/>
          </a:xfrm>
          <a:prstGeom prst="rect">
            <a:avLst/>
          </a:prstGeom>
        </p:spPr>
      </p:pic>
      <p:sp>
        <p:nvSpPr>
          <p:cNvPr id="33" name="Text 25"/>
          <p:cNvSpPr/>
          <p:nvPr/>
        </p:nvSpPr>
        <p:spPr>
          <a:xfrm>
            <a:off x="704088" y="5596128"/>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شراكة ممتدة</a:t>
            </a:r>
            <a:endParaRPr lang="ar-SA" sz="1290" dirty="0"/>
          </a:p>
        </p:txBody>
      </p:sp>
      <p:sp>
        <p:nvSpPr>
          <p:cNvPr id="34" name="Text 26"/>
          <p:cNvSpPr/>
          <p:nvPr/>
        </p:nvSpPr>
        <p:spPr>
          <a:xfrm>
            <a:off x="704088" y="5998464"/>
            <a:ext cx="2761488" cy="8869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توجيه ميداني من المخطط الأول إلى التنفيذ المستمر: علاقة صُمّمت لتدوم بعد انتهاء التعاقد ذاته.</a:t>
            </a:r>
            <a:endParaRPr lang="ar-SA" sz="1000" dirty="0"/>
          </a:p>
        </p:txBody>
      </p:sp>
      <p:sp>
        <p:nvSpPr>
          <p:cNvPr id="35" name="Shape 27"/>
          <p:cNvSpPr/>
          <p:nvPr/>
        </p:nvSpPr>
        <p:spPr>
          <a:xfrm>
            <a:off x="502920" y="7141464"/>
            <a:ext cx="6556248" cy="1097280"/>
          </a:xfrm>
          <a:prstGeom prst="roundRect">
            <a:avLst>
              <a:gd name="adj" fmla="val 4167"/>
            </a:avLst>
          </a:prstGeom>
          <a:solidFill>
            <a:srgbClr val="F3EEE4"/>
          </a:solidFill>
          <a:ln w="12700">
            <a:solidFill>
              <a:srgbClr val="C9A15A"/>
            </a:solidFill>
            <a:prstDash val="solid"/>
          </a:ln>
        </p:spPr>
      </p:sp>
      <p:sp>
        <p:nvSpPr>
          <p:cNvPr id="36" name="Shape 28"/>
          <p:cNvSpPr/>
          <p:nvPr/>
        </p:nvSpPr>
        <p:spPr>
          <a:xfrm>
            <a:off x="6446520" y="7461504"/>
            <a:ext cx="457200" cy="457200"/>
          </a:xfrm>
          <a:prstGeom prst="ellipse">
            <a:avLst/>
          </a:prstGeom>
          <a:solidFill>
            <a:srgbClr val="0F5C42"/>
          </a:solidFill>
          <a:ln/>
        </p:spPr>
      </p:sp>
      <p:pic>
        <p:nvPicPr>
          <p:cNvPr id="37" name="Image 6" descr="/home/claude/assets/icons/microchip.png"/>
          <p:cNvPicPr>
            <a:picLocks noChangeAspect="1"/>
          </p:cNvPicPr>
          <p:nvPr/>
        </p:nvPicPr>
        <p:blipFill>
          <a:blip r:embed="rId9"/>
          <a:stretch>
            <a:fillRect/>
          </a:stretch>
        </p:blipFill>
        <p:spPr>
          <a:xfrm>
            <a:off x="6556248" y="7571232"/>
            <a:ext cx="237744" cy="237744"/>
          </a:xfrm>
          <a:prstGeom prst="rect">
            <a:avLst/>
          </a:prstGeom>
        </p:spPr>
      </p:pic>
      <p:sp>
        <p:nvSpPr>
          <p:cNvPr id="38" name="Text 29"/>
          <p:cNvSpPr/>
          <p:nvPr/>
        </p:nvSpPr>
        <p:spPr>
          <a:xfrm>
            <a:off x="685800" y="7232904"/>
            <a:ext cx="5641848" cy="201168"/>
          </a:xfrm>
          <a:prstGeom prst="rect">
            <a:avLst/>
          </a:prstGeom>
          <a:noFill/>
          <a:ln/>
        </p:spPr>
        <p:txBody>
          <a:bodyPr wrap="square" rtlCol="0" anchor="ctr"/>
          <a:lstStyle/>
          <a:p>
            <a:pPr marL="0" indent="0" algn="r" rtl="1">
              <a:lnSpc>
                <a:spcPct val="98000"/>
              </a:lnSpc>
              <a:buNone/>
            </a:pPr>
            <a:r>
              <a:rPr lang="ar-SA" altLang="en-US" sz="880" b="1" dirty="0">
                <a:solidFill>
                  <a:srgbClr val="C1501D"/>
                </a:solidFill>
                <a:latin typeface="Arial" pitchFamily="34" charset="0"/>
                <a:ea typeface="Arial" pitchFamily="34" charset="-122"/>
                <a:cs typeface="Arial" pitchFamily="34" charset="-120"/>
              </a:rPr>
              <a:t>منصة خاصة بالشركة  •  جديد</a:t>
            </a:r>
            <a:endParaRPr lang="ar-SA" sz="880" dirty="0"/>
          </a:p>
        </p:txBody>
      </p:sp>
      <p:sp>
        <p:nvSpPr>
          <p:cNvPr id="39" name="Text 30"/>
          <p:cNvSpPr/>
          <p:nvPr/>
        </p:nvSpPr>
        <p:spPr>
          <a:xfrm>
            <a:off x="685800" y="7415784"/>
            <a:ext cx="5641848" cy="228600"/>
          </a:xfrm>
          <a:prstGeom prst="rect">
            <a:avLst/>
          </a:prstGeom>
          <a:noFill/>
          <a:ln/>
        </p:spPr>
        <p:txBody>
          <a:bodyPr wrap="square" rtlCol="0" anchor="ctr"/>
          <a:lstStyle/>
          <a:p>
            <a:pPr marL="0" indent="0" algn="r" rtl="1">
              <a:lnSpc>
                <a:spcPct val="98000"/>
              </a:lnSpc>
              <a:buNone/>
            </a:pPr>
            <a:r>
              <a:rPr lang="ar-SA" altLang="en-US" sz="1290" dirty="0">
                <a:solidFill>
                  <a:srgbClr val="0B1B2B"/>
                </a:solidFill>
                <a:latin typeface="Arial" pitchFamily="34" charset="0"/>
                <a:ea typeface="Arial" pitchFamily="34" charset="-122"/>
                <a:cs typeface="Arial" pitchFamily="34" charset="-120"/>
              </a:rPr>
              <a:t>منصة Altus Gulf للمعرفة والأداء في قطاع الضيافة</a:t>
            </a:r>
            <a:endParaRPr lang="ar-SA" sz="1290" dirty="0"/>
          </a:p>
        </p:txBody>
      </p:sp>
      <p:sp>
        <p:nvSpPr>
          <p:cNvPr id="40" name="Text 31"/>
          <p:cNvSpPr/>
          <p:nvPr/>
        </p:nvSpPr>
        <p:spPr>
          <a:xfrm>
            <a:off x="685800" y="7671816"/>
            <a:ext cx="5641848" cy="530352"/>
          </a:xfrm>
          <a:prstGeom prst="rect">
            <a:avLst/>
          </a:prstGeom>
          <a:noFill/>
          <a:ln/>
        </p:spPr>
        <p:txBody>
          <a:bodyPr wrap="square" rtlCol="0" anchor="t"/>
          <a:lstStyle/>
          <a:p>
            <a:pPr marL="0" indent="0" algn="r" rtl="1">
              <a:lnSpc>
                <a:spcPct val="109760"/>
              </a:lnSpc>
              <a:buNone/>
            </a:pPr>
            <a:r>
              <a:rPr lang="ar-SA" altLang="en-US" sz="930" dirty="0">
                <a:solidFill>
                  <a:srgbClr val="2B2A27"/>
                </a:solidFill>
                <a:latin typeface="Arial" pitchFamily="34" charset="0"/>
                <a:ea typeface="Arial" pitchFamily="34" charset="-122"/>
                <a:cs typeface="Arial" pitchFamily="34" charset="-120"/>
              </a:rPr>
              <a:t>ميزة تنافسية قلّما تمتلكها شركات الاستشارات التقليدية: منصة رقمية بعلامة المنشأة (White-label) تحوّل معاييرنا التشغيلية إلى تعلّم منظَّم وإدارة للمعرفة وأداء قابل للقياس في كل منشأة لدى العملاء. انظر الصفحتين 08 و09.</a:t>
            </a:r>
            <a:endParaRPr lang="ar-SA" sz="930" dirty="0"/>
          </a:p>
        </p:txBody>
      </p:sp>
      <p:sp>
        <p:nvSpPr>
          <p:cNvPr id="41" name="Shape 32"/>
          <p:cNvSpPr/>
          <p:nvPr/>
        </p:nvSpPr>
        <p:spPr>
          <a:xfrm>
            <a:off x="502920" y="8421624"/>
            <a:ext cx="6556248" cy="914400"/>
          </a:xfrm>
          <a:prstGeom prst="roundRect">
            <a:avLst>
              <a:gd name="adj" fmla="val 5000"/>
            </a:avLst>
          </a:prstGeom>
          <a:solidFill>
            <a:srgbClr val="0B1B2B"/>
          </a:solidFill>
          <a:ln/>
        </p:spPr>
      </p:sp>
      <p:sp>
        <p:nvSpPr>
          <p:cNvPr id="42" name="Text 33"/>
          <p:cNvSpPr/>
          <p:nvPr/>
        </p:nvSpPr>
        <p:spPr>
          <a:xfrm>
            <a:off x="731520" y="8531352"/>
            <a:ext cx="6099048" cy="201168"/>
          </a:xfrm>
          <a:prstGeom prst="rect">
            <a:avLst/>
          </a:prstGeom>
          <a:noFill/>
          <a:ln/>
        </p:spPr>
        <p:txBody>
          <a:bodyPr wrap="square" rtlCol="0" anchor="ctr"/>
          <a:lstStyle/>
          <a:p>
            <a:pPr marL="0" indent="0" algn="r" rtl="1">
              <a:lnSpc>
                <a:spcPct val="98000"/>
              </a:lnSpc>
              <a:buNone/>
            </a:pPr>
            <a:r>
              <a:rPr lang="ar-SA" altLang="en-US" sz="880" b="1" dirty="0">
                <a:solidFill>
                  <a:srgbClr val="E4C98A"/>
                </a:solidFill>
                <a:latin typeface="Arial" pitchFamily="34" charset="0"/>
                <a:ea typeface="Arial" pitchFamily="34" charset="-122"/>
                <a:cs typeface="Arial" pitchFamily="34" charset="-120"/>
              </a:rPr>
              <a:t>عرض القيمة الفريد</a:t>
            </a:r>
            <a:endParaRPr lang="ar-SA" sz="880" dirty="0"/>
          </a:p>
        </p:txBody>
      </p:sp>
      <p:sp>
        <p:nvSpPr>
          <p:cNvPr id="43" name="Text 34"/>
          <p:cNvSpPr/>
          <p:nvPr/>
        </p:nvSpPr>
        <p:spPr>
          <a:xfrm>
            <a:off x="731520" y="8732520"/>
            <a:ext cx="6099048" cy="548640"/>
          </a:xfrm>
          <a:prstGeom prst="rect">
            <a:avLst/>
          </a:prstGeom>
          <a:noFill/>
          <a:ln/>
        </p:spPr>
        <p:txBody>
          <a:bodyPr wrap="square" rtlCol="0" anchor="t"/>
          <a:lstStyle/>
          <a:p>
            <a:pPr marL="0" indent="0" algn="r" rtl="1">
              <a:lnSpc>
                <a:spcPct val="117600"/>
              </a:lnSpc>
              <a:buNone/>
            </a:pPr>
            <a:r>
              <a:rPr lang="ar-SA" altLang="en-US" sz="1130" dirty="0">
                <a:solidFill>
                  <a:srgbClr val="FFFFFF"/>
                </a:solidFill>
                <a:latin typeface="Arial" pitchFamily="34" charset="0"/>
                <a:ea typeface="Arial" pitchFamily="34" charset="-122"/>
                <a:cs typeface="Arial" pitchFamily="34" charset="-120"/>
              </a:rPr>
              <a:t>تميّز تشغيلي في الضيافة متكامل مع ذكاء الإيرادات المدعوم بالذكاء الاصطناعي، بما يدعم أثرًا قابلًا للقياس عبر الوضوح الاستراتيجي والصرامة التشغيلية والابتكار الرقمي المتواصل.</a:t>
            </a:r>
            <a:endParaRPr lang="ar-SA" sz="1130" dirty="0"/>
          </a:p>
        </p:txBody>
      </p:sp>
      <p:sp>
        <p:nvSpPr>
          <p:cNvPr id="44" name="Shape 35"/>
          <p:cNvSpPr/>
          <p:nvPr/>
        </p:nvSpPr>
        <p:spPr>
          <a:xfrm>
            <a:off x="502920" y="10186416"/>
            <a:ext cx="6556248" cy="0"/>
          </a:xfrm>
          <a:prstGeom prst="line">
            <a:avLst/>
          </a:prstGeom>
          <a:noFill/>
          <a:ln w="9525">
            <a:solidFill>
              <a:srgbClr val="E4DDCB"/>
            </a:solidFill>
            <a:prstDash val="solid"/>
          </a:ln>
        </p:spPr>
      </p:sp>
      <p:sp>
        <p:nvSpPr>
          <p:cNvPr id="45" name="Text 36"/>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46" name="Text 37"/>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05</a:t>
            </a:r>
            <a:endParaRPr lang="ar-SA" sz="88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04  •  محفظة الخدمات • القسم الأول</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حلول الضيافة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قسم مخصص للأصل المادي وتجربة النزيل والمحرك التشغيلي لمنشآت الضيافة: تدخّل هيكلي وميداني يدعم عوائد أقوى.</a:t>
            </a:r>
            <a:endParaRPr lang="ar-SA" sz="1180" dirty="0"/>
          </a:p>
        </p:txBody>
      </p:sp>
      <p:sp>
        <p:nvSpPr>
          <p:cNvPr id="5" name="Shape 3"/>
          <p:cNvSpPr/>
          <p:nvPr/>
        </p:nvSpPr>
        <p:spPr>
          <a:xfrm>
            <a:off x="502920" y="2103120"/>
            <a:ext cx="6556248" cy="1225296"/>
          </a:xfrm>
          <a:prstGeom prst="roundRect">
            <a:avLst>
              <a:gd name="adj" fmla="val 3731"/>
            </a:avLst>
          </a:prstGeom>
          <a:solidFill>
            <a:srgbClr val="FFFFFF"/>
          </a:solidFill>
          <a:ln w="9525">
            <a:solidFill>
              <a:srgbClr val="E4DDCB"/>
            </a:solidFill>
            <a:prstDash val="solid"/>
          </a:ln>
        </p:spPr>
      </p:sp>
      <p:sp>
        <p:nvSpPr>
          <p:cNvPr id="6" name="Shape 4"/>
          <p:cNvSpPr/>
          <p:nvPr/>
        </p:nvSpPr>
        <p:spPr>
          <a:xfrm>
            <a:off x="6446520" y="2487168"/>
            <a:ext cx="457200" cy="457200"/>
          </a:xfrm>
          <a:prstGeom prst="ellipse">
            <a:avLst/>
          </a:prstGeom>
          <a:solidFill>
            <a:srgbClr val="0F5C42"/>
          </a:solidFill>
          <a:ln/>
        </p:spPr>
      </p:sp>
      <p:pic>
        <p:nvPicPr>
          <p:cNvPr id="7" name="Image 0" descr="/home/claude/assets/icons/concierge.png"/>
          <p:cNvPicPr>
            <a:picLocks noChangeAspect="1"/>
          </p:cNvPicPr>
          <p:nvPr/>
        </p:nvPicPr>
        <p:blipFill>
          <a:blip r:embed="rId3"/>
          <a:stretch>
            <a:fillRect/>
          </a:stretch>
        </p:blipFill>
        <p:spPr>
          <a:xfrm>
            <a:off x="6556248" y="2596896"/>
            <a:ext cx="237744" cy="237744"/>
          </a:xfrm>
          <a:prstGeom prst="rect">
            <a:avLst/>
          </a:prstGeom>
        </p:spPr>
      </p:pic>
      <p:sp>
        <p:nvSpPr>
          <p:cNvPr id="8" name="Text 5"/>
          <p:cNvSpPr/>
          <p:nvPr/>
        </p:nvSpPr>
        <p:spPr>
          <a:xfrm>
            <a:off x="731520" y="2221992"/>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تطوير الفنادق وتمثيل المالك</a:t>
            </a:r>
            <a:endParaRPr lang="ar-SA" sz="1240" dirty="0"/>
          </a:p>
        </p:txBody>
      </p:sp>
      <p:sp>
        <p:nvSpPr>
          <p:cNvPr id="9" name="Text 6"/>
          <p:cNvSpPr/>
          <p:nvPr/>
        </p:nvSpPr>
        <p:spPr>
          <a:xfrm>
            <a:off x="731520" y="2523744"/>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إشراف مستقل إلى جانب العميل على امتداد دورة حياة المشروع. نعمل حلقةَ وصل بين المستثمرين والمقاولين: نساعد على حماية الميزانيات والحدّ من أوجه القصور في التصميم وإحكام إدارة اتفاقيات إدارة الفنادق (HMA) ومعالجة مطالبات المقاولين حتى التسليم.</a:t>
            </a:r>
            <a:endParaRPr lang="ar-SA" sz="970" dirty="0"/>
          </a:p>
        </p:txBody>
      </p:sp>
      <p:sp>
        <p:nvSpPr>
          <p:cNvPr id="10" name="Shape 7"/>
          <p:cNvSpPr/>
          <p:nvPr/>
        </p:nvSpPr>
        <p:spPr>
          <a:xfrm>
            <a:off x="502920" y="3456432"/>
            <a:ext cx="6556248" cy="1225296"/>
          </a:xfrm>
          <a:prstGeom prst="roundRect">
            <a:avLst>
              <a:gd name="adj" fmla="val 3731"/>
            </a:avLst>
          </a:prstGeom>
          <a:solidFill>
            <a:srgbClr val="FFFFFF"/>
          </a:solidFill>
          <a:ln w="9525">
            <a:solidFill>
              <a:srgbClr val="E4DDCB"/>
            </a:solidFill>
            <a:prstDash val="solid"/>
          </a:ln>
        </p:spPr>
      </p:sp>
      <p:sp>
        <p:nvSpPr>
          <p:cNvPr id="11" name="Shape 8"/>
          <p:cNvSpPr/>
          <p:nvPr/>
        </p:nvSpPr>
        <p:spPr>
          <a:xfrm>
            <a:off x="6446520" y="3840480"/>
            <a:ext cx="457200" cy="457200"/>
          </a:xfrm>
          <a:prstGeom prst="ellipse">
            <a:avLst/>
          </a:prstGeom>
          <a:solidFill>
            <a:srgbClr val="0F5C42"/>
          </a:solidFill>
          <a:ln/>
        </p:spPr>
      </p:sp>
      <p:pic>
        <p:nvPicPr>
          <p:cNvPr id="12" name="Image 1" descr="/home/claude/assets/icons/clipboard.png"/>
          <p:cNvPicPr>
            <a:picLocks noChangeAspect="1"/>
          </p:cNvPicPr>
          <p:nvPr/>
        </p:nvPicPr>
        <p:blipFill>
          <a:blip r:embed="rId4"/>
          <a:stretch>
            <a:fillRect/>
          </a:stretch>
        </p:blipFill>
        <p:spPr>
          <a:xfrm>
            <a:off x="6556248" y="3950208"/>
            <a:ext cx="237744" cy="237744"/>
          </a:xfrm>
          <a:prstGeom prst="rect">
            <a:avLst/>
          </a:prstGeom>
        </p:spPr>
      </p:pic>
      <p:sp>
        <p:nvSpPr>
          <p:cNvPr id="13" name="Text 9"/>
          <p:cNvSpPr/>
          <p:nvPr/>
        </p:nvSpPr>
        <p:spPr>
          <a:xfrm>
            <a:off x="731520" y="3575304"/>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تحسين العمليات ودعم ما قبل الافتتاح</a:t>
            </a:r>
            <a:endParaRPr lang="ar-SA" sz="1240" dirty="0"/>
          </a:p>
        </p:txBody>
      </p:sp>
      <p:sp>
        <p:nvSpPr>
          <p:cNvPr id="14" name="Text 10"/>
          <p:cNvSpPr/>
          <p:nvPr/>
        </p:nvSpPr>
        <p:spPr>
          <a:xfrm>
            <a:off x="731520" y="3877056"/>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تقييمات تشخيصية معمّقة وإعادة هيكلة للعمليات اليومية. وتدعم أطر إدارة المشاريع المنظّمة انطلاقات تجارية سلسة، وتساعد على احتواء التأخيرات، وتدعم توليد الإيرادات منذ اليوم الأول.</a:t>
            </a:r>
            <a:endParaRPr lang="ar-SA" sz="970" dirty="0"/>
          </a:p>
        </p:txBody>
      </p:sp>
      <p:sp>
        <p:nvSpPr>
          <p:cNvPr id="15" name="Shape 11"/>
          <p:cNvSpPr/>
          <p:nvPr/>
        </p:nvSpPr>
        <p:spPr>
          <a:xfrm>
            <a:off x="502920" y="4809744"/>
            <a:ext cx="6556248" cy="1225296"/>
          </a:xfrm>
          <a:prstGeom prst="roundRect">
            <a:avLst>
              <a:gd name="adj" fmla="val 3731"/>
            </a:avLst>
          </a:prstGeom>
          <a:solidFill>
            <a:srgbClr val="FFFFFF"/>
          </a:solidFill>
          <a:ln w="9525">
            <a:solidFill>
              <a:srgbClr val="E4DDCB"/>
            </a:solidFill>
            <a:prstDash val="solid"/>
          </a:ln>
        </p:spPr>
      </p:sp>
      <p:sp>
        <p:nvSpPr>
          <p:cNvPr id="16" name="Shape 12"/>
          <p:cNvSpPr/>
          <p:nvPr/>
        </p:nvSpPr>
        <p:spPr>
          <a:xfrm>
            <a:off x="6446520" y="5193792"/>
            <a:ext cx="457200" cy="457200"/>
          </a:xfrm>
          <a:prstGeom prst="ellipse">
            <a:avLst/>
          </a:prstGeom>
          <a:solidFill>
            <a:srgbClr val="0F5C42"/>
          </a:solidFill>
          <a:ln/>
        </p:spPr>
      </p:sp>
      <p:pic>
        <p:nvPicPr>
          <p:cNvPr id="17" name="Image 2" descr="/home/claude/assets/icons/chartbar.png"/>
          <p:cNvPicPr>
            <a:picLocks noChangeAspect="1"/>
          </p:cNvPicPr>
          <p:nvPr/>
        </p:nvPicPr>
        <p:blipFill>
          <a:blip r:embed="rId5"/>
          <a:stretch>
            <a:fillRect/>
          </a:stretch>
        </p:blipFill>
        <p:spPr>
          <a:xfrm>
            <a:off x="6556248" y="5303520"/>
            <a:ext cx="237744" cy="237744"/>
          </a:xfrm>
          <a:prstGeom prst="rect">
            <a:avLst/>
          </a:prstGeom>
        </p:spPr>
      </p:pic>
      <p:sp>
        <p:nvSpPr>
          <p:cNvPr id="18" name="Text 13"/>
          <p:cNvSpPr/>
          <p:nvPr/>
        </p:nvSpPr>
        <p:spPr>
          <a:xfrm>
            <a:off x="731520" y="4928616"/>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دراسات الجدوى والتحقق من الاستثمار</a:t>
            </a:r>
            <a:endParaRPr lang="ar-SA" sz="1240" dirty="0"/>
          </a:p>
        </p:txBody>
      </p:sp>
      <p:sp>
        <p:nvSpPr>
          <p:cNvPr id="19" name="Text 14"/>
          <p:cNvSpPr/>
          <p:nvPr/>
        </p:nvSpPr>
        <p:spPr>
          <a:xfrm>
            <a:off x="731520" y="5230368"/>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نمذجة مالية دقيقة، وتحليل كلّي للعرض والطلب، وتوقّعات تجريبية للعائد على الاستثمار (ROI)، بما يمنح المستثمرين المؤسسيين ثقة أكبر بأن رأس المال المخصّص لأصول الضيافة الجديدة مسنود بالأدلة.</a:t>
            </a:r>
            <a:endParaRPr lang="ar-SA" sz="970" dirty="0"/>
          </a:p>
        </p:txBody>
      </p:sp>
      <p:sp>
        <p:nvSpPr>
          <p:cNvPr id="20" name="Shape 15"/>
          <p:cNvSpPr/>
          <p:nvPr/>
        </p:nvSpPr>
        <p:spPr>
          <a:xfrm>
            <a:off x="502920" y="6163056"/>
            <a:ext cx="6556248" cy="1225296"/>
          </a:xfrm>
          <a:prstGeom prst="roundRect">
            <a:avLst>
              <a:gd name="adj" fmla="val 3731"/>
            </a:avLst>
          </a:prstGeom>
          <a:solidFill>
            <a:srgbClr val="FFFFFF"/>
          </a:solidFill>
          <a:ln w="9525">
            <a:solidFill>
              <a:srgbClr val="E4DDCB"/>
            </a:solidFill>
            <a:prstDash val="solid"/>
          </a:ln>
        </p:spPr>
      </p:sp>
      <p:sp>
        <p:nvSpPr>
          <p:cNvPr id="21" name="Shape 16"/>
          <p:cNvSpPr/>
          <p:nvPr/>
        </p:nvSpPr>
        <p:spPr>
          <a:xfrm>
            <a:off x="6446520" y="6547104"/>
            <a:ext cx="457200" cy="457200"/>
          </a:xfrm>
          <a:prstGeom prst="ellipse">
            <a:avLst/>
          </a:prstGeom>
          <a:solidFill>
            <a:srgbClr val="0F5C42"/>
          </a:solidFill>
          <a:ln/>
        </p:spPr>
      </p:sp>
      <p:pic>
        <p:nvPicPr>
          <p:cNvPr id="22" name="Image 3" descr="/home/claude/assets/icons/award.png"/>
          <p:cNvPicPr>
            <a:picLocks noChangeAspect="1"/>
          </p:cNvPicPr>
          <p:nvPr/>
        </p:nvPicPr>
        <p:blipFill>
          <a:blip r:embed="rId6"/>
          <a:stretch>
            <a:fillRect/>
          </a:stretch>
        </p:blipFill>
        <p:spPr>
          <a:xfrm>
            <a:off x="6556248" y="6656832"/>
            <a:ext cx="237744" cy="237744"/>
          </a:xfrm>
          <a:prstGeom prst="rect">
            <a:avLst/>
          </a:prstGeom>
        </p:spPr>
      </p:pic>
      <p:sp>
        <p:nvSpPr>
          <p:cNvPr id="23" name="Text 17"/>
          <p:cNvSpPr/>
          <p:nvPr/>
        </p:nvSpPr>
        <p:spPr>
          <a:xfrm>
            <a:off x="731520" y="6281928"/>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تعزيز تجربة النزيل وتدقيق الجودة</a:t>
            </a:r>
            <a:endParaRPr lang="ar-SA" sz="1240" dirty="0"/>
          </a:p>
        </p:txBody>
      </p:sp>
      <p:sp>
        <p:nvSpPr>
          <p:cNvPr id="24" name="Text 18"/>
          <p:cNvSpPr/>
          <p:nvPr/>
        </p:nvSpPr>
        <p:spPr>
          <a:xfrm>
            <a:off x="731520" y="6583680"/>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ارتقاء منهجي بنقاط التواصل المادية والرقمية إلى المعايير العالمية: تدقيق صارم على الالتزام بمعايير العلامة، ومعالجة إجراءات السلامة، وبرامج الزائر السري.</a:t>
            </a:r>
            <a:endParaRPr lang="ar-SA" sz="970" dirty="0"/>
          </a:p>
        </p:txBody>
      </p:sp>
      <p:sp>
        <p:nvSpPr>
          <p:cNvPr id="25" name="Shape 19"/>
          <p:cNvSpPr/>
          <p:nvPr/>
        </p:nvSpPr>
        <p:spPr>
          <a:xfrm>
            <a:off x="502920" y="7516368"/>
            <a:ext cx="6556248" cy="1225296"/>
          </a:xfrm>
          <a:prstGeom prst="roundRect">
            <a:avLst>
              <a:gd name="adj" fmla="val 3731"/>
            </a:avLst>
          </a:prstGeom>
          <a:solidFill>
            <a:srgbClr val="FFFFFF"/>
          </a:solidFill>
          <a:ln w="9525">
            <a:solidFill>
              <a:srgbClr val="E4DDCB"/>
            </a:solidFill>
            <a:prstDash val="solid"/>
          </a:ln>
        </p:spPr>
      </p:sp>
      <p:sp>
        <p:nvSpPr>
          <p:cNvPr id="26" name="Shape 20"/>
          <p:cNvSpPr/>
          <p:nvPr/>
        </p:nvSpPr>
        <p:spPr>
          <a:xfrm>
            <a:off x="6446520" y="7900416"/>
            <a:ext cx="457200" cy="457200"/>
          </a:xfrm>
          <a:prstGeom prst="ellipse">
            <a:avLst/>
          </a:prstGeom>
          <a:solidFill>
            <a:srgbClr val="0F5C42"/>
          </a:solidFill>
          <a:ln/>
        </p:spPr>
      </p:sp>
      <p:pic>
        <p:nvPicPr>
          <p:cNvPr id="27" name="Image 4" descr="/home/claude/assets/icons/chartline.png"/>
          <p:cNvPicPr>
            <a:picLocks noChangeAspect="1"/>
          </p:cNvPicPr>
          <p:nvPr/>
        </p:nvPicPr>
        <p:blipFill>
          <a:blip r:embed="rId7"/>
          <a:stretch>
            <a:fillRect/>
          </a:stretch>
        </p:blipFill>
        <p:spPr>
          <a:xfrm>
            <a:off x="6556248" y="8010144"/>
            <a:ext cx="237744" cy="237744"/>
          </a:xfrm>
          <a:prstGeom prst="rect">
            <a:avLst/>
          </a:prstGeom>
        </p:spPr>
      </p:pic>
      <p:sp>
        <p:nvSpPr>
          <p:cNvPr id="28" name="Text 21"/>
          <p:cNvSpPr/>
          <p:nvPr/>
        </p:nvSpPr>
        <p:spPr>
          <a:xfrm>
            <a:off x="731520" y="7635240"/>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تحسين الأداء التجاري</a:t>
            </a:r>
            <a:endParaRPr lang="ar-SA" sz="1240" dirty="0"/>
          </a:p>
        </p:txBody>
      </p:sp>
      <p:sp>
        <p:nvSpPr>
          <p:cNvPr id="29" name="Text 22"/>
          <p:cNvSpPr/>
          <p:nvPr/>
        </p:nvSpPr>
        <p:spPr>
          <a:xfrm>
            <a:off x="731520" y="7936992"/>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مواءمة شاملة بين المبيعات التجارية والتسويق الرقمي والعمليات الداخلية. وتدعم أطر ضبط التكاليف المنضبطة وتحليلات قنوات التوزيع تحسين مؤشر GOPPAR (إجمالي الربح التشغيلي لكل غرفة متاحة) على مستوى الأصل.</a:t>
            </a:r>
            <a:endParaRPr lang="ar-SA" sz="970" dirty="0"/>
          </a:p>
        </p:txBody>
      </p:sp>
      <p:sp>
        <p:nvSpPr>
          <p:cNvPr id="30" name="Text 23"/>
          <p:cNvSpPr/>
          <p:nvPr/>
        </p:nvSpPr>
        <p:spPr>
          <a:xfrm>
            <a:off x="502920" y="891540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هندسة التميّز ودعم النمو، من المخطط الأول حتى النضج التشغيلي الكامل.</a:t>
            </a:r>
            <a:endParaRPr lang="ar-SA" sz="1340" dirty="0"/>
          </a:p>
        </p:txBody>
      </p:sp>
      <p:sp>
        <p:nvSpPr>
          <p:cNvPr id="31" name="Shape 24"/>
          <p:cNvSpPr/>
          <p:nvPr/>
        </p:nvSpPr>
        <p:spPr>
          <a:xfrm>
            <a:off x="502920" y="10186416"/>
            <a:ext cx="6556248" cy="0"/>
          </a:xfrm>
          <a:prstGeom prst="line">
            <a:avLst/>
          </a:prstGeom>
          <a:noFill/>
          <a:ln w="9525">
            <a:solidFill>
              <a:srgbClr val="E4DDCB"/>
            </a:solidFill>
            <a:prstDash val="solid"/>
          </a:ln>
        </p:spPr>
      </p:sp>
      <p:sp>
        <p:nvSpPr>
          <p:cNvPr id="32" name="Text 25"/>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3" name="Text 26"/>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06</a:t>
            </a:r>
            <a:endParaRPr lang="ar-SA" sz="88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05  •  محفظة الخدمات • القسم الثاني</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حلول نمو الأعمال</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صرامة الضيافة الفاخرة المتمحورة حول العميل، مطبّقة على قطاع الأعمال الأوسع، لخدمة المؤسسات التي تتوسع إقليميًا وعالميًا.</a:t>
            </a:r>
            <a:endParaRPr lang="ar-SA" sz="1180" dirty="0"/>
          </a:p>
        </p:txBody>
      </p:sp>
      <p:sp>
        <p:nvSpPr>
          <p:cNvPr id="5" name="Shape 3"/>
          <p:cNvSpPr/>
          <p:nvPr/>
        </p:nvSpPr>
        <p:spPr>
          <a:xfrm>
            <a:off x="502920" y="2103120"/>
            <a:ext cx="6556248" cy="1225296"/>
          </a:xfrm>
          <a:prstGeom prst="roundRect">
            <a:avLst>
              <a:gd name="adj" fmla="val 3731"/>
            </a:avLst>
          </a:prstGeom>
          <a:solidFill>
            <a:srgbClr val="FFFFFF"/>
          </a:solidFill>
          <a:ln w="9525">
            <a:solidFill>
              <a:srgbClr val="E4DDCB"/>
            </a:solidFill>
            <a:prstDash val="solid"/>
          </a:ln>
        </p:spPr>
      </p:sp>
      <p:sp>
        <p:nvSpPr>
          <p:cNvPr id="6" name="Shape 4"/>
          <p:cNvSpPr/>
          <p:nvPr/>
        </p:nvSpPr>
        <p:spPr>
          <a:xfrm>
            <a:off x="6446520" y="2487168"/>
            <a:ext cx="457200" cy="457200"/>
          </a:xfrm>
          <a:prstGeom prst="ellipse">
            <a:avLst/>
          </a:prstGeom>
          <a:solidFill>
            <a:srgbClr val="0F5C42"/>
          </a:solidFill>
          <a:ln/>
        </p:spPr>
      </p:sp>
      <p:pic>
        <p:nvPicPr>
          <p:cNvPr id="7" name="Image 0" descr="/home/claude/assets/icons/sitemap.png"/>
          <p:cNvPicPr>
            <a:picLocks noChangeAspect="1"/>
          </p:cNvPicPr>
          <p:nvPr/>
        </p:nvPicPr>
        <p:blipFill>
          <a:blip r:embed="rId3"/>
          <a:stretch>
            <a:fillRect/>
          </a:stretch>
        </p:blipFill>
        <p:spPr>
          <a:xfrm>
            <a:off x="6556248" y="2596896"/>
            <a:ext cx="237744" cy="237744"/>
          </a:xfrm>
          <a:prstGeom prst="rect">
            <a:avLst/>
          </a:prstGeom>
        </p:spPr>
      </p:pic>
      <p:sp>
        <p:nvSpPr>
          <p:cNvPr id="8" name="Text 5"/>
          <p:cNvSpPr/>
          <p:nvPr/>
        </p:nvSpPr>
        <p:spPr>
          <a:xfrm>
            <a:off x="731520" y="2221992"/>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التخطيط الاستراتيجي وإعادة الهيكلة التنظيمية</a:t>
            </a:r>
            <a:endParaRPr lang="ar-SA" sz="1240" dirty="0"/>
          </a:p>
        </p:txBody>
      </p:sp>
      <p:sp>
        <p:nvSpPr>
          <p:cNvPr id="9" name="Text 6"/>
          <p:cNvSpPr/>
          <p:nvPr/>
        </p:nvSpPr>
        <p:spPr>
          <a:xfrm>
            <a:off x="731520" y="2523744"/>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خرائط طريق استراتيجية لمدة ثلاث إلى خمس سنوات وهياكل مؤسسية مُعاد تعريفها: للحدّ من الأعباء الإدارية، وزيادة المرونة، وترسيخ بروتوكولات إدارة التغيير المتوافقة مع أنظمة العمل.</a:t>
            </a:r>
            <a:endParaRPr lang="ar-SA" sz="970" dirty="0"/>
          </a:p>
        </p:txBody>
      </p:sp>
      <p:sp>
        <p:nvSpPr>
          <p:cNvPr id="10" name="Shape 7"/>
          <p:cNvSpPr/>
          <p:nvPr/>
        </p:nvSpPr>
        <p:spPr>
          <a:xfrm>
            <a:off x="502920" y="3456432"/>
            <a:ext cx="6556248" cy="1225296"/>
          </a:xfrm>
          <a:prstGeom prst="roundRect">
            <a:avLst>
              <a:gd name="adj" fmla="val 3731"/>
            </a:avLst>
          </a:prstGeom>
          <a:solidFill>
            <a:srgbClr val="FFFFFF"/>
          </a:solidFill>
          <a:ln w="9525">
            <a:solidFill>
              <a:srgbClr val="E4DDCB"/>
            </a:solidFill>
            <a:prstDash val="solid"/>
          </a:ln>
        </p:spPr>
      </p:sp>
      <p:sp>
        <p:nvSpPr>
          <p:cNvPr id="11" name="Shape 8"/>
          <p:cNvSpPr/>
          <p:nvPr/>
        </p:nvSpPr>
        <p:spPr>
          <a:xfrm>
            <a:off x="6446520" y="3840480"/>
            <a:ext cx="457200" cy="457200"/>
          </a:xfrm>
          <a:prstGeom prst="ellipse">
            <a:avLst/>
          </a:prstGeom>
          <a:solidFill>
            <a:srgbClr val="0F5C42"/>
          </a:solidFill>
          <a:ln/>
        </p:spPr>
      </p:sp>
      <p:pic>
        <p:nvPicPr>
          <p:cNvPr id="12" name="Image 1" descr="/home/claude/assets/icons/robot.png"/>
          <p:cNvPicPr>
            <a:picLocks noChangeAspect="1"/>
          </p:cNvPicPr>
          <p:nvPr/>
        </p:nvPicPr>
        <p:blipFill>
          <a:blip r:embed="rId4"/>
          <a:stretch>
            <a:fillRect/>
          </a:stretch>
        </p:blipFill>
        <p:spPr>
          <a:xfrm>
            <a:off x="6556248" y="3950208"/>
            <a:ext cx="237744" cy="237744"/>
          </a:xfrm>
          <a:prstGeom prst="rect">
            <a:avLst/>
          </a:prstGeom>
        </p:spPr>
      </p:pic>
      <p:sp>
        <p:nvSpPr>
          <p:cNvPr id="13" name="Text 9"/>
          <p:cNvSpPr/>
          <p:nvPr/>
        </p:nvSpPr>
        <p:spPr>
          <a:xfrm>
            <a:off x="731520" y="3575304"/>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تحسين الإيرادات والذكاء الاصطناعي التطبيقي</a:t>
            </a:r>
            <a:endParaRPr lang="ar-SA" sz="1240" dirty="0"/>
          </a:p>
        </p:txBody>
      </p:sp>
      <p:sp>
        <p:nvSpPr>
          <p:cNvPr id="14" name="Text 10"/>
          <p:cNvSpPr/>
          <p:nvPr/>
        </p:nvSpPr>
        <p:spPr>
          <a:xfrm>
            <a:off x="731520" y="3877056"/>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مصفوفات التسعير الديناميكي، وإدارة العائد التنبؤية، وأنظمة الاستحواذ الشامل على الإيرادات، إلى جانب تقييمات جاهزية المؤسسة للذكاء الاصطناعي وخرائط طريق لنشر التقنية على مراحل.</a:t>
            </a:r>
            <a:endParaRPr lang="ar-SA" sz="970" dirty="0"/>
          </a:p>
        </p:txBody>
      </p:sp>
      <p:sp>
        <p:nvSpPr>
          <p:cNvPr id="15" name="Shape 11"/>
          <p:cNvSpPr/>
          <p:nvPr/>
        </p:nvSpPr>
        <p:spPr>
          <a:xfrm>
            <a:off x="502920" y="4809744"/>
            <a:ext cx="6556248" cy="1225296"/>
          </a:xfrm>
          <a:prstGeom prst="roundRect">
            <a:avLst>
              <a:gd name="adj" fmla="val 3731"/>
            </a:avLst>
          </a:prstGeom>
          <a:solidFill>
            <a:srgbClr val="FFFFFF"/>
          </a:solidFill>
          <a:ln w="9525">
            <a:solidFill>
              <a:srgbClr val="E4DDCB"/>
            </a:solidFill>
            <a:prstDash val="solid"/>
          </a:ln>
        </p:spPr>
      </p:sp>
      <p:sp>
        <p:nvSpPr>
          <p:cNvPr id="16" name="Shape 12"/>
          <p:cNvSpPr/>
          <p:nvPr/>
        </p:nvSpPr>
        <p:spPr>
          <a:xfrm>
            <a:off x="6446520" y="5193792"/>
            <a:ext cx="457200" cy="457200"/>
          </a:xfrm>
          <a:prstGeom prst="ellipse">
            <a:avLst/>
          </a:prstGeom>
          <a:solidFill>
            <a:srgbClr val="0F5C42"/>
          </a:solidFill>
          <a:ln/>
        </p:spPr>
      </p:sp>
      <p:pic>
        <p:nvPicPr>
          <p:cNvPr id="17" name="Image 2" descr="/home/claude/assets/icons/cloud.png"/>
          <p:cNvPicPr>
            <a:picLocks noChangeAspect="1"/>
          </p:cNvPicPr>
          <p:nvPr/>
        </p:nvPicPr>
        <p:blipFill>
          <a:blip r:embed="rId5"/>
          <a:stretch>
            <a:fillRect/>
          </a:stretch>
        </p:blipFill>
        <p:spPr>
          <a:xfrm>
            <a:off x="6556248" y="5303520"/>
            <a:ext cx="237744" cy="237744"/>
          </a:xfrm>
          <a:prstGeom prst="rect">
            <a:avLst/>
          </a:prstGeom>
        </p:spPr>
      </p:pic>
      <p:sp>
        <p:nvSpPr>
          <p:cNvPr id="18" name="Text 13"/>
          <p:cNvSpPr/>
          <p:nvPr/>
        </p:nvSpPr>
        <p:spPr>
          <a:xfrm>
            <a:off x="731520" y="4928616"/>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التحول الرقمي (Digital Transformation)</a:t>
            </a:r>
            <a:endParaRPr lang="ar-SA" sz="1240" dirty="0"/>
          </a:p>
        </p:txBody>
      </p:sp>
      <p:sp>
        <p:nvSpPr>
          <p:cNvPr id="19" name="Text 14"/>
          <p:cNvSpPr/>
          <p:nvPr/>
        </p:nvSpPr>
        <p:spPr>
          <a:xfrm>
            <a:off x="731520" y="5230368"/>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تحديث شامل لمنظومات التقنية الداخلية، وبنية إدارة علاقات العملاء (CRM)، واستراتيجية الانتقال إلى السحابة، ومخططات البرمجيات المتكاملة: بما يسهم في خفض تكاليف تقنية المعلومات على المدى البعيد وتعزيز أمن البيانات.</a:t>
            </a:r>
            <a:endParaRPr lang="ar-SA" sz="970" dirty="0"/>
          </a:p>
        </p:txBody>
      </p:sp>
      <p:sp>
        <p:nvSpPr>
          <p:cNvPr id="20" name="Shape 15"/>
          <p:cNvSpPr/>
          <p:nvPr/>
        </p:nvSpPr>
        <p:spPr>
          <a:xfrm>
            <a:off x="502920" y="6163056"/>
            <a:ext cx="6556248" cy="1225296"/>
          </a:xfrm>
          <a:prstGeom prst="roundRect">
            <a:avLst>
              <a:gd name="adj" fmla="val 3731"/>
            </a:avLst>
          </a:prstGeom>
          <a:solidFill>
            <a:srgbClr val="FFFFFF"/>
          </a:solidFill>
          <a:ln w="9525">
            <a:solidFill>
              <a:srgbClr val="E4DDCB"/>
            </a:solidFill>
            <a:prstDash val="solid"/>
          </a:ln>
        </p:spPr>
      </p:sp>
      <p:sp>
        <p:nvSpPr>
          <p:cNvPr id="21" name="Shape 16"/>
          <p:cNvSpPr/>
          <p:nvPr/>
        </p:nvSpPr>
        <p:spPr>
          <a:xfrm>
            <a:off x="6446520" y="6547104"/>
            <a:ext cx="457200" cy="457200"/>
          </a:xfrm>
          <a:prstGeom prst="ellipse">
            <a:avLst/>
          </a:prstGeom>
          <a:solidFill>
            <a:srgbClr val="0F5C42"/>
          </a:solidFill>
          <a:ln/>
        </p:spPr>
      </p:sp>
      <p:pic>
        <p:nvPicPr>
          <p:cNvPr id="22" name="Image 3" descr="/home/claude/assets/icons/usertie.png"/>
          <p:cNvPicPr>
            <a:picLocks noChangeAspect="1"/>
          </p:cNvPicPr>
          <p:nvPr/>
        </p:nvPicPr>
        <p:blipFill>
          <a:blip r:embed="rId6"/>
          <a:stretch>
            <a:fillRect/>
          </a:stretch>
        </p:blipFill>
        <p:spPr>
          <a:xfrm>
            <a:off x="6556248" y="6656832"/>
            <a:ext cx="237744" cy="237744"/>
          </a:xfrm>
          <a:prstGeom prst="rect">
            <a:avLst/>
          </a:prstGeom>
        </p:spPr>
      </p:pic>
      <p:sp>
        <p:nvSpPr>
          <p:cNvPr id="23" name="Text 17"/>
          <p:cNvSpPr/>
          <p:nvPr/>
        </p:nvSpPr>
        <p:spPr>
          <a:xfrm>
            <a:off x="731520" y="6281928"/>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تطوير القيادات والقدرات</a:t>
            </a:r>
            <a:endParaRPr lang="ar-SA" sz="1240" dirty="0"/>
          </a:p>
        </p:txBody>
      </p:sp>
      <p:sp>
        <p:nvSpPr>
          <p:cNvPr id="24" name="Text 18"/>
          <p:cNvSpPr/>
          <p:nvPr/>
        </p:nvSpPr>
        <p:spPr>
          <a:xfrm>
            <a:off x="731520" y="6583680"/>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تدريب تنفيذي فردي مخصّص، وأطر كفاءات قيادية، وتخطيط للتعاقب الوظيفي المؤسسي: لبناء مستويات تنفيذية مرنة قادرة على إدارة التحولات المعقدة.</a:t>
            </a:r>
            <a:endParaRPr lang="ar-SA" sz="970" dirty="0"/>
          </a:p>
        </p:txBody>
      </p:sp>
      <p:sp>
        <p:nvSpPr>
          <p:cNvPr id="25" name="Shape 19"/>
          <p:cNvSpPr/>
          <p:nvPr/>
        </p:nvSpPr>
        <p:spPr>
          <a:xfrm>
            <a:off x="502920" y="7516368"/>
            <a:ext cx="6556248" cy="1225296"/>
          </a:xfrm>
          <a:prstGeom prst="roundRect">
            <a:avLst>
              <a:gd name="adj" fmla="val 3731"/>
            </a:avLst>
          </a:prstGeom>
          <a:solidFill>
            <a:srgbClr val="FFFFFF"/>
          </a:solidFill>
          <a:ln w="9525">
            <a:solidFill>
              <a:srgbClr val="E4DDCB"/>
            </a:solidFill>
            <a:prstDash val="solid"/>
          </a:ln>
        </p:spPr>
      </p:sp>
      <p:sp>
        <p:nvSpPr>
          <p:cNvPr id="26" name="Shape 20"/>
          <p:cNvSpPr/>
          <p:nvPr/>
        </p:nvSpPr>
        <p:spPr>
          <a:xfrm>
            <a:off x="6446520" y="7900416"/>
            <a:ext cx="457200" cy="457200"/>
          </a:xfrm>
          <a:prstGeom prst="ellipse">
            <a:avLst/>
          </a:prstGeom>
          <a:solidFill>
            <a:srgbClr val="0F5C42"/>
          </a:solidFill>
          <a:ln/>
        </p:spPr>
      </p:sp>
      <p:pic>
        <p:nvPicPr>
          <p:cNvPr id="27" name="Image 4" descr="/home/claude/assets/icons/balance.png"/>
          <p:cNvPicPr>
            <a:picLocks noChangeAspect="1"/>
          </p:cNvPicPr>
          <p:nvPr/>
        </p:nvPicPr>
        <p:blipFill>
          <a:blip r:embed="rId7"/>
          <a:stretch>
            <a:fillRect/>
          </a:stretch>
        </p:blipFill>
        <p:spPr>
          <a:xfrm>
            <a:off x="6556248" y="8010144"/>
            <a:ext cx="237744" cy="237744"/>
          </a:xfrm>
          <a:prstGeom prst="rect">
            <a:avLst/>
          </a:prstGeom>
        </p:spPr>
      </p:pic>
      <p:sp>
        <p:nvSpPr>
          <p:cNvPr id="28" name="Text 21"/>
          <p:cNvSpPr/>
          <p:nvPr/>
        </p:nvSpPr>
        <p:spPr>
          <a:xfrm>
            <a:off x="731520" y="7635240"/>
            <a:ext cx="5596128" cy="274320"/>
          </a:xfrm>
          <a:prstGeom prst="rect">
            <a:avLst/>
          </a:prstGeom>
          <a:noFill/>
          <a:ln/>
        </p:spPr>
        <p:txBody>
          <a:bodyPr wrap="square" rtlCol="0" anchor="ctr"/>
          <a:lstStyle/>
          <a:p>
            <a:pPr marL="0" indent="0" algn="r" rtl="1">
              <a:lnSpc>
                <a:spcPct val="98000"/>
              </a:lnSpc>
              <a:buNone/>
            </a:pPr>
            <a:r>
              <a:rPr lang="ar-SA" altLang="en-US" sz="1240" b="1" dirty="0">
                <a:solidFill>
                  <a:srgbClr val="0B1B2B"/>
                </a:solidFill>
                <a:latin typeface="Arial" pitchFamily="34" charset="0"/>
                <a:ea typeface="Arial" pitchFamily="34" charset="-122"/>
                <a:cs typeface="Arial" pitchFamily="34" charset="-120"/>
              </a:rPr>
              <a:t>تقييم الاستثمار والعناية الواجبة للاندماج والاستحواذ</a:t>
            </a:r>
            <a:endParaRPr lang="ar-SA" sz="1240" dirty="0"/>
          </a:p>
        </p:txBody>
      </p:sp>
      <p:sp>
        <p:nvSpPr>
          <p:cNvPr id="29" name="Text 22"/>
          <p:cNvSpPr/>
          <p:nvPr/>
        </p:nvSpPr>
        <p:spPr>
          <a:xfrm>
            <a:off x="731520" y="7936992"/>
            <a:ext cx="5596128" cy="768096"/>
          </a:xfrm>
          <a:prstGeom prst="rect">
            <a:avLst/>
          </a:prstGeom>
          <a:noFill/>
          <a:ln/>
        </p:spPr>
        <p:txBody>
          <a:bodyPr wrap="square" rtlCol="0" anchor="t"/>
          <a:lstStyle/>
          <a:p>
            <a:pPr marL="0" indent="0" algn="r" rtl="1">
              <a:lnSpc>
                <a:spcPct val="113680"/>
              </a:lnSpc>
              <a:buNone/>
            </a:pPr>
            <a:r>
              <a:rPr lang="ar-SA" altLang="en-US" sz="970" dirty="0">
                <a:solidFill>
                  <a:srgbClr val="2B2A27"/>
                </a:solidFill>
                <a:latin typeface="Arial" pitchFamily="34" charset="0"/>
                <a:ea typeface="Arial" pitchFamily="34" charset="-122"/>
                <a:cs typeface="Arial" pitchFamily="34" charset="-120"/>
              </a:rPr>
              <a:t>عناية واجبة تجارية دقيقة لعمليات الاستحواذ على الأصول، وتقارير تقييم ما قبل الاستحواذ، ونمذجة التكامل التشغيلي، وخطط الدمج بعد الاندماج التي تدعم الانضباط في إدارة رأس المال طوال الصفقة.</a:t>
            </a:r>
            <a:endParaRPr lang="ar-SA" sz="970" dirty="0"/>
          </a:p>
        </p:txBody>
      </p:sp>
      <p:sp>
        <p:nvSpPr>
          <p:cNvPr id="30" name="Text 23"/>
          <p:cNvSpPr/>
          <p:nvPr/>
        </p:nvSpPr>
        <p:spPr>
          <a:xfrm>
            <a:off x="502920" y="891540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حيث تلتقي الضيافة بالذكاء: استراتيجية قائمة على البيانات وتنفيذ محوره الإنسان.</a:t>
            </a:r>
            <a:endParaRPr lang="ar-SA" sz="1340" dirty="0"/>
          </a:p>
        </p:txBody>
      </p:sp>
      <p:sp>
        <p:nvSpPr>
          <p:cNvPr id="31" name="Shape 24"/>
          <p:cNvSpPr/>
          <p:nvPr/>
        </p:nvSpPr>
        <p:spPr>
          <a:xfrm>
            <a:off x="502920" y="10186416"/>
            <a:ext cx="6556248" cy="0"/>
          </a:xfrm>
          <a:prstGeom prst="line">
            <a:avLst/>
          </a:prstGeom>
          <a:noFill/>
          <a:ln w="9525">
            <a:solidFill>
              <a:srgbClr val="E4DDCB"/>
            </a:solidFill>
            <a:prstDash val="solid"/>
          </a:ln>
        </p:spPr>
      </p:sp>
      <p:sp>
        <p:nvSpPr>
          <p:cNvPr id="32" name="Text 25"/>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3" name="Text 26"/>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07</a:t>
            </a:r>
            <a:endParaRPr lang="ar-SA" sz="88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E4C98A"/>
                </a:solidFill>
                <a:latin typeface="Arial" pitchFamily="34" charset="0"/>
                <a:ea typeface="Arial" pitchFamily="34" charset="-122"/>
                <a:cs typeface="Arial" pitchFamily="34" charset="-120"/>
              </a:rPr>
              <a:t>06  •  منصة رقمية خاصة</a:t>
            </a:r>
            <a:endParaRPr lang="ar-SA" sz="1080" dirty="0"/>
          </a:p>
        </p:txBody>
      </p:sp>
      <p:sp>
        <p:nvSpPr>
          <p:cNvPr id="3" name="Text 1"/>
          <p:cNvSpPr/>
          <p:nvPr/>
        </p:nvSpPr>
        <p:spPr>
          <a:xfrm>
            <a:off x="502920" y="749808"/>
            <a:ext cx="6556248" cy="914400"/>
          </a:xfrm>
          <a:prstGeom prst="rect">
            <a:avLst/>
          </a:prstGeom>
          <a:noFill/>
          <a:ln/>
        </p:spPr>
        <p:txBody>
          <a:bodyPr wrap="square" rtlCol="0" anchor="ctr"/>
          <a:lstStyle/>
          <a:p>
            <a:pPr marL="0" indent="0" algn="r" rtl="1">
              <a:lnSpc>
                <a:spcPct val="105840"/>
              </a:lnSpc>
              <a:buNone/>
            </a:pPr>
            <a:r>
              <a:rPr lang="ar-SA" altLang="en-US" sz="2580" dirty="0">
                <a:solidFill>
                  <a:srgbClr val="FFFFFF"/>
                </a:solidFill>
                <a:latin typeface="Arial" pitchFamily="34" charset="0"/>
                <a:ea typeface="Arial" pitchFamily="34" charset="-122"/>
                <a:cs typeface="Arial" pitchFamily="34" charset="-120"/>
              </a:rPr>
              <a:t>منصة Altus Gulf للمعرفة والأداء في قطاع الضيافة</a:t>
            </a:r>
            <a:endParaRPr lang="ar-SA" sz="2580" dirty="0"/>
          </a:p>
        </p:txBody>
      </p:sp>
      <p:sp>
        <p:nvSpPr>
          <p:cNvPr id="4" name="Text 2"/>
          <p:cNvSpPr/>
          <p:nvPr/>
        </p:nvSpPr>
        <p:spPr>
          <a:xfrm>
            <a:off x="502920" y="1700784"/>
            <a:ext cx="6556248" cy="685800"/>
          </a:xfrm>
          <a:prstGeom prst="rect">
            <a:avLst/>
          </a:prstGeom>
          <a:noFill/>
          <a:ln/>
        </p:spPr>
        <p:txBody>
          <a:bodyPr wrap="square" rtlCol="0" anchor="t"/>
          <a:lstStyle/>
          <a:p>
            <a:pPr marL="0" indent="0" algn="r" rtl="1">
              <a:lnSpc>
                <a:spcPct val="117600"/>
              </a:lnSpc>
              <a:buNone/>
            </a:pPr>
            <a:r>
              <a:rPr lang="ar-SA" altLang="en-US" sz="1130" dirty="0">
                <a:solidFill>
                  <a:srgbClr val="B9C3CC"/>
                </a:solidFill>
                <a:latin typeface="Arial" pitchFamily="34" charset="0"/>
                <a:ea typeface="Arial" pitchFamily="34" charset="-122"/>
                <a:cs typeface="Arial" pitchFamily="34" charset="-120"/>
              </a:rPr>
              <a:t>منصة تحوّل ثلاثة عقود من الخبرة الفندقية والمعايير التشغيلية إلى نظام رقمي منظَّم للتعلّم وإدارة المعرفة وقياس الأداء. صُمّمت للفنادق المستقلة والشقق الفندقية والمنشآت الصغيرة والمتوسطة في المملكة العربية السعودية والمنطقة عمومًا، ممن تحتاج إلى تدريب عملي قائم على المعايير دون تكلفة أنظمة السلاسل العالمية وتعقيدها.</a:t>
            </a:r>
            <a:endParaRPr lang="ar-SA" sz="1130" dirty="0"/>
          </a:p>
        </p:txBody>
      </p:sp>
      <p:sp>
        <p:nvSpPr>
          <p:cNvPr id="5" name="Shape 3"/>
          <p:cNvSpPr/>
          <p:nvPr/>
        </p:nvSpPr>
        <p:spPr>
          <a:xfrm>
            <a:off x="502920" y="2606040"/>
            <a:ext cx="6556248" cy="594360"/>
          </a:xfrm>
          <a:prstGeom prst="roundRect">
            <a:avLst>
              <a:gd name="adj" fmla="val 6154"/>
            </a:avLst>
          </a:prstGeom>
          <a:ln w="12700">
            <a:solidFill>
              <a:srgbClr val="C1501D"/>
            </a:solidFill>
            <a:prstDash val="solid"/>
          </a:ln>
        </p:spPr>
      </p:sp>
      <p:sp>
        <p:nvSpPr>
          <p:cNvPr id="6" name="Text 4"/>
          <p:cNvSpPr/>
          <p:nvPr/>
        </p:nvSpPr>
        <p:spPr>
          <a:xfrm>
            <a:off x="5413248" y="2679192"/>
            <a:ext cx="1463040" cy="457200"/>
          </a:xfrm>
          <a:prstGeom prst="rect">
            <a:avLst/>
          </a:prstGeom>
          <a:noFill/>
          <a:ln/>
        </p:spPr>
        <p:txBody>
          <a:bodyPr wrap="square" rtlCol="0" anchor="ctr"/>
          <a:lstStyle/>
          <a:p>
            <a:pPr marL="0" indent="0" algn="r" rtl="1">
              <a:lnSpc>
                <a:spcPct val="98000"/>
              </a:lnSpc>
              <a:buNone/>
            </a:pPr>
            <a:r>
              <a:rPr lang="ar-SA" altLang="en-US" sz="820" b="1" dirty="0">
                <a:solidFill>
                  <a:srgbClr val="E4C98A"/>
                </a:solidFill>
                <a:latin typeface="Arial" pitchFamily="34" charset="0"/>
                <a:ea typeface="Arial" pitchFamily="34" charset="-122"/>
                <a:cs typeface="Arial" pitchFamily="34" charset="-120"/>
              </a:rPr>
              <a:t>رؤية المنتج</a:t>
            </a:r>
            <a:endParaRPr lang="ar-SA" sz="820" dirty="0"/>
          </a:p>
        </p:txBody>
      </p:sp>
      <p:sp>
        <p:nvSpPr>
          <p:cNvPr id="7" name="Text 5"/>
          <p:cNvSpPr/>
          <p:nvPr/>
        </p:nvSpPr>
        <p:spPr>
          <a:xfrm>
            <a:off x="685800" y="2660904"/>
            <a:ext cx="4636008" cy="502920"/>
          </a:xfrm>
          <a:prstGeom prst="rect">
            <a:avLst/>
          </a:prstGeom>
          <a:noFill/>
          <a:ln/>
        </p:spPr>
        <p:txBody>
          <a:bodyPr wrap="square" rtlCol="0" anchor="ctr"/>
          <a:lstStyle/>
          <a:p>
            <a:pPr marL="0" indent="0" algn="r" rtl="1">
              <a:lnSpc>
                <a:spcPct val="112700"/>
              </a:lnSpc>
              <a:buNone/>
            </a:pPr>
            <a:r>
              <a:rPr lang="ar-SA" altLang="en-US" sz="1130" dirty="0">
                <a:solidFill>
                  <a:srgbClr val="FFFFFF"/>
                </a:solidFill>
                <a:latin typeface="Arial" pitchFamily="34" charset="0"/>
                <a:ea typeface="Arial" pitchFamily="34" charset="-122"/>
                <a:cs typeface="Arial" pitchFamily="34" charset="-120"/>
              </a:rPr>
              <a:t>“المعرفة الصحيحة، للشخص الصحيح، في الوقت الصحيح، مع دليل واضح على التعلّم والتحسّن.”</a:t>
            </a:r>
            <a:endParaRPr lang="ar-SA" sz="1130" dirty="0"/>
          </a:p>
        </p:txBody>
      </p:sp>
      <p:sp>
        <p:nvSpPr>
          <p:cNvPr id="8" name="Text 6"/>
          <p:cNvSpPr/>
          <p:nvPr/>
        </p:nvSpPr>
        <p:spPr>
          <a:xfrm>
            <a:off x="502920" y="3383280"/>
            <a:ext cx="6556248" cy="219456"/>
          </a:xfrm>
          <a:prstGeom prst="rect">
            <a:avLst/>
          </a:prstGeom>
          <a:noFill/>
          <a:ln/>
        </p:spPr>
        <p:txBody>
          <a:bodyPr wrap="square" rtlCol="0" anchor="ctr"/>
          <a:lstStyle/>
          <a:p>
            <a:pPr marL="0" indent="0" algn="r" rtl="1">
              <a:lnSpc>
                <a:spcPct val="98000"/>
              </a:lnSpc>
              <a:buNone/>
            </a:pPr>
            <a:r>
              <a:rPr lang="ar-SA" altLang="en-US" sz="930" b="1" dirty="0">
                <a:solidFill>
                  <a:srgbClr val="E4C98A"/>
                </a:solidFill>
                <a:latin typeface="Arial" pitchFamily="34" charset="0"/>
                <a:ea typeface="Arial" pitchFamily="34" charset="-122"/>
                <a:cs typeface="Arial" pitchFamily="34" charset="-120"/>
              </a:rPr>
              <a:t>البنية الموحّدة للمنصة • خمس طبقات متكاملة</a:t>
            </a:r>
            <a:endParaRPr lang="ar-SA" sz="930" dirty="0"/>
          </a:p>
        </p:txBody>
      </p:sp>
      <p:sp>
        <p:nvSpPr>
          <p:cNvPr id="9" name="Shape 7"/>
          <p:cNvSpPr/>
          <p:nvPr/>
        </p:nvSpPr>
        <p:spPr>
          <a:xfrm>
            <a:off x="502920" y="3657600"/>
            <a:ext cx="6556248" cy="493776"/>
          </a:xfrm>
          <a:prstGeom prst="roundRect">
            <a:avLst>
              <a:gd name="adj" fmla="val 9259"/>
            </a:avLst>
          </a:prstGeom>
          <a:solidFill>
            <a:srgbClr val="13273A"/>
          </a:solidFill>
          <a:ln/>
        </p:spPr>
      </p:sp>
      <p:sp>
        <p:nvSpPr>
          <p:cNvPr id="10" name="Shape 8"/>
          <p:cNvSpPr/>
          <p:nvPr/>
        </p:nvSpPr>
        <p:spPr>
          <a:xfrm>
            <a:off x="6547104" y="3730752"/>
            <a:ext cx="347472" cy="347472"/>
          </a:xfrm>
          <a:prstGeom prst="ellipse">
            <a:avLst/>
          </a:prstGeom>
          <a:solidFill>
            <a:srgbClr val="C1501D"/>
          </a:solidFill>
          <a:ln/>
        </p:spPr>
      </p:sp>
      <p:sp>
        <p:nvSpPr>
          <p:cNvPr id="11" name="Text 9"/>
          <p:cNvSpPr/>
          <p:nvPr/>
        </p:nvSpPr>
        <p:spPr>
          <a:xfrm>
            <a:off x="6547104" y="3730752"/>
            <a:ext cx="347472" cy="347472"/>
          </a:xfrm>
          <a:prstGeom prst="rect">
            <a:avLst/>
          </a:prstGeom>
          <a:noFill/>
          <a:ln/>
        </p:spPr>
        <p:txBody>
          <a:bodyPr wrap="square"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1</a:t>
            </a:r>
            <a:endParaRPr lang="en-US" sz="1350" dirty="0"/>
          </a:p>
        </p:txBody>
      </p:sp>
      <p:sp>
        <p:nvSpPr>
          <p:cNvPr id="12" name="Text 10"/>
          <p:cNvSpPr/>
          <p:nvPr/>
        </p:nvSpPr>
        <p:spPr>
          <a:xfrm>
            <a:off x="685800" y="3721608"/>
            <a:ext cx="5715000" cy="219456"/>
          </a:xfrm>
          <a:prstGeom prst="rect">
            <a:avLst/>
          </a:prstGeom>
          <a:noFill/>
          <a:ln/>
        </p:spPr>
        <p:txBody>
          <a:bodyPr wrap="square" rtlCol="0" anchor="ctr"/>
          <a:lstStyle/>
          <a:p>
            <a:pPr marL="0" indent="0" algn="r" rtl="1">
              <a:lnSpc>
                <a:spcPct val="98000"/>
              </a:lnSpc>
              <a:buNone/>
            </a:pPr>
            <a:r>
              <a:rPr lang="ar-SA" altLang="en-US" sz="1180" b="1" dirty="0">
                <a:solidFill>
                  <a:srgbClr val="FFFFFF"/>
                </a:solidFill>
                <a:latin typeface="Arial" pitchFamily="34" charset="0"/>
                <a:ea typeface="Arial" pitchFamily="34" charset="-122"/>
                <a:cs typeface="Arial" pitchFamily="34" charset="-120"/>
              </a:rPr>
              <a:t>المنتج والتجربة</a:t>
            </a:r>
            <a:endParaRPr lang="ar-SA" sz="1180" dirty="0"/>
          </a:p>
        </p:txBody>
      </p:sp>
      <p:sp>
        <p:nvSpPr>
          <p:cNvPr id="13" name="Text 11"/>
          <p:cNvSpPr/>
          <p:nvPr/>
        </p:nvSpPr>
        <p:spPr>
          <a:xfrm>
            <a:off x="685800" y="3941064"/>
            <a:ext cx="5715000" cy="201168"/>
          </a:xfrm>
          <a:prstGeom prst="rect">
            <a:avLst/>
          </a:prstGeom>
          <a:noFill/>
          <a:ln/>
        </p:spPr>
        <p:txBody>
          <a:bodyPr wrap="square" rtlCol="0" anchor="ctr"/>
          <a:lstStyle/>
          <a:p>
            <a:pPr marL="0" indent="0" algn="r" rtl="1">
              <a:lnSpc>
                <a:spcPct val="98000"/>
              </a:lnSpc>
              <a:buNone/>
            </a:pPr>
            <a:r>
              <a:rPr lang="ar-SA" altLang="en-US" sz="930" dirty="0">
                <a:solidFill>
                  <a:srgbClr val="B9C3CC"/>
                </a:solidFill>
                <a:latin typeface="Arial" pitchFamily="34" charset="0"/>
                <a:ea typeface="Arial" pitchFamily="34" charset="-122"/>
                <a:cs typeface="Arial" pitchFamily="34" charset="-120"/>
              </a:rPr>
              <a:t>نطاق واضح وتجربة متسقة عبر هيكلة المعلومات وتجربة المستخدم.</a:t>
            </a:r>
            <a:endParaRPr lang="ar-SA" sz="930" dirty="0"/>
          </a:p>
        </p:txBody>
      </p:sp>
      <p:sp>
        <p:nvSpPr>
          <p:cNvPr id="14" name="Shape 12"/>
          <p:cNvSpPr/>
          <p:nvPr/>
        </p:nvSpPr>
        <p:spPr>
          <a:xfrm>
            <a:off x="502920" y="4242816"/>
            <a:ext cx="6556248" cy="493776"/>
          </a:xfrm>
          <a:prstGeom prst="roundRect">
            <a:avLst>
              <a:gd name="adj" fmla="val 9259"/>
            </a:avLst>
          </a:prstGeom>
          <a:solidFill>
            <a:srgbClr val="13273A"/>
          </a:solidFill>
          <a:ln/>
        </p:spPr>
      </p:sp>
      <p:sp>
        <p:nvSpPr>
          <p:cNvPr id="15" name="Shape 13"/>
          <p:cNvSpPr/>
          <p:nvPr/>
        </p:nvSpPr>
        <p:spPr>
          <a:xfrm>
            <a:off x="6547104" y="4315968"/>
            <a:ext cx="347472" cy="347472"/>
          </a:xfrm>
          <a:prstGeom prst="ellipse">
            <a:avLst/>
          </a:prstGeom>
          <a:solidFill>
            <a:srgbClr val="C1501D"/>
          </a:solidFill>
          <a:ln/>
        </p:spPr>
      </p:sp>
      <p:sp>
        <p:nvSpPr>
          <p:cNvPr id="16" name="Text 14"/>
          <p:cNvSpPr/>
          <p:nvPr/>
        </p:nvSpPr>
        <p:spPr>
          <a:xfrm>
            <a:off x="6547104" y="4315968"/>
            <a:ext cx="347472" cy="347472"/>
          </a:xfrm>
          <a:prstGeom prst="rect">
            <a:avLst/>
          </a:prstGeom>
          <a:noFill/>
          <a:ln/>
        </p:spPr>
        <p:txBody>
          <a:bodyPr wrap="square"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2</a:t>
            </a:r>
            <a:endParaRPr lang="en-US" sz="1350" dirty="0"/>
          </a:p>
        </p:txBody>
      </p:sp>
      <p:sp>
        <p:nvSpPr>
          <p:cNvPr id="17" name="Text 15"/>
          <p:cNvSpPr/>
          <p:nvPr/>
        </p:nvSpPr>
        <p:spPr>
          <a:xfrm>
            <a:off x="685800" y="4306824"/>
            <a:ext cx="5715000" cy="219456"/>
          </a:xfrm>
          <a:prstGeom prst="rect">
            <a:avLst/>
          </a:prstGeom>
          <a:noFill/>
          <a:ln/>
        </p:spPr>
        <p:txBody>
          <a:bodyPr wrap="square" rtlCol="0" anchor="ctr"/>
          <a:lstStyle/>
          <a:p>
            <a:pPr marL="0" indent="0" algn="r" rtl="1">
              <a:lnSpc>
                <a:spcPct val="98000"/>
              </a:lnSpc>
              <a:buNone/>
            </a:pPr>
            <a:r>
              <a:rPr lang="ar-SA" altLang="en-US" sz="1180" b="1" dirty="0">
                <a:solidFill>
                  <a:srgbClr val="FFFFFF"/>
                </a:solidFill>
                <a:latin typeface="Arial" pitchFamily="34" charset="0"/>
                <a:ea typeface="Arial" pitchFamily="34" charset="-122"/>
                <a:cs typeface="Arial" pitchFamily="34" charset="-120"/>
              </a:rPr>
              <a:t>المعرفة والتعلّم</a:t>
            </a:r>
            <a:endParaRPr lang="ar-SA" sz="1180" dirty="0"/>
          </a:p>
        </p:txBody>
      </p:sp>
      <p:sp>
        <p:nvSpPr>
          <p:cNvPr id="18" name="Text 16"/>
          <p:cNvSpPr/>
          <p:nvPr/>
        </p:nvSpPr>
        <p:spPr>
          <a:xfrm>
            <a:off x="685800" y="4526280"/>
            <a:ext cx="5715000" cy="201168"/>
          </a:xfrm>
          <a:prstGeom prst="rect">
            <a:avLst/>
          </a:prstGeom>
          <a:noFill/>
          <a:ln/>
        </p:spPr>
        <p:txBody>
          <a:bodyPr wrap="square" rtlCol="0" anchor="ctr"/>
          <a:lstStyle/>
          <a:p>
            <a:pPr marL="0" indent="0" algn="r" rtl="1">
              <a:lnSpc>
                <a:spcPct val="98000"/>
              </a:lnSpc>
              <a:buNone/>
            </a:pPr>
            <a:r>
              <a:rPr lang="ar-SA" altLang="en-US" sz="930" dirty="0">
                <a:solidFill>
                  <a:srgbClr val="B9C3CC"/>
                </a:solidFill>
                <a:latin typeface="Arial" pitchFamily="34" charset="0"/>
                <a:ea typeface="Arial" pitchFamily="34" charset="-122"/>
                <a:cs typeface="Arial" pitchFamily="34" charset="-120"/>
              </a:rPr>
              <a:t>هيكلة المعرفة، والمنهج الرئيسي، ومحرك التعلّم، والتقييم والاعتماد.</a:t>
            </a:r>
            <a:endParaRPr lang="ar-SA" sz="930" dirty="0"/>
          </a:p>
        </p:txBody>
      </p:sp>
      <p:sp>
        <p:nvSpPr>
          <p:cNvPr id="19" name="Shape 17"/>
          <p:cNvSpPr/>
          <p:nvPr/>
        </p:nvSpPr>
        <p:spPr>
          <a:xfrm>
            <a:off x="502920" y="4828032"/>
            <a:ext cx="6556248" cy="493776"/>
          </a:xfrm>
          <a:prstGeom prst="roundRect">
            <a:avLst>
              <a:gd name="adj" fmla="val 9259"/>
            </a:avLst>
          </a:prstGeom>
          <a:solidFill>
            <a:srgbClr val="13273A"/>
          </a:solidFill>
          <a:ln/>
        </p:spPr>
      </p:sp>
      <p:sp>
        <p:nvSpPr>
          <p:cNvPr id="20" name="Shape 18"/>
          <p:cNvSpPr/>
          <p:nvPr/>
        </p:nvSpPr>
        <p:spPr>
          <a:xfrm>
            <a:off x="6547104" y="4901184"/>
            <a:ext cx="347472" cy="347472"/>
          </a:xfrm>
          <a:prstGeom prst="ellipse">
            <a:avLst/>
          </a:prstGeom>
          <a:solidFill>
            <a:srgbClr val="C1501D"/>
          </a:solidFill>
          <a:ln/>
        </p:spPr>
      </p:sp>
      <p:sp>
        <p:nvSpPr>
          <p:cNvPr id="21" name="Text 19"/>
          <p:cNvSpPr/>
          <p:nvPr/>
        </p:nvSpPr>
        <p:spPr>
          <a:xfrm>
            <a:off x="6547104" y="4901184"/>
            <a:ext cx="347472" cy="347472"/>
          </a:xfrm>
          <a:prstGeom prst="rect">
            <a:avLst/>
          </a:prstGeom>
          <a:noFill/>
          <a:ln/>
        </p:spPr>
        <p:txBody>
          <a:bodyPr wrap="square"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3</a:t>
            </a:r>
            <a:endParaRPr lang="en-US" sz="1350" dirty="0"/>
          </a:p>
        </p:txBody>
      </p:sp>
      <p:sp>
        <p:nvSpPr>
          <p:cNvPr id="22" name="Text 20"/>
          <p:cNvSpPr/>
          <p:nvPr/>
        </p:nvSpPr>
        <p:spPr>
          <a:xfrm>
            <a:off x="685800" y="4892040"/>
            <a:ext cx="5715000" cy="219456"/>
          </a:xfrm>
          <a:prstGeom prst="rect">
            <a:avLst/>
          </a:prstGeom>
          <a:noFill/>
          <a:ln/>
        </p:spPr>
        <p:txBody>
          <a:bodyPr wrap="square" rtlCol="0" anchor="ctr"/>
          <a:lstStyle/>
          <a:p>
            <a:pPr marL="0" indent="0" algn="r" rtl="1">
              <a:lnSpc>
                <a:spcPct val="98000"/>
              </a:lnSpc>
              <a:buNone/>
            </a:pPr>
            <a:r>
              <a:rPr lang="ar-SA" altLang="en-US" sz="1180" b="1" dirty="0">
                <a:solidFill>
                  <a:srgbClr val="FFFFFF"/>
                </a:solidFill>
                <a:latin typeface="Arial" pitchFamily="34" charset="0"/>
                <a:ea typeface="Arial" pitchFamily="34" charset="-122"/>
                <a:cs typeface="Arial" pitchFamily="34" charset="-120"/>
              </a:rPr>
              <a:t>الذكاء والأداء</a:t>
            </a:r>
            <a:endParaRPr lang="ar-SA" sz="1180" dirty="0"/>
          </a:p>
        </p:txBody>
      </p:sp>
      <p:sp>
        <p:nvSpPr>
          <p:cNvPr id="23" name="Text 21"/>
          <p:cNvSpPr/>
          <p:nvPr/>
        </p:nvSpPr>
        <p:spPr>
          <a:xfrm>
            <a:off x="685800" y="5111496"/>
            <a:ext cx="5715000" cy="201168"/>
          </a:xfrm>
          <a:prstGeom prst="rect">
            <a:avLst/>
          </a:prstGeom>
          <a:noFill/>
          <a:ln/>
        </p:spPr>
        <p:txBody>
          <a:bodyPr wrap="square" rtlCol="0" anchor="ctr"/>
          <a:lstStyle/>
          <a:p>
            <a:pPr marL="0" indent="0" algn="r" rtl="1">
              <a:lnSpc>
                <a:spcPct val="98000"/>
              </a:lnSpc>
              <a:buNone/>
            </a:pPr>
            <a:r>
              <a:rPr lang="ar-SA" altLang="en-US" sz="930" dirty="0">
                <a:solidFill>
                  <a:srgbClr val="B9C3CC"/>
                </a:solidFill>
                <a:latin typeface="Arial" pitchFamily="34" charset="0"/>
                <a:ea typeface="Arial" pitchFamily="34" charset="-122"/>
                <a:cs typeface="Arial" pitchFamily="34" charset="-120"/>
              </a:rPr>
              <a:t>محرك المعرفة، والبحث الذكي، ومساعد ذكاء اصطناعي محكوم، ومؤشرات أداء مباشرة.</a:t>
            </a:r>
            <a:endParaRPr lang="ar-SA" sz="930" dirty="0"/>
          </a:p>
        </p:txBody>
      </p:sp>
      <p:sp>
        <p:nvSpPr>
          <p:cNvPr id="24" name="Shape 22"/>
          <p:cNvSpPr/>
          <p:nvPr/>
        </p:nvSpPr>
        <p:spPr>
          <a:xfrm>
            <a:off x="502920" y="5413248"/>
            <a:ext cx="6556248" cy="493776"/>
          </a:xfrm>
          <a:prstGeom prst="roundRect">
            <a:avLst>
              <a:gd name="adj" fmla="val 9259"/>
            </a:avLst>
          </a:prstGeom>
          <a:solidFill>
            <a:srgbClr val="13273A"/>
          </a:solidFill>
          <a:ln/>
        </p:spPr>
      </p:sp>
      <p:sp>
        <p:nvSpPr>
          <p:cNvPr id="25" name="Shape 23"/>
          <p:cNvSpPr/>
          <p:nvPr/>
        </p:nvSpPr>
        <p:spPr>
          <a:xfrm>
            <a:off x="6547104" y="5486400"/>
            <a:ext cx="347472" cy="347472"/>
          </a:xfrm>
          <a:prstGeom prst="ellipse">
            <a:avLst/>
          </a:prstGeom>
          <a:solidFill>
            <a:srgbClr val="C1501D"/>
          </a:solidFill>
          <a:ln/>
        </p:spPr>
      </p:sp>
      <p:sp>
        <p:nvSpPr>
          <p:cNvPr id="26" name="Text 24"/>
          <p:cNvSpPr/>
          <p:nvPr/>
        </p:nvSpPr>
        <p:spPr>
          <a:xfrm>
            <a:off x="6547104" y="5486400"/>
            <a:ext cx="347472" cy="347472"/>
          </a:xfrm>
          <a:prstGeom prst="rect">
            <a:avLst/>
          </a:prstGeom>
          <a:noFill/>
          <a:ln/>
        </p:spPr>
        <p:txBody>
          <a:bodyPr wrap="square"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4</a:t>
            </a:r>
            <a:endParaRPr lang="en-US" sz="1350" dirty="0"/>
          </a:p>
        </p:txBody>
      </p:sp>
      <p:sp>
        <p:nvSpPr>
          <p:cNvPr id="27" name="Text 25"/>
          <p:cNvSpPr/>
          <p:nvPr/>
        </p:nvSpPr>
        <p:spPr>
          <a:xfrm>
            <a:off x="685800" y="5477256"/>
            <a:ext cx="5715000" cy="219456"/>
          </a:xfrm>
          <a:prstGeom prst="rect">
            <a:avLst/>
          </a:prstGeom>
          <a:noFill/>
          <a:ln/>
        </p:spPr>
        <p:txBody>
          <a:bodyPr wrap="square" rtlCol="0" anchor="ctr"/>
          <a:lstStyle/>
          <a:p>
            <a:pPr marL="0" indent="0" algn="r" rtl="1">
              <a:lnSpc>
                <a:spcPct val="98000"/>
              </a:lnSpc>
              <a:buNone/>
            </a:pPr>
            <a:r>
              <a:rPr lang="ar-SA" altLang="en-US" sz="1180" b="1" dirty="0">
                <a:solidFill>
                  <a:srgbClr val="FFFFFF"/>
                </a:solidFill>
                <a:latin typeface="Arial" pitchFamily="34" charset="0"/>
                <a:ea typeface="Arial" pitchFamily="34" charset="-122"/>
                <a:cs typeface="Arial" pitchFamily="34" charset="-120"/>
              </a:rPr>
              <a:t>العمليات التقنية</a:t>
            </a:r>
            <a:endParaRPr lang="ar-SA" sz="1180" dirty="0"/>
          </a:p>
        </p:txBody>
      </p:sp>
      <p:sp>
        <p:nvSpPr>
          <p:cNvPr id="28" name="Text 26"/>
          <p:cNvSpPr/>
          <p:nvPr/>
        </p:nvSpPr>
        <p:spPr>
          <a:xfrm>
            <a:off x="685800" y="5696712"/>
            <a:ext cx="5715000" cy="201168"/>
          </a:xfrm>
          <a:prstGeom prst="rect">
            <a:avLst/>
          </a:prstGeom>
          <a:noFill/>
          <a:ln/>
        </p:spPr>
        <p:txBody>
          <a:bodyPr wrap="square" rtlCol="0" anchor="ctr"/>
          <a:lstStyle/>
          <a:p>
            <a:pPr marL="0" indent="0" algn="r" rtl="1">
              <a:lnSpc>
                <a:spcPct val="98000"/>
              </a:lnSpc>
              <a:buNone/>
            </a:pPr>
            <a:r>
              <a:rPr lang="ar-SA" altLang="en-US" sz="930" dirty="0">
                <a:solidFill>
                  <a:srgbClr val="B9C3CC"/>
                </a:solidFill>
                <a:latin typeface="Arial" pitchFamily="34" charset="0"/>
                <a:ea typeface="Arial" pitchFamily="34" charset="-122"/>
                <a:cs typeface="Arial" pitchFamily="34" charset="-120"/>
              </a:rPr>
              <a:t>قاعدة البيانات، والهوية والصلاحيات، والتخصيص لكل منشأة، والإدارة والتقارير.</a:t>
            </a:r>
            <a:endParaRPr lang="ar-SA" sz="930" dirty="0"/>
          </a:p>
        </p:txBody>
      </p:sp>
      <p:sp>
        <p:nvSpPr>
          <p:cNvPr id="29" name="Shape 27"/>
          <p:cNvSpPr/>
          <p:nvPr/>
        </p:nvSpPr>
        <p:spPr>
          <a:xfrm>
            <a:off x="502920" y="5998464"/>
            <a:ext cx="6556248" cy="493776"/>
          </a:xfrm>
          <a:prstGeom prst="roundRect">
            <a:avLst>
              <a:gd name="adj" fmla="val 9259"/>
            </a:avLst>
          </a:prstGeom>
          <a:solidFill>
            <a:srgbClr val="13273A"/>
          </a:solidFill>
          <a:ln/>
        </p:spPr>
      </p:sp>
      <p:sp>
        <p:nvSpPr>
          <p:cNvPr id="30" name="Shape 28"/>
          <p:cNvSpPr/>
          <p:nvPr/>
        </p:nvSpPr>
        <p:spPr>
          <a:xfrm>
            <a:off x="6547104" y="6071616"/>
            <a:ext cx="347472" cy="347472"/>
          </a:xfrm>
          <a:prstGeom prst="ellipse">
            <a:avLst/>
          </a:prstGeom>
          <a:solidFill>
            <a:srgbClr val="C1501D"/>
          </a:solidFill>
          <a:ln/>
        </p:spPr>
      </p:sp>
      <p:sp>
        <p:nvSpPr>
          <p:cNvPr id="31" name="Text 29"/>
          <p:cNvSpPr/>
          <p:nvPr/>
        </p:nvSpPr>
        <p:spPr>
          <a:xfrm>
            <a:off x="6547104" y="6071616"/>
            <a:ext cx="347472" cy="347472"/>
          </a:xfrm>
          <a:prstGeom prst="rect">
            <a:avLst/>
          </a:prstGeom>
          <a:noFill/>
          <a:ln/>
        </p:spPr>
        <p:txBody>
          <a:bodyPr wrap="square"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5</a:t>
            </a:r>
            <a:endParaRPr lang="en-US" sz="1350" dirty="0"/>
          </a:p>
        </p:txBody>
      </p:sp>
      <p:sp>
        <p:nvSpPr>
          <p:cNvPr id="32" name="Text 30"/>
          <p:cNvSpPr/>
          <p:nvPr/>
        </p:nvSpPr>
        <p:spPr>
          <a:xfrm>
            <a:off x="685800" y="6062472"/>
            <a:ext cx="5715000" cy="219456"/>
          </a:xfrm>
          <a:prstGeom prst="rect">
            <a:avLst/>
          </a:prstGeom>
          <a:noFill/>
          <a:ln/>
        </p:spPr>
        <p:txBody>
          <a:bodyPr wrap="square" rtlCol="0" anchor="ctr"/>
          <a:lstStyle/>
          <a:p>
            <a:pPr marL="0" indent="0" algn="r" rtl="1">
              <a:lnSpc>
                <a:spcPct val="98000"/>
              </a:lnSpc>
              <a:buNone/>
            </a:pPr>
            <a:r>
              <a:rPr lang="ar-SA" altLang="en-US" sz="1180" b="1" dirty="0">
                <a:solidFill>
                  <a:srgbClr val="FFFFFF"/>
                </a:solidFill>
                <a:latin typeface="Arial" pitchFamily="34" charset="0"/>
                <a:ea typeface="Arial" pitchFamily="34" charset="-122"/>
                <a:cs typeface="Arial" pitchFamily="34" charset="-120"/>
              </a:rPr>
              <a:t>الحوكمة والنمو</a:t>
            </a:r>
            <a:endParaRPr lang="ar-SA" sz="1180" dirty="0"/>
          </a:p>
        </p:txBody>
      </p:sp>
      <p:sp>
        <p:nvSpPr>
          <p:cNvPr id="33" name="Text 31"/>
          <p:cNvSpPr/>
          <p:nvPr/>
        </p:nvSpPr>
        <p:spPr>
          <a:xfrm>
            <a:off x="685800" y="6281928"/>
            <a:ext cx="5715000" cy="201168"/>
          </a:xfrm>
          <a:prstGeom prst="rect">
            <a:avLst/>
          </a:prstGeom>
          <a:noFill/>
          <a:ln/>
        </p:spPr>
        <p:txBody>
          <a:bodyPr wrap="square" rtlCol="0" anchor="ctr"/>
          <a:lstStyle/>
          <a:p>
            <a:pPr marL="0" indent="0" algn="r" rtl="1">
              <a:lnSpc>
                <a:spcPct val="98000"/>
              </a:lnSpc>
              <a:buNone/>
            </a:pPr>
            <a:r>
              <a:rPr lang="ar-SA" altLang="en-US" sz="930" dirty="0">
                <a:solidFill>
                  <a:srgbClr val="B9C3CC"/>
                </a:solidFill>
                <a:latin typeface="Arial" pitchFamily="34" charset="0"/>
                <a:ea typeface="Arial" pitchFamily="34" charset="-122"/>
                <a:cs typeface="Arial" pitchFamily="34" charset="-120"/>
              </a:rPr>
              <a:t>الأمن والخصوصية، وإدارة الإصدارات، وخارطة طريق المنتج، وقنوات الويب والجوال.</a:t>
            </a:r>
            <a:endParaRPr lang="ar-SA" sz="930" dirty="0"/>
          </a:p>
        </p:txBody>
      </p:sp>
      <p:sp>
        <p:nvSpPr>
          <p:cNvPr id="34" name="Text 32"/>
          <p:cNvSpPr/>
          <p:nvPr/>
        </p:nvSpPr>
        <p:spPr>
          <a:xfrm>
            <a:off x="502920" y="6693408"/>
            <a:ext cx="6556248" cy="201168"/>
          </a:xfrm>
          <a:prstGeom prst="rect">
            <a:avLst/>
          </a:prstGeom>
          <a:noFill/>
          <a:ln/>
        </p:spPr>
        <p:txBody>
          <a:bodyPr wrap="square" rtlCol="0" anchor="ctr"/>
          <a:lstStyle/>
          <a:p>
            <a:pPr marL="0" indent="0" algn="r" rtl="1">
              <a:lnSpc>
                <a:spcPct val="98000"/>
              </a:lnSpc>
              <a:buNone/>
            </a:pPr>
            <a:r>
              <a:rPr lang="ar-SA" altLang="en-US" sz="980" b="1" dirty="0">
                <a:solidFill>
                  <a:srgbClr val="E4C98A"/>
                </a:solidFill>
                <a:latin typeface="Arial" pitchFamily="34" charset="0"/>
                <a:ea typeface="Arial" pitchFamily="34" charset="-122"/>
                <a:cs typeface="Arial" pitchFamily="34" charset="-120"/>
              </a:rPr>
              <a:t>المنهج الرئيسي • عشرة مجالات مهنية</a:t>
            </a:r>
            <a:endParaRPr lang="ar-SA" sz="980" dirty="0"/>
          </a:p>
        </p:txBody>
      </p:sp>
      <p:sp>
        <p:nvSpPr>
          <p:cNvPr id="35" name="Shape 33"/>
          <p:cNvSpPr/>
          <p:nvPr/>
        </p:nvSpPr>
        <p:spPr>
          <a:xfrm>
            <a:off x="5835701" y="6986016"/>
            <a:ext cx="1223467" cy="365760"/>
          </a:xfrm>
          <a:prstGeom prst="roundRect">
            <a:avLst>
              <a:gd name="adj" fmla="val 45000"/>
            </a:avLst>
          </a:prstGeom>
          <a:solidFill>
            <a:srgbClr val="13273A"/>
          </a:solidFill>
          <a:ln w="6350">
            <a:solidFill>
              <a:srgbClr val="C9A15A"/>
            </a:solidFill>
            <a:prstDash val="solid"/>
          </a:ln>
        </p:spPr>
      </p:sp>
      <p:sp>
        <p:nvSpPr>
          <p:cNvPr id="36" name="Text 34"/>
          <p:cNvSpPr/>
          <p:nvPr/>
        </p:nvSpPr>
        <p:spPr>
          <a:xfrm>
            <a:off x="5881421" y="69860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أساسيات الفنادق</a:t>
            </a:r>
            <a:endParaRPr lang="ar-SA" sz="840" dirty="0"/>
          </a:p>
        </p:txBody>
      </p:sp>
      <p:sp>
        <p:nvSpPr>
          <p:cNvPr id="37" name="Shape 35"/>
          <p:cNvSpPr/>
          <p:nvPr/>
        </p:nvSpPr>
        <p:spPr>
          <a:xfrm>
            <a:off x="4502506" y="6986016"/>
            <a:ext cx="1223467" cy="365760"/>
          </a:xfrm>
          <a:prstGeom prst="roundRect">
            <a:avLst>
              <a:gd name="adj" fmla="val 45000"/>
            </a:avLst>
          </a:prstGeom>
          <a:solidFill>
            <a:srgbClr val="13273A"/>
          </a:solidFill>
          <a:ln w="6350">
            <a:solidFill>
              <a:srgbClr val="C9A15A"/>
            </a:solidFill>
            <a:prstDash val="solid"/>
          </a:ln>
        </p:spPr>
      </p:sp>
      <p:sp>
        <p:nvSpPr>
          <p:cNvPr id="38" name="Text 36"/>
          <p:cNvSpPr/>
          <p:nvPr/>
        </p:nvSpPr>
        <p:spPr>
          <a:xfrm>
            <a:off x="4548226" y="69860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المكتب الأمامي</a:t>
            </a:r>
            <a:endParaRPr lang="ar-SA" sz="840" dirty="0"/>
          </a:p>
        </p:txBody>
      </p:sp>
      <p:sp>
        <p:nvSpPr>
          <p:cNvPr id="39" name="Shape 37"/>
          <p:cNvSpPr/>
          <p:nvPr/>
        </p:nvSpPr>
        <p:spPr>
          <a:xfrm>
            <a:off x="3169310" y="6986016"/>
            <a:ext cx="1223467" cy="365760"/>
          </a:xfrm>
          <a:prstGeom prst="roundRect">
            <a:avLst>
              <a:gd name="adj" fmla="val 45000"/>
            </a:avLst>
          </a:prstGeom>
          <a:solidFill>
            <a:srgbClr val="13273A"/>
          </a:solidFill>
          <a:ln w="6350">
            <a:solidFill>
              <a:srgbClr val="C9A15A"/>
            </a:solidFill>
            <a:prstDash val="solid"/>
          </a:ln>
        </p:spPr>
      </p:sp>
      <p:sp>
        <p:nvSpPr>
          <p:cNvPr id="40" name="Text 38"/>
          <p:cNvSpPr/>
          <p:nvPr/>
        </p:nvSpPr>
        <p:spPr>
          <a:xfrm>
            <a:off x="3215030" y="69860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التدبير الفندقي</a:t>
            </a:r>
            <a:endParaRPr lang="ar-SA" sz="840" dirty="0"/>
          </a:p>
        </p:txBody>
      </p:sp>
      <p:sp>
        <p:nvSpPr>
          <p:cNvPr id="41" name="Shape 39"/>
          <p:cNvSpPr/>
          <p:nvPr/>
        </p:nvSpPr>
        <p:spPr>
          <a:xfrm>
            <a:off x="1836115" y="6986016"/>
            <a:ext cx="1223467" cy="365760"/>
          </a:xfrm>
          <a:prstGeom prst="roundRect">
            <a:avLst>
              <a:gd name="adj" fmla="val 45000"/>
            </a:avLst>
          </a:prstGeom>
          <a:solidFill>
            <a:srgbClr val="13273A"/>
          </a:solidFill>
          <a:ln w="6350">
            <a:solidFill>
              <a:srgbClr val="C9A15A"/>
            </a:solidFill>
            <a:prstDash val="solid"/>
          </a:ln>
        </p:spPr>
      </p:sp>
      <p:sp>
        <p:nvSpPr>
          <p:cNvPr id="42" name="Text 40"/>
          <p:cNvSpPr/>
          <p:nvPr/>
        </p:nvSpPr>
        <p:spPr>
          <a:xfrm>
            <a:off x="1881835" y="69860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الأغذية والمشروبات</a:t>
            </a:r>
            <a:endParaRPr lang="ar-SA" sz="840" dirty="0"/>
          </a:p>
        </p:txBody>
      </p:sp>
      <p:sp>
        <p:nvSpPr>
          <p:cNvPr id="43" name="Shape 41"/>
          <p:cNvSpPr/>
          <p:nvPr/>
        </p:nvSpPr>
        <p:spPr>
          <a:xfrm>
            <a:off x="502920" y="6986016"/>
            <a:ext cx="1223467" cy="365760"/>
          </a:xfrm>
          <a:prstGeom prst="roundRect">
            <a:avLst>
              <a:gd name="adj" fmla="val 45000"/>
            </a:avLst>
          </a:prstGeom>
          <a:solidFill>
            <a:srgbClr val="13273A"/>
          </a:solidFill>
          <a:ln w="6350">
            <a:solidFill>
              <a:srgbClr val="C9A15A"/>
            </a:solidFill>
            <a:prstDash val="solid"/>
          </a:ln>
        </p:spPr>
      </p:sp>
      <p:sp>
        <p:nvSpPr>
          <p:cNvPr id="44" name="Text 42"/>
          <p:cNvSpPr/>
          <p:nvPr/>
        </p:nvSpPr>
        <p:spPr>
          <a:xfrm>
            <a:off x="548640" y="69860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المطبخ</a:t>
            </a:r>
            <a:endParaRPr lang="ar-SA" sz="840" dirty="0"/>
          </a:p>
        </p:txBody>
      </p:sp>
      <p:sp>
        <p:nvSpPr>
          <p:cNvPr id="45" name="Shape 43"/>
          <p:cNvSpPr/>
          <p:nvPr/>
        </p:nvSpPr>
        <p:spPr>
          <a:xfrm>
            <a:off x="5835701" y="7443216"/>
            <a:ext cx="1223467" cy="365760"/>
          </a:xfrm>
          <a:prstGeom prst="roundRect">
            <a:avLst>
              <a:gd name="adj" fmla="val 45000"/>
            </a:avLst>
          </a:prstGeom>
          <a:solidFill>
            <a:srgbClr val="13273A"/>
          </a:solidFill>
          <a:ln w="6350">
            <a:solidFill>
              <a:srgbClr val="C9A15A"/>
            </a:solidFill>
            <a:prstDash val="solid"/>
          </a:ln>
        </p:spPr>
      </p:sp>
      <p:sp>
        <p:nvSpPr>
          <p:cNvPr id="46" name="Text 44"/>
          <p:cNvSpPr/>
          <p:nvPr/>
        </p:nvSpPr>
        <p:spPr>
          <a:xfrm>
            <a:off x="5881421" y="74432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المبيعات والتسويق</a:t>
            </a:r>
            <a:endParaRPr lang="ar-SA" sz="840" dirty="0"/>
          </a:p>
        </p:txBody>
      </p:sp>
      <p:sp>
        <p:nvSpPr>
          <p:cNvPr id="47" name="Shape 45"/>
          <p:cNvSpPr/>
          <p:nvPr/>
        </p:nvSpPr>
        <p:spPr>
          <a:xfrm>
            <a:off x="4502506" y="7443216"/>
            <a:ext cx="1223467" cy="365760"/>
          </a:xfrm>
          <a:prstGeom prst="roundRect">
            <a:avLst>
              <a:gd name="adj" fmla="val 45000"/>
            </a:avLst>
          </a:prstGeom>
          <a:solidFill>
            <a:srgbClr val="13273A"/>
          </a:solidFill>
          <a:ln w="6350">
            <a:solidFill>
              <a:srgbClr val="C9A15A"/>
            </a:solidFill>
            <a:prstDash val="solid"/>
          </a:ln>
        </p:spPr>
      </p:sp>
      <p:sp>
        <p:nvSpPr>
          <p:cNvPr id="48" name="Text 46"/>
          <p:cNvSpPr/>
          <p:nvPr/>
        </p:nvSpPr>
        <p:spPr>
          <a:xfrm>
            <a:off x="4548226" y="74432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الإيرادات والحجوزات</a:t>
            </a:r>
            <a:endParaRPr lang="ar-SA" sz="840" dirty="0"/>
          </a:p>
        </p:txBody>
      </p:sp>
      <p:sp>
        <p:nvSpPr>
          <p:cNvPr id="49" name="Shape 47"/>
          <p:cNvSpPr/>
          <p:nvPr/>
        </p:nvSpPr>
        <p:spPr>
          <a:xfrm>
            <a:off x="3169310" y="7443216"/>
            <a:ext cx="1223467" cy="365760"/>
          </a:xfrm>
          <a:prstGeom prst="roundRect">
            <a:avLst>
              <a:gd name="adj" fmla="val 45000"/>
            </a:avLst>
          </a:prstGeom>
          <a:solidFill>
            <a:srgbClr val="13273A"/>
          </a:solidFill>
          <a:ln w="6350">
            <a:solidFill>
              <a:srgbClr val="C9A15A"/>
            </a:solidFill>
            <a:prstDash val="solid"/>
          </a:ln>
        </p:spPr>
      </p:sp>
      <p:sp>
        <p:nvSpPr>
          <p:cNvPr id="50" name="Text 48"/>
          <p:cNvSpPr/>
          <p:nvPr/>
        </p:nvSpPr>
        <p:spPr>
          <a:xfrm>
            <a:off x="3215030" y="74432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تجربة النزلاء</a:t>
            </a:r>
            <a:endParaRPr lang="ar-SA" sz="840" dirty="0"/>
          </a:p>
        </p:txBody>
      </p:sp>
      <p:sp>
        <p:nvSpPr>
          <p:cNvPr id="51" name="Shape 49"/>
          <p:cNvSpPr/>
          <p:nvPr/>
        </p:nvSpPr>
        <p:spPr>
          <a:xfrm>
            <a:off x="1836115" y="7443216"/>
            <a:ext cx="1223467" cy="365760"/>
          </a:xfrm>
          <a:prstGeom prst="roundRect">
            <a:avLst>
              <a:gd name="adj" fmla="val 45000"/>
            </a:avLst>
          </a:prstGeom>
          <a:solidFill>
            <a:srgbClr val="13273A"/>
          </a:solidFill>
          <a:ln w="6350">
            <a:solidFill>
              <a:srgbClr val="C9A15A"/>
            </a:solidFill>
            <a:prstDash val="solid"/>
          </a:ln>
        </p:spPr>
      </p:sp>
      <p:sp>
        <p:nvSpPr>
          <p:cNvPr id="52" name="Text 50"/>
          <p:cNvSpPr/>
          <p:nvPr/>
        </p:nvSpPr>
        <p:spPr>
          <a:xfrm>
            <a:off x="1881835" y="74432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الجودة والتدقيق</a:t>
            </a:r>
            <a:endParaRPr lang="ar-SA" sz="840" dirty="0"/>
          </a:p>
        </p:txBody>
      </p:sp>
      <p:sp>
        <p:nvSpPr>
          <p:cNvPr id="53" name="Shape 51"/>
          <p:cNvSpPr/>
          <p:nvPr/>
        </p:nvSpPr>
        <p:spPr>
          <a:xfrm>
            <a:off x="502920" y="7443216"/>
            <a:ext cx="1223467" cy="365760"/>
          </a:xfrm>
          <a:prstGeom prst="roundRect">
            <a:avLst>
              <a:gd name="adj" fmla="val 45000"/>
            </a:avLst>
          </a:prstGeom>
          <a:solidFill>
            <a:srgbClr val="13273A"/>
          </a:solidFill>
          <a:ln w="6350">
            <a:solidFill>
              <a:srgbClr val="C9A15A"/>
            </a:solidFill>
            <a:prstDash val="solid"/>
          </a:ln>
        </p:spPr>
      </p:sp>
      <p:sp>
        <p:nvSpPr>
          <p:cNvPr id="54" name="Text 52"/>
          <p:cNvSpPr/>
          <p:nvPr/>
        </p:nvSpPr>
        <p:spPr>
          <a:xfrm>
            <a:off x="548640" y="7443216"/>
            <a:ext cx="1132027" cy="365760"/>
          </a:xfrm>
          <a:prstGeom prst="rect">
            <a:avLst/>
          </a:prstGeom>
          <a:noFill/>
          <a:ln/>
        </p:spPr>
        <p:txBody>
          <a:bodyPr wrap="square" rtlCol="0" anchor="ctr"/>
          <a:lstStyle/>
          <a:p>
            <a:pPr marL="0" indent="0" algn="ctr" rtl="1">
              <a:lnSpc>
                <a:spcPct val="98000"/>
              </a:lnSpc>
              <a:buNone/>
            </a:pPr>
            <a:r>
              <a:rPr lang="ar-SA" altLang="en-US" sz="840" dirty="0">
                <a:solidFill>
                  <a:srgbClr val="FFFFFF"/>
                </a:solidFill>
                <a:latin typeface="Arial" pitchFamily="34" charset="0"/>
                <a:ea typeface="Arial" pitchFamily="34" charset="-122"/>
                <a:cs typeface="Arial" pitchFamily="34" charset="-120"/>
              </a:rPr>
              <a:t>الأمن والسلامة</a:t>
            </a:r>
            <a:endParaRPr lang="ar-SA" sz="840" dirty="0"/>
          </a:p>
        </p:txBody>
      </p:sp>
      <p:sp>
        <p:nvSpPr>
          <p:cNvPr id="55" name="Shape 53"/>
          <p:cNvSpPr/>
          <p:nvPr/>
        </p:nvSpPr>
        <p:spPr>
          <a:xfrm>
            <a:off x="5488686" y="7991856"/>
            <a:ext cx="1570482" cy="1280160"/>
          </a:xfrm>
          <a:prstGeom prst="roundRect">
            <a:avLst>
              <a:gd name="adj" fmla="val 4286"/>
            </a:avLst>
          </a:prstGeom>
          <a:solidFill>
            <a:srgbClr val="13273A"/>
          </a:solidFill>
          <a:ln/>
        </p:spPr>
      </p:sp>
      <p:sp>
        <p:nvSpPr>
          <p:cNvPr id="56" name="Shape 54"/>
          <p:cNvSpPr/>
          <p:nvPr/>
        </p:nvSpPr>
        <p:spPr>
          <a:xfrm>
            <a:off x="6017895" y="8138160"/>
            <a:ext cx="512064" cy="512064"/>
          </a:xfrm>
          <a:prstGeom prst="ellipse">
            <a:avLst/>
          </a:prstGeom>
          <a:solidFill>
            <a:srgbClr val="C9A15A"/>
          </a:solidFill>
          <a:ln/>
        </p:spPr>
      </p:sp>
      <p:pic>
        <p:nvPicPr>
          <p:cNvPr id="57" name="Image 0" descr="/home/claude/assets/icons/language.png"/>
          <p:cNvPicPr>
            <a:picLocks noChangeAspect="1"/>
          </p:cNvPicPr>
          <p:nvPr/>
        </p:nvPicPr>
        <p:blipFill>
          <a:blip r:embed="rId3"/>
          <a:stretch>
            <a:fillRect/>
          </a:stretch>
        </p:blipFill>
        <p:spPr>
          <a:xfrm>
            <a:off x="6140790" y="8261055"/>
            <a:ext cx="266273" cy="266273"/>
          </a:xfrm>
          <a:prstGeom prst="rect">
            <a:avLst/>
          </a:prstGeom>
        </p:spPr>
      </p:pic>
      <p:sp>
        <p:nvSpPr>
          <p:cNvPr id="58" name="Text 55"/>
          <p:cNvSpPr/>
          <p:nvPr/>
        </p:nvSpPr>
        <p:spPr>
          <a:xfrm>
            <a:off x="5561838" y="8705088"/>
            <a:ext cx="1424178" cy="274320"/>
          </a:xfrm>
          <a:prstGeom prst="rect">
            <a:avLst/>
          </a:prstGeom>
          <a:noFill/>
          <a:ln/>
        </p:spPr>
        <p:txBody>
          <a:bodyPr wrap="square" rtlCol="0" anchor="ctr"/>
          <a:lstStyle/>
          <a:p>
            <a:pPr marL="0" indent="0" algn="ctr" rtl="1">
              <a:lnSpc>
                <a:spcPct val="98000"/>
              </a:lnSpc>
              <a:buNone/>
            </a:pPr>
            <a:r>
              <a:rPr lang="ar-SA" altLang="en-US" sz="960" b="1" dirty="0">
                <a:solidFill>
                  <a:srgbClr val="FFFFFF"/>
                </a:solidFill>
                <a:latin typeface="Arial" pitchFamily="34" charset="0"/>
                <a:ea typeface="Arial" pitchFamily="34" charset="-122"/>
                <a:cs typeface="Arial" pitchFamily="34" charset="-120"/>
              </a:rPr>
              <a:t>ثنائية اللغة بالتصميم</a:t>
            </a:r>
            <a:endParaRPr lang="ar-SA" sz="960" dirty="0"/>
          </a:p>
        </p:txBody>
      </p:sp>
      <p:sp>
        <p:nvSpPr>
          <p:cNvPr id="59" name="Text 56"/>
          <p:cNvSpPr/>
          <p:nvPr/>
        </p:nvSpPr>
        <p:spPr>
          <a:xfrm>
            <a:off x="5561838" y="8961120"/>
            <a:ext cx="1424178" cy="274320"/>
          </a:xfrm>
          <a:prstGeom prst="rect">
            <a:avLst/>
          </a:prstGeom>
          <a:noFill/>
          <a:ln/>
        </p:spPr>
        <p:txBody>
          <a:bodyPr wrap="square" rtlCol="0" anchor="ctr"/>
          <a:lstStyle/>
          <a:p>
            <a:pPr marL="0" indent="0" algn="ctr" rtl="1">
              <a:lnSpc>
                <a:spcPct val="98000"/>
              </a:lnSpc>
              <a:buNone/>
            </a:pPr>
            <a:r>
              <a:rPr lang="ar-SA" altLang="en-US" sz="800" dirty="0">
                <a:solidFill>
                  <a:srgbClr val="B9C3CC"/>
                </a:solidFill>
                <a:latin typeface="Arial" pitchFamily="34" charset="0"/>
                <a:ea typeface="Arial" pitchFamily="34" charset="-122"/>
                <a:cs typeface="Arial" pitchFamily="34" charset="-120"/>
              </a:rPr>
              <a:t>العربية والإنجليزية في تجربة واحدة</a:t>
            </a:r>
            <a:endParaRPr lang="ar-SA" sz="800" dirty="0"/>
          </a:p>
        </p:txBody>
      </p:sp>
      <p:sp>
        <p:nvSpPr>
          <p:cNvPr id="60" name="Shape 57"/>
          <p:cNvSpPr/>
          <p:nvPr/>
        </p:nvSpPr>
        <p:spPr>
          <a:xfrm>
            <a:off x="3826764" y="7991856"/>
            <a:ext cx="1570482" cy="1280160"/>
          </a:xfrm>
          <a:prstGeom prst="roundRect">
            <a:avLst>
              <a:gd name="adj" fmla="val 4286"/>
            </a:avLst>
          </a:prstGeom>
          <a:solidFill>
            <a:srgbClr val="13273A"/>
          </a:solidFill>
          <a:ln/>
        </p:spPr>
      </p:sp>
      <p:sp>
        <p:nvSpPr>
          <p:cNvPr id="61" name="Shape 58"/>
          <p:cNvSpPr/>
          <p:nvPr/>
        </p:nvSpPr>
        <p:spPr>
          <a:xfrm>
            <a:off x="4355973" y="8138160"/>
            <a:ext cx="512064" cy="512064"/>
          </a:xfrm>
          <a:prstGeom prst="ellipse">
            <a:avLst/>
          </a:prstGeom>
          <a:solidFill>
            <a:srgbClr val="C9A15A"/>
          </a:solidFill>
          <a:ln/>
        </p:spPr>
      </p:sp>
      <p:pic>
        <p:nvPicPr>
          <p:cNvPr id="62" name="Image 1" descr="/home/claude/assets/icons/shield.png"/>
          <p:cNvPicPr>
            <a:picLocks noChangeAspect="1"/>
          </p:cNvPicPr>
          <p:nvPr/>
        </p:nvPicPr>
        <p:blipFill>
          <a:blip r:embed="rId4"/>
          <a:stretch>
            <a:fillRect/>
          </a:stretch>
        </p:blipFill>
        <p:spPr>
          <a:xfrm>
            <a:off x="4478868" y="8261055"/>
            <a:ext cx="266273" cy="266273"/>
          </a:xfrm>
          <a:prstGeom prst="rect">
            <a:avLst/>
          </a:prstGeom>
        </p:spPr>
      </p:pic>
      <p:sp>
        <p:nvSpPr>
          <p:cNvPr id="63" name="Text 59"/>
          <p:cNvSpPr/>
          <p:nvPr/>
        </p:nvSpPr>
        <p:spPr>
          <a:xfrm>
            <a:off x="3899916" y="8705088"/>
            <a:ext cx="1424178" cy="274320"/>
          </a:xfrm>
          <a:prstGeom prst="rect">
            <a:avLst/>
          </a:prstGeom>
          <a:noFill/>
          <a:ln/>
        </p:spPr>
        <p:txBody>
          <a:bodyPr wrap="square" rtlCol="0" anchor="ctr"/>
          <a:lstStyle/>
          <a:p>
            <a:pPr marL="0" indent="0" algn="ctr" rtl="1">
              <a:lnSpc>
                <a:spcPct val="98000"/>
              </a:lnSpc>
              <a:buNone/>
            </a:pPr>
            <a:r>
              <a:rPr lang="ar-SA" altLang="en-US" sz="960" b="1" dirty="0">
                <a:solidFill>
                  <a:srgbClr val="FFFFFF"/>
                </a:solidFill>
                <a:latin typeface="Arial" pitchFamily="34" charset="0"/>
                <a:ea typeface="Arial" pitchFamily="34" charset="-122"/>
                <a:cs typeface="Arial" pitchFamily="34" charset="-120"/>
              </a:rPr>
              <a:t>علامة خاصة لكل منشأة</a:t>
            </a:r>
            <a:endParaRPr lang="ar-SA" sz="960" dirty="0"/>
          </a:p>
        </p:txBody>
      </p:sp>
      <p:sp>
        <p:nvSpPr>
          <p:cNvPr id="64" name="Text 60"/>
          <p:cNvSpPr/>
          <p:nvPr/>
        </p:nvSpPr>
        <p:spPr>
          <a:xfrm>
            <a:off x="3899916" y="8961120"/>
            <a:ext cx="1424178" cy="274320"/>
          </a:xfrm>
          <a:prstGeom prst="rect">
            <a:avLst/>
          </a:prstGeom>
          <a:noFill/>
          <a:ln/>
        </p:spPr>
        <p:txBody>
          <a:bodyPr wrap="square" rtlCol="0" anchor="ctr"/>
          <a:lstStyle/>
          <a:p>
            <a:pPr marL="0" indent="0" algn="ctr" rtl="1">
              <a:lnSpc>
                <a:spcPct val="98000"/>
              </a:lnSpc>
              <a:buNone/>
            </a:pPr>
            <a:r>
              <a:rPr lang="ar-SA" altLang="en-US" sz="800" dirty="0">
                <a:solidFill>
                  <a:srgbClr val="B9C3CC"/>
                </a:solidFill>
                <a:latin typeface="Arial" pitchFamily="34" charset="0"/>
                <a:ea typeface="Arial" pitchFamily="34" charset="-122"/>
                <a:cs typeface="Arial" pitchFamily="34" charset="-120"/>
              </a:rPr>
              <a:t>بعلامة كل منشأة</a:t>
            </a:r>
            <a:endParaRPr lang="ar-SA" sz="800" dirty="0"/>
          </a:p>
        </p:txBody>
      </p:sp>
      <p:sp>
        <p:nvSpPr>
          <p:cNvPr id="65" name="Shape 61"/>
          <p:cNvSpPr/>
          <p:nvPr/>
        </p:nvSpPr>
        <p:spPr>
          <a:xfrm>
            <a:off x="2164842" y="7991856"/>
            <a:ext cx="1570482" cy="1280160"/>
          </a:xfrm>
          <a:prstGeom prst="roundRect">
            <a:avLst>
              <a:gd name="adj" fmla="val 4286"/>
            </a:avLst>
          </a:prstGeom>
          <a:solidFill>
            <a:srgbClr val="13273A"/>
          </a:solidFill>
          <a:ln/>
        </p:spPr>
      </p:sp>
      <p:sp>
        <p:nvSpPr>
          <p:cNvPr id="66" name="Shape 62"/>
          <p:cNvSpPr/>
          <p:nvPr/>
        </p:nvSpPr>
        <p:spPr>
          <a:xfrm>
            <a:off x="2694051" y="8138160"/>
            <a:ext cx="512064" cy="512064"/>
          </a:xfrm>
          <a:prstGeom prst="ellipse">
            <a:avLst/>
          </a:prstGeom>
          <a:solidFill>
            <a:srgbClr val="C9A15A"/>
          </a:solidFill>
          <a:ln/>
        </p:spPr>
      </p:sp>
      <p:pic>
        <p:nvPicPr>
          <p:cNvPr id="67" name="Image 2" descr="/home/claude/assets/icons/robot.png"/>
          <p:cNvPicPr>
            <a:picLocks noChangeAspect="1"/>
          </p:cNvPicPr>
          <p:nvPr/>
        </p:nvPicPr>
        <p:blipFill>
          <a:blip r:embed="rId5"/>
          <a:stretch>
            <a:fillRect/>
          </a:stretch>
        </p:blipFill>
        <p:spPr>
          <a:xfrm>
            <a:off x="2816946" y="8261055"/>
            <a:ext cx="266273" cy="266273"/>
          </a:xfrm>
          <a:prstGeom prst="rect">
            <a:avLst/>
          </a:prstGeom>
        </p:spPr>
      </p:pic>
      <p:sp>
        <p:nvSpPr>
          <p:cNvPr id="68" name="Text 63"/>
          <p:cNvSpPr/>
          <p:nvPr/>
        </p:nvSpPr>
        <p:spPr>
          <a:xfrm>
            <a:off x="2237994" y="8705088"/>
            <a:ext cx="1424178" cy="274320"/>
          </a:xfrm>
          <a:prstGeom prst="rect">
            <a:avLst/>
          </a:prstGeom>
          <a:noFill/>
          <a:ln/>
        </p:spPr>
        <p:txBody>
          <a:bodyPr wrap="square" rtlCol="0" anchor="ctr"/>
          <a:lstStyle/>
          <a:p>
            <a:pPr marL="0" indent="0" algn="ctr" rtl="1">
              <a:lnSpc>
                <a:spcPct val="98000"/>
              </a:lnSpc>
              <a:buNone/>
            </a:pPr>
            <a:r>
              <a:rPr lang="ar-SA" altLang="en-US" sz="960" b="1" dirty="0">
                <a:solidFill>
                  <a:srgbClr val="FFFFFF"/>
                </a:solidFill>
                <a:latin typeface="Arial" pitchFamily="34" charset="0"/>
                <a:ea typeface="Arial" pitchFamily="34" charset="-122"/>
                <a:cs typeface="Arial" pitchFamily="34" charset="-120"/>
              </a:rPr>
              <a:t>مساعد ذكاء اصطناعي محكوم</a:t>
            </a:r>
            <a:endParaRPr lang="ar-SA" sz="960" dirty="0"/>
          </a:p>
        </p:txBody>
      </p:sp>
      <p:sp>
        <p:nvSpPr>
          <p:cNvPr id="69" name="Text 64"/>
          <p:cNvSpPr/>
          <p:nvPr/>
        </p:nvSpPr>
        <p:spPr>
          <a:xfrm>
            <a:off x="2237994" y="8961120"/>
            <a:ext cx="1424178" cy="274320"/>
          </a:xfrm>
          <a:prstGeom prst="rect">
            <a:avLst/>
          </a:prstGeom>
          <a:noFill/>
          <a:ln/>
        </p:spPr>
        <p:txBody>
          <a:bodyPr wrap="square" rtlCol="0" anchor="ctr"/>
          <a:lstStyle/>
          <a:p>
            <a:pPr marL="0" indent="0" algn="ctr" rtl="1">
              <a:lnSpc>
                <a:spcPct val="98000"/>
              </a:lnSpc>
              <a:buNone/>
            </a:pPr>
            <a:r>
              <a:rPr lang="ar-SA" altLang="en-US" sz="800" dirty="0">
                <a:solidFill>
                  <a:srgbClr val="B9C3CC"/>
                </a:solidFill>
                <a:latin typeface="Arial" pitchFamily="34" charset="0"/>
                <a:ea typeface="Arial" pitchFamily="34" charset="-122"/>
                <a:cs typeface="Arial" pitchFamily="34" charset="-120"/>
              </a:rPr>
              <a:t>يجيب من المحتوى المعتمد فقط</a:t>
            </a:r>
            <a:endParaRPr lang="ar-SA" sz="800" dirty="0"/>
          </a:p>
        </p:txBody>
      </p:sp>
      <p:sp>
        <p:nvSpPr>
          <p:cNvPr id="70" name="Shape 65"/>
          <p:cNvSpPr/>
          <p:nvPr/>
        </p:nvSpPr>
        <p:spPr>
          <a:xfrm>
            <a:off x="502920" y="7991856"/>
            <a:ext cx="1570482" cy="1280160"/>
          </a:xfrm>
          <a:prstGeom prst="roundRect">
            <a:avLst>
              <a:gd name="adj" fmla="val 4286"/>
            </a:avLst>
          </a:prstGeom>
          <a:solidFill>
            <a:srgbClr val="13273A"/>
          </a:solidFill>
          <a:ln/>
        </p:spPr>
      </p:sp>
      <p:sp>
        <p:nvSpPr>
          <p:cNvPr id="71" name="Shape 66"/>
          <p:cNvSpPr/>
          <p:nvPr/>
        </p:nvSpPr>
        <p:spPr>
          <a:xfrm>
            <a:off x="1032129" y="8138160"/>
            <a:ext cx="512064" cy="512064"/>
          </a:xfrm>
          <a:prstGeom prst="ellipse">
            <a:avLst/>
          </a:prstGeom>
          <a:solidFill>
            <a:srgbClr val="C9A15A"/>
          </a:solidFill>
          <a:ln/>
        </p:spPr>
      </p:sp>
      <p:pic>
        <p:nvPicPr>
          <p:cNvPr id="72" name="Image 3" descr="/home/claude/assets/icons/chartline.png"/>
          <p:cNvPicPr>
            <a:picLocks noChangeAspect="1"/>
          </p:cNvPicPr>
          <p:nvPr/>
        </p:nvPicPr>
        <p:blipFill>
          <a:blip r:embed="rId6"/>
          <a:stretch>
            <a:fillRect/>
          </a:stretch>
        </p:blipFill>
        <p:spPr>
          <a:xfrm>
            <a:off x="1155024" y="8261055"/>
            <a:ext cx="266273" cy="266273"/>
          </a:xfrm>
          <a:prstGeom prst="rect">
            <a:avLst/>
          </a:prstGeom>
        </p:spPr>
      </p:pic>
      <p:sp>
        <p:nvSpPr>
          <p:cNvPr id="73" name="Text 67"/>
          <p:cNvSpPr/>
          <p:nvPr/>
        </p:nvSpPr>
        <p:spPr>
          <a:xfrm>
            <a:off x="576072" y="8705088"/>
            <a:ext cx="1424178" cy="274320"/>
          </a:xfrm>
          <a:prstGeom prst="rect">
            <a:avLst/>
          </a:prstGeom>
          <a:noFill/>
          <a:ln/>
        </p:spPr>
        <p:txBody>
          <a:bodyPr wrap="square" rtlCol="0" anchor="ctr"/>
          <a:lstStyle/>
          <a:p>
            <a:pPr marL="0" indent="0" algn="ctr" rtl="1">
              <a:lnSpc>
                <a:spcPct val="98000"/>
              </a:lnSpc>
              <a:buNone/>
            </a:pPr>
            <a:r>
              <a:rPr lang="ar-SA" altLang="en-US" sz="960" b="1" dirty="0">
                <a:solidFill>
                  <a:srgbClr val="FFFFFF"/>
                </a:solidFill>
                <a:latin typeface="Arial" pitchFamily="34" charset="0"/>
                <a:ea typeface="Arial" pitchFamily="34" charset="-122"/>
                <a:cs typeface="Arial" pitchFamily="34" charset="-120"/>
              </a:rPr>
              <a:t>دليل على التقدّم</a:t>
            </a:r>
            <a:endParaRPr lang="ar-SA" sz="960" dirty="0"/>
          </a:p>
        </p:txBody>
      </p:sp>
      <p:sp>
        <p:nvSpPr>
          <p:cNvPr id="74" name="Text 68"/>
          <p:cNvSpPr/>
          <p:nvPr/>
        </p:nvSpPr>
        <p:spPr>
          <a:xfrm>
            <a:off x="576072" y="8961120"/>
            <a:ext cx="1424178" cy="274320"/>
          </a:xfrm>
          <a:prstGeom prst="rect">
            <a:avLst/>
          </a:prstGeom>
          <a:noFill/>
          <a:ln/>
        </p:spPr>
        <p:txBody>
          <a:bodyPr wrap="square" rtlCol="0" anchor="ctr"/>
          <a:lstStyle/>
          <a:p>
            <a:pPr marL="0" indent="0" algn="ctr" rtl="1">
              <a:lnSpc>
                <a:spcPct val="98000"/>
              </a:lnSpc>
              <a:buNone/>
            </a:pPr>
            <a:r>
              <a:rPr lang="ar-SA" altLang="en-US" sz="800" dirty="0">
                <a:solidFill>
                  <a:srgbClr val="B9C3CC"/>
                </a:solidFill>
                <a:latin typeface="Arial" pitchFamily="34" charset="0"/>
                <a:ea typeface="Arial" pitchFamily="34" charset="-122"/>
                <a:cs typeface="Arial" pitchFamily="34" charset="-120"/>
              </a:rPr>
              <a:t>لوحات متابعة وتقارير وشهادات</a:t>
            </a:r>
            <a:endParaRPr lang="ar-SA" sz="800" dirty="0"/>
          </a:p>
        </p:txBody>
      </p:sp>
      <p:sp>
        <p:nvSpPr>
          <p:cNvPr id="75" name="Text 69"/>
          <p:cNvSpPr/>
          <p:nvPr/>
        </p:nvSpPr>
        <p:spPr>
          <a:xfrm>
            <a:off x="502920" y="9500616"/>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E4C98A"/>
                </a:solidFill>
                <a:latin typeface="Arial" pitchFamily="34" charset="0"/>
                <a:ea typeface="Arial" pitchFamily="34" charset="-122"/>
                <a:cs typeface="Arial" pitchFamily="34" charset="-120"/>
              </a:rPr>
              <a:t>منصة واحدة. معيار واحد. أداء قابل للقياس في كل منشأة.</a:t>
            </a:r>
            <a:endParaRPr lang="ar-SA" sz="1340" dirty="0"/>
          </a:p>
        </p:txBody>
      </p:sp>
      <p:sp>
        <p:nvSpPr>
          <p:cNvPr id="76" name="Shape 70"/>
          <p:cNvSpPr/>
          <p:nvPr/>
        </p:nvSpPr>
        <p:spPr>
          <a:xfrm>
            <a:off x="502920" y="10186416"/>
            <a:ext cx="6556248" cy="0"/>
          </a:xfrm>
          <a:prstGeom prst="line">
            <a:avLst/>
          </a:prstGeom>
          <a:noFill/>
          <a:ln w="9525">
            <a:solidFill>
              <a:srgbClr val="2A3B4C"/>
            </a:solidFill>
            <a:prstDash val="solid"/>
          </a:ln>
        </p:spPr>
      </p:sp>
      <p:sp>
        <p:nvSpPr>
          <p:cNvPr id="77" name="Text 71"/>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B9C3CC"/>
                </a:solidFill>
                <a:latin typeface="Arial" pitchFamily="34" charset="0"/>
                <a:ea typeface="Arial" pitchFamily="34" charset="-122"/>
                <a:cs typeface="Arial" pitchFamily="34" charset="-120"/>
              </a:rPr>
              <a:t>Altus Gulf</a:t>
            </a:r>
            <a:endParaRPr lang="en-US" sz="850" dirty="0"/>
          </a:p>
        </p:txBody>
      </p:sp>
      <p:sp>
        <p:nvSpPr>
          <p:cNvPr id="78" name="Text 72"/>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B9C3CC"/>
                </a:solidFill>
                <a:latin typeface="Arial" pitchFamily="34" charset="0"/>
                <a:ea typeface="Arial" pitchFamily="34" charset="-122"/>
                <a:cs typeface="Arial" pitchFamily="34" charset="-120"/>
              </a:rPr>
              <a:t>الملف التعريفي للشركة  •  08</a:t>
            </a:r>
            <a:endParaRPr lang="ar-SA" sz="88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07  •  منصة رقمية خاصة • الميزة التنافسية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ما يميّز نموذج Altus Gulf</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تسلّم شركات الاستشارات عادةً تقارير، ويسلّم مزوّدو البرمجيات أدوات. أما منصة Altus Gulf للمعرفة والأداء في قطاع الضيافة فتجمع بين الاثنين: خبرتنا الاستشارية مُؤسَّسة داخل منصة حيّة تواصل بناء القيمة طويلًا بعد انتهاء التعاقد.</a:t>
            </a:r>
            <a:endParaRPr lang="ar-SA" sz="11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556248" cy="2331720"/>
        </p:xfrm>
        <a:graphic>
          <a:graphicData uri="http://schemas.openxmlformats.org/drawingml/2006/table">
            <a:tbl>
              <a:tblPr/>
              <a:tblGrid>
                <a:gridCol w="2029968">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88620">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منصة Altus Gulf HK&amp;P</a:t>
                      </a:r>
                      <a:endParaRPr lang="ar-SA" sz="88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F5C42"/>
                    </a:solidFill>
                  </a:tcPr>
                </a:tc>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أنظمة التعلّم العامة / مزوّدو التدريب</a:t>
                      </a:r>
                      <a:endParaRPr lang="ar-SA" sz="88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الاستشارات التقليدية</a:t>
                      </a:r>
                      <a:endParaRPr lang="ar-SA" sz="88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البُعد</a:t>
                      </a:r>
                      <a:endParaRPr lang="ar-SA" sz="88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extLst>
                  <a:ext uri="{0D108BD9-81ED-4DB2-BD59-A6C34878D82A}">
                    <a16:rowId xmlns:a16="http://schemas.microsoft.com/office/drawing/2014/main" val="10000"/>
                  </a:ext>
                </a:extLst>
              </a:tr>
              <a:tr h="388620">
                <a:tc>
                  <a:txBody>
                    <a:bodyPr/>
                    <a:lstStyle/>
                    <a:p>
                      <a:pPr marL="0" indent="0" algn="r" rtl="1">
                        <a:lnSpc>
                          <a:spcPct val="98000"/>
                        </a:lnSpc>
                        <a:buNone/>
                      </a:pPr>
                      <a:r>
                        <a:rPr lang="ar-SA" altLang="en-US" sz="820" b="1" dirty="0">
                          <a:solidFill>
                            <a:srgbClr val="0F5C42"/>
                          </a:solidFill>
                          <a:latin typeface="Arial" pitchFamily="34" charset="0"/>
                          <a:ea typeface="Arial" pitchFamily="34" charset="-122"/>
                          <a:cs typeface="Arial" pitchFamily="34" charset="-120"/>
                        </a:rPr>
                        <a:t>ثلاثة عقود من إجراءات التشغيل القياسية بمستوى المشغّلين والمعايير المُجرَّبة ميدانيًا</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مكتبات جاهزة دون معايير فندقية</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أطر خارجية وعروض عامة</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50" b="1" dirty="0">
                          <a:solidFill>
                            <a:srgbClr val="0B1B2B"/>
                          </a:solidFill>
                          <a:latin typeface="Arial" pitchFamily="34" charset="0"/>
                          <a:ea typeface="Arial" pitchFamily="34" charset="-122"/>
                          <a:cs typeface="Arial" pitchFamily="34" charset="-120"/>
                        </a:rPr>
                        <a:t>مصدر المحتوى</a:t>
                      </a:r>
                      <a:endParaRPr lang="ar-SA" sz="85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1"/>
                  </a:ext>
                </a:extLst>
              </a:tr>
              <a:tr h="388620">
                <a:tc>
                  <a:txBody>
                    <a:bodyPr/>
                    <a:lstStyle/>
                    <a:p>
                      <a:pPr marL="0" indent="0" algn="r" rtl="1">
                        <a:lnSpc>
                          <a:spcPct val="98000"/>
                        </a:lnSpc>
                        <a:buNone/>
                      </a:pPr>
                      <a:r>
                        <a:rPr lang="ar-SA" altLang="en-US" sz="820" b="1" dirty="0">
                          <a:solidFill>
                            <a:srgbClr val="0F5C42"/>
                          </a:solidFill>
                          <a:latin typeface="Arial" pitchFamily="34" charset="0"/>
                          <a:ea typeface="Arial" pitchFamily="34" charset="-122"/>
                          <a:cs typeface="Arial" pitchFamily="34" charset="-120"/>
                        </a:rPr>
                        <a:t>تبقى المعرفة مؤسسية ومُدارة بالإصدارات ومحدَّثة باستمرار</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يتقادم المحتوى دون جهة مالكة</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تغادر المعرفة مع المستشارين</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50" b="1" dirty="0">
                          <a:solidFill>
                            <a:srgbClr val="0B1B2B"/>
                          </a:solidFill>
                          <a:latin typeface="Arial" pitchFamily="34" charset="0"/>
                          <a:ea typeface="Arial" pitchFamily="34" charset="-122"/>
                          <a:cs typeface="Arial" pitchFamily="34" charset="-120"/>
                        </a:rPr>
                        <a:t>بعد انتهاء التعاقد</a:t>
                      </a:r>
                      <a:endParaRPr lang="ar-SA" sz="85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2"/>
                  </a:ext>
                </a:extLst>
              </a:tr>
              <a:tr h="388620">
                <a:tc>
                  <a:txBody>
                    <a:bodyPr/>
                    <a:lstStyle/>
                    <a:p>
                      <a:pPr marL="0" indent="0" algn="r" rtl="1">
                        <a:lnSpc>
                          <a:spcPct val="98000"/>
                        </a:lnSpc>
                        <a:buNone/>
                      </a:pPr>
                      <a:r>
                        <a:rPr lang="ar-SA" altLang="en-US" sz="820" b="1" dirty="0">
                          <a:solidFill>
                            <a:srgbClr val="0F5C42"/>
                          </a:solidFill>
                          <a:latin typeface="Arial" pitchFamily="34" charset="0"/>
                          <a:ea typeface="Arial" pitchFamily="34" charset="-122"/>
                          <a:cs typeface="Arial" pitchFamily="34" charset="-120"/>
                        </a:rPr>
                        <a:t>بعلامة المنشأة، ثنائية اللغة، ومخصّصة لكل منشأة ودور ومعيار</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بلا تخصيص ولا عمق عربي</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توصيات موحّدة لجميع الحالات</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50" b="1" dirty="0">
                          <a:solidFill>
                            <a:srgbClr val="0B1B2B"/>
                          </a:solidFill>
                          <a:latin typeface="Arial" pitchFamily="34" charset="0"/>
                          <a:ea typeface="Arial" pitchFamily="34" charset="-122"/>
                          <a:cs typeface="Arial" pitchFamily="34" charset="-120"/>
                        </a:rPr>
                        <a:t>الملاءمة للمنشأة</a:t>
                      </a:r>
                      <a:endParaRPr lang="ar-SA" sz="85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3"/>
                  </a:ext>
                </a:extLst>
              </a:tr>
              <a:tr h="388620">
                <a:tc>
                  <a:txBody>
                    <a:bodyPr/>
                    <a:lstStyle/>
                    <a:p>
                      <a:pPr marL="0" indent="0" algn="r" rtl="1">
                        <a:lnSpc>
                          <a:spcPct val="98000"/>
                        </a:lnSpc>
                        <a:buNone/>
                      </a:pPr>
                      <a:r>
                        <a:rPr lang="ar-SA" altLang="en-US" sz="820" b="1" dirty="0">
                          <a:solidFill>
                            <a:srgbClr val="0F5C42"/>
                          </a:solidFill>
                          <a:latin typeface="Arial" pitchFamily="34" charset="0"/>
                          <a:ea typeface="Arial" pitchFamily="34" charset="-122"/>
                          <a:cs typeface="Arial" pitchFamily="34" charset="-120"/>
                        </a:rPr>
                        <a:t>تقييم واعتماد ولوحات كفاءة لكل موظف</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نقرات إتمام لا كفاءة فعلية</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محدود بعد تسليم التقرير</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50" b="1" dirty="0">
                          <a:solidFill>
                            <a:srgbClr val="0B1B2B"/>
                          </a:solidFill>
                          <a:latin typeface="Arial" pitchFamily="34" charset="0"/>
                          <a:ea typeface="Arial" pitchFamily="34" charset="-122"/>
                          <a:cs typeface="Arial" pitchFamily="34" charset="-120"/>
                        </a:rPr>
                        <a:t>دليل التبنّي</a:t>
                      </a:r>
                      <a:endParaRPr lang="ar-SA" sz="85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4"/>
                  </a:ext>
                </a:extLst>
              </a:tr>
              <a:tr h="388620">
                <a:tc>
                  <a:txBody>
                    <a:bodyPr/>
                    <a:lstStyle/>
                    <a:p>
                      <a:pPr marL="0" indent="0" algn="r" rtl="1">
                        <a:lnSpc>
                          <a:spcPct val="98000"/>
                        </a:lnSpc>
                        <a:buNone/>
                      </a:pPr>
                      <a:r>
                        <a:rPr lang="ar-SA" altLang="en-US" sz="820" b="1" dirty="0">
                          <a:solidFill>
                            <a:srgbClr val="0F5C42"/>
                          </a:solidFill>
                          <a:latin typeface="Arial" pitchFamily="34" charset="0"/>
                          <a:ea typeface="Arial" pitchFamily="34" charset="-122"/>
                          <a:cs typeface="Arial" pitchFamily="34" charset="-120"/>
                        </a:rPr>
                        <a:t>مساعد ذكاء اصطناعي محكوم يجيب حصرًا من المحتوى المعتمد</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بحث بالكلمات المفتاحية في أفضل الأحوال</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20" dirty="0">
                          <a:solidFill>
                            <a:srgbClr val="6B675F"/>
                          </a:solidFill>
                          <a:latin typeface="Arial" pitchFamily="34" charset="0"/>
                          <a:ea typeface="Arial" pitchFamily="34" charset="-122"/>
                          <a:cs typeface="Arial" pitchFamily="34" charset="-120"/>
                        </a:rPr>
                        <a:t>مستندات ثابتة</a:t>
                      </a:r>
                      <a:endParaRPr lang="ar-SA" sz="82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50" b="1" dirty="0">
                          <a:solidFill>
                            <a:srgbClr val="0B1B2B"/>
                          </a:solidFill>
                          <a:latin typeface="Arial" pitchFamily="34" charset="0"/>
                          <a:ea typeface="Arial" pitchFamily="34" charset="-122"/>
                          <a:cs typeface="Arial" pitchFamily="34" charset="-120"/>
                        </a:rPr>
                        <a:t>الذكاء</a:t>
                      </a:r>
                      <a:endParaRPr lang="ar-SA" sz="850" dirty="0">
                        <a:latin typeface="Arial" charset="0"/>
                        <a:ea typeface="Arial" charset="0"/>
                        <a:cs typeface="Arial" charset="0"/>
                      </a:endParaRPr>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5"/>
                  </a:ext>
                </a:extLst>
              </a:tr>
            </a:tbl>
          </a:graphicData>
        </a:graphic>
      </p:graphicFrame>
      <p:sp>
        <p:nvSpPr>
          <p:cNvPr id="6" name="Text 3"/>
          <p:cNvSpPr/>
          <p:nvPr/>
        </p:nvSpPr>
        <p:spPr>
          <a:xfrm>
            <a:off x="502920" y="5166360"/>
            <a:ext cx="6556248" cy="219456"/>
          </a:xfrm>
          <a:prstGeom prst="rect">
            <a:avLst/>
          </a:prstGeom>
          <a:noFill/>
          <a:ln/>
        </p:spPr>
        <p:txBody>
          <a:bodyPr wrap="square" rtlCol="0" anchor="ctr"/>
          <a:lstStyle/>
          <a:p>
            <a:pPr marL="0" indent="0" algn="r" rtl="1">
              <a:lnSpc>
                <a:spcPct val="98000"/>
              </a:lnSpc>
              <a:buNone/>
            </a:pPr>
            <a:r>
              <a:rPr lang="ar-SA" altLang="en-US" sz="980" b="1" dirty="0">
                <a:solidFill>
                  <a:srgbClr val="C1501D"/>
                </a:solidFill>
                <a:latin typeface="Arial" pitchFamily="34" charset="0"/>
                <a:ea typeface="Arial" pitchFamily="34" charset="-122"/>
                <a:cs typeface="Arial" pitchFamily="34" charset="-120"/>
              </a:rPr>
              <a:t>قيمة قابلة للقياس للملّاك والمشغّلين</a:t>
            </a:r>
            <a:endParaRPr lang="ar-SA" sz="980" dirty="0"/>
          </a:p>
        </p:txBody>
      </p:sp>
      <p:sp>
        <p:nvSpPr>
          <p:cNvPr id="7" name="Shape 4"/>
          <p:cNvSpPr/>
          <p:nvPr/>
        </p:nvSpPr>
        <p:spPr>
          <a:xfrm>
            <a:off x="5488686" y="5440680"/>
            <a:ext cx="1570482" cy="1600200"/>
          </a:xfrm>
          <a:prstGeom prst="roundRect">
            <a:avLst>
              <a:gd name="adj" fmla="val 2911"/>
            </a:avLst>
          </a:prstGeom>
          <a:solidFill>
            <a:srgbClr val="13273A"/>
          </a:solidFill>
          <a:ln/>
        </p:spPr>
      </p:sp>
      <p:sp>
        <p:nvSpPr>
          <p:cNvPr id="8" name="Text 5"/>
          <p:cNvSpPr/>
          <p:nvPr/>
        </p:nvSpPr>
        <p:spPr>
          <a:xfrm>
            <a:off x="5543550" y="5532120"/>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Arial" pitchFamily="34" charset="0"/>
                <a:ea typeface="Arial" pitchFamily="34" charset="-122"/>
                <a:cs typeface="Arial" pitchFamily="34" charset="-120"/>
              </a:rPr>
              <a:t>40%+</a:t>
            </a:r>
            <a:endParaRPr lang="en-US" sz="2400" dirty="0"/>
          </a:p>
        </p:txBody>
      </p:sp>
      <p:sp>
        <p:nvSpPr>
          <p:cNvPr id="9" name="Text 6"/>
          <p:cNvSpPr/>
          <p:nvPr/>
        </p:nvSpPr>
        <p:spPr>
          <a:xfrm>
            <a:off x="5598414" y="6304788"/>
            <a:ext cx="1351026" cy="384048"/>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جاهزية أسرع للموظفين الجدد</a:t>
            </a:r>
            <a:endParaRPr lang="ar-SA" sz="880" dirty="0"/>
          </a:p>
        </p:txBody>
      </p:sp>
      <p:sp>
        <p:nvSpPr>
          <p:cNvPr id="5" name="Text 7"/>
          <p:cNvSpPr/>
          <p:nvPr/>
        </p:nvSpPr>
        <p:spPr>
          <a:xfrm>
            <a:off x="5598414" y="6704838"/>
            <a:ext cx="1351026" cy="320040"/>
          </a:xfrm>
          <a:prstGeom prst="rect">
            <a:avLst/>
          </a:prstGeom>
          <a:noFill/>
          <a:ln/>
        </p:spPr>
        <p:txBody>
          <a:bodyPr wrap="square" rtlCol="0" anchor="t"/>
          <a:lstStyle/>
          <a:p>
            <a:pPr marL="0" indent="0" algn="ctr" rtl="1">
              <a:lnSpc>
                <a:spcPct val="102900"/>
              </a:lnSpc>
              <a:buNone/>
            </a:pPr>
            <a:r>
              <a:rPr lang="ar-SA" altLang="en-US" sz="740" dirty="0">
                <a:solidFill>
                  <a:srgbClr val="B9C3CC"/>
                </a:solidFill>
                <a:latin typeface="Arial" pitchFamily="34" charset="0"/>
                <a:ea typeface="Arial" pitchFamily="34" charset="-122"/>
                <a:cs typeface="Arial" pitchFamily="34" charset="-120"/>
              </a:rPr>
              <a:t>موظفون جدد منتجون منذ اليوم الأول.</a:t>
            </a:r>
            <a:endParaRPr lang="ar-SA" sz="740" dirty="0"/>
          </a:p>
        </p:txBody>
      </p:sp>
      <p:sp>
        <p:nvSpPr>
          <p:cNvPr id="11" name="Shape 8"/>
          <p:cNvSpPr/>
          <p:nvPr/>
        </p:nvSpPr>
        <p:spPr>
          <a:xfrm>
            <a:off x="3826764" y="5440680"/>
            <a:ext cx="1570482" cy="1600200"/>
          </a:xfrm>
          <a:prstGeom prst="roundRect">
            <a:avLst>
              <a:gd name="adj" fmla="val 2911"/>
            </a:avLst>
          </a:prstGeom>
          <a:solidFill>
            <a:srgbClr val="13273A"/>
          </a:solidFill>
          <a:ln/>
        </p:spPr>
      </p:sp>
      <p:sp>
        <p:nvSpPr>
          <p:cNvPr id="12" name="Text 9"/>
          <p:cNvSpPr/>
          <p:nvPr/>
        </p:nvSpPr>
        <p:spPr>
          <a:xfrm>
            <a:off x="3881628" y="5532120"/>
            <a:ext cx="1460754" cy="672084"/>
          </a:xfrm>
          <a:prstGeom prst="rect">
            <a:avLst/>
          </a:prstGeom>
          <a:noFill/>
          <a:ln/>
        </p:spPr>
        <p:txBody>
          <a:bodyPr wrap="square" rtlCol="0" anchor="b">
            <a:normAutofit/>
          </a:bodyPr>
          <a:lstStyle/>
          <a:p>
            <a:pPr marL="0" indent="0" algn="ctr" rtl="1">
              <a:lnSpc>
                <a:spcPct val="98000"/>
              </a:lnSpc>
              <a:buNone/>
            </a:pPr>
            <a:r>
              <a:rPr lang="ar-SA" altLang="en-US" sz="2470" b="1" dirty="0">
                <a:solidFill>
                  <a:srgbClr val="C9A15A"/>
                </a:solidFill>
                <a:latin typeface="Arial" pitchFamily="34" charset="0"/>
                <a:ea typeface="Arial" pitchFamily="34" charset="-122"/>
                <a:cs typeface="Arial" pitchFamily="34" charset="-120"/>
              </a:rPr>
              <a:t>مرتفع</a:t>
            </a:r>
            <a:endParaRPr lang="ar-SA" sz="2470" dirty="0"/>
          </a:p>
        </p:txBody>
      </p:sp>
      <p:sp>
        <p:nvSpPr>
          <p:cNvPr id="13" name="Text 10"/>
          <p:cNvSpPr/>
          <p:nvPr/>
        </p:nvSpPr>
        <p:spPr>
          <a:xfrm>
            <a:off x="3936492" y="6304788"/>
            <a:ext cx="1351026" cy="384048"/>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معرفة محتفَظ بها داخل المنشأة</a:t>
            </a:r>
            <a:endParaRPr lang="ar-SA" sz="880" dirty="0"/>
          </a:p>
        </p:txBody>
      </p:sp>
      <p:sp>
        <p:nvSpPr>
          <p:cNvPr id="14" name="Text 11"/>
          <p:cNvSpPr/>
          <p:nvPr/>
        </p:nvSpPr>
        <p:spPr>
          <a:xfrm>
            <a:off x="3936492" y="6704838"/>
            <a:ext cx="1351026" cy="320040"/>
          </a:xfrm>
          <a:prstGeom prst="rect">
            <a:avLst/>
          </a:prstGeom>
          <a:noFill/>
          <a:ln/>
        </p:spPr>
        <p:txBody>
          <a:bodyPr wrap="square" rtlCol="0" anchor="t"/>
          <a:lstStyle/>
          <a:p>
            <a:pPr marL="0" indent="0" algn="ctr" rtl="1">
              <a:lnSpc>
                <a:spcPct val="102900"/>
              </a:lnSpc>
              <a:buNone/>
            </a:pPr>
            <a:r>
              <a:rPr lang="ar-SA" altLang="en-US" sz="740" dirty="0">
                <a:solidFill>
                  <a:srgbClr val="B9C3CC"/>
                </a:solidFill>
                <a:latin typeface="Arial" pitchFamily="34" charset="0"/>
                <a:ea typeface="Arial" pitchFamily="34" charset="-122"/>
                <a:cs typeface="Arial" pitchFamily="34" charset="-120"/>
              </a:rPr>
              <a:t>تبقى مع المؤسسة لا مع المغادرين.</a:t>
            </a:r>
            <a:endParaRPr lang="ar-SA" sz="740" dirty="0"/>
          </a:p>
        </p:txBody>
      </p:sp>
      <p:sp>
        <p:nvSpPr>
          <p:cNvPr id="15" name="Shape 12"/>
          <p:cNvSpPr/>
          <p:nvPr/>
        </p:nvSpPr>
        <p:spPr>
          <a:xfrm>
            <a:off x="2164842" y="5440680"/>
            <a:ext cx="1570482" cy="1600200"/>
          </a:xfrm>
          <a:prstGeom prst="roundRect">
            <a:avLst>
              <a:gd name="adj" fmla="val 2911"/>
            </a:avLst>
          </a:prstGeom>
          <a:solidFill>
            <a:srgbClr val="13273A"/>
          </a:solidFill>
          <a:ln/>
        </p:spPr>
      </p:sp>
      <p:sp>
        <p:nvSpPr>
          <p:cNvPr id="16" name="Text 13"/>
          <p:cNvSpPr/>
          <p:nvPr/>
        </p:nvSpPr>
        <p:spPr>
          <a:xfrm>
            <a:off x="2219706" y="5532120"/>
            <a:ext cx="1460754" cy="672084"/>
          </a:xfrm>
          <a:prstGeom prst="rect">
            <a:avLst/>
          </a:prstGeom>
          <a:noFill/>
          <a:ln/>
        </p:spPr>
        <p:txBody>
          <a:bodyPr wrap="square" rtlCol="0" anchor="b">
            <a:normAutofit/>
          </a:bodyPr>
          <a:lstStyle/>
          <a:p>
            <a:pPr marL="0" indent="0" algn="ctr" rtl="1">
              <a:lnSpc>
                <a:spcPct val="98000"/>
              </a:lnSpc>
              <a:buNone/>
            </a:pPr>
            <a:r>
              <a:rPr lang="ar-SA" altLang="en-US" sz="2470" b="1" dirty="0">
                <a:solidFill>
                  <a:srgbClr val="C9A15A"/>
                </a:solidFill>
                <a:latin typeface="Arial" pitchFamily="34" charset="0"/>
                <a:ea typeface="Arial" pitchFamily="34" charset="-122"/>
                <a:cs typeface="Arial" pitchFamily="34" charset="-120"/>
              </a:rPr>
              <a:t>مئات</a:t>
            </a:r>
            <a:endParaRPr lang="ar-SA" sz="2470" dirty="0"/>
          </a:p>
        </p:txBody>
      </p:sp>
      <p:sp>
        <p:nvSpPr>
          <p:cNvPr id="17" name="Text 14"/>
          <p:cNvSpPr/>
          <p:nvPr/>
        </p:nvSpPr>
        <p:spPr>
          <a:xfrm>
            <a:off x="2274570" y="6304788"/>
            <a:ext cx="1351026" cy="384048"/>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ساعات تدريب موفَّرة</a:t>
            </a:r>
            <a:endParaRPr lang="ar-SA" sz="880" dirty="0"/>
          </a:p>
        </p:txBody>
      </p:sp>
      <p:sp>
        <p:nvSpPr>
          <p:cNvPr id="18" name="Text 15"/>
          <p:cNvSpPr/>
          <p:nvPr/>
        </p:nvSpPr>
        <p:spPr>
          <a:xfrm>
            <a:off x="2274570" y="6704838"/>
            <a:ext cx="1351026" cy="320040"/>
          </a:xfrm>
          <a:prstGeom prst="rect">
            <a:avLst/>
          </a:prstGeom>
          <a:noFill/>
          <a:ln/>
        </p:spPr>
        <p:txBody>
          <a:bodyPr wrap="square" rtlCol="0" anchor="t"/>
          <a:lstStyle/>
          <a:p>
            <a:pPr marL="0" indent="0" algn="ctr" rtl="1">
              <a:lnSpc>
                <a:spcPct val="102900"/>
              </a:lnSpc>
              <a:buNone/>
            </a:pPr>
            <a:r>
              <a:rPr lang="ar-SA" altLang="en-US" sz="740" dirty="0">
                <a:solidFill>
                  <a:srgbClr val="B9C3CC"/>
                </a:solidFill>
                <a:latin typeface="Arial" pitchFamily="34" charset="0"/>
                <a:ea typeface="Arial" pitchFamily="34" charset="-122"/>
                <a:cs typeface="Arial" pitchFamily="34" charset="-120"/>
              </a:rPr>
              <a:t>تحل محل دورات القاعات المتكررة المكلفة.</a:t>
            </a:r>
            <a:endParaRPr lang="ar-SA" sz="740" dirty="0"/>
          </a:p>
        </p:txBody>
      </p:sp>
      <p:sp>
        <p:nvSpPr>
          <p:cNvPr id="19" name="Shape 16"/>
          <p:cNvSpPr/>
          <p:nvPr/>
        </p:nvSpPr>
        <p:spPr>
          <a:xfrm>
            <a:off x="502920" y="5440680"/>
            <a:ext cx="1570482" cy="1600200"/>
          </a:xfrm>
          <a:prstGeom prst="roundRect">
            <a:avLst>
              <a:gd name="adj" fmla="val 2911"/>
            </a:avLst>
          </a:prstGeom>
          <a:solidFill>
            <a:srgbClr val="13273A"/>
          </a:solidFill>
          <a:ln/>
        </p:spPr>
      </p:sp>
      <p:sp>
        <p:nvSpPr>
          <p:cNvPr id="20" name="Text 17"/>
          <p:cNvSpPr/>
          <p:nvPr/>
        </p:nvSpPr>
        <p:spPr>
          <a:xfrm>
            <a:off x="557784" y="5532120"/>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Arial" pitchFamily="34" charset="0"/>
                <a:ea typeface="Arial" pitchFamily="34" charset="-122"/>
                <a:cs typeface="Arial" pitchFamily="34" charset="-120"/>
              </a:rPr>
              <a:t>GOP ↑</a:t>
            </a:r>
            <a:endParaRPr lang="en-US" sz="2400" dirty="0"/>
          </a:p>
        </p:txBody>
      </p:sp>
      <p:sp>
        <p:nvSpPr>
          <p:cNvPr id="21" name="Text 18"/>
          <p:cNvSpPr/>
          <p:nvPr/>
        </p:nvSpPr>
        <p:spPr>
          <a:xfrm>
            <a:off x="612648" y="6304788"/>
            <a:ext cx="1351026" cy="384048"/>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رضا النزلاء والربحية</a:t>
            </a:r>
            <a:endParaRPr lang="ar-SA" sz="880" dirty="0"/>
          </a:p>
        </p:txBody>
      </p:sp>
      <p:sp>
        <p:nvSpPr>
          <p:cNvPr id="22" name="Text 19"/>
          <p:cNvSpPr/>
          <p:nvPr/>
        </p:nvSpPr>
        <p:spPr>
          <a:xfrm>
            <a:off x="612648" y="6704838"/>
            <a:ext cx="1351026" cy="320040"/>
          </a:xfrm>
          <a:prstGeom prst="rect">
            <a:avLst/>
          </a:prstGeom>
          <a:noFill/>
          <a:ln/>
        </p:spPr>
        <p:txBody>
          <a:bodyPr wrap="square" rtlCol="0" anchor="t"/>
          <a:lstStyle/>
          <a:p>
            <a:pPr marL="0" indent="0" algn="ctr" rtl="1">
              <a:lnSpc>
                <a:spcPct val="102900"/>
              </a:lnSpc>
              <a:buNone/>
            </a:pPr>
            <a:r>
              <a:rPr lang="ar-SA" altLang="en-US" sz="740" dirty="0">
                <a:solidFill>
                  <a:srgbClr val="B9C3CC"/>
                </a:solidFill>
                <a:latin typeface="Arial" pitchFamily="34" charset="0"/>
                <a:ea typeface="Arial" pitchFamily="34" charset="-122"/>
                <a:cs typeface="Arial" pitchFamily="34" charset="-120"/>
              </a:rPr>
              <a:t>سرعة المعالجة تدعم التقييمات والربحية.</a:t>
            </a:r>
            <a:endParaRPr lang="ar-SA" sz="740" dirty="0"/>
          </a:p>
        </p:txBody>
      </p:sp>
      <p:sp>
        <p:nvSpPr>
          <p:cNvPr id="23" name="Text 20"/>
          <p:cNvSpPr/>
          <p:nvPr/>
        </p:nvSpPr>
        <p:spPr>
          <a:xfrm>
            <a:off x="502920" y="7251192"/>
            <a:ext cx="6556248" cy="219456"/>
          </a:xfrm>
          <a:prstGeom prst="rect">
            <a:avLst/>
          </a:prstGeom>
          <a:noFill/>
          <a:ln/>
        </p:spPr>
        <p:txBody>
          <a:bodyPr wrap="square" rtlCol="0" anchor="ctr"/>
          <a:lstStyle/>
          <a:p>
            <a:pPr marL="0" indent="0" algn="r" rtl="1">
              <a:lnSpc>
                <a:spcPct val="98000"/>
              </a:lnSpc>
              <a:buNone/>
            </a:pPr>
            <a:r>
              <a:rPr lang="ar-SA" altLang="en-US" sz="980" b="1" dirty="0">
                <a:solidFill>
                  <a:srgbClr val="C1501D"/>
                </a:solidFill>
                <a:latin typeface="Arial" pitchFamily="34" charset="0"/>
                <a:ea typeface="Arial" pitchFamily="34" charset="-122"/>
                <a:cs typeface="Arial" pitchFamily="34" charset="-120"/>
              </a:rPr>
              <a:t>منصة واحدة، ثلاث تجارب</a:t>
            </a:r>
            <a:endParaRPr lang="ar-SA" sz="980" dirty="0"/>
          </a:p>
        </p:txBody>
      </p:sp>
      <p:sp>
        <p:nvSpPr>
          <p:cNvPr id="24" name="Shape 21"/>
          <p:cNvSpPr/>
          <p:nvPr/>
        </p:nvSpPr>
        <p:spPr>
          <a:xfrm>
            <a:off x="4995672" y="7525512"/>
            <a:ext cx="2063496" cy="1828800"/>
          </a:xfrm>
          <a:prstGeom prst="roundRect">
            <a:avLst>
              <a:gd name="adj" fmla="val 3000"/>
            </a:avLst>
          </a:prstGeom>
          <a:solidFill>
            <a:srgbClr val="FFFFFF"/>
          </a:solidFill>
          <a:ln w="9525">
            <a:solidFill>
              <a:srgbClr val="E4DDCB"/>
            </a:solidFill>
            <a:prstDash val="solid"/>
          </a:ln>
        </p:spPr>
      </p:sp>
      <p:sp>
        <p:nvSpPr>
          <p:cNvPr id="25" name="Shape 22"/>
          <p:cNvSpPr/>
          <p:nvPr/>
        </p:nvSpPr>
        <p:spPr>
          <a:xfrm>
            <a:off x="6455664" y="7726680"/>
            <a:ext cx="402336" cy="402336"/>
          </a:xfrm>
          <a:prstGeom prst="ellipse">
            <a:avLst/>
          </a:prstGeom>
          <a:solidFill>
            <a:srgbClr val="0F5C42"/>
          </a:solidFill>
          <a:ln/>
        </p:spPr>
      </p:sp>
      <p:pic>
        <p:nvPicPr>
          <p:cNvPr id="26" name="Image 0" descr="/home/claude/assets/icons/gradcap.png"/>
          <p:cNvPicPr>
            <a:picLocks noChangeAspect="1"/>
          </p:cNvPicPr>
          <p:nvPr/>
        </p:nvPicPr>
        <p:blipFill>
          <a:blip r:embed="rId3"/>
          <a:stretch>
            <a:fillRect/>
          </a:stretch>
        </p:blipFill>
        <p:spPr>
          <a:xfrm>
            <a:off x="6552225" y="7823241"/>
            <a:ext cx="209215" cy="209215"/>
          </a:xfrm>
          <a:prstGeom prst="rect">
            <a:avLst/>
          </a:prstGeom>
        </p:spPr>
      </p:pic>
      <p:sp>
        <p:nvSpPr>
          <p:cNvPr id="27" name="Text 23"/>
          <p:cNvSpPr/>
          <p:nvPr/>
        </p:nvSpPr>
        <p:spPr>
          <a:xfrm>
            <a:off x="5196840" y="7708392"/>
            <a:ext cx="1094232"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المتعلّم</a:t>
            </a:r>
            <a:endParaRPr lang="ar-SA" sz="1290" dirty="0"/>
          </a:p>
        </p:txBody>
      </p:sp>
      <p:sp>
        <p:nvSpPr>
          <p:cNvPr id="28" name="Text 24"/>
          <p:cNvSpPr/>
          <p:nvPr/>
        </p:nvSpPr>
        <p:spPr>
          <a:xfrm>
            <a:off x="5196840" y="8110728"/>
            <a:ext cx="1661160" cy="120700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خطة حسب الدور، ودروس تطبيقية قصيرة، وتقييم، وتقدّم مباشر، وشهادة إتمام.</a:t>
            </a:r>
            <a:endParaRPr lang="ar-SA" sz="1000" dirty="0"/>
          </a:p>
        </p:txBody>
      </p:sp>
      <p:sp>
        <p:nvSpPr>
          <p:cNvPr id="29" name="Shape 25"/>
          <p:cNvSpPr/>
          <p:nvPr/>
        </p:nvSpPr>
        <p:spPr>
          <a:xfrm>
            <a:off x="2749296" y="7525512"/>
            <a:ext cx="2063496" cy="1828800"/>
          </a:xfrm>
          <a:prstGeom prst="roundRect">
            <a:avLst>
              <a:gd name="adj" fmla="val 3000"/>
            </a:avLst>
          </a:prstGeom>
          <a:solidFill>
            <a:srgbClr val="FFFFFF"/>
          </a:solidFill>
          <a:ln w="9525">
            <a:solidFill>
              <a:srgbClr val="E4DDCB"/>
            </a:solidFill>
            <a:prstDash val="solid"/>
          </a:ln>
        </p:spPr>
      </p:sp>
      <p:sp>
        <p:nvSpPr>
          <p:cNvPr id="30" name="Shape 26"/>
          <p:cNvSpPr/>
          <p:nvPr/>
        </p:nvSpPr>
        <p:spPr>
          <a:xfrm>
            <a:off x="4209288" y="7726680"/>
            <a:ext cx="402336" cy="402336"/>
          </a:xfrm>
          <a:prstGeom prst="ellipse">
            <a:avLst/>
          </a:prstGeom>
          <a:solidFill>
            <a:srgbClr val="0F5C42"/>
          </a:solidFill>
          <a:ln/>
        </p:spPr>
      </p:sp>
      <p:pic>
        <p:nvPicPr>
          <p:cNvPr id="31" name="Image 1" descr="/home/claude/assets/icons/userscog.png"/>
          <p:cNvPicPr>
            <a:picLocks noChangeAspect="1"/>
          </p:cNvPicPr>
          <p:nvPr/>
        </p:nvPicPr>
        <p:blipFill>
          <a:blip r:embed="rId4"/>
          <a:stretch>
            <a:fillRect/>
          </a:stretch>
        </p:blipFill>
        <p:spPr>
          <a:xfrm>
            <a:off x="4305849" y="7823241"/>
            <a:ext cx="209215" cy="209215"/>
          </a:xfrm>
          <a:prstGeom prst="rect">
            <a:avLst/>
          </a:prstGeom>
        </p:spPr>
      </p:pic>
      <p:sp>
        <p:nvSpPr>
          <p:cNvPr id="32" name="Text 27"/>
          <p:cNvSpPr/>
          <p:nvPr/>
        </p:nvSpPr>
        <p:spPr>
          <a:xfrm>
            <a:off x="2950464" y="7708392"/>
            <a:ext cx="1094232"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إدارة المنشأة</a:t>
            </a:r>
            <a:endParaRPr lang="ar-SA" sz="1290" dirty="0"/>
          </a:p>
        </p:txBody>
      </p:sp>
      <p:sp>
        <p:nvSpPr>
          <p:cNvPr id="33" name="Text 28"/>
          <p:cNvSpPr/>
          <p:nvPr/>
        </p:nvSpPr>
        <p:spPr>
          <a:xfrm>
            <a:off x="2950464" y="8293608"/>
            <a:ext cx="1661160" cy="102412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إسناد المسارات، ومتابعة إنجاز الفريق، وقراءة تقارير الكفاءة، وتطبيق علامة المنشأة.</a:t>
            </a:r>
            <a:endParaRPr lang="ar-SA" sz="1000" dirty="0"/>
          </a:p>
        </p:txBody>
      </p:sp>
      <p:sp>
        <p:nvSpPr>
          <p:cNvPr id="34" name="Shape 29"/>
          <p:cNvSpPr/>
          <p:nvPr/>
        </p:nvSpPr>
        <p:spPr>
          <a:xfrm>
            <a:off x="502920" y="7525512"/>
            <a:ext cx="2063496" cy="1828800"/>
          </a:xfrm>
          <a:prstGeom prst="roundRect">
            <a:avLst>
              <a:gd name="adj" fmla="val 3000"/>
            </a:avLst>
          </a:prstGeom>
          <a:solidFill>
            <a:srgbClr val="FFFFFF"/>
          </a:solidFill>
          <a:ln w="9525">
            <a:solidFill>
              <a:srgbClr val="E4DDCB"/>
            </a:solidFill>
            <a:prstDash val="solid"/>
          </a:ln>
        </p:spPr>
      </p:sp>
      <p:sp>
        <p:nvSpPr>
          <p:cNvPr id="35" name="Shape 30"/>
          <p:cNvSpPr/>
          <p:nvPr/>
        </p:nvSpPr>
        <p:spPr>
          <a:xfrm>
            <a:off x="1962912" y="7726680"/>
            <a:ext cx="402336" cy="402336"/>
          </a:xfrm>
          <a:prstGeom prst="ellipse">
            <a:avLst/>
          </a:prstGeom>
          <a:solidFill>
            <a:srgbClr val="0F5C42"/>
          </a:solidFill>
          <a:ln/>
        </p:spPr>
      </p:sp>
      <p:pic>
        <p:nvPicPr>
          <p:cNvPr id="36" name="Image 2" descr="/home/claude/assets/icons/cogs.png"/>
          <p:cNvPicPr>
            <a:picLocks noChangeAspect="1"/>
          </p:cNvPicPr>
          <p:nvPr/>
        </p:nvPicPr>
        <p:blipFill>
          <a:blip r:embed="rId5"/>
          <a:stretch>
            <a:fillRect/>
          </a:stretch>
        </p:blipFill>
        <p:spPr>
          <a:xfrm>
            <a:off x="2059473" y="7823241"/>
            <a:ext cx="209215" cy="209215"/>
          </a:xfrm>
          <a:prstGeom prst="rect">
            <a:avLst/>
          </a:prstGeom>
        </p:spPr>
      </p:pic>
      <p:sp>
        <p:nvSpPr>
          <p:cNvPr id="37" name="Text 31"/>
          <p:cNvSpPr/>
          <p:nvPr/>
        </p:nvSpPr>
        <p:spPr>
          <a:xfrm>
            <a:off x="704088" y="7708392"/>
            <a:ext cx="1094232"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فريق Altus Gulf</a:t>
            </a:r>
            <a:endParaRPr lang="ar-SA" sz="1290" dirty="0"/>
          </a:p>
        </p:txBody>
      </p:sp>
      <p:sp>
        <p:nvSpPr>
          <p:cNvPr id="38" name="Text 32"/>
          <p:cNvSpPr/>
          <p:nvPr/>
        </p:nvSpPr>
        <p:spPr>
          <a:xfrm>
            <a:off x="704088" y="8293608"/>
            <a:ext cx="1661160" cy="102412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إدارة المحتوى، وضبط الجودة، وإدارة الإصدارات، وإدارة العملاء، وتحليلات عبر المنشآت.</a:t>
            </a:r>
            <a:endParaRPr lang="ar-SA" sz="1000" dirty="0"/>
          </a:p>
        </p:txBody>
      </p:sp>
      <p:sp>
        <p:nvSpPr>
          <p:cNvPr id="39" name="Shape 33"/>
          <p:cNvSpPr/>
          <p:nvPr/>
        </p:nvSpPr>
        <p:spPr>
          <a:xfrm>
            <a:off x="502920" y="10186416"/>
            <a:ext cx="6556248" cy="0"/>
          </a:xfrm>
          <a:prstGeom prst="line">
            <a:avLst/>
          </a:prstGeom>
          <a:noFill/>
          <a:ln w="9525">
            <a:solidFill>
              <a:srgbClr val="E4DDCB"/>
            </a:solidFill>
            <a:prstDash val="solid"/>
          </a:ln>
        </p:spPr>
      </p:sp>
      <p:sp>
        <p:nvSpPr>
          <p:cNvPr id="40" name="Text 34"/>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41" name="Text 35"/>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09</a:t>
            </a:r>
            <a:endParaRPr lang="ar-SA" sz="88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08  •  التغطية القطاعية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القطاعات التي نخدمها</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فلسفة تشغيلية واحدة تُطبَّق في القطاعات التي تقود تحوّل المملكة، أينما كانت الخدمة وأداء الأصول وتجربة النزيل هي التي تحسم النتيجة.</a:t>
            </a:r>
            <a:endParaRPr lang="ar-SA" sz="1180" dirty="0"/>
          </a:p>
        </p:txBody>
      </p:sp>
      <p:sp>
        <p:nvSpPr>
          <p:cNvPr id="5" name="Shape 3"/>
          <p:cNvSpPr/>
          <p:nvPr/>
        </p:nvSpPr>
        <p:spPr>
          <a:xfrm>
            <a:off x="5007864" y="2103120"/>
            <a:ext cx="2051304" cy="1417320"/>
          </a:xfrm>
          <a:prstGeom prst="roundRect">
            <a:avLst>
              <a:gd name="adj" fmla="val 3871"/>
            </a:avLst>
          </a:prstGeom>
          <a:solidFill>
            <a:srgbClr val="FFFFFF"/>
          </a:solidFill>
          <a:ln w="9525">
            <a:solidFill>
              <a:srgbClr val="E4DDCB"/>
            </a:solidFill>
            <a:prstDash val="solid"/>
          </a:ln>
        </p:spPr>
      </p:sp>
      <p:sp>
        <p:nvSpPr>
          <p:cNvPr id="6" name="Shape 4"/>
          <p:cNvSpPr/>
          <p:nvPr/>
        </p:nvSpPr>
        <p:spPr>
          <a:xfrm>
            <a:off x="5768340" y="2295144"/>
            <a:ext cx="530352" cy="530352"/>
          </a:xfrm>
          <a:prstGeom prst="ellipse">
            <a:avLst/>
          </a:prstGeom>
          <a:solidFill>
            <a:srgbClr val="0F5C42"/>
          </a:solidFill>
          <a:ln/>
        </p:spPr>
      </p:sp>
      <p:pic>
        <p:nvPicPr>
          <p:cNvPr id="7" name="Image 0" descr="/home/claude/assets/icons/hotel.png"/>
          <p:cNvPicPr>
            <a:picLocks noChangeAspect="1"/>
          </p:cNvPicPr>
          <p:nvPr/>
        </p:nvPicPr>
        <p:blipFill>
          <a:blip r:embed="rId3"/>
          <a:stretch>
            <a:fillRect/>
          </a:stretch>
        </p:blipFill>
        <p:spPr>
          <a:xfrm>
            <a:off x="5895624" y="2422428"/>
            <a:ext cx="275783" cy="275783"/>
          </a:xfrm>
          <a:prstGeom prst="rect">
            <a:avLst/>
          </a:prstGeom>
        </p:spPr>
      </p:pic>
      <p:sp>
        <p:nvSpPr>
          <p:cNvPr id="8" name="Text 5"/>
          <p:cNvSpPr/>
          <p:nvPr/>
        </p:nvSpPr>
        <p:spPr>
          <a:xfrm>
            <a:off x="5099304" y="28895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الفنادق</a:t>
            </a:r>
            <a:endParaRPr lang="ar-SA" sz="1080" dirty="0"/>
          </a:p>
        </p:txBody>
      </p:sp>
      <p:sp>
        <p:nvSpPr>
          <p:cNvPr id="9" name="Shape 6"/>
          <p:cNvSpPr/>
          <p:nvPr/>
        </p:nvSpPr>
        <p:spPr>
          <a:xfrm>
            <a:off x="2755392" y="2103120"/>
            <a:ext cx="2051304" cy="1417320"/>
          </a:xfrm>
          <a:prstGeom prst="roundRect">
            <a:avLst>
              <a:gd name="adj" fmla="val 3871"/>
            </a:avLst>
          </a:prstGeom>
          <a:solidFill>
            <a:srgbClr val="FFFFFF"/>
          </a:solidFill>
          <a:ln w="9525">
            <a:solidFill>
              <a:srgbClr val="E4DDCB"/>
            </a:solidFill>
            <a:prstDash val="solid"/>
          </a:ln>
        </p:spPr>
      </p:sp>
      <p:sp>
        <p:nvSpPr>
          <p:cNvPr id="10" name="Shape 7"/>
          <p:cNvSpPr/>
          <p:nvPr/>
        </p:nvSpPr>
        <p:spPr>
          <a:xfrm>
            <a:off x="3515868" y="2295144"/>
            <a:ext cx="530352" cy="530352"/>
          </a:xfrm>
          <a:prstGeom prst="ellipse">
            <a:avLst/>
          </a:prstGeom>
          <a:solidFill>
            <a:srgbClr val="0F5C42"/>
          </a:solidFill>
          <a:ln/>
        </p:spPr>
      </p:sp>
      <p:pic>
        <p:nvPicPr>
          <p:cNvPr id="11" name="Image 1" descr="/home/claude/assets/icons/umbrella.png"/>
          <p:cNvPicPr>
            <a:picLocks noChangeAspect="1"/>
          </p:cNvPicPr>
          <p:nvPr/>
        </p:nvPicPr>
        <p:blipFill>
          <a:blip r:embed="rId4"/>
          <a:stretch>
            <a:fillRect/>
          </a:stretch>
        </p:blipFill>
        <p:spPr>
          <a:xfrm>
            <a:off x="3643152" y="2422428"/>
            <a:ext cx="275783" cy="275783"/>
          </a:xfrm>
          <a:prstGeom prst="rect">
            <a:avLst/>
          </a:prstGeom>
        </p:spPr>
      </p:pic>
      <p:sp>
        <p:nvSpPr>
          <p:cNvPr id="12" name="Text 8"/>
          <p:cNvSpPr/>
          <p:nvPr/>
        </p:nvSpPr>
        <p:spPr>
          <a:xfrm>
            <a:off x="2846832" y="28895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المنتجعات الفاخرة</a:t>
            </a:r>
            <a:endParaRPr lang="ar-SA" sz="1080" dirty="0"/>
          </a:p>
        </p:txBody>
      </p:sp>
      <p:sp>
        <p:nvSpPr>
          <p:cNvPr id="13" name="Shape 9"/>
          <p:cNvSpPr/>
          <p:nvPr/>
        </p:nvSpPr>
        <p:spPr>
          <a:xfrm>
            <a:off x="502920" y="2103120"/>
            <a:ext cx="2051304" cy="1417320"/>
          </a:xfrm>
          <a:prstGeom prst="roundRect">
            <a:avLst>
              <a:gd name="adj" fmla="val 3871"/>
            </a:avLst>
          </a:prstGeom>
          <a:solidFill>
            <a:srgbClr val="FFFFFF"/>
          </a:solidFill>
          <a:ln w="9525">
            <a:solidFill>
              <a:srgbClr val="E4DDCB"/>
            </a:solidFill>
            <a:prstDash val="solid"/>
          </a:ln>
        </p:spPr>
      </p:sp>
      <p:sp>
        <p:nvSpPr>
          <p:cNvPr id="14" name="Shape 10"/>
          <p:cNvSpPr/>
          <p:nvPr/>
        </p:nvSpPr>
        <p:spPr>
          <a:xfrm>
            <a:off x="1263396" y="2295144"/>
            <a:ext cx="530352" cy="530352"/>
          </a:xfrm>
          <a:prstGeom prst="ellipse">
            <a:avLst/>
          </a:prstGeom>
          <a:solidFill>
            <a:srgbClr val="0F5C42"/>
          </a:solidFill>
          <a:ln/>
        </p:spPr>
      </p:sp>
      <p:pic>
        <p:nvPicPr>
          <p:cNvPr id="15" name="Image 2" descr="/home/claude/assets/icons/plane.png"/>
          <p:cNvPicPr>
            <a:picLocks noChangeAspect="1"/>
          </p:cNvPicPr>
          <p:nvPr/>
        </p:nvPicPr>
        <p:blipFill>
          <a:blip r:embed="rId5"/>
          <a:stretch>
            <a:fillRect/>
          </a:stretch>
        </p:blipFill>
        <p:spPr>
          <a:xfrm>
            <a:off x="1390680" y="2422428"/>
            <a:ext cx="275783" cy="275783"/>
          </a:xfrm>
          <a:prstGeom prst="rect">
            <a:avLst/>
          </a:prstGeom>
        </p:spPr>
      </p:pic>
      <p:sp>
        <p:nvSpPr>
          <p:cNvPr id="16" name="Text 11"/>
          <p:cNvSpPr/>
          <p:nvPr/>
        </p:nvSpPr>
        <p:spPr>
          <a:xfrm>
            <a:off x="594360" y="28895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السياحة والوجهات</a:t>
            </a:r>
            <a:endParaRPr lang="ar-SA" sz="1080" dirty="0"/>
          </a:p>
        </p:txBody>
      </p:sp>
      <p:sp>
        <p:nvSpPr>
          <p:cNvPr id="17" name="Shape 12"/>
          <p:cNvSpPr/>
          <p:nvPr/>
        </p:nvSpPr>
        <p:spPr>
          <a:xfrm>
            <a:off x="5007864" y="3703320"/>
            <a:ext cx="2051304" cy="1417320"/>
          </a:xfrm>
          <a:prstGeom prst="roundRect">
            <a:avLst>
              <a:gd name="adj" fmla="val 3871"/>
            </a:avLst>
          </a:prstGeom>
          <a:solidFill>
            <a:srgbClr val="FFFFFF"/>
          </a:solidFill>
          <a:ln w="9525">
            <a:solidFill>
              <a:srgbClr val="E4DDCB"/>
            </a:solidFill>
            <a:prstDash val="solid"/>
          </a:ln>
        </p:spPr>
      </p:sp>
      <p:sp>
        <p:nvSpPr>
          <p:cNvPr id="18" name="Shape 13"/>
          <p:cNvSpPr/>
          <p:nvPr/>
        </p:nvSpPr>
        <p:spPr>
          <a:xfrm>
            <a:off x="5768340" y="3895344"/>
            <a:ext cx="530352" cy="530352"/>
          </a:xfrm>
          <a:prstGeom prst="ellipse">
            <a:avLst/>
          </a:prstGeom>
          <a:solidFill>
            <a:srgbClr val="0F5C42"/>
          </a:solidFill>
          <a:ln/>
        </p:spPr>
      </p:sp>
      <p:pic>
        <p:nvPicPr>
          <p:cNvPr id="19" name="Image 3" descr="/home/claude/assets/icons/building.png"/>
          <p:cNvPicPr>
            <a:picLocks noChangeAspect="1"/>
          </p:cNvPicPr>
          <p:nvPr/>
        </p:nvPicPr>
        <p:blipFill>
          <a:blip r:embed="rId6"/>
          <a:stretch>
            <a:fillRect/>
          </a:stretch>
        </p:blipFill>
        <p:spPr>
          <a:xfrm>
            <a:off x="5895624" y="4022628"/>
            <a:ext cx="275783" cy="275783"/>
          </a:xfrm>
          <a:prstGeom prst="rect">
            <a:avLst/>
          </a:prstGeom>
        </p:spPr>
      </p:pic>
      <p:sp>
        <p:nvSpPr>
          <p:cNvPr id="20" name="Text 14"/>
          <p:cNvSpPr/>
          <p:nvPr/>
        </p:nvSpPr>
        <p:spPr>
          <a:xfrm>
            <a:off x="5099304" y="44897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العقارات</a:t>
            </a:r>
            <a:endParaRPr lang="ar-SA" sz="1080" dirty="0"/>
          </a:p>
        </p:txBody>
      </p:sp>
      <p:sp>
        <p:nvSpPr>
          <p:cNvPr id="21" name="Shape 15"/>
          <p:cNvSpPr/>
          <p:nvPr/>
        </p:nvSpPr>
        <p:spPr>
          <a:xfrm>
            <a:off x="2755392" y="3703320"/>
            <a:ext cx="2051304" cy="1417320"/>
          </a:xfrm>
          <a:prstGeom prst="roundRect">
            <a:avLst>
              <a:gd name="adj" fmla="val 3871"/>
            </a:avLst>
          </a:prstGeom>
          <a:solidFill>
            <a:srgbClr val="FFFFFF"/>
          </a:solidFill>
          <a:ln w="9525">
            <a:solidFill>
              <a:srgbClr val="E4DDCB"/>
            </a:solidFill>
            <a:prstDash val="solid"/>
          </a:ln>
        </p:spPr>
      </p:sp>
      <p:sp>
        <p:nvSpPr>
          <p:cNvPr id="22" name="Shape 16"/>
          <p:cNvSpPr/>
          <p:nvPr/>
        </p:nvSpPr>
        <p:spPr>
          <a:xfrm>
            <a:off x="3515868" y="3895344"/>
            <a:ext cx="530352" cy="530352"/>
          </a:xfrm>
          <a:prstGeom prst="ellipse">
            <a:avLst/>
          </a:prstGeom>
          <a:solidFill>
            <a:srgbClr val="0F5C42"/>
          </a:solidFill>
          <a:ln/>
        </p:spPr>
      </p:sp>
      <p:pic>
        <p:nvPicPr>
          <p:cNvPr id="23" name="Image 4" descr="/home/claude/assets/icons/landmark.png"/>
          <p:cNvPicPr>
            <a:picLocks noChangeAspect="1"/>
          </p:cNvPicPr>
          <p:nvPr/>
        </p:nvPicPr>
        <p:blipFill>
          <a:blip r:embed="rId7"/>
          <a:stretch>
            <a:fillRect/>
          </a:stretch>
        </p:blipFill>
        <p:spPr>
          <a:xfrm>
            <a:off x="3643152" y="4022628"/>
            <a:ext cx="275783" cy="275783"/>
          </a:xfrm>
          <a:prstGeom prst="rect">
            <a:avLst/>
          </a:prstGeom>
        </p:spPr>
      </p:pic>
      <p:sp>
        <p:nvSpPr>
          <p:cNvPr id="24" name="Text 17"/>
          <p:cNvSpPr/>
          <p:nvPr/>
        </p:nvSpPr>
        <p:spPr>
          <a:xfrm>
            <a:off x="2846832" y="44897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الجهات الحكومية وشبه الحكومية</a:t>
            </a:r>
            <a:endParaRPr lang="ar-SA" sz="1080" dirty="0"/>
          </a:p>
        </p:txBody>
      </p:sp>
      <p:sp>
        <p:nvSpPr>
          <p:cNvPr id="25" name="Shape 18"/>
          <p:cNvSpPr/>
          <p:nvPr/>
        </p:nvSpPr>
        <p:spPr>
          <a:xfrm>
            <a:off x="502920" y="3703320"/>
            <a:ext cx="2051304" cy="1417320"/>
          </a:xfrm>
          <a:prstGeom prst="roundRect">
            <a:avLst>
              <a:gd name="adj" fmla="val 3871"/>
            </a:avLst>
          </a:prstGeom>
          <a:solidFill>
            <a:srgbClr val="FFFFFF"/>
          </a:solidFill>
          <a:ln w="9525">
            <a:solidFill>
              <a:srgbClr val="E4DDCB"/>
            </a:solidFill>
            <a:prstDash val="solid"/>
          </a:ln>
        </p:spPr>
      </p:sp>
      <p:sp>
        <p:nvSpPr>
          <p:cNvPr id="26" name="Shape 19"/>
          <p:cNvSpPr/>
          <p:nvPr/>
        </p:nvSpPr>
        <p:spPr>
          <a:xfrm>
            <a:off x="1263396" y="3895344"/>
            <a:ext cx="530352" cy="530352"/>
          </a:xfrm>
          <a:prstGeom prst="ellipse">
            <a:avLst/>
          </a:prstGeom>
          <a:solidFill>
            <a:srgbClr val="0F5C42"/>
          </a:solidFill>
          <a:ln/>
        </p:spPr>
      </p:sp>
      <p:pic>
        <p:nvPicPr>
          <p:cNvPr id="27" name="Image 5" descr="/home/claude/assets/icons/layers.png"/>
          <p:cNvPicPr>
            <a:picLocks noChangeAspect="1"/>
          </p:cNvPicPr>
          <p:nvPr/>
        </p:nvPicPr>
        <p:blipFill>
          <a:blip r:embed="rId8"/>
          <a:stretch>
            <a:fillRect/>
          </a:stretch>
        </p:blipFill>
        <p:spPr>
          <a:xfrm>
            <a:off x="1390680" y="4022628"/>
            <a:ext cx="275783" cy="275783"/>
          </a:xfrm>
          <a:prstGeom prst="rect">
            <a:avLst/>
          </a:prstGeom>
        </p:spPr>
      </p:pic>
      <p:sp>
        <p:nvSpPr>
          <p:cNvPr id="28" name="Text 20"/>
          <p:cNvSpPr/>
          <p:nvPr/>
        </p:nvSpPr>
        <p:spPr>
          <a:xfrm>
            <a:off x="594360" y="44897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المشاريع متعددة الاستخدامات</a:t>
            </a:r>
            <a:endParaRPr lang="ar-SA" sz="1080" dirty="0"/>
          </a:p>
        </p:txBody>
      </p:sp>
      <p:sp>
        <p:nvSpPr>
          <p:cNvPr id="29" name="Shape 21"/>
          <p:cNvSpPr/>
          <p:nvPr/>
        </p:nvSpPr>
        <p:spPr>
          <a:xfrm>
            <a:off x="5007864" y="5303520"/>
            <a:ext cx="2051304" cy="1417320"/>
          </a:xfrm>
          <a:prstGeom prst="roundRect">
            <a:avLst>
              <a:gd name="adj" fmla="val 3871"/>
            </a:avLst>
          </a:prstGeom>
          <a:solidFill>
            <a:srgbClr val="FFFFFF"/>
          </a:solidFill>
          <a:ln w="9525">
            <a:solidFill>
              <a:srgbClr val="E4DDCB"/>
            </a:solidFill>
            <a:prstDash val="solid"/>
          </a:ln>
        </p:spPr>
      </p:sp>
      <p:sp>
        <p:nvSpPr>
          <p:cNvPr id="30" name="Shape 22"/>
          <p:cNvSpPr/>
          <p:nvPr/>
        </p:nvSpPr>
        <p:spPr>
          <a:xfrm>
            <a:off x="5768340" y="5495544"/>
            <a:ext cx="530352" cy="530352"/>
          </a:xfrm>
          <a:prstGeom prst="ellipse">
            <a:avLst/>
          </a:prstGeom>
          <a:solidFill>
            <a:srgbClr val="0F5C42"/>
          </a:solidFill>
          <a:ln/>
        </p:spPr>
      </p:sp>
      <p:pic>
        <p:nvPicPr>
          <p:cNvPr id="31" name="Image 6" descr="/home/claude/assets/icons/masks.png"/>
          <p:cNvPicPr>
            <a:picLocks noChangeAspect="1"/>
          </p:cNvPicPr>
          <p:nvPr/>
        </p:nvPicPr>
        <p:blipFill>
          <a:blip r:embed="rId9"/>
          <a:stretch>
            <a:fillRect/>
          </a:stretch>
        </p:blipFill>
        <p:spPr>
          <a:xfrm>
            <a:off x="5895624" y="5622828"/>
            <a:ext cx="275783" cy="275783"/>
          </a:xfrm>
          <a:prstGeom prst="rect">
            <a:avLst/>
          </a:prstGeom>
        </p:spPr>
      </p:pic>
      <p:sp>
        <p:nvSpPr>
          <p:cNvPr id="32" name="Text 23"/>
          <p:cNvSpPr/>
          <p:nvPr/>
        </p:nvSpPr>
        <p:spPr>
          <a:xfrm>
            <a:off x="5099304" y="60899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الترفيه</a:t>
            </a:r>
            <a:endParaRPr lang="ar-SA" sz="1080" dirty="0"/>
          </a:p>
        </p:txBody>
      </p:sp>
      <p:sp>
        <p:nvSpPr>
          <p:cNvPr id="33" name="Shape 24"/>
          <p:cNvSpPr/>
          <p:nvPr/>
        </p:nvSpPr>
        <p:spPr>
          <a:xfrm>
            <a:off x="2755392" y="5303520"/>
            <a:ext cx="2051304" cy="1417320"/>
          </a:xfrm>
          <a:prstGeom prst="roundRect">
            <a:avLst>
              <a:gd name="adj" fmla="val 3871"/>
            </a:avLst>
          </a:prstGeom>
          <a:solidFill>
            <a:srgbClr val="FFFFFF"/>
          </a:solidFill>
          <a:ln w="9525">
            <a:solidFill>
              <a:srgbClr val="E4DDCB"/>
            </a:solidFill>
            <a:prstDash val="solid"/>
          </a:ln>
        </p:spPr>
      </p:sp>
      <p:sp>
        <p:nvSpPr>
          <p:cNvPr id="34" name="Shape 25"/>
          <p:cNvSpPr/>
          <p:nvPr/>
        </p:nvSpPr>
        <p:spPr>
          <a:xfrm>
            <a:off x="3515868" y="5495544"/>
            <a:ext cx="530352" cy="530352"/>
          </a:xfrm>
          <a:prstGeom prst="ellipse">
            <a:avLst/>
          </a:prstGeom>
          <a:solidFill>
            <a:srgbClr val="0F5C42"/>
          </a:solidFill>
          <a:ln/>
        </p:spPr>
      </p:sp>
      <p:pic>
        <p:nvPicPr>
          <p:cNvPr id="35" name="Image 7" descr="/home/claude/assets/icons/heartbeat.png"/>
          <p:cNvPicPr>
            <a:picLocks noChangeAspect="1"/>
          </p:cNvPicPr>
          <p:nvPr/>
        </p:nvPicPr>
        <p:blipFill>
          <a:blip r:embed="rId10"/>
          <a:stretch>
            <a:fillRect/>
          </a:stretch>
        </p:blipFill>
        <p:spPr>
          <a:xfrm>
            <a:off x="3643152" y="5622828"/>
            <a:ext cx="275783" cy="275783"/>
          </a:xfrm>
          <a:prstGeom prst="rect">
            <a:avLst/>
          </a:prstGeom>
        </p:spPr>
      </p:pic>
      <p:sp>
        <p:nvSpPr>
          <p:cNvPr id="36" name="Text 26"/>
          <p:cNvSpPr/>
          <p:nvPr/>
        </p:nvSpPr>
        <p:spPr>
          <a:xfrm>
            <a:off x="2846832" y="60899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الضيافة الصحية</a:t>
            </a:r>
            <a:endParaRPr lang="ar-SA" sz="1080" dirty="0"/>
          </a:p>
        </p:txBody>
      </p:sp>
      <p:sp>
        <p:nvSpPr>
          <p:cNvPr id="37" name="Shape 27"/>
          <p:cNvSpPr/>
          <p:nvPr/>
        </p:nvSpPr>
        <p:spPr>
          <a:xfrm>
            <a:off x="502920" y="5303520"/>
            <a:ext cx="2051304" cy="1417320"/>
          </a:xfrm>
          <a:prstGeom prst="roundRect">
            <a:avLst>
              <a:gd name="adj" fmla="val 3871"/>
            </a:avLst>
          </a:prstGeom>
          <a:solidFill>
            <a:srgbClr val="FFFFFF"/>
          </a:solidFill>
          <a:ln w="9525">
            <a:solidFill>
              <a:srgbClr val="E4DDCB"/>
            </a:solidFill>
            <a:prstDash val="solid"/>
          </a:ln>
        </p:spPr>
      </p:sp>
      <p:sp>
        <p:nvSpPr>
          <p:cNvPr id="38" name="Shape 28"/>
          <p:cNvSpPr/>
          <p:nvPr/>
        </p:nvSpPr>
        <p:spPr>
          <a:xfrm>
            <a:off x="1263396" y="5495544"/>
            <a:ext cx="530352" cy="530352"/>
          </a:xfrm>
          <a:prstGeom prst="ellipse">
            <a:avLst/>
          </a:prstGeom>
          <a:solidFill>
            <a:srgbClr val="0F5C42"/>
          </a:solidFill>
          <a:ln/>
        </p:spPr>
      </p:sp>
      <p:pic>
        <p:nvPicPr>
          <p:cNvPr id="39" name="Image 8" descr="/home/claude/assets/icons/bag.png"/>
          <p:cNvPicPr>
            <a:picLocks noChangeAspect="1"/>
          </p:cNvPicPr>
          <p:nvPr/>
        </p:nvPicPr>
        <p:blipFill>
          <a:blip r:embed="rId11"/>
          <a:stretch>
            <a:fillRect/>
          </a:stretch>
        </p:blipFill>
        <p:spPr>
          <a:xfrm>
            <a:off x="1390680" y="5622828"/>
            <a:ext cx="275783" cy="275783"/>
          </a:xfrm>
          <a:prstGeom prst="rect">
            <a:avLst/>
          </a:prstGeom>
        </p:spPr>
      </p:pic>
      <p:sp>
        <p:nvSpPr>
          <p:cNvPr id="40" name="Text 29"/>
          <p:cNvSpPr/>
          <p:nvPr/>
        </p:nvSpPr>
        <p:spPr>
          <a:xfrm>
            <a:off x="594360" y="60899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التجزئة والأغذية والمشروبات</a:t>
            </a:r>
            <a:endParaRPr lang="ar-SA" sz="1080" dirty="0"/>
          </a:p>
        </p:txBody>
      </p:sp>
      <p:sp>
        <p:nvSpPr>
          <p:cNvPr id="41" name="Shape 30"/>
          <p:cNvSpPr/>
          <p:nvPr/>
        </p:nvSpPr>
        <p:spPr>
          <a:xfrm>
            <a:off x="5007864" y="6903720"/>
            <a:ext cx="2051304" cy="1417320"/>
          </a:xfrm>
          <a:prstGeom prst="roundRect">
            <a:avLst>
              <a:gd name="adj" fmla="val 3871"/>
            </a:avLst>
          </a:prstGeom>
          <a:solidFill>
            <a:srgbClr val="FFFFFF"/>
          </a:solidFill>
          <a:ln w="9525">
            <a:solidFill>
              <a:srgbClr val="E4DDCB"/>
            </a:solidFill>
            <a:prstDash val="solid"/>
          </a:ln>
        </p:spPr>
      </p:sp>
      <p:sp>
        <p:nvSpPr>
          <p:cNvPr id="42" name="Shape 31"/>
          <p:cNvSpPr/>
          <p:nvPr/>
        </p:nvSpPr>
        <p:spPr>
          <a:xfrm>
            <a:off x="5768340" y="7095744"/>
            <a:ext cx="530352" cy="530352"/>
          </a:xfrm>
          <a:prstGeom prst="ellipse">
            <a:avLst/>
          </a:prstGeom>
          <a:solidFill>
            <a:srgbClr val="0F5C42"/>
          </a:solidFill>
          <a:ln/>
        </p:spPr>
      </p:sp>
      <p:pic>
        <p:nvPicPr>
          <p:cNvPr id="43" name="Image 9" descr="/home/claude/assets/icons/futbol.png"/>
          <p:cNvPicPr>
            <a:picLocks noChangeAspect="1"/>
          </p:cNvPicPr>
          <p:nvPr/>
        </p:nvPicPr>
        <p:blipFill>
          <a:blip r:embed="rId12"/>
          <a:stretch>
            <a:fillRect/>
          </a:stretch>
        </p:blipFill>
        <p:spPr>
          <a:xfrm>
            <a:off x="5895624" y="7223028"/>
            <a:ext cx="275783" cy="275783"/>
          </a:xfrm>
          <a:prstGeom prst="rect">
            <a:avLst/>
          </a:prstGeom>
        </p:spPr>
      </p:pic>
      <p:sp>
        <p:nvSpPr>
          <p:cNvPr id="44" name="Text 32"/>
          <p:cNvSpPr/>
          <p:nvPr/>
        </p:nvSpPr>
        <p:spPr>
          <a:xfrm>
            <a:off x="5099304" y="76901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الرياضة والفعاليات</a:t>
            </a:r>
            <a:endParaRPr lang="ar-SA" sz="1080" dirty="0"/>
          </a:p>
        </p:txBody>
      </p:sp>
      <p:sp>
        <p:nvSpPr>
          <p:cNvPr id="45" name="Shape 33"/>
          <p:cNvSpPr/>
          <p:nvPr/>
        </p:nvSpPr>
        <p:spPr>
          <a:xfrm>
            <a:off x="2755392" y="6903720"/>
            <a:ext cx="2051304" cy="1417320"/>
          </a:xfrm>
          <a:prstGeom prst="roundRect">
            <a:avLst>
              <a:gd name="adj" fmla="val 3871"/>
            </a:avLst>
          </a:prstGeom>
          <a:solidFill>
            <a:srgbClr val="FFFFFF"/>
          </a:solidFill>
          <a:ln w="9525">
            <a:solidFill>
              <a:srgbClr val="E4DDCB"/>
            </a:solidFill>
            <a:prstDash val="solid"/>
          </a:ln>
        </p:spPr>
      </p:sp>
      <p:sp>
        <p:nvSpPr>
          <p:cNvPr id="46" name="Shape 34"/>
          <p:cNvSpPr/>
          <p:nvPr/>
        </p:nvSpPr>
        <p:spPr>
          <a:xfrm>
            <a:off x="3515868" y="7095744"/>
            <a:ext cx="530352" cy="530352"/>
          </a:xfrm>
          <a:prstGeom prst="ellipse">
            <a:avLst/>
          </a:prstGeom>
          <a:solidFill>
            <a:srgbClr val="0F5C42"/>
          </a:solidFill>
          <a:ln/>
        </p:spPr>
      </p:sp>
      <p:pic>
        <p:nvPicPr>
          <p:cNvPr id="47" name="Image 10" descr="/home/claude/assets/icons/chartbar.png"/>
          <p:cNvPicPr>
            <a:picLocks noChangeAspect="1"/>
          </p:cNvPicPr>
          <p:nvPr/>
        </p:nvPicPr>
        <p:blipFill>
          <a:blip r:embed="rId13"/>
          <a:stretch>
            <a:fillRect/>
          </a:stretch>
        </p:blipFill>
        <p:spPr>
          <a:xfrm>
            <a:off x="3643152" y="7223028"/>
            <a:ext cx="275783" cy="275783"/>
          </a:xfrm>
          <a:prstGeom prst="rect">
            <a:avLst/>
          </a:prstGeom>
        </p:spPr>
      </p:pic>
      <p:sp>
        <p:nvSpPr>
          <p:cNvPr id="48" name="Text 35"/>
          <p:cNvSpPr/>
          <p:nvPr/>
        </p:nvSpPr>
        <p:spPr>
          <a:xfrm>
            <a:off x="2846832" y="76901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الاستثمار والملكية الخاصة</a:t>
            </a:r>
            <a:endParaRPr lang="ar-SA" sz="1080" dirty="0"/>
          </a:p>
        </p:txBody>
      </p:sp>
      <p:sp>
        <p:nvSpPr>
          <p:cNvPr id="49" name="Shape 36"/>
          <p:cNvSpPr/>
          <p:nvPr/>
        </p:nvSpPr>
        <p:spPr>
          <a:xfrm>
            <a:off x="502920" y="6903720"/>
            <a:ext cx="2051304" cy="1417320"/>
          </a:xfrm>
          <a:prstGeom prst="roundRect">
            <a:avLst>
              <a:gd name="adj" fmla="val 3871"/>
            </a:avLst>
          </a:prstGeom>
          <a:solidFill>
            <a:srgbClr val="FFFFFF"/>
          </a:solidFill>
          <a:ln w="9525">
            <a:solidFill>
              <a:srgbClr val="E4DDCB"/>
            </a:solidFill>
            <a:prstDash val="solid"/>
          </a:ln>
        </p:spPr>
      </p:sp>
      <p:sp>
        <p:nvSpPr>
          <p:cNvPr id="50" name="Shape 37"/>
          <p:cNvSpPr/>
          <p:nvPr/>
        </p:nvSpPr>
        <p:spPr>
          <a:xfrm>
            <a:off x="1263396" y="7095744"/>
            <a:ext cx="530352" cy="530352"/>
          </a:xfrm>
          <a:prstGeom prst="ellipse">
            <a:avLst/>
          </a:prstGeom>
          <a:solidFill>
            <a:srgbClr val="0F5C42"/>
          </a:solidFill>
          <a:ln/>
        </p:spPr>
      </p:sp>
      <p:pic>
        <p:nvPicPr>
          <p:cNvPr id="51" name="Image 11" descr="/home/claude/assets/icons/users.png"/>
          <p:cNvPicPr>
            <a:picLocks noChangeAspect="1"/>
          </p:cNvPicPr>
          <p:nvPr/>
        </p:nvPicPr>
        <p:blipFill>
          <a:blip r:embed="rId14"/>
          <a:stretch>
            <a:fillRect/>
          </a:stretch>
        </p:blipFill>
        <p:spPr>
          <a:xfrm>
            <a:off x="1390680" y="7223028"/>
            <a:ext cx="275783" cy="275783"/>
          </a:xfrm>
          <a:prstGeom prst="rect">
            <a:avLst/>
          </a:prstGeom>
        </p:spPr>
      </p:pic>
      <p:sp>
        <p:nvSpPr>
          <p:cNvPr id="52" name="Text 38"/>
          <p:cNvSpPr/>
          <p:nvPr/>
        </p:nvSpPr>
        <p:spPr>
          <a:xfrm>
            <a:off x="594360" y="7690104"/>
            <a:ext cx="1868424" cy="320040"/>
          </a:xfrm>
          <a:prstGeom prst="rect">
            <a:avLst/>
          </a:prstGeom>
          <a:noFill/>
          <a:ln/>
        </p:spPr>
        <p:txBody>
          <a:bodyPr wrap="square" rtlCol="0" anchor="t"/>
          <a:lstStyle/>
          <a:p>
            <a:pPr marL="0" indent="0" algn="ctr" rtl="1">
              <a:lnSpc>
                <a:spcPct val="98000"/>
              </a:lnSpc>
              <a:buNone/>
            </a:pPr>
            <a:r>
              <a:rPr lang="ar-SA" altLang="en-US" sz="1080" b="1" dirty="0">
                <a:solidFill>
                  <a:srgbClr val="0B1B2B"/>
                </a:solidFill>
                <a:latin typeface="Arial" pitchFamily="34" charset="0"/>
                <a:ea typeface="Arial" pitchFamily="34" charset="-122"/>
                <a:cs typeface="Arial" pitchFamily="34" charset="-120"/>
              </a:rPr>
              <a:t>المكاتب العائلية</a:t>
            </a:r>
            <a:endParaRPr lang="ar-SA" sz="1080" dirty="0"/>
          </a:p>
        </p:txBody>
      </p:sp>
      <p:sp>
        <p:nvSpPr>
          <p:cNvPr id="53" name="Shape 39"/>
          <p:cNvSpPr/>
          <p:nvPr/>
        </p:nvSpPr>
        <p:spPr>
          <a:xfrm>
            <a:off x="502920" y="8549640"/>
            <a:ext cx="6556248" cy="594360"/>
          </a:xfrm>
          <a:prstGeom prst="roundRect">
            <a:avLst>
              <a:gd name="adj" fmla="val 7692"/>
            </a:avLst>
          </a:prstGeom>
          <a:solidFill>
            <a:srgbClr val="F3EEE4"/>
          </a:solidFill>
          <a:ln w="9525">
            <a:solidFill>
              <a:srgbClr val="E4DDCB"/>
            </a:solidFill>
            <a:prstDash val="solid"/>
          </a:ln>
        </p:spPr>
      </p:sp>
      <p:sp>
        <p:nvSpPr>
          <p:cNvPr id="54" name="Text 40"/>
          <p:cNvSpPr/>
          <p:nvPr/>
        </p:nvSpPr>
        <p:spPr>
          <a:xfrm>
            <a:off x="731520" y="8604504"/>
            <a:ext cx="6099048" cy="484632"/>
          </a:xfrm>
          <a:prstGeom prst="rect">
            <a:avLst/>
          </a:prstGeom>
          <a:noFill/>
          <a:ln/>
        </p:spPr>
        <p:txBody>
          <a:bodyPr wrap="square" rtlCol="0" anchor="ctr"/>
          <a:lstStyle/>
          <a:p>
            <a:pPr marL="0" indent="0" algn="r" rtl="1">
              <a:lnSpc>
                <a:spcPct val="112700"/>
              </a:lnSpc>
              <a:buNone/>
            </a:pPr>
            <a:r>
              <a:rPr lang="ar-SA" altLang="en-US" sz="1030" b="1" dirty="0">
                <a:solidFill>
                  <a:srgbClr val="0B1B2B"/>
                </a:solidFill>
                <a:latin typeface="Arial" pitchFamily="34" charset="0"/>
                <a:ea typeface="Arial" pitchFamily="34" charset="-122"/>
                <a:cs typeface="Arial" pitchFamily="34" charset="-120"/>
              </a:rPr>
              <a:t>نخدم كل الأحجام: </a:t>
            </a:r>
            <a:r>
              <a:rPr lang="ar-SA" altLang="en-US" sz="1030" dirty="0">
                <a:solidFill>
                  <a:srgbClr val="2B2A27"/>
                </a:solidFill>
                <a:latin typeface="Arial" pitchFamily="34" charset="0"/>
                <a:ea typeface="Arial" pitchFamily="34" charset="-122"/>
                <a:cs typeface="Arial" pitchFamily="34" charset="-120"/>
              </a:rPr>
              <a:t>من منشأة مستقلة صغيرة تخطو خطواتها الأولى، إلى محافظ وطنية ومؤسسات عالمية. بالعناية الدقيقة والتفاني والصرامة الاستراتيجية ذاتها.</a:t>
            </a:r>
            <a:endParaRPr lang="ar-SA" sz="1030" dirty="0"/>
          </a:p>
        </p:txBody>
      </p:sp>
      <p:sp>
        <p:nvSpPr>
          <p:cNvPr id="55" name="Shape 41"/>
          <p:cNvSpPr/>
          <p:nvPr/>
        </p:nvSpPr>
        <p:spPr>
          <a:xfrm>
            <a:off x="502920" y="10186416"/>
            <a:ext cx="6556248" cy="0"/>
          </a:xfrm>
          <a:prstGeom prst="line">
            <a:avLst/>
          </a:prstGeom>
          <a:noFill/>
          <a:ln w="9525">
            <a:solidFill>
              <a:srgbClr val="E4DDCB"/>
            </a:solidFill>
            <a:prstDash val="solid"/>
          </a:ln>
        </p:spPr>
      </p:sp>
      <p:sp>
        <p:nvSpPr>
          <p:cNvPr id="56" name="Text 42"/>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57" name="Text 43"/>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10</a:t>
            </a:r>
            <a:endParaRPr lang="ar-SA" sz="88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E4C98A"/>
                </a:solidFill>
                <a:latin typeface="Arial" pitchFamily="34" charset="0"/>
                <a:ea typeface="Arial" pitchFamily="34" charset="-122"/>
                <a:cs typeface="Arial" pitchFamily="34" charset="-120"/>
              </a:rPr>
              <a:t>09  •  منهجية خاصة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FFFFFF"/>
                </a:solidFill>
                <a:latin typeface="Arial" pitchFamily="34" charset="0"/>
                <a:ea typeface="Arial" pitchFamily="34" charset="-122"/>
                <a:cs typeface="Arial" pitchFamily="34" charset="-120"/>
              </a:rPr>
              <a:t>إطار Altus Ascent™‎ (مسار الارتقاء)</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B9C3CC"/>
                </a:solidFill>
                <a:latin typeface="Arial" pitchFamily="34" charset="0"/>
                <a:ea typeface="Arial" pitchFamily="34" charset="-122"/>
                <a:cs typeface="Arial" pitchFamily="34" charset="-120"/>
              </a:rPr>
              <a:t>منهج تشغيلي من ست مراحل ينقل كل مهمة من التشخيص الأول إلى أداء مؤسسي مستدام ذاتيًا، بمراحل عبور ومخرجات محددة واعتماد من المالك في كل مرحلة.</a:t>
            </a:r>
            <a:endParaRPr lang="ar-SA" sz="1180" dirty="0"/>
          </a:p>
        </p:txBody>
      </p:sp>
      <p:sp>
        <p:nvSpPr>
          <p:cNvPr id="5" name="Shape 3"/>
          <p:cNvSpPr/>
          <p:nvPr/>
        </p:nvSpPr>
        <p:spPr>
          <a:xfrm>
            <a:off x="6601968" y="2167128"/>
            <a:ext cx="457200" cy="457200"/>
          </a:xfrm>
          <a:prstGeom prst="ellipse">
            <a:avLst/>
          </a:prstGeom>
          <a:solidFill>
            <a:srgbClr val="0F5C42"/>
          </a:solidFill>
          <a:ln/>
        </p:spPr>
      </p:sp>
      <p:sp>
        <p:nvSpPr>
          <p:cNvPr id="6" name="Text 4"/>
          <p:cNvSpPr/>
          <p:nvPr/>
        </p:nvSpPr>
        <p:spPr>
          <a:xfrm>
            <a:off x="6601968" y="2167128"/>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Shape 5"/>
          <p:cNvSpPr/>
          <p:nvPr/>
        </p:nvSpPr>
        <p:spPr>
          <a:xfrm>
            <a:off x="6830568" y="2624328"/>
            <a:ext cx="0" cy="786384"/>
          </a:xfrm>
          <a:prstGeom prst="line">
            <a:avLst/>
          </a:prstGeom>
          <a:noFill/>
          <a:ln w="12700">
            <a:solidFill>
              <a:srgbClr val="C9A15A"/>
            </a:solidFill>
            <a:prstDash val="dash"/>
          </a:ln>
        </p:spPr>
      </p:sp>
      <p:sp>
        <p:nvSpPr>
          <p:cNvPr id="8" name="Shape 6"/>
          <p:cNvSpPr/>
          <p:nvPr/>
        </p:nvSpPr>
        <p:spPr>
          <a:xfrm>
            <a:off x="502920" y="2148840"/>
            <a:ext cx="5916168" cy="1042416"/>
          </a:xfrm>
          <a:prstGeom prst="roundRect">
            <a:avLst>
              <a:gd name="adj" fmla="val 4386"/>
            </a:avLst>
          </a:prstGeom>
          <a:solidFill>
            <a:srgbClr val="13273A"/>
          </a:solidFill>
          <a:ln/>
        </p:spPr>
      </p:sp>
      <p:sp>
        <p:nvSpPr>
          <p:cNvPr id="9" name="Text 7"/>
          <p:cNvSpPr/>
          <p:nvPr/>
        </p:nvSpPr>
        <p:spPr>
          <a:xfrm>
            <a:off x="731520" y="2240280"/>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الاستكشاف</a:t>
            </a:r>
            <a:endParaRPr lang="ar-SA" sz="1240" dirty="0"/>
          </a:p>
        </p:txBody>
      </p:sp>
      <p:sp>
        <p:nvSpPr>
          <p:cNvPr id="10" name="Text 8"/>
          <p:cNvSpPr/>
          <p:nvPr/>
        </p:nvSpPr>
        <p:spPr>
          <a:xfrm>
            <a:off x="777240" y="2514600"/>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تشخيص معمّق للأصل والسوق والمنظمة. وتُرسي غرف البيانات والتدقيقات الميدانية ومقابلات أصحاب المصلحة والمقارنات المرجعية التنافسية خط الأساس الواقعي.</a:t>
            </a:r>
            <a:endParaRPr lang="ar-SA" sz="970" dirty="0"/>
          </a:p>
        </p:txBody>
      </p:sp>
      <p:sp>
        <p:nvSpPr>
          <p:cNvPr id="11" name="Shape 9"/>
          <p:cNvSpPr/>
          <p:nvPr/>
        </p:nvSpPr>
        <p:spPr>
          <a:xfrm>
            <a:off x="6601968" y="3337560"/>
            <a:ext cx="457200" cy="457200"/>
          </a:xfrm>
          <a:prstGeom prst="ellipse">
            <a:avLst/>
          </a:prstGeom>
          <a:solidFill>
            <a:srgbClr val="C1501D"/>
          </a:solidFill>
          <a:ln/>
        </p:spPr>
      </p:sp>
      <p:sp>
        <p:nvSpPr>
          <p:cNvPr id="12" name="Text 10"/>
          <p:cNvSpPr/>
          <p:nvPr/>
        </p:nvSpPr>
        <p:spPr>
          <a:xfrm>
            <a:off x="6601968" y="333756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Shape 11"/>
          <p:cNvSpPr/>
          <p:nvPr/>
        </p:nvSpPr>
        <p:spPr>
          <a:xfrm>
            <a:off x="6830568" y="3794760"/>
            <a:ext cx="0" cy="786384"/>
          </a:xfrm>
          <a:prstGeom prst="line">
            <a:avLst/>
          </a:prstGeom>
          <a:noFill/>
          <a:ln w="12700">
            <a:solidFill>
              <a:srgbClr val="C9A15A"/>
            </a:solidFill>
            <a:prstDash val="dash"/>
          </a:ln>
        </p:spPr>
      </p:sp>
      <p:sp>
        <p:nvSpPr>
          <p:cNvPr id="14" name="Shape 12"/>
          <p:cNvSpPr/>
          <p:nvPr/>
        </p:nvSpPr>
        <p:spPr>
          <a:xfrm>
            <a:off x="502920" y="3319272"/>
            <a:ext cx="5916168" cy="1042416"/>
          </a:xfrm>
          <a:prstGeom prst="roundRect">
            <a:avLst>
              <a:gd name="adj" fmla="val 4386"/>
            </a:avLst>
          </a:prstGeom>
          <a:solidFill>
            <a:srgbClr val="13273A"/>
          </a:solidFill>
          <a:ln/>
        </p:spPr>
      </p:sp>
      <p:sp>
        <p:nvSpPr>
          <p:cNvPr id="15" name="Text 13"/>
          <p:cNvSpPr/>
          <p:nvPr/>
        </p:nvSpPr>
        <p:spPr>
          <a:xfrm>
            <a:off x="731520" y="3410712"/>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التقييم</a:t>
            </a:r>
            <a:endParaRPr lang="ar-SA" sz="1240" dirty="0"/>
          </a:p>
        </p:txBody>
      </p:sp>
      <p:sp>
        <p:nvSpPr>
          <p:cNvPr id="16" name="Text 14"/>
          <p:cNvSpPr/>
          <p:nvPr/>
        </p:nvSpPr>
        <p:spPr>
          <a:xfrm>
            <a:off x="777240" y="3685032"/>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تحليل الفجوات قياسًا بالمعايير العالمية وأهداف المستثمرين. وتحوّل النمذجة المالية ورسم المخاطر وتقدير حجم الفرص النتائج إلى مبرّر كمّي للتغيير.</a:t>
            </a:r>
            <a:endParaRPr lang="ar-SA" sz="970" dirty="0"/>
          </a:p>
        </p:txBody>
      </p:sp>
      <p:sp>
        <p:nvSpPr>
          <p:cNvPr id="17" name="Shape 15"/>
          <p:cNvSpPr/>
          <p:nvPr/>
        </p:nvSpPr>
        <p:spPr>
          <a:xfrm>
            <a:off x="6601968" y="4507992"/>
            <a:ext cx="457200" cy="457200"/>
          </a:xfrm>
          <a:prstGeom prst="ellipse">
            <a:avLst/>
          </a:prstGeom>
          <a:solidFill>
            <a:srgbClr val="0F5C42"/>
          </a:solidFill>
          <a:ln/>
        </p:spPr>
      </p:sp>
      <p:sp>
        <p:nvSpPr>
          <p:cNvPr id="18" name="Text 16"/>
          <p:cNvSpPr/>
          <p:nvPr/>
        </p:nvSpPr>
        <p:spPr>
          <a:xfrm>
            <a:off x="6601968" y="4507992"/>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Shape 17"/>
          <p:cNvSpPr/>
          <p:nvPr/>
        </p:nvSpPr>
        <p:spPr>
          <a:xfrm>
            <a:off x="6830568" y="4965192"/>
            <a:ext cx="0" cy="786384"/>
          </a:xfrm>
          <a:prstGeom prst="line">
            <a:avLst/>
          </a:prstGeom>
          <a:noFill/>
          <a:ln w="12700">
            <a:solidFill>
              <a:srgbClr val="C9A15A"/>
            </a:solidFill>
            <a:prstDash val="dash"/>
          </a:ln>
        </p:spPr>
      </p:sp>
      <p:sp>
        <p:nvSpPr>
          <p:cNvPr id="20" name="Shape 18"/>
          <p:cNvSpPr/>
          <p:nvPr/>
        </p:nvSpPr>
        <p:spPr>
          <a:xfrm>
            <a:off x="502920" y="4489704"/>
            <a:ext cx="5916168" cy="1042416"/>
          </a:xfrm>
          <a:prstGeom prst="roundRect">
            <a:avLst>
              <a:gd name="adj" fmla="val 4386"/>
            </a:avLst>
          </a:prstGeom>
          <a:solidFill>
            <a:srgbClr val="13273A"/>
          </a:solidFill>
          <a:ln/>
        </p:spPr>
      </p:sp>
      <p:sp>
        <p:nvSpPr>
          <p:cNvPr id="21" name="Text 19"/>
          <p:cNvSpPr/>
          <p:nvPr/>
        </p:nvSpPr>
        <p:spPr>
          <a:xfrm>
            <a:off x="731520" y="4581144"/>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التصميم</a:t>
            </a:r>
            <a:endParaRPr lang="ar-SA" sz="1240" dirty="0"/>
          </a:p>
        </p:txBody>
      </p:sp>
      <p:sp>
        <p:nvSpPr>
          <p:cNvPr id="22" name="Text 20"/>
          <p:cNvSpPr/>
          <p:nvPr/>
        </p:nvSpPr>
        <p:spPr>
          <a:xfrm>
            <a:off x="777240" y="4855464"/>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المخطط الاستراتيجي: النموذج التشغيلي، والبنية التجارية، والهيكل التنظيمي، وخارطة الطريق التقنية، لكلٍّ منها مسؤولون ومحطات إنجاز ومستهدفات قابلة للقياس.</a:t>
            </a:r>
            <a:endParaRPr lang="ar-SA" sz="970" dirty="0"/>
          </a:p>
        </p:txBody>
      </p:sp>
      <p:sp>
        <p:nvSpPr>
          <p:cNvPr id="23" name="Shape 21"/>
          <p:cNvSpPr/>
          <p:nvPr/>
        </p:nvSpPr>
        <p:spPr>
          <a:xfrm>
            <a:off x="6601968" y="5678424"/>
            <a:ext cx="457200" cy="457200"/>
          </a:xfrm>
          <a:prstGeom prst="ellipse">
            <a:avLst/>
          </a:prstGeom>
          <a:solidFill>
            <a:srgbClr val="C1501D"/>
          </a:solidFill>
          <a:ln/>
        </p:spPr>
      </p:sp>
      <p:sp>
        <p:nvSpPr>
          <p:cNvPr id="24" name="Text 22"/>
          <p:cNvSpPr/>
          <p:nvPr/>
        </p:nvSpPr>
        <p:spPr>
          <a:xfrm>
            <a:off x="6601968" y="5678424"/>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Shape 23"/>
          <p:cNvSpPr/>
          <p:nvPr/>
        </p:nvSpPr>
        <p:spPr>
          <a:xfrm>
            <a:off x="6830568" y="6135624"/>
            <a:ext cx="0" cy="786384"/>
          </a:xfrm>
          <a:prstGeom prst="line">
            <a:avLst/>
          </a:prstGeom>
          <a:noFill/>
          <a:ln w="12700">
            <a:solidFill>
              <a:srgbClr val="C9A15A"/>
            </a:solidFill>
            <a:prstDash val="dash"/>
          </a:ln>
        </p:spPr>
      </p:sp>
      <p:sp>
        <p:nvSpPr>
          <p:cNvPr id="26" name="Shape 24"/>
          <p:cNvSpPr/>
          <p:nvPr/>
        </p:nvSpPr>
        <p:spPr>
          <a:xfrm>
            <a:off x="502920" y="5660136"/>
            <a:ext cx="5916168" cy="1042416"/>
          </a:xfrm>
          <a:prstGeom prst="roundRect">
            <a:avLst>
              <a:gd name="adj" fmla="val 4386"/>
            </a:avLst>
          </a:prstGeom>
          <a:solidFill>
            <a:srgbClr val="13273A"/>
          </a:solidFill>
          <a:ln/>
        </p:spPr>
      </p:sp>
      <p:sp>
        <p:nvSpPr>
          <p:cNvPr id="27" name="Text 25"/>
          <p:cNvSpPr/>
          <p:nvPr/>
        </p:nvSpPr>
        <p:spPr>
          <a:xfrm>
            <a:off x="731520" y="5751576"/>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التحويل</a:t>
            </a:r>
            <a:endParaRPr lang="ar-SA" sz="1240" dirty="0"/>
          </a:p>
        </p:txBody>
      </p:sp>
      <p:sp>
        <p:nvSpPr>
          <p:cNvPr id="28" name="Text 26"/>
          <p:cNvSpPr/>
          <p:nvPr/>
        </p:nvSpPr>
        <p:spPr>
          <a:xfrm>
            <a:off x="777240" y="6025896"/>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تنفيذ ميداني كتفًا بكتف. نعمل ضمن فرق العميل للتطبيق والتدريب وتصحيح المسار، لا للمراقبة من بعيد.</a:t>
            </a:r>
            <a:endParaRPr lang="ar-SA" sz="970" dirty="0"/>
          </a:p>
        </p:txBody>
      </p:sp>
      <p:sp>
        <p:nvSpPr>
          <p:cNvPr id="29" name="Shape 27"/>
          <p:cNvSpPr/>
          <p:nvPr/>
        </p:nvSpPr>
        <p:spPr>
          <a:xfrm>
            <a:off x="6601968" y="6848856"/>
            <a:ext cx="457200" cy="457200"/>
          </a:xfrm>
          <a:prstGeom prst="ellipse">
            <a:avLst/>
          </a:prstGeom>
          <a:solidFill>
            <a:srgbClr val="0F5C42"/>
          </a:solidFill>
          <a:ln/>
        </p:spPr>
      </p:sp>
      <p:sp>
        <p:nvSpPr>
          <p:cNvPr id="30" name="Text 28"/>
          <p:cNvSpPr/>
          <p:nvPr/>
        </p:nvSpPr>
        <p:spPr>
          <a:xfrm>
            <a:off x="6601968" y="6848856"/>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1" name="Shape 29"/>
          <p:cNvSpPr/>
          <p:nvPr/>
        </p:nvSpPr>
        <p:spPr>
          <a:xfrm>
            <a:off x="6830568" y="7306056"/>
            <a:ext cx="0" cy="786384"/>
          </a:xfrm>
          <a:prstGeom prst="line">
            <a:avLst/>
          </a:prstGeom>
          <a:noFill/>
          <a:ln w="12700">
            <a:solidFill>
              <a:srgbClr val="C9A15A"/>
            </a:solidFill>
            <a:prstDash val="dash"/>
          </a:ln>
        </p:spPr>
      </p:sp>
      <p:sp>
        <p:nvSpPr>
          <p:cNvPr id="32" name="Shape 30"/>
          <p:cNvSpPr/>
          <p:nvPr/>
        </p:nvSpPr>
        <p:spPr>
          <a:xfrm>
            <a:off x="502920" y="6830568"/>
            <a:ext cx="5916168" cy="1042416"/>
          </a:xfrm>
          <a:prstGeom prst="roundRect">
            <a:avLst>
              <a:gd name="adj" fmla="val 4386"/>
            </a:avLst>
          </a:prstGeom>
          <a:solidFill>
            <a:srgbClr val="13273A"/>
          </a:solidFill>
          <a:ln/>
        </p:spPr>
      </p:sp>
      <p:sp>
        <p:nvSpPr>
          <p:cNvPr id="33" name="Text 31"/>
          <p:cNvSpPr/>
          <p:nvPr/>
        </p:nvSpPr>
        <p:spPr>
          <a:xfrm>
            <a:off x="731520" y="6922008"/>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التحسين</a:t>
            </a:r>
            <a:endParaRPr lang="ar-SA" sz="1240" dirty="0"/>
          </a:p>
        </p:txBody>
      </p:sp>
      <p:sp>
        <p:nvSpPr>
          <p:cNvPr id="34" name="Text 32"/>
          <p:cNvSpPr/>
          <p:nvPr/>
        </p:nvSpPr>
        <p:spPr>
          <a:xfrm>
            <a:off x="777240" y="7196328"/>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أدوات قياس الأداء ولوحات المتابعة والتحسين المتكرر. وتُضبط روافع التسعير والتكلفة والجودة وتجربة النزيل وفق بيانات مباشرة.</a:t>
            </a:r>
            <a:endParaRPr lang="ar-SA" sz="970" dirty="0"/>
          </a:p>
        </p:txBody>
      </p:sp>
      <p:sp>
        <p:nvSpPr>
          <p:cNvPr id="35" name="Shape 33"/>
          <p:cNvSpPr/>
          <p:nvPr/>
        </p:nvSpPr>
        <p:spPr>
          <a:xfrm>
            <a:off x="6601968" y="8019288"/>
            <a:ext cx="457200" cy="457200"/>
          </a:xfrm>
          <a:prstGeom prst="ellipse">
            <a:avLst/>
          </a:prstGeom>
          <a:solidFill>
            <a:srgbClr val="C1501D"/>
          </a:solidFill>
          <a:ln/>
        </p:spPr>
      </p:sp>
      <p:sp>
        <p:nvSpPr>
          <p:cNvPr id="36" name="Text 34"/>
          <p:cNvSpPr/>
          <p:nvPr/>
        </p:nvSpPr>
        <p:spPr>
          <a:xfrm>
            <a:off x="6601968" y="8019288"/>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7" name="Shape 35"/>
          <p:cNvSpPr/>
          <p:nvPr/>
        </p:nvSpPr>
        <p:spPr>
          <a:xfrm>
            <a:off x="502920" y="8001000"/>
            <a:ext cx="5916168" cy="1042416"/>
          </a:xfrm>
          <a:prstGeom prst="roundRect">
            <a:avLst>
              <a:gd name="adj" fmla="val 4386"/>
            </a:avLst>
          </a:prstGeom>
          <a:solidFill>
            <a:srgbClr val="13273A"/>
          </a:solidFill>
          <a:ln/>
        </p:spPr>
      </p:sp>
      <p:sp>
        <p:nvSpPr>
          <p:cNvPr id="38" name="Text 36"/>
          <p:cNvSpPr/>
          <p:nvPr/>
        </p:nvSpPr>
        <p:spPr>
          <a:xfrm>
            <a:off x="731520" y="8092440"/>
            <a:ext cx="5458968" cy="237744"/>
          </a:xfrm>
          <a:prstGeom prst="rect">
            <a:avLst/>
          </a:prstGeom>
          <a:noFill/>
          <a:ln/>
        </p:spPr>
        <p:txBody>
          <a:bodyPr wrap="square" rtlCol="0" anchor="ctr"/>
          <a:lstStyle/>
          <a:p>
            <a:pPr marL="0" indent="0" algn="r" rtl="1">
              <a:lnSpc>
                <a:spcPct val="98000"/>
              </a:lnSpc>
              <a:buNone/>
            </a:pPr>
            <a:r>
              <a:rPr lang="ar-SA" altLang="en-US" sz="1240" b="1" dirty="0">
                <a:solidFill>
                  <a:srgbClr val="E4C98A"/>
                </a:solidFill>
                <a:latin typeface="Arial" pitchFamily="34" charset="0"/>
                <a:ea typeface="Arial" pitchFamily="34" charset="-122"/>
                <a:cs typeface="Arial" pitchFamily="34" charset="-120"/>
              </a:rPr>
              <a:t>التوسّع</a:t>
            </a:r>
            <a:endParaRPr lang="ar-SA" sz="1240" dirty="0"/>
          </a:p>
        </p:txBody>
      </p:sp>
      <p:sp>
        <p:nvSpPr>
          <p:cNvPr id="39" name="Text 37"/>
          <p:cNvSpPr/>
          <p:nvPr/>
        </p:nvSpPr>
        <p:spPr>
          <a:xfrm>
            <a:off x="777240" y="8366760"/>
            <a:ext cx="5413248" cy="667512"/>
          </a:xfrm>
          <a:prstGeom prst="rect">
            <a:avLst/>
          </a:prstGeom>
          <a:noFill/>
          <a:ln/>
        </p:spPr>
        <p:txBody>
          <a:bodyPr wrap="square" rtlCol="0" anchor="t"/>
          <a:lstStyle/>
          <a:p>
            <a:pPr marL="0" indent="0" algn="r" rtl="1">
              <a:lnSpc>
                <a:spcPct val="113680"/>
              </a:lnSpc>
              <a:buNone/>
            </a:pPr>
            <a:r>
              <a:rPr lang="ar-SA" altLang="en-US" sz="970" dirty="0">
                <a:solidFill>
                  <a:srgbClr val="B9C3CC"/>
                </a:solidFill>
                <a:latin typeface="Arial" pitchFamily="34" charset="0"/>
                <a:ea typeface="Arial" pitchFamily="34" charset="-122"/>
                <a:cs typeface="Arial" pitchFamily="34" charset="-120"/>
              </a:rPr>
              <a:t>المأسسة والنمو: أدلة عمل، ونقل القدرات، وتسليم الحوكمة، ليتراكم الزخم طويلًا بعد انتهاء التعاقد.</a:t>
            </a:r>
            <a:endParaRPr lang="ar-SA" sz="970" dirty="0"/>
          </a:p>
        </p:txBody>
      </p:sp>
      <p:sp>
        <p:nvSpPr>
          <p:cNvPr id="40" name="Text 38"/>
          <p:cNvSpPr/>
          <p:nvPr/>
        </p:nvSpPr>
        <p:spPr>
          <a:xfrm>
            <a:off x="502920" y="9217152"/>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E4C98A"/>
                </a:solidFill>
                <a:latin typeface="Arial" pitchFamily="34" charset="0"/>
                <a:ea typeface="Arial" pitchFamily="34" charset="-122"/>
                <a:cs typeface="Arial" pitchFamily="34" charset="-120"/>
              </a:rPr>
              <a:t>دقة في التخطيط، وانضباط في التنفيذ.</a:t>
            </a:r>
            <a:endParaRPr lang="ar-SA" sz="1340" dirty="0"/>
          </a:p>
        </p:txBody>
      </p:sp>
      <p:sp>
        <p:nvSpPr>
          <p:cNvPr id="41" name="Shape 39"/>
          <p:cNvSpPr/>
          <p:nvPr/>
        </p:nvSpPr>
        <p:spPr>
          <a:xfrm>
            <a:off x="502920" y="10186416"/>
            <a:ext cx="6556248" cy="0"/>
          </a:xfrm>
          <a:prstGeom prst="line">
            <a:avLst/>
          </a:prstGeom>
          <a:noFill/>
          <a:ln w="9525">
            <a:solidFill>
              <a:srgbClr val="2A3B4C"/>
            </a:solidFill>
            <a:prstDash val="solid"/>
          </a:ln>
        </p:spPr>
      </p:sp>
      <p:sp>
        <p:nvSpPr>
          <p:cNvPr id="42" name="Text 40"/>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B9C3CC"/>
                </a:solidFill>
                <a:latin typeface="Arial" pitchFamily="34" charset="0"/>
                <a:ea typeface="Arial" pitchFamily="34" charset="-122"/>
                <a:cs typeface="Arial" pitchFamily="34" charset="-120"/>
              </a:rPr>
              <a:t>Altus Gulf</a:t>
            </a:r>
            <a:endParaRPr lang="en-US" sz="850" dirty="0"/>
          </a:p>
        </p:txBody>
      </p:sp>
      <p:sp>
        <p:nvSpPr>
          <p:cNvPr id="43" name="Text 41"/>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B9C3CC"/>
                </a:solidFill>
                <a:latin typeface="Arial" pitchFamily="34" charset="0"/>
                <a:ea typeface="Arial" pitchFamily="34" charset="-122"/>
                <a:cs typeface="Arial" pitchFamily="34" charset="-120"/>
              </a:rPr>
              <a:t>الملف التعريفي للشركة  •  11</a:t>
            </a:r>
            <a:endParaRPr lang="ar-SA" sz="88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10  •  نماذج استشارية مبتكرة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الأطر الاستراتيجية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عدستان خاصتان تقرأ بهما Altus Gulf الأصل: تحدّد موقعه على خريطة الأداء، ثم ترسم المسار نحو عوائد متراكمة.</a:t>
            </a:r>
            <a:endParaRPr lang="ar-SA" sz="1180" dirty="0"/>
          </a:p>
        </p:txBody>
      </p:sp>
      <p:sp>
        <p:nvSpPr>
          <p:cNvPr id="5" name="Text 3"/>
          <p:cNvSpPr/>
          <p:nvPr/>
        </p:nvSpPr>
        <p:spPr>
          <a:xfrm>
            <a:off x="502920" y="2103120"/>
            <a:ext cx="6556248" cy="219456"/>
          </a:xfrm>
          <a:prstGeom prst="rect">
            <a:avLst/>
          </a:prstGeom>
          <a:noFill/>
          <a:ln/>
        </p:spPr>
        <p:txBody>
          <a:bodyPr wrap="square" rtlCol="0" anchor="ctr"/>
          <a:lstStyle/>
          <a:p>
            <a:pPr marL="0" indent="0" algn="r" rtl="1">
              <a:lnSpc>
                <a:spcPct val="98000"/>
              </a:lnSpc>
              <a:buNone/>
            </a:pPr>
            <a:r>
              <a:rPr lang="ar-SA" altLang="en-US" sz="1030" b="1" dirty="0">
                <a:solidFill>
                  <a:srgbClr val="C1501D"/>
                </a:solidFill>
                <a:latin typeface="Arial" pitchFamily="34" charset="0"/>
                <a:ea typeface="Arial" pitchFamily="34" charset="-122"/>
                <a:cs typeface="Arial" pitchFamily="34" charset="-120"/>
              </a:rPr>
              <a:t>أ.  The Altus Performance Matrix™‎ (مصفوفة الأداء)</a:t>
            </a:r>
            <a:endParaRPr lang="ar-SA" sz="1030" dirty="0"/>
          </a:p>
        </p:txBody>
      </p:sp>
      <p:sp>
        <p:nvSpPr>
          <p:cNvPr id="6" name="Shape 4"/>
          <p:cNvSpPr/>
          <p:nvPr/>
        </p:nvSpPr>
        <p:spPr>
          <a:xfrm>
            <a:off x="502920" y="2432304"/>
            <a:ext cx="2240280" cy="1234440"/>
          </a:xfrm>
          <a:prstGeom prst="rect">
            <a:avLst/>
          </a:prstGeom>
          <a:solidFill>
            <a:srgbClr val="13273A"/>
          </a:solidFill>
          <a:ln w="19050">
            <a:solidFill>
              <a:srgbClr val="FAF7F0"/>
            </a:solidFill>
            <a:prstDash val="solid"/>
          </a:ln>
        </p:spPr>
      </p:sp>
      <p:sp>
        <p:nvSpPr>
          <p:cNvPr id="7" name="Text 5"/>
          <p:cNvSpPr/>
          <p:nvPr/>
        </p:nvSpPr>
        <p:spPr>
          <a:xfrm>
            <a:off x="612648" y="2596896"/>
            <a:ext cx="2020824" cy="274320"/>
          </a:xfrm>
          <a:prstGeom prst="rect">
            <a:avLst/>
          </a:prstGeom>
          <a:noFill/>
          <a:ln/>
        </p:spPr>
        <p:txBody>
          <a:bodyPr wrap="square" rtlCol="0" anchor="ctr"/>
          <a:lstStyle/>
          <a:p>
            <a:pPr marL="0" indent="0" algn="ctr" rtl="1">
              <a:lnSpc>
                <a:spcPct val="98000"/>
              </a:lnSpc>
              <a:buNone/>
            </a:pPr>
            <a:r>
              <a:rPr lang="ar-SA" altLang="en-US" sz="930" b="1" dirty="0">
                <a:solidFill>
                  <a:srgbClr val="FFFFFF"/>
                </a:solidFill>
                <a:latin typeface="Arial" pitchFamily="34" charset="0"/>
                <a:ea typeface="Arial" pitchFamily="34" charset="-122"/>
                <a:cs typeface="Arial" pitchFamily="34" charset="-120"/>
              </a:rPr>
              <a:t>مشغّل تقليدي</a:t>
            </a:r>
            <a:endParaRPr lang="ar-SA" sz="930" dirty="0"/>
          </a:p>
        </p:txBody>
      </p:sp>
      <p:sp>
        <p:nvSpPr>
          <p:cNvPr id="8" name="Text 6"/>
          <p:cNvSpPr/>
          <p:nvPr/>
        </p:nvSpPr>
        <p:spPr>
          <a:xfrm>
            <a:off x="612648" y="2889504"/>
            <a:ext cx="2020824" cy="548640"/>
          </a:xfrm>
          <a:prstGeom prst="rect">
            <a:avLst/>
          </a:prstGeom>
          <a:noFill/>
          <a:ln/>
        </p:spPr>
        <p:txBody>
          <a:bodyPr wrap="square" rtlCol="0" anchor="ctr"/>
          <a:lstStyle/>
          <a:p>
            <a:pPr marL="0" indent="0" algn="ctr" rtl="1">
              <a:lnSpc>
                <a:spcPct val="112700"/>
              </a:lnSpc>
              <a:buNone/>
            </a:pPr>
            <a:r>
              <a:rPr lang="ar-SA" altLang="en-US" sz="790" dirty="0">
                <a:solidFill>
                  <a:srgbClr val="B9C3CC"/>
                </a:solidFill>
                <a:latin typeface="Arial" pitchFamily="34" charset="0"/>
                <a:ea typeface="Arial" pitchFamily="34" charset="-122"/>
                <a:cs typeface="Arial" pitchFamily="34" charset="-120"/>
              </a:rPr>
              <a:t>عمليات سليمة،</a:t>
            </a:r>
            <a:endParaRPr lang="ar-SA" sz="790" dirty="0"/>
          </a:p>
          <a:p>
            <a:pPr marL="0" indent="0" algn="ctr" rtl="1">
              <a:lnSpc>
                <a:spcPct val="112700"/>
              </a:lnSpc>
              <a:buNone/>
            </a:pPr>
            <a:r>
              <a:rPr lang="ar-SA" altLang="en-US" sz="790" dirty="0">
                <a:solidFill>
                  <a:srgbClr val="B9C3CC"/>
                </a:solidFill>
                <a:latin typeface="Arial" pitchFamily="34" charset="0"/>
                <a:ea typeface="Arial" pitchFamily="34" charset="-122"/>
                <a:cs typeface="Arial" pitchFamily="34" charset="-120"/>
              </a:rPr>
              <a:t>ومحرك تجاري تقليدي</a:t>
            </a:r>
            <a:endParaRPr lang="ar-SA" sz="790" dirty="0"/>
          </a:p>
        </p:txBody>
      </p:sp>
      <p:sp>
        <p:nvSpPr>
          <p:cNvPr id="9" name="Shape 7"/>
          <p:cNvSpPr/>
          <p:nvPr/>
        </p:nvSpPr>
        <p:spPr>
          <a:xfrm>
            <a:off x="2743200" y="2432304"/>
            <a:ext cx="2240280" cy="1234440"/>
          </a:xfrm>
          <a:prstGeom prst="rect">
            <a:avLst/>
          </a:prstGeom>
          <a:solidFill>
            <a:srgbClr val="0F5C42"/>
          </a:solidFill>
          <a:ln w="19050">
            <a:solidFill>
              <a:srgbClr val="FAF7F0"/>
            </a:solidFill>
            <a:prstDash val="solid"/>
          </a:ln>
        </p:spPr>
      </p:sp>
      <p:sp>
        <p:nvSpPr>
          <p:cNvPr id="10" name="Text 8"/>
          <p:cNvSpPr/>
          <p:nvPr/>
        </p:nvSpPr>
        <p:spPr>
          <a:xfrm>
            <a:off x="2852928" y="2596896"/>
            <a:ext cx="2020824" cy="274320"/>
          </a:xfrm>
          <a:prstGeom prst="rect">
            <a:avLst/>
          </a:prstGeom>
          <a:noFill/>
          <a:ln/>
        </p:spPr>
        <p:txBody>
          <a:bodyPr wrap="square" rtlCol="0" anchor="ctr"/>
          <a:lstStyle/>
          <a:p>
            <a:pPr marL="0" indent="0" algn="ctr" rtl="1">
              <a:lnSpc>
                <a:spcPct val="98000"/>
              </a:lnSpc>
              <a:buNone/>
            </a:pPr>
            <a:r>
              <a:rPr lang="ar-SA" altLang="en-US" sz="930" b="1" dirty="0">
                <a:solidFill>
                  <a:srgbClr val="FFFFFF"/>
                </a:solidFill>
                <a:latin typeface="Arial" pitchFamily="34" charset="0"/>
                <a:ea typeface="Arial" pitchFamily="34" charset="-122"/>
                <a:cs typeface="Arial" pitchFamily="34" charset="-120"/>
              </a:rPr>
              <a:t>منطقة Altus Gulf</a:t>
            </a:r>
            <a:endParaRPr lang="ar-SA" sz="930" dirty="0"/>
          </a:p>
        </p:txBody>
      </p:sp>
      <p:sp>
        <p:nvSpPr>
          <p:cNvPr id="11" name="Text 9"/>
          <p:cNvSpPr/>
          <p:nvPr/>
        </p:nvSpPr>
        <p:spPr>
          <a:xfrm>
            <a:off x="2852928" y="2889504"/>
            <a:ext cx="2020824" cy="548640"/>
          </a:xfrm>
          <a:prstGeom prst="rect">
            <a:avLst/>
          </a:prstGeom>
          <a:noFill/>
          <a:ln/>
        </p:spPr>
        <p:txBody>
          <a:bodyPr wrap="square" rtlCol="0" anchor="ctr"/>
          <a:lstStyle/>
          <a:p>
            <a:pPr marL="0" indent="0" algn="ctr" rtl="1">
              <a:lnSpc>
                <a:spcPct val="112700"/>
              </a:lnSpc>
              <a:buNone/>
            </a:pPr>
            <a:r>
              <a:rPr lang="ar-SA" altLang="en-US" sz="790" dirty="0">
                <a:solidFill>
                  <a:srgbClr val="E9F3EE"/>
                </a:solidFill>
                <a:latin typeface="Arial" pitchFamily="34" charset="0"/>
                <a:ea typeface="Arial" pitchFamily="34" charset="-122"/>
                <a:cs typeface="Arial" pitchFamily="34" charset="-120"/>
              </a:rPr>
              <a:t>إتقان تشغيلي × ذكاء رقمي:</a:t>
            </a:r>
            <a:endParaRPr lang="ar-SA" sz="790" dirty="0"/>
          </a:p>
          <a:p>
            <a:pPr marL="0" indent="0" algn="ctr" rtl="1">
              <a:lnSpc>
                <a:spcPct val="112700"/>
              </a:lnSpc>
              <a:buNone/>
            </a:pPr>
            <a:r>
              <a:rPr lang="ar-SA" altLang="en-US" sz="790" dirty="0">
                <a:solidFill>
                  <a:srgbClr val="E9F3EE"/>
                </a:solidFill>
                <a:latin typeface="Arial" pitchFamily="34" charset="0"/>
                <a:ea typeface="Arial" pitchFamily="34" charset="-122"/>
                <a:cs typeface="Arial" pitchFamily="34" charset="-120"/>
              </a:rPr>
              <a:t>أداء متراكم</a:t>
            </a:r>
            <a:endParaRPr lang="ar-SA" sz="790" dirty="0"/>
          </a:p>
        </p:txBody>
      </p:sp>
      <p:sp>
        <p:nvSpPr>
          <p:cNvPr id="12" name="Shape 10"/>
          <p:cNvSpPr/>
          <p:nvPr/>
        </p:nvSpPr>
        <p:spPr>
          <a:xfrm>
            <a:off x="502920" y="3666744"/>
            <a:ext cx="2240280" cy="1234440"/>
          </a:xfrm>
          <a:prstGeom prst="rect">
            <a:avLst/>
          </a:prstGeom>
          <a:solidFill>
            <a:srgbClr val="F3EEE4"/>
          </a:solidFill>
          <a:ln w="19050">
            <a:solidFill>
              <a:srgbClr val="FAF7F0"/>
            </a:solidFill>
            <a:prstDash val="solid"/>
          </a:ln>
        </p:spPr>
      </p:sp>
      <p:sp>
        <p:nvSpPr>
          <p:cNvPr id="13" name="Text 11"/>
          <p:cNvSpPr/>
          <p:nvPr/>
        </p:nvSpPr>
        <p:spPr>
          <a:xfrm>
            <a:off x="612648" y="3831336"/>
            <a:ext cx="2020824" cy="274320"/>
          </a:xfrm>
          <a:prstGeom prst="rect">
            <a:avLst/>
          </a:prstGeom>
          <a:noFill/>
          <a:ln/>
        </p:spPr>
        <p:txBody>
          <a:bodyPr wrap="square" rtlCol="0" anchor="ctr"/>
          <a:lstStyle/>
          <a:p>
            <a:pPr marL="0" indent="0" algn="ctr" rtl="1">
              <a:lnSpc>
                <a:spcPct val="98000"/>
              </a:lnSpc>
              <a:buNone/>
            </a:pPr>
            <a:r>
              <a:rPr lang="ar-SA" altLang="en-US" sz="930" b="1" dirty="0">
                <a:solidFill>
                  <a:srgbClr val="0B1B2B"/>
                </a:solidFill>
                <a:latin typeface="Arial" pitchFamily="34" charset="0"/>
                <a:ea typeface="Arial" pitchFamily="34" charset="-122"/>
                <a:cs typeface="Arial" pitchFamily="34" charset="-120"/>
              </a:rPr>
              <a:t>أصل غير مُدار بكفاءة</a:t>
            </a:r>
            <a:endParaRPr lang="ar-SA" sz="930" dirty="0"/>
          </a:p>
        </p:txBody>
      </p:sp>
      <p:sp>
        <p:nvSpPr>
          <p:cNvPr id="14" name="Text 12"/>
          <p:cNvSpPr/>
          <p:nvPr/>
        </p:nvSpPr>
        <p:spPr>
          <a:xfrm>
            <a:off x="612648" y="4123944"/>
            <a:ext cx="2020824" cy="548640"/>
          </a:xfrm>
          <a:prstGeom prst="rect">
            <a:avLst/>
          </a:prstGeom>
          <a:noFill/>
          <a:ln/>
        </p:spPr>
        <p:txBody>
          <a:bodyPr wrap="square" rtlCol="0" anchor="ctr"/>
          <a:lstStyle/>
          <a:p>
            <a:pPr marL="0" indent="0" algn="ctr" rtl="1">
              <a:lnSpc>
                <a:spcPct val="112700"/>
              </a:lnSpc>
              <a:buNone/>
            </a:pPr>
            <a:r>
              <a:rPr lang="ar-SA" altLang="en-US" sz="790" dirty="0">
                <a:solidFill>
                  <a:srgbClr val="6B675F"/>
                </a:solidFill>
                <a:latin typeface="Arial" pitchFamily="34" charset="0"/>
                <a:ea typeface="Arial" pitchFamily="34" charset="-122"/>
                <a:cs typeface="Arial" pitchFamily="34" charset="-120"/>
              </a:rPr>
              <a:t>رأس مال موظَّف،</a:t>
            </a:r>
            <a:endParaRPr lang="ar-SA" sz="790" dirty="0"/>
          </a:p>
          <a:p>
            <a:pPr marL="0" indent="0" algn="ctr" rtl="1">
              <a:lnSpc>
                <a:spcPct val="112700"/>
              </a:lnSpc>
              <a:buNone/>
            </a:pPr>
            <a:r>
              <a:rPr lang="ar-SA" altLang="en-US" sz="790" dirty="0">
                <a:solidFill>
                  <a:srgbClr val="6B675F"/>
                </a:solidFill>
                <a:latin typeface="Arial" pitchFamily="34" charset="0"/>
                <a:ea typeface="Arial" pitchFamily="34" charset="-122"/>
                <a:cs typeface="Arial" pitchFamily="34" charset="-120"/>
              </a:rPr>
              <a:t>وإمكانات غير محقَّقة</a:t>
            </a:r>
            <a:endParaRPr lang="ar-SA" sz="790" dirty="0"/>
          </a:p>
        </p:txBody>
      </p:sp>
      <p:sp>
        <p:nvSpPr>
          <p:cNvPr id="15" name="Shape 13"/>
          <p:cNvSpPr/>
          <p:nvPr/>
        </p:nvSpPr>
        <p:spPr>
          <a:xfrm>
            <a:off x="2743200" y="3666744"/>
            <a:ext cx="2240280" cy="1234440"/>
          </a:xfrm>
          <a:prstGeom prst="rect">
            <a:avLst/>
          </a:prstGeom>
          <a:solidFill>
            <a:srgbClr val="F3EEE4"/>
          </a:solidFill>
          <a:ln w="19050">
            <a:solidFill>
              <a:srgbClr val="FAF7F0"/>
            </a:solidFill>
            <a:prstDash val="solid"/>
          </a:ln>
        </p:spPr>
      </p:sp>
      <p:sp>
        <p:nvSpPr>
          <p:cNvPr id="16" name="Text 14"/>
          <p:cNvSpPr/>
          <p:nvPr/>
        </p:nvSpPr>
        <p:spPr>
          <a:xfrm>
            <a:off x="2852928" y="3831336"/>
            <a:ext cx="2020824" cy="274320"/>
          </a:xfrm>
          <a:prstGeom prst="rect">
            <a:avLst/>
          </a:prstGeom>
          <a:noFill/>
          <a:ln/>
        </p:spPr>
        <p:txBody>
          <a:bodyPr wrap="square" rtlCol="0" anchor="ctr"/>
          <a:lstStyle/>
          <a:p>
            <a:pPr marL="0" indent="0" algn="ctr" rtl="1">
              <a:lnSpc>
                <a:spcPct val="98000"/>
              </a:lnSpc>
              <a:buNone/>
            </a:pPr>
            <a:r>
              <a:rPr lang="ar-SA" altLang="en-US" sz="930" b="1" dirty="0">
                <a:solidFill>
                  <a:srgbClr val="0B1B2B"/>
                </a:solidFill>
                <a:latin typeface="Arial" pitchFamily="34" charset="0"/>
                <a:ea typeface="Arial" pitchFamily="34" charset="-122"/>
                <a:cs typeface="Arial" pitchFamily="34" charset="-120"/>
              </a:rPr>
              <a:t>واجهة رقمية شكلية</a:t>
            </a:r>
            <a:endParaRPr lang="ar-SA" sz="930" dirty="0"/>
          </a:p>
        </p:txBody>
      </p:sp>
      <p:sp>
        <p:nvSpPr>
          <p:cNvPr id="17" name="Text 15"/>
          <p:cNvSpPr/>
          <p:nvPr/>
        </p:nvSpPr>
        <p:spPr>
          <a:xfrm>
            <a:off x="2852928" y="4123944"/>
            <a:ext cx="2020824" cy="548640"/>
          </a:xfrm>
          <a:prstGeom prst="rect">
            <a:avLst/>
          </a:prstGeom>
          <a:noFill/>
          <a:ln/>
        </p:spPr>
        <p:txBody>
          <a:bodyPr wrap="square" rtlCol="0" anchor="ctr"/>
          <a:lstStyle/>
          <a:p>
            <a:pPr marL="0" indent="0" algn="ctr" rtl="1">
              <a:lnSpc>
                <a:spcPct val="112700"/>
              </a:lnSpc>
              <a:buNone/>
            </a:pPr>
            <a:r>
              <a:rPr lang="ar-SA" altLang="en-US" sz="790" dirty="0">
                <a:solidFill>
                  <a:srgbClr val="6B675F"/>
                </a:solidFill>
                <a:latin typeface="Arial" pitchFamily="34" charset="0"/>
                <a:ea typeface="Arial" pitchFamily="34" charset="-122"/>
                <a:cs typeface="Arial" pitchFamily="34" charset="-120"/>
              </a:rPr>
              <a:t>تقنية معتمدة،</a:t>
            </a:r>
            <a:endParaRPr lang="ar-SA" sz="790" dirty="0"/>
          </a:p>
          <a:p>
            <a:pPr marL="0" indent="0" algn="ctr" rtl="1">
              <a:lnSpc>
                <a:spcPct val="112700"/>
              </a:lnSpc>
              <a:buNone/>
            </a:pPr>
            <a:r>
              <a:rPr lang="ar-SA" altLang="en-US" sz="790" dirty="0">
                <a:solidFill>
                  <a:srgbClr val="6B675F"/>
                </a:solidFill>
                <a:latin typeface="Arial" pitchFamily="34" charset="0"/>
                <a:ea typeface="Arial" pitchFamily="34" charset="-122"/>
                <a:cs typeface="Arial" pitchFamily="34" charset="-120"/>
              </a:rPr>
              <a:t>وعمليات ضعيفة القدرة</a:t>
            </a:r>
            <a:endParaRPr lang="ar-SA" sz="790" dirty="0"/>
          </a:p>
        </p:txBody>
      </p:sp>
      <p:sp>
        <p:nvSpPr>
          <p:cNvPr id="18" name="Shape 16"/>
          <p:cNvSpPr/>
          <p:nvPr/>
        </p:nvSpPr>
        <p:spPr>
          <a:xfrm>
            <a:off x="502920" y="5047488"/>
            <a:ext cx="4480560" cy="0"/>
          </a:xfrm>
          <a:prstGeom prst="line">
            <a:avLst/>
          </a:prstGeom>
          <a:noFill/>
          <a:ln w="9525">
            <a:solidFill>
              <a:srgbClr val="6B675F"/>
            </a:solidFill>
            <a:prstDash val="solid"/>
            <a:tailEnd type="triangle"/>
          </a:ln>
        </p:spPr>
      </p:sp>
      <p:sp>
        <p:nvSpPr>
          <p:cNvPr id="19" name="Text 17"/>
          <p:cNvSpPr/>
          <p:nvPr/>
        </p:nvSpPr>
        <p:spPr>
          <a:xfrm>
            <a:off x="502920" y="5084064"/>
            <a:ext cx="4480560" cy="182880"/>
          </a:xfrm>
          <a:prstGeom prst="rect">
            <a:avLst/>
          </a:prstGeom>
          <a:noFill/>
          <a:ln/>
        </p:spPr>
        <p:txBody>
          <a:bodyPr wrap="square" rtlCol="0" anchor="ctr"/>
          <a:lstStyle/>
          <a:p>
            <a:pPr marL="0" indent="0" algn="ctr" rtl="1">
              <a:lnSpc>
                <a:spcPct val="98000"/>
              </a:lnSpc>
              <a:buNone/>
            </a:pPr>
            <a:r>
              <a:rPr lang="ar-SA" altLang="en-US" sz="750" dirty="0">
                <a:solidFill>
                  <a:srgbClr val="6B675F"/>
                </a:solidFill>
                <a:latin typeface="Arial" pitchFamily="34" charset="0"/>
                <a:ea typeface="Arial" pitchFamily="34" charset="-122"/>
                <a:cs typeface="Arial" pitchFamily="34" charset="-120"/>
              </a:rPr>
              <a:t>الذكاء الرقمي والتجاري</a:t>
            </a:r>
            <a:endParaRPr lang="ar-SA" sz="750" dirty="0"/>
          </a:p>
        </p:txBody>
      </p:sp>
      <p:sp>
        <p:nvSpPr>
          <p:cNvPr id="20" name="Text 18"/>
          <p:cNvSpPr/>
          <p:nvPr/>
        </p:nvSpPr>
        <p:spPr>
          <a:xfrm>
            <a:off x="502920" y="2212848"/>
            <a:ext cx="4480560" cy="182880"/>
          </a:xfrm>
          <a:prstGeom prst="rect">
            <a:avLst/>
          </a:prstGeom>
          <a:noFill/>
          <a:ln/>
        </p:spPr>
        <p:txBody>
          <a:bodyPr wrap="square" rtlCol="0" anchor="ctr"/>
          <a:lstStyle/>
          <a:p>
            <a:pPr marL="0" indent="0" algn="ctr" rtl="1">
              <a:lnSpc>
                <a:spcPct val="98000"/>
              </a:lnSpc>
              <a:buNone/>
            </a:pPr>
            <a:r>
              <a:rPr lang="ar-SA" altLang="en-US" sz="750" dirty="0">
                <a:solidFill>
                  <a:srgbClr val="6B675F"/>
                </a:solidFill>
                <a:latin typeface="Arial" pitchFamily="34" charset="0"/>
                <a:ea typeface="Arial" pitchFamily="34" charset="-122"/>
                <a:cs typeface="Arial" pitchFamily="34" charset="-120"/>
              </a:rPr>
              <a:t>الصرامة التشغيلية</a:t>
            </a:r>
            <a:endParaRPr lang="ar-SA" sz="750" dirty="0"/>
          </a:p>
        </p:txBody>
      </p:sp>
      <p:sp>
        <p:nvSpPr>
          <p:cNvPr id="21" name="Text 19"/>
          <p:cNvSpPr/>
          <p:nvPr/>
        </p:nvSpPr>
        <p:spPr>
          <a:xfrm>
            <a:off x="5212080" y="2706624"/>
            <a:ext cx="1847088" cy="1463040"/>
          </a:xfrm>
          <a:prstGeom prst="rect">
            <a:avLst/>
          </a:prstGeom>
          <a:noFill/>
          <a:ln/>
        </p:spPr>
        <p:txBody>
          <a:bodyPr wrap="square" rtlCol="0" anchor="t"/>
          <a:lstStyle/>
          <a:p>
            <a:pPr marL="0" indent="0" algn="r" rtl="1">
              <a:lnSpc>
                <a:spcPct val="132300"/>
              </a:lnSpc>
              <a:buNone/>
            </a:pPr>
            <a:r>
              <a:rPr lang="ar-SA" altLang="en-US" sz="1340" dirty="0">
                <a:solidFill>
                  <a:srgbClr val="0B1B2B"/>
                </a:solidFill>
                <a:latin typeface="Arial" pitchFamily="34" charset="0"/>
                <a:ea typeface="Arial" pitchFamily="34" charset="-122"/>
                <a:cs typeface="Arial" pitchFamily="34" charset="-120"/>
              </a:rPr>
              <a:t>مهمتنا: نقل كل أصل لدى العميل نحو الأعلى وإلى اليمين، إلى منطقة Altus Gulf.</a:t>
            </a:r>
            <a:endParaRPr lang="ar-SA" sz="1340" dirty="0"/>
          </a:p>
        </p:txBody>
      </p:sp>
      <p:sp>
        <p:nvSpPr>
          <p:cNvPr id="22" name="Text 20"/>
          <p:cNvSpPr/>
          <p:nvPr/>
        </p:nvSpPr>
        <p:spPr>
          <a:xfrm>
            <a:off x="502920" y="5495544"/>
            <a:ext cx="6556248" cy="219456"/>
          </a:xfrm>
          <a:prstGeom prst="rect">
            <a:avLst/>
          </a:prstGeom>
          <a:noFill/>
          <a:ln/>
        </p:spPr>
        <p:txBody>
          <a:bodyPr wrap="square" rtlCol="0" anchor="ctr"/>
          <a:lstStyle/>
          <a:p>
            <a:pPr marL="0" indent="0" algn="r" rtl="1">
              <a:lnSpc>
                <a:spcPct val="98000"/>
              </a:lnSpc>
              <a:buNone/>
            </a:pPr>
            <a:r>
              <a:rPr lang="ar-SA" altLang="en-US" sz="1030" b="1" dirty="0">
                <a:solidFill>
                  <a:srgbClr val="C1501D"/>
                </a:solidFill>
                <a:latin typeface="Arial" pitchFamily="34" charset="0"/>
                <a:ea typeface="Arial" pitchFamily="34" charset="-122"/>
                <a:cs typeface="Arial" pitchFamily="34" charset="-120"/>
              </a:rPr>
              <a:t>ب.  The GOPPAR Value Stack™‎ (سلّم قيمة GOPPAR)</a:t>
            </a:r>
            <a:endParaRPr lang="ar-SA" sz="1030" dirty="0"/>
          </a:p>
        </p:txBody>
      </p:sp>
      <p:sp>
        <p:nvSpPr>
          <p:cNvPr id="23" name="Shape 21"/>
          <p:cNvSpPr/>
          <p:nvPr/>
        </p:nvSpPr>
        <p:spPr>
          <a:xfrm>
            <a:off x="1554480" y="5824728"/>
            <a:ext cx="5504688" cy="640080"/>
          </a:xfrm>
          <a:prstGeom prst="rect">
            <a:avLst/>
          </a:prstGeom>
          <a:solidFill>
            <a:srgbClr val="0B1B2B"/>
          </a:solidFill>
          <a:ln/>
        </p:spPr>
      </p:sp>
      <p:sp>
        <p:nvSpPr>
          <p:cNvPr id="24" name="Text 22"/>
          <p:cNvSpPr/>
          <p:nvPr/>
        </p:nvSpPr>
        <p:spPr>
          <a:xfrm>
            <a:off x="4727448" y="5824728"/>
            <a:ext cx="2103120" cy="640080"/>
          </a:xfrm>
          <a:prstGeom prst="rect">
            <a:avLst/>
          </a:prstGeom>
          <a:noFill/>
          <a:ln/>
        </p:spPr>
        <p:txBody>
          <a:bodyPr wrap="square" rtlCol="0" anchor="ctr"/>
          <a:lstStyle/>
          <a:p>
            <a:pPr marL="0" indent="0" algn="r" rtl="1">
              <a:lnSpc>
                <a:spcPct val="98000"/>
              </a:lnSpc>
              <a:buNone/>
            </a:pPr>
            <a:r>
              <a:rPr lang="ar-SA" altLang="en-US" sz="1080" b="1" dirty="0">
                <a:solidFill>
                  <a:srgbClr val="FFFFFF"/>
                </a:solidFill>
                <a:latin typeface="Arial" pitchFamily="34" charset="0"/>
                <a:ea typeface="Arial" pitchFamily="34" charset="-122"/>
                <a:cs typeface="Arial" pitchFamily="34" charset="-120"/>
              </a:rPr>
              <a:t>اقتناص الإيرادات الإجمالية</a:t>
            </a:r>
            <a:endParaRPr lang="ar-SA" sz="1080" dirty="0"/>
          </a:p>
        </p:txBody>
      </p:sp>
      <p:sp>
        <p:nvSpPr>
          <p:cNvPr id="25" name="Text 23"/>
          <p:cNvSpPr/>
          <p:nvPr/>
        </p:nvSpPr>
        <p:spPr>
          <a:xfrm>
            <a:off x="1737360" y="5824728"/>
            <a:ext cx="2898648" cy="640080"/>
          </a:xfrm>
          <a:prstGeom prst="rect">
            <a:avLst/>
          </a:prstGeom>
          <a:noFill/>
          <a:ln/>
        </p:spPr>
        <p:txBody>
          <a:bodyPr wrap="square" rtlCol="0" anchor="ctr"/>
          <a:lstStyle/>
          <a:p>
            <a:pPr marL="0" indent="0" algn="r" rtl="1">
              <a:lnSpc>
                <a:spcPct val="98000"/>
              </a:lnSpc>
              <a:buNone/>
            </a:pPr>
            <a:r>
              <a:rPr lang="ar-SA" altLang="en-US" sz="950" dirty="0">
                <a:solidFill>
                  <a:srgbClr val="B9C3CC"/>
                </a:solidFill>
                <a:latin typeface="Arial" pitchFamily="34" charset="0"/>
                <a:ea typeface="Arial" pitchFamily="34" charset="-122"/>
                <a:cs typeface="Arial" pitchFamily="34" charset="-120"/>
              </a:rPr>
              <a:t>التسعير الديناميكي • العائد التنبؤي • أنظمة الإيرادات الشاملة</a:t>
            </a:r>
            <a:endParaRPr lang="ar-SA" sz="950" dirty="0"/>
          </a:p>
        </p:txBody>
      </p:sp>
      <p:sp>
        <p:nvSpPr>
          <p:cNvPr id="26" name="Shape 24"/>
          <p:cNvSpPr/>
          <p:nvPr/>
        </p:nvSpPr>
        <p:spPr>
          <a:xfrm>
            <a:off x="1554480" y="6574536"/>
            <a:ext cx="5504688" cy="640080"/>
          </a:xfrm>
          <a:prstGeom prst="rect">
            <a:avLst/>
          </a:prstGeom>
          <a:solidFill>
            <a:srgbClr val="13273A"/>
          </a:solidFill>
          <a:ln/>
        </p:spPr>
      </p:sp>
      <p:sp>
        <p:nvSpPr>
          <p:cNvPr id="27" name="Text 25"/>
          <p:cNvSpPr/>
          <p:nvPr/>
        </p:nvSpPr>
        <p:spPr>
          <a:xfrm>
            <a:off x="4727448" y="6574536"/>
            <a:ext cx="2103120" cy="640080"/>
          </a:xfrm>
          <a:prstGeom prst="rect">
            <a:avLst/>
          </a:prstGeom>
          <a:noFill/>
          <a:ln/>
        </p:spPr>
        <p:txBody>
          <a:bodyPr wrap="square" rtlCol="0" anchor="ctr"/>
          <a:lstStyle/>
          <a:p>
            <a:pPr marL="0" indent="0" algn="r" rtl="1">
              <a:lnSpc>
                <a:spcPct val="98000"/>
              </a:lnSpc>
              <a:buNone/>
            </a:pPr>
            <a:r>
              <a:rPr lang="ar-SA" altLang="en-US" sz="1080" b="1" dirty="0">
                <a:solidFill>
                  <a:srgbClr val="FFFFFF"/>
                </a:solidFill>
                <a:latin typeface="Arial" pitchFamily="34" charset="0"/>
                <a:ea typeface="Arial" pitchFamily="34" charset="-122"/>
                <a:cs typeface="Arial" pitchFamily="34" charset="-120"/>
              </a:rPr>
              <a:t>اقتصاديات التوزيع</a:t>
            </a:r>
            <a:endParaRPr lang="ar-SA" sz="1080" dirty="0"/>
          </a:p>
        </p:txBody>
      </p:sp>
      <p:sp>
        <p:nvSpPr>
          <p:cNvPr id="28" name="Text 26"/>
          <p:cNvSpPr/>
          <p:nvPr/>
        </p:nvSpPr>
        <p:spPr>
          <a:xfrm>
            <a:off x="1737360" y="6574536"/>
            <a:ext cx="2898648" cy="640080"/>
          </a:xfrm>
          <a:prstGeom prst="rect">
            <a:avLst/>
          </a:prstGeom>
          <a:noFill/>
          <a:ln/>
        </p:spPr>
        <p:txBody>
          <a:bodyPr wrap="square" rtlCol="0" anchor="ctr"/>
          <a:lstStyle/>
          <a:p>
            <a:pPr marL="0" indent="0" algn="r" rtl="1">
              <a:lnSpc>
                <a:spcPct val="98000"/>
              </a:lnSpc>
              <a:buNone/>
            </a:pPr>
            <a:r>
              <a:rPr lang="ar-SA" altLang="en-US" sz="950" dirty="0">
                <a:solidFill>
                  <a:srgbClr val="B9C3CC"/>
                </a:solidFill>
                <a:latin typeface="Arial" pitchFamily="34" charset="0"/>
                <a:ea typeface="Arial" pitchFamily="34" charset="-122"/>
                <a:cs typeface="Arial" pitchFamily="34" charset="-120"/>
              </a:rPr>
              <a:t>تحسين مزيج القنوات • حوكمة وكالات السفر الإلكترونية (OTA) • نمو الحجز المباشر</a:t>
            </a:r>
            <a:endParaRPr lang="ar-SA" sz="950" dirty="0"/>
          </a:p>
        </p:txBody>
      </p:sp>
      <p:sp>
        <p:nvSpPr>
          <p:cNvPr id="29" name="Shape 27"/>
          <p:cNvSpPr/>
          <p:nvPr/>
        </p:nvSpPr>
        <p:spPr>
          <a:xfrm>
            <a:off x="1554480" y="7324344"/>
            <a:ext cx="5504688" cy="640080"/>
          </a:xfrm>
          <a:prstGeom prst="rect">
            <a:avLst/>
          </a:prstGeom>
          <a:solidFill>
            <a:srgbClr val="0F5C42"/>
          </a:solidFill>
          <a:ln/>
        </p:spPr>
      </p:sp>
      <p:sp>
        <p:nvSpPr>
          <p:cNvPr id="30" name="Text 28"/>
          <p:cNvSpPr/>
          <p:nvPr/>
        </p:nvSpPr>
        <p:spPr>
          <a:xfrm>
            <a:off x="4727448" y="7324344"/>
            <a:ext cx="2103120" cy="640080"/>
          </a:xfrm>
          <a:prstGeom prst="rect">
            <a:avLst/>
          </a:prstGeom>
          <a:noFill/>
          <a:ln/>
        </p:spPr>
        <p:txBody>
          <a:bodyPr wrap="square" rtlCol="0" anchor="ctr"/>
          <a:lstStyle/>
          <a:p>
            <a:pPr marL="0" indent="0" algn="r" rtl="1">
              <a:lnSpc>
                <a:spcPct val="98000"/>
              </a:lnSpc>
              <a:buNone/>
            </a:pPr>
            <a:r>
              <a:rPr lang="ar-SA" altLang="en-US" sz="1080" b="1" dirty="0">
                <a:solidFill>
                  <a:srgbClr val="FFFFFF"/>
                </a:solidFill>
                <a:latin typeface="Arial" pitchFamily="34" charset="0"/>
                <a:ea typeface="Arial" pitchFamily="34" charset="-122"/>
                <a:cs typeface="Arial" pitchFamily="34" charset="-120"/>
              </a:rPr>
              <a:t>ضبط التكاليف</a:t>
            </a:r>
            <a:endParaRPr lang="ar-SA" sz="1080" dirty="0"/>
          </a:p>
        </p:txBody>
      </p:sp>
      <p:sp>
        <p:nvSpPr>
          <p:cNvPr id="31" name="Text 29"/>
          <p:cNvSpPr/>
          <p:nvPr/>
        </p:nvSpPr>
        <p:spPr>
          <a:xfrm>
            <a:off x="1737360" y="7324344"/>
            <a:ext cx="2898648" cy="640080"/>
          </a:xfrm>
          <a:prstGeom prst="rect">
            <a:avLst/>
          </a:prstGeom>
          <a:noFill/>
          <a:ln/>
        </p:spPr>
        <p:txBody>
          <a:bodyPr wrap="square" rtlCol="0" anchor="ctr"/>
          <a:lstStyle/>
          <a:p>
            <a:pPr marL="0" indent="0" algn="r" rtl="1">
              <a:lnSpc>
                <a:spcPct val="98000"/>
              </a:lnSpc>
              <a:buNone/>
            </a:pPr>
            <a:r>
              <a:rPr lang="ar-SA" altLang="en-US" sz="950" dirty="0">
                <a:solidFill>
                  <a:srgbClr val="B9C3CC"/>
                </a:solidFill>
                <a:latin typeface="Arial" pitchFamily="34" charset="0"/>
                <a:ea typeface="Arial" pitchFamily="34" charset="-122"/>
                <a:cs typeface="Arial" pitchFamily="34" charset="-120"/>
              </a:rPr>
              <a:t>أطر تكلفة منضبطة • انضباط المشتريات • الإنتاجية</a:t>
            </a:r>
            <a:endParaRPr lang="ar-SA" sz="950" dirty="0"/>
          </a:p>
        </p:txBody>
      </p:sp>
      <p:sp>
        <p:nvSpPr>
          <p:cNvPr id="32" name="Shape 30"/>
          <p:cNvSpPr/>
          <p:nvPr/>
        </p:nvSpPr>
        <p:spPr>
          <a:xfrm>
            <a:off x="1554480" y="8074152"/>
            <a:ext cx="5504688" cy="640080"/>
          </a:xfrm>
          <a:prstGeom prst="rect">
            <a:avLst/>
          </a:prstGeom>
          <a:solidFill>
            <a:srgbClr val="C9A15A"/>
          </a:solidFill>
          <a:ln/>
        </p:spPr>
      </p:sp>
      <p:sp>
        <p:nvSpPr>
          <p:cNvPr id="33" name="Text 31"/>
          <p:cNvSpPr/>
          <p:nvPr/>
        </p:nvSpPr>
        <p:spPr>
          <a:xfrm>
            <a:off x="4727448" y="8074152"/>
            <a:ext cx="2103120" cy="640080"/>
          </a:xfrm>
          <a:prstGeom prst="rect">
            <a:avLst/>
          </a:prstGeom>
          <a:noFill/>
          <a:ln/>
        </p:spPr>
        <p:txBody>
          <a:bodyPr wrap="square" rtlCol="0" anchor="ctr"/>
          <a:lstStyle/>
          <a:p>
            <a:pPr marL="0" indent="0" algn="r" rtl="1">
              <a:lnSpc>
                <a:spcPct val="98000"/>
              </a:lnSpc>
              <a:buNone/>
            </a:pPr>
            <a:r>
              <a:rPr lang="ar-SA" altLang="en-US" sz="1080" b="1" dirty="0">
                <a:solidFill>
                  <a:srgbClr val="0B1B2B"/>
                </a:solidFill>
                <a:latin typeface="Arial" pitchFamily="34" charset="0"/>
                <a:ea typeface="Arial" pitchFamily="34" charset="-122"/>
                <a:cs typeface="Arial" pitchFamily="34" charset="-120"/>
              </a:rPr>
              <a:t>إنتاجية الأصل</a:t>
            </a:r>
            <a:endParaRPr lang="ar-SA" sz="1080" dirty="0"/>
          </a:p>
        </p:txBody>
      </p:sp>
      <p:sp>
        <p:nvSpPr>
          <p:cNvPr id="34" name="Text 32"/>
          <p:cNvSpPr/>
          <p:nvPr/>
        </p:nvSpPr>
        <p:spPr>
          <a:xfrm>
            <a:off x="1737360" y="8074152"/>
            <a:ext cx="2898648" cy="640080"/>
          </a:xfrm>
          <a:prstGeom prst="rect">
            <a:avLst/>
          </a:prstGeom>
          <a:noFill/>
          <a:ln/>
        </p:spPr>
        <p:txBody>
          <a:bodyPr wrap="square" rtlCol="0" anchor="ctr"/>
          <a:lstStyle/>
          <a:p>
            <a:pPr marL="0" indent="0" algn="r" rtl="1">
              <a:lnSpc>
                <a:spcPct val="98000"/>
              </a:lnSpc>
              <a:buNone/>
            </a:pPr>
            <a:r>
              <a:rPr lang="ar-SA" altLang="en-US" sz="950" dirty="0">
                <a:solidFill>
                  <a:srgbClr val="0B1B2B"/>
                </a:solidFill>
                <a:latin typeface="Arial" pitchFamily="34" charset="0"/>
                <a:ea typeface="Arial" pitchFamily="34" charset="-122"/>
                <a:cs typeface="Arial" pitchFamily="34" charset="-120"/>
              </a:rPr>
              <a:t>تحقيق العائد من المساحات • حوكمة النفقات الرأسمالية • كفاءة الطاقة ودورة الحياة</a:t>
            </a:r>
            <a:endParaRPr lang="ar-SA" sz="950" dirty="0"/>
          </a:p>
        </p:txBody>
      </p:sp>
      <p:sp>
        <p:nvSpPr>
          <p:cNvPr id="35" name="Shape 33"/>
          <p:cNvSpPr/>
          <p:nvPr/>
        </p:nvSpPr>
        <p:spPr>
          <a:xfrm>
            <a:off x="1033272" y="5815584"/>
            <a:ext cx="0" cy="2935224"/>
          </a:xfrm>
          <a:prstGeom prst="line">
            <a:avLst/>
          </a:prstGeom>
          <a:noFill/>
          <a:ln w="22225">
            <a:solidFill>
              <a:srgbClr val="C9A15A"/>
            </a:solidFill>
            <a:prstDash val="solid"/>
            <a:tailEnd type="triangle"/>
          </a:ln>
        </p:spPr>
      </p:sp>
      <p:sp>
        <p:nvSpPr>
          <p:cNvPr id="36" name="Text 34"/>
          <p:cNvSpPr/>
          <p:nvPr/>
        </p:nvSpPr>
        <p:spPr>
          <a:xfrm>
            <a:off x="502920" y="8750808"/>
            <a:ext cx="1051560" cy="365760"/>
          </a:xfrm>
          <a:prstGeom prst="rect">
            <a:avLst/>
          </a:prstGeom>
          <a:noFill/>
          <a:ln/>
        </p:spPr>
        <p:txBody>
          <a:bodyPr wrap="square" rtlCol="0" anchor="ctr"/>
          <a:lstStyle/>
          <a:p>
            <a:pPr marL="0" indent="0" algn="ctr" rtl="1">
              <a:lnSpc>
                <a:spcPct val="98000"/>
              </a:lnSpc>
              <a:buNone/>
            </a:pPr>
            <a:r>
              <a:rPr lang="ar-SA" altLang="en-US" sz="820" b="1" dirty="0">
                <a:solidFill>
                  <a:srgbClr val="C1501D"/>
                </a:solidFill>
                <a:latin typeface="Arial" pitchFamily="34" charset="0"/>
                <a:ea typeface="Arial" pitchFamily="34" charset="-122"/>
                <a:cs typeface="Arial" pitchFamily="34" charset="-120"/>
              </a:rPr>
              <a:t>نمو</a:t>
            </a:r>
            <a:endParaRPr lang="ar-SA" sz="820" dirty="0"/>
          </a:p>
          <a:p>
            <a:pPr marL="0" indent="0" algn="ctr" rtl="1">
              <a:lnSpc>
                <a:spcPct val="98000"/>
              </a:lnSpc>
              <a:buNone/>
            </a:pPr>
            <a:r>
              <a:rPr lang="ar-SA" altLang="en-US" sz="820" b="1" dirty="0">
                <a:solidFill>
                  <a:srgbClr val="C1501D"/>
                </a:solidFill>
                <a:latin typeface="Arial" pitchFamily="34" charset="0"/>
                <a:ea typeface="Arial" pitchFamily="34" charset="-122"/>
                <a:cs typeface="Arial" pitchFamily="34" charset="-120"/>
              </a:rPr>
              <a:t>GOPPAR</a:t>
            </a:r>
            <a:endParaRPr lang="ar-SA" sz="820" dirty="0"/>
          </a:p>
        </p:txBody>
      </p:sp>
      <p:sp>
        <p:nvSpPr>
          <p:cNvPr id="37" name="Text 35"/>
          <p:cNvSpPr/>
          <p:nvPr/>
        </p:nvSpPr>
        <p:spPr>
          <a:xfrm>
            <a:off x="502920" y="914400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تشخيص واحد ونموذج قيمة واحد ولغة مشتركة لكل مهمة.</a:t>
            </a:r>
            <a:endParaRPr lang="ar-SA" sz="1340" dirty="0"/>
          </a:p>
        </p:txBody>
      </p:sp>
      <p:sp>
        <p:nvSpPr>
          <p:cNvPr id="38" name="Shape 36"/>
          <p:cNvSpPr/>
          <p:nvPr/>
        </p:nvSpPr>
        <p:spPr>
          <a:xfrm>
            <a:off x="502920" y="10186416"/>
            <a:ext cx="6556248" cy="0"/>
          </a:xfrm>
          <a:prstGeom prst="line">
            <a:avLst/>
          </a:prstGeom>
          <a:noFill/>
          <a:ln w="9525">
            <a:solidFill>
              <a:srgbClr val="E4DDCB"/>
            </a:solidFill>
            <a:prstDash val="solid"/>
          </a:ln>
        </p:spPr>
      </p:sp>
      <p:sp>
        <p:nvSpPr>
          <p:cNvPr id="39" name="Text 37"/>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40" name="Text 38"/>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12</a:t>
            </a:r>
            <a:endParaRPr lang="ar-SA" sz="88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11  •  ما نقدّمه</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القدرات المؤسسية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ثماني مجموعات قدرات متكاملة، تُوظَّف انتقائيًا بحسب كل مهمة، دائمًا في تكامل ولا تعمل بمعزل عن بعضها.</a:t>
            </a:r>
            <a:endParaRPr lang="ar-SA" sz="1180" dirty="0"/>
          </a:p>
        </p:txBody>
      </p:sp>
      <p:sp>
        <p:nvSpPr>
          <p:cNvPr id="5" name="Shape 3"/>
          <p:cNvSpPr/>
          <p:nvPr/>
        </p:nvSpPr>
        <p:spPr>
          <a:xfrm>
            <a:off x="3895344" y="2103120"/>
            <a:ext cx="3163824" cy="1536192"/>
          </a:xfrm>
          <a:prstGeom prst="roundRect">
            <a:avLst>
              <a:gd name="adj" fmla="val 3571"/>
            </a:avLst>
          </a:prstGeom>
          <a:solidFill>
            <a:srgbClr val="FFFFFF"/>
          </a:solidFill>
          <a:ln w="9525">
            <a:solidFill>
              <a:srgbClr val="E4DDCB"/>
            </a:solidFill>
            <a:prstDash val="solid"/>
          </a:ln>
        </p:spPr>
      </p:sp>
      <p:sp>
        <p:nvSpPr>
          <p:cNvPr id="6" name="Shape 4"/>
          <p:cNvSpPr/>
          <p:nvPr/>
        </p:nvSpPr>
        <p:spPr>
          <a:xfrm>
            <a:off x="6455664" y="2304288"/>
            <a:ext cx="402336" cy="402336"/>
          </a:xfrm>
          <a:prstGeom prst="ellipse">
            <a:avLst/>
          </a:prstGeom>
          <a:solidFill>
            <a:srgbClr val="0F5C42"/>
          </a:solidFill>
          <a:ln/>
        </p:spPr>
      </p:sp>
      <p:pic>
        <p:nvPicPr>
          <p:cNvPr id="7" name="Image 0" descr="/home/claude/assets/icons/cogs.png"/>
          <p:cNvPicPr>
            <a:picLocks noChangeAspect="1"/>
          </p:cNvPicPr>
          <p:nvPr/>
        </p:nvPicPr>
        <p:blipFill>
          <a:blip r:embed="rId3"/>
          <a:stretch>
            <a:fillRect/>
          </a:stretch>
        </p:blipFill>
        <p:spPr>
          <a:xfrm>
            <a:off x="6552225" y="2400849"/>
            <a:ext cx="209215" cy="209215"/>
          </a:xfrm>
          <a:prstGeom prst="rect">
            <a:avLst/>
          </a:prstGeom>
        </p:spPr>
      </p:pic>
      <p:sp>
        <p:nvSpPr>
          <p:cNvPr id="8" name="Text 5"/>
          <p:cNvSpPr/>
          <p:nvPr/>
        </p:nvSpPr>
        <p:spPr>
          <a:xfrm>
            <a:off x="4096512"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التشغيلية</a:t>
            </a:r>
            <a:endParaRPr lang="ar-SA" sz="1290" dirty="0"/>
          </a:p>
        </p:txBody>
      </p:sp>
      <p:sp>
        <p:nvSpPr>
          <p:cNvPr id="9" name="Text 6"/>
          <p:cNvSpPr/>
          <p:nvPr/>
        </p:nvSpPr>
        <p:spPr>
          <a:xfrm>
            <a:off x="4096512" y="2688336"/>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هيكلة إجراءات التشغيل القياسية (SOP)، ونظم الجودة، وجاهزية ما قبل الافتتاح، وهندسة تقديم الخدمة عبر الغرف والأغذية والمشروبات والوظائف المساندة.</a:t>
            </a:r>
            <a:endParaRPr lang="ar-SA" sz="1000" dirty="0"/>
          </a:p>
        </p:txBody>
      </p:sp>
      <p:sp>
        <p:nvSpPr>
          <p:cNvPr id="10" name="Shape 7"/>
          <p:cNvSpPr/>
          <p:nvPr/>
        </p:nvSpPr>
        <p:spPr>
          <a:xfrm>
            <a:off x="502920" y="2103120"/>
            <a:ext cx="3163824" cy="1536192"/>
          </a:xfrm>
          <a:prstGeom prst="roundRect">
            <a:avLst>
              <a:gd name="adj" fmla="val 3571"/>
            </a:avLst>
          </a:prstGeom>
          <a:solidFill>
            <a:srgbClr val="FFFFFF"/>
          </a:solidFill>
          <a:ln w="9525">
            <a:solidFill>
              <a:srgbClr val="E4DDCB"/>
            </a:solidFill>
            <a:prstDash val="solid"/>
          </a:ln>
        </p:spPr>
      </p:sp>
      <p:sp>
        <p:nvSpPr>
          <p:cNvPr id="11" name="Shape 8"/>
          <p:cNvSpPr/>
          <p:nvPr/>
        </p:nvSpPr>
        <p:spPr>
          <a:xfrm>
            <a:off x="3063240" y="2304288"/>
            <a:ext cx="402336" cy="402336"/>
          </a:xfrm>
          <a:prstGeom prst="ellipse">
            <a:avLst/>
          </a:prstGeom>
          <a:solidFill>
            <a:srgbClr val="0F5C42"/>
          </a:solidFill>
          <a:ln/>
        </p:spPr>
      </p:sp>
      <p:pic>
        <p:nvPicPr>
          <p:cNvPr id="12" name="Image 1" descr="/home/claude/assets/icons/briefcase.png"/>
          <p:cNvPicPr>
            <a:picLocks noChangeAspect="1"/>
          </p:cNvPicPr>
          <p:nvPr/>
        </p:nvPicPr>
        <p:blipFill>
          <a:blip r:embed="rId4"/>
          <a:stretch>
            <a:fillRect/>
          </a:stretch>
        </p:blipFill>
        <p:spPr>
          <a:xfrm>
            <a:off x="3159801" y="2400849"/>
            <a:ext cx="209215" cy="209215"/>
          </a:xfrm>
          <a:prstGeom prst="rect">
            <a:avLst/>
          </a:prstGeom>
        </p:spPr>
      </p:pic>
      <p:sp>
        <p:nvSpPr>
          <p:cNvPr id="13" name="Text 9"/>
          <p:cNvSpPr/>
          <p:nvPr/>
        </p:nvSpPr>
        <p:spPr>
          <a:xfrm>
            <a:off x="704088"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التجارية</a:t>
            </a:r>
            <a:endParaRPr lang="ar-SA" sz="1290" dirty="0"/>
          </a:p>
        </p:txBody>
      </p:sp>
      <p:sp>
        <p:nvSpPr>
          <p:cNvPr id="14" name="Text 10"/>
          <p:cNvSpPr/>
          <p:nvPr/>
        </p:nvSpPr>
        <p:spPr>
          <a:xfrm>
            <a:off x="704088" y="2688336"/>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استراتيجية الإيرادات، وفاعلية فرق المبيعات، واقتصاديات التوزيع والقنوات، وأداء العلامة والتسويق.</a:t>
            </a:r>
            <a:endParaRPr lang="ar-SA" sz="1000" dirty="0"/>
          </a:p>
        </p:txBody>
      </p:sp>
      <p:sp>
        <p:nvSpPr>
          <p:cNvPr id="15" name="Shape 11"/>
          <p:cNvSpPr/>
          <p:nvPr/>
        </p:nvSpPr>
        <p:spPr>
          <a:xfrm>
            <a:off x="3895344" y="3785616"/>
            <a:ext cx="3163824" cy="1536192"/>
          </a:xfrm>
          <a:prstGeom prst="roundRect">
            <a:avLst>
              <a:gd name="adj" fmla="val 3571"/>
            </a:avLst>
          </a:prstGeom>
          <a:solidFill>
            <a:srgbClr val="FFFFFF"/>
          </a:solidFill>
          <a:ln w="9525">
            <a:solidFill>
              <a:srgbClr val="E4DDCB"/>
            </a:solidFill>
            <a:prstDash val="solid"/>
          </a:ln>
        </p:spPr>
      </p:sp>
      <p:sp>
        <p:nvSpPr>
          <p:cNvPr id="16" name="Shape 12"/>
          <p:cNvSpPr/>
          <p:nvPr/>
        </p:nvSpPr>
        <p:spPr>
          <a:xfrm>
            <a:off x="6455664" y="3986784"/>
            <a:ext cx="402336" cy="402336"/>
          </a:xfrm>
          <a:prstGeom prst="ellipse">
            <a:avLst/>
          </a:prstGeom>
          <a:solidFill>
            <a:srgbClr val="0F5C42"/>
          </a:solidFill>
          <a:ln/>
        </p:spPr>
      </p:sp>
      <p:pic>
        <p:nvPicPr>
          <p:cNvPr id="17" name="Image 2" descr="/home/claude/assets/icons/coins.png"/>
          <p:cNvPicPr>
            <a:picLocks noChangeAspect="1"/>
          </p:cNvPicPr>
          <p:nvPr/>
        </p:nvPicPr>
        <p:blipFill>
          <a:blip r:embed="rId5"/>
          <a:stretch>
            <a:fillRect/>
          </a:stretch>
        </p:blipFill>
        <p:spPr>
          <a:xfrm>
            <a:off x="6552225" y="4083345"/>
            <a:ext cx="209215" cy="209215"/>
          </a:xfrm>
          <a:prstGeom prst="rect">
            <a:avLst/>
          </a:prstGeom>
        </p:spPr>
      </p:pic>
      <p:sp>
        <p:nvSpPr>
          <p:cNvPr id="18" name="Text 13"/>
          <p:cNvSpPr/>
          <p:nvPr/>
        </p:nvSpPr>
        <p:spPr>
          <a:xfrm>
            <a:off x="4096512" y="3968496"/>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المالية</a:t>
            </a:r>
            <a:endParaRPr lang="ar-SA" sz="1290" dirty="0"/>
          </a:p>
        </p:txBody>
      </p:sp>
      <p:sp>
        <p:nvSpPr>
          <p:cNvPr id="19" name="Text 14"/>
          <p:cNvSpPr/>
          <p:nvPr/>
        </p:nvSpPr>
        <p:spPr>
          <a:xfrm>
            <a:off x="4096512" y="4370832"/>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إعادة هيكلة الأرباح والخسائر (P&amp;L)، وأطر ضبط التكاليف، وانضباط الموازنات والتنبؤات، وحوكمة النفقات الرأسمالية وتتبع العائد على الاستثمار.</a:t>
            </a:r>
            <a:endParaRPr lang="ar-SA" sz="1000" dirty="0"/>
          </a:p>
        </p:txBody>
      </p:sp>
      <p:sp>
        <p:nvSpPr>
          <p:cNvPr id="20" name="Shape 15"/>
          <p:cNvSpPr/>
          <p:nvPr/>
        </p:nvSpPr>
        <p:spPr>
          <a:xfrm>
            <a:off x="502920" y="3785616"/>
            <a:ext cx="3163824" cy="1536192"/>
          </a:xfrm>
          <a:prstGeom prst="roundRect">
            <a:avLst>
              <a:gd name="adj" fmla="val 3571"/>
            </a:avLst>
          </a:prstGeom>
          <a:solidFill>
            <a:srgbClr val="FFFFFF"/>
          </a:solidFill>
          <a:ln w="9525">
            <a:solidFill>
              <a:srgbClr val="E4DDCB"/>
            </a:solidFill>
            <a:prstDash val="solid"/>
          </a:ln>
        </p:spPr>
      </p:sp>
      <p:sp>
        <p:nvSpPr>
          <p:cNvPr id="21" name="Shape 16"/>
          <p:cNvSpPr/>
          <p:nvPr/>
        </p:nvSpPr>
        <p:spPr>
          <a:xfrm>
            <a:off x="3063240" y="3986784"/>
            <a:ext cx="402336" cy="402336"/>
          </a:xfrm>
          <a:prstGeom prst="ellipse">
            <a:avLst/>
          </a:prstGeom>
          <a:solidFill>
            <a:srgbClr val="0F5C42"/>
          </a:solidFill>
          <a:ln/>
        </p:spPr>
      </p:sp>
      <p:pic>
        <p:nvPicPr>
          <p:cNvPr id="22" name="Image 3" descr="/home/claude/assets/icons/chartline.png"/>
          <p:cNvPicPr>
            <a:picLocks noChangeAspect="1"/>
          </p:cNvPicPr>
          <p:nvPr/>
        </p:nvPicPr>
        <p:blipFill>
          <a:blip r:embed="rId6"/>
          <a:stretch>
            <a:fillRect/>
          </a:stretch>
        </p:blipFill>
        <p:spPr>
          <a:xfrm>
            <a:off x="3159801" y="4083345"/>
            <a:ext cx="209215" cy="209215"/>
          </a:xfrm>
          <a:prstGeom prst="rect">
            <a:avLst/>
          </a:prstGeom>
        </p:spPr>
      </p:pic>
      <p:sp>
        <p:nvSpPr>
          <p:cNvPr id="23" name="Text 17"/>
          <p:cNvSpPr/>
          <p:nvPr/>
        </p:nvSpPr>
        <p:spPr>
          <a:xfrm>
            <a:off x="704088" y="3968496"/>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الاستثمارية</a:t>
            </a:r>
            <a:endParaRPr lang="ar-SA" sz="1290" dirty="0"/>
          </a:p>
        </p:txBody>
      </p:sp>
      <p:sp>
        <p:nvSpPr>
          <p:cNvPr id="24" name="Text 18"/>
          <p:cNvSpPr/>
          <p:nvPr/>
        </p:nvSpPr>
        <p:spPr>
          <a:xfrm>
            <a:off x="704088" y="4370832"/>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التحقق من الجدوى، ودعم التقييم الاستثماري، والعناية الواجبة، ونمذجة التقييم والتكامل لعمليات الاستحواذ والتطوير.</a:t>
            </a:r>
            <a:endParaRPr lang="ar-SA" sz="1000" dirty="0"/>
          </a:p>
        </p:txBody>
      </p:sp>
      <p:sp>
        <p:nvSpPr>
          <p:cNvPr id="25" name="Shape 19"/>
          <p:cNvSpPr/>
          <p:nvPr/>
        </p:nvSpPr>
        <p:spPr>
          <a:xfrm>
            <a:off x="3895344" y="5468112"/>
            <a:ext cx="3163824" cy="1536192"/>
          </a:xfrm>
          <a:prstGeom prst="roundRect">
            <a:avLst>
              <a:gd name="adj" fmla="val 3571"/>
            </a:avLst>
          </a:prstGeom>
          <a:solidFill>
            <a:srgbClr val="FFFFFF"/>
          </a:solidFill>
          <a:ln w="9525">
            <a:solidFill>
              <a:srgbClr val="E4DDCB"/>
            </a:solidFill>
            <a:prstDash val="solid"/>
          </a:ln>
        </p:spPr>
      </p:sp>
      <p:sp>
        <p:nvSpPr>
          <p:cNvPr id="26" name="Shape 20"/>
          <p:cNvSpPr/>
          <p:nvPr/>
        </p:nvSpPr>
        <p:spPr>
          <a:xfrm>
            <a:off x="6455664" y="5669280"/>
            <a:ext cx="402336" cy="402336"/>
          </a:xfrm>
          <a:prstGeom prst="ellipse">
            <a:avLst/>
          </a:prstGeom>
          <a:solidFill>
            <a:srgbClr val="0F5C42"/>
          </a:solidFill>
          <a:ln/>
        </p:spPr>
      </p:sp>
      <p:pic>
        <p:nvPicPr>
          <p:cNvPr id="27" name="Image 4" descr="/home/claude/assets/icons/microchip.png"/>
          <p:cNvPicPr>
            <a:picLocks noChangeAspect="1"/>
          </p:cNvPicPr>
          <p:nvPr/>
        </p:nvPicPr>
        <p:blipFill>
          <a:blip r:embed="rId7"/>
          <a:stretch>
            <a:fillRect/>
          </a:stretch>
        </p:blipFill>
        <p:spPr>
          <a:xfrm>
            <a:off x="6552225" y="5765841"/>
            <a:ext cx="209215" cy="209215"/>
          </a:xfrm>
          <a:prstGeom prst="rect">
            <a:avLst/>
          </a:prstGeom>
        </p:spPr>
      </p:pic>
      <p:sp>
        <p:nvSpPr>
          <p:cNvPr id="28" name="Text 21"/>
          <p:cNvSpPr/>
          <p:nvPr/>
        </p:nvSpPr>
        <p:spPr>
          <a:xfrm>
            <a:off x="4096512" y="5650992"/>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الرقمنة والذكاء الاصطناعي</a:t>
            </a:r>
            <a:endParaRPr lang="ar-SA" sz="1290" dirty="0"/>
          </a:p>
        </p:txBody>
      </p:sp>
      <p:sp>
        <p:nvSpPr>
          <p:cNvPr id="29" name="Text 22"/>
          <p:cNvSpPr/>
          <p:nvPr/>
        </p:nvSpPr>
        <p:spPr>
          <a:xfrm>
            <a:off x="4096512" y="6053328"/>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تقييم الجاهزية للذكاء الاصطناعي، والتسعير الديناميكي، والتحليلات التنبؤية، وتحديث CRM ومنظومة التقنية، إضافةً إلى منصة Altus Gulf HK&amp;P.</a:t>
            </a:r>
            <a:endParaRPr lang="ar-SA" sz="1000" dirty="0"/>
          </a:p>
        </p:txBody>
      </p:sp>
      <p:sp>
        <p:nvSpPr>
          <p:cNvPr id="30" name="Shape 23"/>
          <p:cNvSpPr/>
          <p:nvPr/>
        </p:nvSpPr>
        <p:spPr>
          <a:xfrm>
            <a:off x="502920" y="5468112"/>
            <a:ext cx="3163824" cy="1536192"/>
          </a:xfrm>
          <a:prstGeom prst="roundRect">
            <a:avLst>
              <a:gd name="adj" fmla="val 3571"/>
            </a:avLst>
          </a:prstGeom>
          <a:solidFill>
            <a:srgbClr val="FFFFFF"/>
          </a:solidFill>
          <a:ln w="9525">
            <a:solidFill>
              <a:srgbClr val="E4DDCB"/>
            </a:solidFill>
            <a:prstDash val="solid"/>
          </a:ln>
        </p:spPr>
      </p:sp>
      <p:sp>
        <p:nvSpPr>
          <p:cNvPr id="31" name="Shape 24"/>
          <p:cNvSpPr/>
          <p:nvPr/>
        </p:nvSpPr>
        <p:spPr>
          <a:xfrm>
            <a:off x="3063240" y="5669280"/>
            <a:ext cx="402336" cy="402336"/>
          </a:xfrm>
          <a:prstGeom prst="ellipse">
            <a:avLst/>
          </a:prstGeom>
          <a:solidFill>
            <a:srgbClr val="0F5C42"/>
          </a:solidFill>
          <a:ln/>
        </p:spPr>
      </p:sp>
      <p:pic>
        <p:nvPicPr>
          <p:cNvPr id="32" name="Image 5" descr="/home/claude/assets/icons/sitemap.png"/>
          <p:cNvPicPr>
            <a:picLocks noChangeAspect="1"/>
          </p:cNvPicPr>
          <p:nvPr/>
        </p:nvPicPr>
        <p:blipFill>
          <a:blip r:embed="rId8"/>
          <a:stretch>
            <a:fillRect/>
          </a:stretch>
        </p:blipFill>
        <p:spPr>
          <a:xfrm>
            <a:off x="3159801" y="5765841"/>
            <a:ext cx="209215" cy="209215"/>
          </a:xfrm>
          <a:prstGeom prst="rect">
            <a:avLst/>
          </a:prstGeom>
        </p:spPr>
      </p:pic>
      <p:sp>
        <p:nvSpPr>
          <p:cNvPr id="33" name="Text 25"/>
          <p:cNvSpPr/>
          <p:nvPr/>
        </p:nvSpPr>
        <p:spPr>
          <a:xfrm>
            <a:off x="704088" y="5650992"/>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التنظيمية</a:t>
            </a:r>
            <a:endParaRPr lang="ar-SA" sz="1290" dirty="0"/>
          </a:p>
        </p:txBody>
      </p:sp>
      <p:sp>
        <p:nvSpPr>
          <p:cNvPr id="34" name="Text 26"/>
          <p:cNvSpPr/>
          <p:nvPr/>
        </p:nvSpPr>
        <p:spPr>
          <a:xfrm>
            <a:off x="704088" y="6053328"/>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إعادة تصميم الهياكل، ووضوح الأدوار، وتخطيط التعاقب، وتدريب القيادات، وبرامج نقل القدرات.</a:t>
            </a:r>
            <a:endParaRPr lang="ar-SA" sz="1000" dirty="0"/>
          </a:p>
        </p:txBody>
      </p:sp>
      <p:sp>
        <p:nvSpPr>
          <p:cNvPr id="35" name="Shape 27"/>
          <p:cNvSpPr/>
          <p:nvPr/>
        </p:nvSpPr>
        <p:spPr>
          <a:xfrm>
            <a:off x="3895344" y="7150608"/>
            <a:ext cx="3163824" cy="1536192"/>
          </a:xfrm>
          <a:prstGeom prst="roundRect">
            <a:avLst>
              <a:gd name="adj" fmla="val 3571"/>
            </a:avLst>
          </a:prstGeom>
          <a:solidFill>
            <a:srgbClr val="FFFFFF"/>
          </a:solidFill>
          <a:ln w="9525">
            <a:solidFill>
              <a:srgbClr val="E4DDCB"/>
            </a:solidFill>
            <a:prstDash val="solid"/>
          </a:ln>
        </p:spPr>
      </p:sp>
      <p:sp>
        <p:nvSpPr>
          <p:cNvPr id="36" name="Shape 28"/>
          <p:cNvSpPr/>
          <p:nvPr/>
        </p:nvSpPr>
        <p:spPr>
          <a:xfrm>
            <a:off x="6455664" y="7351776"/>
            <a:ext cx="402336" cy="402336"/>
          </a:xfrm>
          <a:prstGeom prst="ellipse">
            <a:avLst/>
          </a:prstGeom>
          <a:solidFill>
            <a:srgbClr val="0F5C42"/>
          </a:solidFill>
          <a:ln/>
        </p:spPr>
      </p:sp>
      <p:pic>
        <p:nvPicPr>
          <p:cNvPr id="37" name="Image 6" descr="/home/claude/assets/icons/gavel.png"/>
          <p:cNvPicPr>
            <a:picLocks noChangeAspect="1"/>
          </p:cNvPicPr>
          <p:nvPr/>
        </p:nvPicPr>
        <p:blipFill>
          <a:blip r:embed="rId9"/>
          <a:stretch>
            <a:fillRect/>
          </a:stretch>
        </p:blipFill>
        <p:spPr>
          <a:xfrm>
            <a:off x="6552225" y="7448337"/>
            <a:ext cx="209215" cy="209215"/>
          </a:xfrm>
          <a:prstGeom prst="rect">
            <a:avLst/>
          </a:prstGeom>
        </p:spPr>
      </p:pic>
      <p:sp>
        <p:nvSpPr>
          <p:cNvPr id="38" name="Text 29"/>
          <p:cNvSpPr/>
          <p:nvPr/>
        </p:nvSpPr>
        <p:spPr>
          <a:xfrm>
            <a:off x="4096512" y="7333488"/>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الحوكمة</a:t>
            </a:r>
            <a:endParaRPr lang="ar-SA" sz="1290" dirty="0"/>
          </a:p>
        </p:txBody>
      </p:sp>
      <p:sp>
        <p:nvSpPr>
          <p:cNvPr id="39" name="Text 30"/>
          <p:cNvSpPr/>
          <p:nvPr/>
        </p:nvSpPr>
        <p:spPr>
          <a:xfrm>
            <a:off x="4096512" y="7735824"/>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الإشراف على اتفاقيات إدارة الفنادق (HMA)، ومواءمة المالك والمشغّل، ومتابعة بنود الأداء، والتقارير والتأكيد على مستوى مجلس الإدارة.</a:t>
            </a:r>
            <a:endParaRPr lang="ar-SA" sz="1000" dirty="0"/>
          </a:p>
        </p:txBody>
      </p:sp>
      <p:sp>
        <p:nvSpPr>
          <p:cNvPr id="40" name="Shape 31"/>
          <p:cNvSpPr/>
          <p:nvPr/>
        </p:nvSpPr>
        <p:spPr>
          <a:xfrm>
            <a:off x="502920" y="7150608"/>
            <a:ext cx="3163824" cy="1536192"/>
          </a:xfrm>
          <a:prstGeom prst="roundRect">
            <a:avLst>
              <a:gd name="adj" fmla="val 3571"/>
            </a:avLst>
          </a:prstGeom>
          <a:solidFill>
            <a:srgbClr val="FFFFFF"/>
          </a:solidFill>
          <a:ln w="9525">
            <a:solidFill>
              <a:srgbClr val="E4DDCB"/>
            </a:solidFill>
            <a:prstDash val="solid"/>
          </a:ln>
        </p:spPr>
      </p:sp>
      <p:sp>
        <p:nvSpPr>
          <p:cNvPr id="41" name="Shape 32"/>
          <p:cNvSpPr/>
          <p:nvPr/>
        </p:nvSpPr>
        <p:spPr>
          <a:xfrm>
            <a:off x="3063240" y="7351776"/>
            <a:ext cx="402336" cy="402336"/>
          </a:xfrm>
          <a:prstGeom prst="ellipse">
            <a:avLst/>
          </a:prstGeom>
          <a:solidFill>
            <a:srgbClr val="0F5C42"/>
          </a:solidFill>
          <a:ln/>
        </p:spPr>
      </p:sp>
      <p:pic>
        <p:nvPicPr>
          <p:cNvPr id="42" name="Image 7" descr="/home/claude/assets/icons/exchange.png"/>
          <p:cNvPicPr>
            <a:picLocks noChangeAspect="1"/>
          </p:cNvPicPr>
          <p:nvPr/>
        </p:nvPicPr>
        <p:blipFill>
          <a:blip r:embed="rId10"/>
          <a:stretch>
            <a:fillRect/>
          </a:stretch>
        </p:blipFill>
        <p:spPr>
          <a:xfrm>
            <a:off x="3159801" y="7448337"/>
            <a:ext cx="209215" cy="209215"/>
          </a:xfrm>
          <a:prstGeom prst="rect">
            <a:avLst/>
          </a:prstGeom>
        </p:spPr>
      </p:pic>
      <p:sp>
        <p:nvSpPr>
          <p:cNvPr id="43" name="Text 33"/>
          <p:cNvSpPr/>
          <p:nvPr/>
        </p:nvSpPr>
        <p:spPr>
          <a:xfrm>
            <a:off x="704088" y="7333488"/>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التحوّل</a:t>
            </a:r>
            <a:endParaRPr lang="ar-SA" sz="1290" dirty="0"/>
          </a:p>
        </p:txBody>
      </p:sp>
      <p:sp>
        <p:nvSpPr>
          <p:cNvPr id="44" name="Text 34"/>
          <p:cNvSpPr/>
          <p:nvPr/>
        </p:nvSpPr>
        <p:spPr>
          <a:xfrm>
            <a:off x="704088" y="7735824"/>
            <a:ext cx="2761488" cy="914400"/>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إدارة التحوّل والتعافي، وبروتوكولات التغيير، والدمج بعد الاندماج، وبرامج الأداء على مستوى المؤسسة.</a:t>
            </a:r>
            <a:endParaRPr lang="ar-SA" sz="1000" dirty="0"/>
          </a:p>
        </p:txBody>
      </p:sp>
      <p:sp>
        <p:nvSpPr>
          <p:cNvPr id="45" name="Text 35"/>
          <p:cNvSpPr/>
          <p:nvPr/>
        </p:nvSpPr>
        <p:spPr>
          <a:xfrm>
            <a:off x="502920" y="8924544"/>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تُقدَّم كل قدرة على يد الشركاء الرئيسيين، ولا تُفوَّض إلى فريق مبتدئ.</a:t>
            </a:r>
            <a:endParaRPr lang="ar-SA" sz="1340" dirty="0"/>
          </a:p>
        </p:txBody>
      </p:sp>
      <p:sp>
        <p:nvSpPr>
          <p:cNvPr id="46" name="Shape 36"/>
          <p:cNvSpPr/>
          <p:nvPr/>
        </p:nvSpPr>
        <p:spPr>
          <a:xfrm>
            <a:off x="502920" y="10186416"/>
            <a:ext cx="6556248" cy="0"/>
          </a:xfrm>
          <a:prstGeom prst="line">
            <a:avLst/>
          </a:prstGeom>
          <a:noFill/>
          <a:ln w="9525">
            <a:solidFill>
              <a:srgbClr val="E4DDCB"/>
            </a:solidFill>
            <a:prstDash val="solid"/>
          </a:ln>
        </p:spPr>
      </p:sp>
      <p:sp>
        <p:nvSpPr>
          <p:cNvPr id="47" name="Text 37"/>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48" name="Text 38"/>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13</a:t>
            </a:r>
            <a:endParaRPr lang="ar-SA" sz="88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12  •  المواءمة الوطنية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مصمَّمة لدعم رؤية السعودية 2030</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رؤية 2030 ليست مخططًا لمستقبل بعيد، بل تحوّل وطني حيّ وواسع النطاق يجري بالفعل. وقد واءمت Altus Gulf رسالتها وبنية خدماتها لدعم ركائز المملكة الأساسية بصورة مباشرة، بحيث لا يكتفي شركاؤنا بالمشاركة في هذا النمو التاريخي، بل يسهمون في قيادته.</a:t>
            </a:r>
            <a:endParaRPr lang="ar-SA" sz="1180" dirty="0"/>
          </a:p>
        </p:txBody>
      </p:sp>
      <p:sp>
        <p:nvSpPr>
          <p:cNvPr id="5" name="Shape 3"/>
          <p:cNvSpPr/>
          <p:nvPr/>
        </p:nvSpPr>
        <p:spPr>
          <a:xfrm>
            <a:off x="3895344" y="2103120"/>
            <a:ext cx="3163824" cy="2468880"/>
          </a:xfrm>
          <a:prstGeom prst="roundRect">
            <a:avLst>
              <a:gd name="adj" fmla="val 2222"/>
            </a:avLst>
          </a:prstGeom>
          <a:solidFill>
            <a:srgbClr val="F3EEE4"/>
          </a:solidFill>
          <a:ln w="9525">
            <a:solidFill>
              <a:srgbClr val="E4DDCB"/>
            </a:solidFill>
            <a:prstDash val="solid"/>
          </a:ln>
        </p:spPr>
      </p:sp>
      <p:sp>
        <p:nvSpPr>
          <p:cNvPr id="6" name="Shape 4"/>
          <p:cNvSpPr/>
          <p:nvPr/>
        </p:nvSpPr>
        <p:spPr>
          <a:xfrm>
            <a:off x="6391656" y="2249424"/>
            <a:ext cx="512064" cy="512064"/>
          </a:xfrm>
          <a:prstGeom prst="ellipse">
            <a:avLst/>
          </a:prstGeom>
          <a:solidFill>
            <a:srgbClr val="0F5C42"/>
          </a:solidFill>
          <a:ln/>
        </p:spPr>
      </p:sp>
      <p:pic>
        <p:nvPicPr>
          <p:cNvPr id="7" name="Image 0" descr="/home/claude/assets/icons/umbrella.png"/>
          <p:cNvPicPr>
            <a:picLocks noChangeAspect="1"/>
          </p:cNvPicPr>
          <p:nvPr/>
        </p:nvPicPr>
        <p:blipFill>
          <a:blip r:embed="rId3"/>
          <a:stretch>
            <a:fillRect/>
          </a:stretch>
        </p:blipFill>
        <p:spPr>
          <a:xfrm>
            <a:off x="6514551" y="2372319"/>
            <a:ext cx="266273" cy="266273"/>
          </a:xfrm>
          <a:prstGeom prst="rect">
            <a:avLst/>
          </a:prstGeom>
        </p:spPr>
      </p:pic>
      <p:sp>
        <p:nvSpPr>
          <p:cNvPr id="8" name="Text 5"/>
          <p:cNvSpPr/>
          <p:nvPr/>
        </p:nvSpPr>
        <p:spPr>
          <a:xfrm>
            <a:off x="4059936" y="2267712"/>
            <a:ext cx="2249424" cy="182880"/>
          </a:xfrm>
          <a:prstGeom prst="rect">
            <a:avLst/>
          </a:prstGeom>
          <a:noFill/>
          <a:ln/>
        </p:spPr>
        <p:txBody>
          <a:bodyPr wrap="square" rtlCol="0" anchor="ctr"/>
          <a:lstStyle/>
          <a:p>
            <a:pPr marL="0" indent="0" algn="r" rtl="1">
              <a:lnSpc>
                <a:spcPct val="98000"/>
              </a:lnSpc>
              <a:buNone/>
            </a:pPr>
            <a:r>
              <a:rPr lang="ar-SA" altLang="en-US" sz="850" b="1" dirty="0">
                <a:solidFill>
                  <a:srgbClr val="C1501D"/>
                </a:solidFill>
                <a:latin typeface="Arial" pitchFamily="34" charset="0"/>
                <a:ea typeface="Arial" pitchFamily="34" charset="-122"/>
                <a:cs typeface="Arial" pitchFamily="34" charset="-120"/>
              </a:rPr>
              <a:t>الركيزة الأولى</a:t>
            </a:r>
            <a:endParaRPr lang="ar-SA" sz="850" dirty="0"/>
          </a:p>
        </p:txBody>
      </p:sp>
      <p:sp>
        <p:nvSpPr>
          <p:cNvPr id="9" name="Text 6"/>
          <p:cNvSpPr/>
          <p:nvPr/>
        </p:nvSpPr>
        <p:spPr>
          <a:xfrm>
            <a:off x="4059936" y="2441448"/>
            <a:ext cx="2249424" cy="502920"/>
          </a:xfrm>
          <a:prstGeom prst="rect">
            <a:avLst/>
          </a:prstGeom>
          <a:noFill/>
          <a:ln/>
        </p:spPr>
        <p:txBody>
          <a:bodyPr wrap="square" rtlCol="0" anchor="t"/>
          <a:lstStyle/>
          <a:p>
            <a:pPr marL="0" indent="0" algn="r" rtl="1">
              <a:lnSpc>
                <a:spcPct val="109760"/>
              </a:lnSpc>
              <a:buNone/>
            </a:pPr>
            <a:r>
              <a:rPr lang="ar-SA" altLang="en-US" sz="1220" b="1" dirty="0">
                <a:solidFill>
                  <a:srgbClr val="0B1B2B"/>
                </a:solidFill>
                <a:latin typeface="Arial" pitchFamily="34" charset="0"/>
                <a:ea typeface="Arial" pitchFamily="34" charset="-122"/>
                <a:cs typeface="Arial" pitchFamily="34" charset="-120"/>
              </a:rPr>
              <a:t>دعم الطفرة في السياحة والضيافة</a:t>
            </a:r>
            <a:endParaRPr lang="ar-SA" sz="1220" dirty="0"/>
          </a:p>
        </p:txBody>
      </p:sp>
      <p:sp>
        <p:nvSpPr>
          <p:cNvPr id="10" name="Text 7"/>
          <p:cNvSpPr/>
          <p:nvPr/>
        </p:nvSpPr>
        <p:spPr>
          <a:xfrm>
            <a:off x="4123944" y="3017520"/>
            <a:ext cx="2706624" cy="1417320"/>
          </a:xfrm>
          <a:prstGeom prst="rect">
            <a:avLst/>
          </a:prstGeom>
          <a:noFill/>
          <a:ln/>
        </p:spPr>
        <p:txBody>
          <a:bodyPr wrap="square" rtlCol="0" anchor="t"/>
          <a:lstStyle/>
          <a:p>
            <a:pPr marL="0" indent="0" algn="r" rtl="1">
              <a:lnSpc>
                <a:spcPct val="122500"/>
              </a:lnSpc>
              <a:buNone/>
            </a:pPr>
            <a:r>
              <a:rPr lang="ar-SA" altLang="en-US" sz="970" dirty="0">
                <a:solidFill>
                  <a:srgbClr val="2B2A27"/>
                </a:solidFill>
                <a:latin typeface="Arial" pitchFamily="34" charset="0"/>
                <a:ea typeface="Arial" pitchFamily="34" charset="-122"/>
                <a:cs typeface="Arial" pitchFamily="34" charset="-120"/>
              </a:rPr>
              <a:t>مع استهداف المملكة 150 مليون زيارة سنويًا بحلول 2030، نعمل شريكًا استراتيجيًا للمطوّرين والمستثمرين: تمثيل المالك، والتحقق من الجدوى، وتحسين التشغيل، بما يدعم تسليم أصول فندقية جديدة في موعدها وضمن ميزانيتها، ومصمَّمة لتحقيق GOP منذ اليوم الأول.</a:t>
            </a:r>
            <a:endParaRPr lang="ar-SA" sz="970" dirty="0"/>
          </a:p>
        </p:txBody>
      </p:sp>
      <p:sp>
        <p:nvSpPr>
          <p:cNvPr id="11" name="Shape 8"/>
          <p:cNvSpPr/>
          <p:nvPr/>
        </p:nvSpPr>
        <p:spPr>
          <a:xfrm>
            <a:off x="502920" y="2103120"/>
            <a:ext cx="3163824" cy="2468880"/>
          </a:xfrm>
          <a:prstGeom prst="roundRect">
            <a:avLst>
              <a:gd name="adj" fmla="val 2222"/>
            </a:avLst>
          </a:prstGeom>
          <a:solidFill>
            <a:srgbClr val="FFFFFF"/>
          </a:solidFill>
          <a:ln w="9525">
            <a:solidFill>
              <a:srgbClr val="E4DDCB"/>
            </a:solidFill>
            <a:prstDash val="solid"/>
          </a:ln>
        </p:spPr>
      </p:sp>
      <p:sp>
        <p:nvSpPr>
          <p:cNvPr id="12" name="Shape 9"/>
          <p:cNvSpPr/>
          <p:nvPr/>
        </p:nvSpPr>
        <p:spPr>
          <a:xfrm>
            <a:off x="2999232" y="2249424"/>
            <a:ext cx="512064" cy="512064"/>
          </a:xfrm>
          <a:prstGeom prst="ellipse">
            <a:avLst/>
          </a:prstGeom>
          <a:solidFill>
            <a:srgbClr val="0F5C42"/>
          </a:solidFill>
          <a:ln/>
        </p:spPr>
      </p:sp>
      <p:pic>
        <p:nvPicPr>
          <p:cNvPr id="13" name="Image 1" descr="/home/claude/assets/icons/robot.png"/>
          <p:cNvPicPr>
            <a:picLocks noChangeAspect="1"/>
          </p:cNvPicPr>
          <p:nvPr/>
        </p:nvPicPr>
        <p:blipFill>
          <a:blip r:embed="rId4"/>
          <a:stretch>
            <a:fillRect/>
          </a:stretch>
        </p:blipFill>
        <p:spPr>
          <a:xfrm>
            <a:off x="3122127" y="2372319"/>
            <a:ext cx="266273" cy="266273"/>
          </a:xfrm>
          <a:prstGeom prst="rect">
            <a:avLst/>
          </a:prstGeom>
        </p:spPr>
      </p:pic>
      <p:sp>
        <p:nvSpPr>
          <p:cNvPr id="14" name="Text 10"/>
          <p:cNvSpPr/>
          <p:nvPr/>
        </p:nvSpPr>
        <p:spPr>
          <a:xfrm>
            <a:off x="667512" y="2267712"/>
            <a:ext cx="2249424" cy="182880"/>
          </a:xfrm>
          <a:prstGeom prst="rect">
            <a:avLst/>
          </a:prstGeom>
          <a:noFill/>
          <a:ln/>
        </p:spPr>
        <p:txBody>
          <a:bodyPr wrap="square" rtlCol="0" anchor="ctr"/>
          <a:lstStyle/>
          <a:p>
            <a:pPr marL="0" indent="0" algn="r" rtl="1">
              <a:lnSpc>
                <a:spcPct val="98000"/>
              </a:lnSpc>
              <a:buNone/>
            </a:pPr>
            <a:r>
              <a:rPr lang="ar-SA" altLang="en-US" sz="850" b="1" dirty="0">
                <a:solidFill>
                  <a:srgbClr val="C1501D"/>
                </a:solidFill>
                <a:latin typeface="Arial" pitchFamily="34" charset="0"/>
                <a:ea typeface="Arial" pitchFamily="34" charset="-122"/>
                <a:cs typeface="Arial" pitchFamily="34" charset="-120"/>
              </a:rPr>
              <a:t>الركيزة الثانية</a:t>
            </a:r>
            <a:endParaRPr lang="ar-SA" sz="850" dirty="0"/>
          </a:p>
        </p:txBody>
      </p:sp>
      <p:sp>
        <p:nvSpPr>
          <p:cNvPr id="15" name="Text 11"/>
          <p:cNvSpPr/>
          <p:nvPr/>
        </p:nvSpPr>
        <p:spPr>
          <a:xfrm>
            <a:off x="667512" y="2441448"/>
            <a:ext cx="2249424" cy="502920"/>
          </a:xfrm>
          <a:prstGeom prst="rect">
            <a:avLst/>
          </a:prstGeom>
          <a:noFill/>
          <a:ln/>
        </p:spPr>
        <p:txBody>
          <a:bodyPr wrap="square" rtlCol="0" anchor="t"/>
          <a:lstStyle/>
          <a:p>
            <a:pPr marL="0" indent="0" algn="r" rtl="1">
              <a:lnSpc>
                <a:spcPct val="109760"/>
              </a:lnSpc>
              <a:buNone/>
            </a:pPr>
            <a:r>
              <a:rPr lang="ar-SA" altLang="en-US" sz="1220" b="1" dirty="0">
                <a:solidFill>
                  <a:srgbClr val="0B1B2B"/>
                </a:solidFill>
                <a:latin typeface="Arial" pitchFamily="34" charset="0"/>
                <a:ea typeface="Arial" pitchFamily="34" charset="-122"/>
                <a:cs typeface="Arial" pitchFamily="34" charset="-120"/>
              </a:rPr>
              <a:t>تعزيز الريادة الرقمية والذكاء الاصطناعي</a:t>
            </a:r>
            <a:endParaRPr lang="ar-SA" sz="1220" dirty="0"/>
          </a:p>
        </p:txBody>
      </p:sp>
      <p:sp>
        <p:nvSpPr>
          <p:cNvPr id="16" name="Text 12"/>
          <p:cNvSpPr/>
          <p:nvPr/>
        </p:nvSpPr>
        <p:spPr>
          <a:xfrm>
            <a:off x="731520" y="3017520"/>
            <a:ext cx="2706624" cy="1417320"/>
          </a:xfrm>
          <a:prstGeom prst="rect">
            <a:avLst/>
          </a:prstGeom>
          <a:noFill/>
          <a:ln/>
        </p:spPr>
        <p:txBody>
          <a:bodyPr wrap="square" rtlCol="0" anchor="t"/>
          <a:lstStyle/>
          <a:p>
            <a:pPr marL="0" indent="0" algn="r" rtl="1">
              <a:lnSpc>
                <a:spcPct val="122500"/>
              </a:lnSpc>
              <a:buNone/>
            </a:pPr>
            <a:r>
              <a:rPr lang="ar-SA" altLang="en-US" sz="970" dirty="0">
                <a:solidFill>
                  <a:srgbClr val="2B2A27"/>
                </a:solidFill>
                <a:latin typeface="Arial" pitchFamily="34" charset="0"/>
                <a:ea typeface="Arial" pitchFamily="34" charset="-122"/>
                <a:cs typeface="Arial" pitchFamily="34" charset="-120"/>
              </a:rPr>
              <a:t>دعم مجتمع ممكَّن رقميًا واقتصاد متقدّم تقنيًا: تسعير ديناميكي قائم على الذكاء الاصطناعي، وإدارة إيرادات تنبؤية، وتسويق رقمي متقدم. وتستبدل منصة Altus Gulf للمعرفة والأداء في قطاع الضيافة الإجراءات الورقية بنظام رقمي محكوم يدعم الشفافية وثقافة التحسين المستمر.</a:t>
            </a:r>
            <a:endParaRPr lang="ar-SA" sz="970" dirty="0"/>
          </a:p>
        </p:txBody>
      </p:sp>
      <p:sp>
        <p:nvSpPr>
          <p:cNvPr id="17" name="Shape 13"/>
          <p:cNvSpPr/>
          <p:nvPr/>
        </p:nvSpPr>
        <p:spPr>
          <a:xfrm>
            <a:off x="3895344" y="4754880"/>
            <a:ext cx="3163824" cy="2468880"/>
          </a:xfrm>
          <a:prstGeom prst="roundRect">
            <a:avLst>
              <a:gd name="adj" fmla="val 2222"/>
            </a:avLst>
          </a:prstGeom>
          <a:solidFill>
            <a:srgbClr val="FFFFFF"/>
          </a:solidFill>
          <a:ln w="9525">
            <a:solidFill>
              <a:srgbClr val="E4DDCB"/>
            </a:solidFill>
            <a:prstDash val="solid"/>
          </a:ln>
        </p:spPr>
      </p:sp>
      <p:sp>
        <p:nvSpPr>
          <p:cNvPr id="18" name="Shape 14"/>
          <p:cNvSpPr/>
          <p:nvPr/>
        </p:nvSpPr>
        <p:spPr>
          <a:xfrm>
            <a:off x="6391656" y="4901184"/>
            <a:ext cx="512064" cy="512064"/>
          </a:xfrm>
          <a:prstGeom prst="ellipse">
            <a:avLst/>
          </a:prstGeom>
          <a:solidFill>
            <a:srgbClr val="0F5C42"/>
          </a:solidFill>
          <a:ln/>
        </p:spPr>
      </p:sp>
      <p:pic>
        <p:nvPicPr>
          <p:cNvPr id="19" name="Image 2" descr="/home/claude/assets/icons/gradcap.png"/>
          <p:cNvPicPr>
            <a:picLocks noChangeAspect="1"/>
          </p:cNvPicPr>
          <p:nvPr/>
        </p:nvPicPr>
        <p:blipFill>
          <a:blip r:embed="rId5"/>
          <a:stretch>
            <a:fillRect/>
          </a:stretch>
        </p:blipFill>
        <p:spPr>
          <a:xfrm>
            <a:off x="6514551" y="5024079"/>
            <a:ext cx="266273" cy="266273"/>
          </a:xfrm>
          <a:prstGeom prst="rect">
            <a:avLst/>
          </a:prstGeom>
        </p:spPr>
      </p:pic>
      <p:sp>
        <p:nvSpPr>
          <p:cNvPr id="20" name="Text 15"/>
          <p:cNvSpPr/>
          <p:nvPr/>
        </p:nvSpPr>
        <p:spPr>
          <a:xfrm>
            <a:off x="4059936" y="4919472"/>
            <a:ext cx="2249424" cy="182880"/>
          </a:xfrm>
          <a:prstGeom prst="rect">
            <a:avLst/>
          </a:prstGeom>
          <a:noFill/>
          <a:ln/>
        </p:spPr>
        <p:txBody>
          <a:bodyPr wrap="square" rtlCol="0" anchor="ctr"/>
          <a:lstStyle/>
          <a:p>
            <a:pPr marL="0" indent="0" algn="r" rtl="1">
              <a:lnSpc>
                <a:spcPct val="98000"/>
              </a:lnSpc>
              <a:buNone/>
            </a:pPr>
            <a:r>
              <a:rPr lang="ar-SA" altLang="en-US" sz="850" b="1" dirty="0">
                <a:solidFill>
                  <a:srgbClr val="C1501D"/>
                </a:solidFill>
                <a:latin typeface="Arial" pitchFamily="34" charset="0"/>
                <a:ea typeface="Arial" pitchFamily="34" charset="-122"/>
                <a:cs typeface="Arial" pitchFamily="34" charset="-120"/>
              </a:rPr>
              <a:t>الركيزة الثالثة</a:t>
            </a:r>
            <a:endParaRPr lang="ar-SA" sz="850" dirty="0"/>
          </a:p>
        </p:txBody>
      </p:sp>
      <p:sp>
        <p:nvSpPr>
          <p:cNvPr id="21" name="Text 16"/>
          <p:cNvSpPr/>
          <p:nvPr/>
        </p:nvSpPr>
        <p:spPr>
          <a:xfrm>
            <a:off x="4059936" y="5093208"/>
            <a:ext cx="2249424" cy="502920"/>
          </a:xfrm>
          <a:prstGeom prst="rect">
            <a:avLst/>
          </a:prstGeom>
          <a:noFill/>
          <a:ln/>
        </p:spPr>
        <p:txBody>
          <a:bodyPr wrap="square" rtlCol="0" anchor="t"/>
          <a:lstStyle/>
          <a:p>
            <a:pPr marL="0" indent="0" algn="r" rtl="1">
              <a:lnSpc>
                <a:spcPct val="109760"/>
              </a:lnSpc>
              <a:buNone/>
            </a:pPr>
            <a:r>
              <a:rPr lang="ar-SA" altLang="en-US" sz="1220" b="1" dirty="0">
                <a:solidFill>
                  <a:srgbClr val="0B1B2B"/>
                </a:solidFill>
                <a:latin typeface="Arial" pitchFamily="34" charset="0"/>
                <a:ea typeface="Arial" pitchFamily="34" charset="-122"/>
                <a:cs typeface="Arial" pitchFamily="34" charset="-120"/>
              </a:rPr>
              <a:t>تمكين رأس المال البشري السعودي</a:t>
            </a:r>
            <a:endParaRPr lang="ar-SA" sz="1220" dirty="0"/>
          </a:p>
        </p:txBody>
      </p:sp>
      <p:sp>
        <p:nvSpPr>
          <p:cNvPr id="22" name="Text 17"/>
          <p:cNvSpPr/>
          <p:nvPr/>
        </p:nvSpPr>
        <p:spPr>
          <a:xfrm>
            <a:off x="4123944" y="5669280"/>
            <a:ext cx="2706624" cy="1417320"/>
          </a:xfrm>
          <a:prstGeom prst="rect">
            <a:avLst/>
          </a:prstGeom>
          <a:noFill/>
          <a:ln/>
        </p:spPr>
        <p:txBody>
          <a:bodyPr wrap="square" rtlCol="0" anchor="t"/>
          <a:lstStyle/>
          <a:p>
            <a:pPr marL="0" indent="0" algn="r" rtl="1">
              <a:lnSpc>
                <a:spcPct val="122500"/>
              </a:lnSpc>
              <a:buNone/>
            </a:pPr>
            <a:r>
              <a:rPr lang="ar-SA" altLang="en-US" sz="970" dirty="0">
                <a:solidFill>
                  <a:srgbClr val="2B2A27"/>
                </a:solidFill>
                <a:latin typeface="Arial" pitchFamily="34" charset="0"/>
                <a:ea typeface="Arial" pitchFamily="34" charset="-122"/>
                <a:cs typeface="Arial" pitchFamily="34" charset="-120"/>
              </a:rPr>
              <a:t>انسجامًا مع أهداف التوطين وتمكين الشباب، تُسهم برامجنا في التدريب التنفيذي وأطر الكفاءات القيادية ونقل المعرفة في بناء جيل من القيادات السعودية المنافسة عالميًا، وتُقدَّم اليوم على نطاق واسع عبر الأكاديمية الرقمية ثنائية اللغة ومسارات التعلّم والاعتماد في المنصة.</a:t>
            </a:r>
            <a:endParaRPr lang="ar-SA" sz="970" dirty="0"/>
          </a:p>
        </p:txBody>
      </p:sp>
      <p:sp>
        <p:nvSpPr>
          <p:cNvPr id="23" name="Shape 18"/>
          <p:cNvSpPr/>
          <p:nvPr/>
        </p:nvSpPr>
        <p:spPr>
          <a:xfrm>
            <a:off x="502920" y="4754880"/>
            <a:ext cx="3163824" cy="2468880"/>
          </a:xfrm>
          <a:prstGeom prst="roundRect">
            <a:avLst>
              <a:gd name="adj" fmla="val 2222"/>
            </a:avLst>
          </a:prstGeom>
          <a:solidFill>
            <a:srgbClr val="FFFFFF"/>
          </a:solidFill>
          <a:ln w="9525">
            <a:solidFill>
              <a:srgbClr val="E4DDCB"/>
            </a:solidFill>
            <a:prstDash val="solid"/>
          </a:ln>
        </p:spPr>
      </p:sp>
      <p:sp>
        <p:nvSpPr>
          <p:cNvPr id="24" name="Shape 19"/>
          <p:cNvSpPr/>
          <p:nvPr/>
        </p:nvSpPr>
        <p:spPr>
          <a:xfrm>
            <a:off x="2999232" y="4901184"/>
            <a:ext cx="512064" cy="512064"/>
          </a:xfrm>
          <a:prstGeom prst="ellipse">
            <a:avLst/>
          </a:prstGeom>
          <a:solidFill>
            <a:srgbClr val="0F5C42"/>
          </a:solidFill>
          <a:ln/>
        </p:spPr>
      </p:sp>
      <p:pic>
        <p:nvPicPr>
          <p:cNvPr id="25" name="Image 3" descr="/home/claude/assets/icons/seedling.png"/>
          <p:cNvPicPr>
            <a:picLocks noChangeAspect="1"/>
          </p:cNvPicPr>
          <p:nvPr/>
        </p:nvPicPr>
        <p:blipFill>
          <a:blip r:embed="rId6"/>
          <a:stretch>
            <a:fillRect/>
          </a:stretch>
        </p:blipFill>
        <p:spPr>
          <a:xfrm>
            <a:off x="3122127" y="5024079"/>
            <a:ext cx="266273" cy="266273"/>
          </a:xfrm>
          <a:prstGeom prst="rect">
            <a:avLst/>
          </a:prstGeom>
        </p:spPr>
      </p:pic>
      <p:sp>
        <p:nvSpPr>
          <p:cNvPr id="26" name="Text 20"/>
          <p:cNvSpPr/>
          <p:nvPr/>
        </p:nvSpPr>
        <p:spPr>
          <a:xfrm>
            <a:off x="667512" y="4919472"/>
            <a:ext cx="2249424" cy="182880"/>
          </a:xfrm>
          <a:prstGeom prst="rect">
            <a:avLst/>
          </a:prstGeom>
          <a:noFill/>
          <a:ln/>
        </p:spPr>
        <p:txBody>
          <a:bodyPr wrap="square" rtlCol="0" anchor="ctr"/>
          <a:lstStyle/>
          <a:p>
            <a:pPr marL="0" indent="0" algn="r" rtl="1">
              <a:lnSpc>
                <a:spcPct val="98000"/>
              </a:lnSpc>
              <a:buNone/>
            </a:pPr>
            <a:r>
              <a:rPr lang="ar-SA" altLang="en-US" sz="850" b="1" dirty="0">
                <a:solidFill>
                  <a:srgbClr val="C1501D"/>
                </a:solidFill>
                <a:latin typeface="Arial" pitchFamily="34" charset="0"/>
                <a:ea typeface="Arial" pitchFamily="34" charset="-122"/>
                <a:cs typeface="Arial" pitchFamily="34" charset="-120"/>
              </a:rPr>
              <a:t>الركيزة الرابعة</a:t>
            </a:r>
            <a:endParaRPr lang="ar-SA" sz="850" dirty="0"/>
          </a:p>
        </p:txBody>
      </p:sp>
      <p:sp>
        <p:nvSpPr>
          <p:cNvPr id="27" name="Text 21"/>
          <p:cNvSpPr/>
          <p:nvPr/>
        </p:nvSpPr>
        <p:spPr>
          <a:xfrm>
            <a:off x="667512" y="5093208"/>
            <a:ext cx="2249424" cy="502920"/>
          </a:xfrm>
          <a:prstGeom prst="rect">
            <a:avLst/>
          </a:prstGeom>
          <a:noFill/>
          <a:ln/>
        </p:spPr>
        <p:txBody>
          <a:bodyPr wrap="square" rtlCol="0" anchor="t"/>
          <a:lstStyle/>
          <a:p>
            <a:pPr marL="0" indent="0" algn="r" rtl="1">
              <a:lnSpc>
                <a:spcPct val="109760"/>
              </a:lnSpc>
              <a:buNone/>
            </a:pPr>
            <a:r>
              <a:rPr lang="ar-SA" altLang="en-US" sz="1220" b="1" dirty="0">
                <a:solidFill>
                  <a:srgbClr val="0B1B2B"/>
                </a:solidFill>
                <a:latin typeface="Arial" pitchFamily="34" charset="0"/>
                <a:ea typeface="Arial" pitchFamily="34" charset="-122"/>
                <a:cs typeface="Arial" pitchFamily="34" charset="-120"/>
              </a:rPr>
              <a:t>تمكين المنشآت الصغيرة والمتوسطة والشركات الناشئة ورواد الأعمال الجريئين</a:t>
            </a:r>
            <a:endParaRPr lang="ar-SA" sz="1220" dirty="0"/>
          </a:p>
        </p:txBody>
      </p:sp>
      <p:sp>
        <p:nvSpPr>
          <p:cNvPr id="28" name="Text 22"/>
          <p:cNvSpPr/>
          <p:nvPr/>
        </p:nvSpPr>
        <p:spPr>
          <a:xfrm>
            <a:off x="731520" y="5669280"/>
            <a:ext cx="2706624" cy="1417320"/>
          </a:xfrm>
          <a:prstGeom prst="rect">
            <a:avLst/>
          </a:prstGeom>
          <a:noFill/>
          <a:ln/>
        </p:spPr>
        <p:txBody>
          <a:bodyPr wrap="square" rtlCol="0" anchor="t"/>
          <a:lstStyle/>
          <a:p>
            <a:pPr marL="0" indent="0" algn="r" rtl="1">
              <a:lnSpc>
                <a:spcPct val="122500"/>
              </a:lnSpc>
              <a:buNone/>
            </a:pPr>
            <a:r>
              <a:rPr lang="ar-SA" altLang="en-US" sz="970" dirty="0">
                <a:solidFill>
                  <a:srgbClr val="2B2A27"/>
                </a:solidFill>
                <a:latin typeface="Arial" pitchFamily="34" charset="0"/>
                <a:ea typeface="Arial" pitchFamily="34" charset="-122"/>
                <a:cs typeface="Arial" pitchFamily="34" charset="-120"/>
              </a:rPr>
              <a:t>تعطي رؤية 2030 أولوية لمساهمة المنشآت الصغيرة والمتوسطة في الناتج المحلي الإجمالي. ونحن نقدّم معايير استشارية من الفئة الأولى، التي عادةً ما تكون حكرًا على المجموعات الكبرى، إلى الشركات الناشئة والمتنامية في السعودية، وقد سعّرنا منصتنا عمدًا بما يناسب الفنادق المستقلة والمنشآت الصغيرة والمتوسطة، دعمًا للمرونة والنمو منذ اليوم الأول.</a:t>
            </a:r>
            <a:endParaRPr lang="ar-SA" sz="970" dirty="0"/>
          </a:p>
        </p:txBody>
      </p:sp>
      <p:sp>
        <p:nvSpPr>
          <p:cNvPr id="29" name="Shape 23"/>
          <p:cNvSpPr/>
          <p:nvPr/>
        </p:nvSpPr>
        <p:spPr>
          <a:xfrm>
            <a:off x="502920" y="7543800"/>
            <a:ext cx="6556248" cy="1600200"/>
          </a:xfrm>
          <a:prstGeom prst="roundRect">
            <a:avLst>
              <a:gd name="adj" fmla="val 3429"/>
            </a:avLst>
          </a:prstGeom>
          <a:solidFill>
            <a:srgbClr val="0B1B2B"/>
          </a:solidFill>
          <a:ln/>
        </p:spPr>
      </p:sp>
      <p:sp>
        <p:nvSpPr>
          <p:cNvPr id="30" name="Text 24"/>
          <p:cNvSpPr/>
          <p:nvPr/>
        </p:nvSpPr>
        <p:spPr>
          <a:xfrm>
            <a:off x="777240" y="7744968"/>
            <a:ext cx="6007608" cy="219456"/>
          </a:xfrm>
          <a:prstGeom prst="rect">
            <a:avLst/>
          </a:prstGeom>
          <a:noFill/>
          <a:ln/>
        </p:spPr>
        <p:txBody>
          <a:bodyPr wrap="square" rtlCol="0" anchor="ctr"/>
          <a:lstStyle/>
          <a:p>
            <a:pPr marL="0" indent="0" algn="r" rtl="1">
              <a:lnSpc>
                <a:spcPct val="98000"/>
              </a:lnSpc>
              <a:buNone/>
            </a:pPr>
            <a:r>
              <a:rPr lang="ar-SA" altLang="en-US" sz="1030" b="1" dirty="0">
                <a:solidFill>
                  <a:srgbClr val="E4C98A"/>
                </a:solidFill>
                <a:latin typeface="Arial" pitchFamily="34" charset="0"/>
                <a:ea typeface="Arial" pitchFamily="34" charset="-122"/>
                <a:cs typeface="Arial" pitchFamily="34" charset="-120"/>
              </a:rPr>
              <a:t>دورنا في نمو المملكة</a:t>
            </a:r>
            <a:endParaRPr lang="ar-SA" sz="1030" dirty="0"/>
          </a:p>
        </p:txBody>
      </p:sp>
      <p:sp>
        <p:nvSpPr>
          <p:cNvPr id="31" name="Text 25"/>
          <p:cNvSpPr/>
          <p:nvPr/>
        </p:nvSpPr>
        <p:spPr>
          <a:xfrm>
            <a:off x="777240" y="8046720"/>
            <a:ext cx="6007608" cy="1005840"/>
          </a:xfrm>
          <a:prstGeom prst="rect">
            <a:avLst/>
          </a:prstGeom>
          <a:noFill/>
          <a:ln/>
        </p:spPr>
        <p:txBody>
          <a:bodyPr wrap="square" rtlCol="0" anchor="t"/>
          <a:lstStyle/>
          <a:p>
            <a:pPr marL="0" indent="0" algn="r" rtl="1">
              <a:lnSpc>
                <a:spcPct val="127400"/>
              </a:lnSpc>
              <a:buNone/>
            </a:pPr>
            <a:r>
              <a:rPr lang="ar-SA" altLang="en-US" sz="1240" dirty="0">
                <a:solidFill>
                  <a:srgbClr val="FFFFFF"/>
                </a:solidFill>
                <a:latin typeface="Arial" pitchFamily="34" charset="0"/>
                <a:ea typeface="Arial" pitchFamily="34" charset="-122"/>
                <a:cs typeface="Arial" pitchFamily="34" charset="-120"/>
              </a:rPr>
              <a:t>نرى في رؤية 2030 فرصة وطنية مشتركة. ومن موقعنا عند نقطة التقاء عمليات الضيافة بذكاء الأعمال التطبيقي، واستثمارنا في منتجات رقمية خاصة موجّهة للسوق السعودي، نُسهم في تمكين شركائنا في المملكة من صياغة مستقبل قطاعاتهم.</a:t>
            </a:r>
            <a:endParaRPr lang="ar-SA" sz="1240" dirty="0"/>
          </a:p>
        </p:txBody>
      </p:sp>
      <p:pic>
        <p:nvPicPr>
          <p:cNvPr id="32" name="Image 4" descr="/home/claude/assets/monogram.png"/>
          <p:cNvPicPr>
            <a:picLocks noChangeAspect="1"/>
          </p:cNvPicPr>
          <p:nvPr/>
        </p:nvPicPr>
        <p:blipFill>
          <a:blip r:embed="rId7">
            <a:alphaModFix amt="18000"/>
          </a:blip>
          <a:stretch>
            <a:fillRect/>
          </a:stretch>
        </p:blipFill>
        <p:spPr>
          <a:xfrm>
            <a:off x="3323844" y="9326880"/>
            <a:ext cx="914400" cy="781812"/>
          </a:xfrm>
          <a:prstGeom prst="rect">
            <a:avLst/>
          </a:prstGeom>
        </p:spPr>
      </p:pic>
      <p:sp>
        <p:nvSpPr>
          <p:cNvPr id="33" name="Shape 26"/>
          <p:cNvSpPr/>
          <p:nvPr/>
        </p:nvSpPr>
        <p:spPr>
          <a:xfrm>
            <a:off x="502920" y="10186416"/>
            <a:ext cx="6556248" cy="0"/>
          </a:xfrm>
          <a:prstGeom prst="line">
            <a:avLst/>
          </a:prstGeom>
          <a:noFill/>
          <a:ln w="9525">
            <a:solidFill>
              <a:srgbClr val="E4DDCB"/>
            </a:solidFill>
            <a:prstDash val="solid"/>
          </a:ln>
        </p:spPr>
      </p:sp>
      <p:sp>
        <p:nvSpPr>
          <p:cNvPr id="34" name="Text 27"/>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5" name="Text 28"/>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14</a:t>
            </a:r>
            <a:endParaRPr lang="ar-SA" sz="88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13  •  مسار النمو السعودي</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فرصة السوق</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تنفّذ المملكة واحدًا من أكثر برامج بناء قطاع الضيافة طموحًا في العالم. وتوضح الأرقام حجم الفرصة كما تبرز القيمة المضافة للتنفيذ المنضبط في صف المالك.</a:t>
            </a:r>
            <a:endParaRPr lang="ar-SA" sz="1180" dirty="0"/>
          </a:p>
        </p:txBody>
      </p:sp>
      <p:sp>
        <p:nvSpPr>
          <p:cNvPr id="5" name="Shape 3"/>
          <p:cNvSpPr/>
          <p:nvPr/>
        </p:nvSpPr>
        <p:spPr>
          <a:xfrm>
            <a:off x="5488686" y="2103120"/>
            <a:ext cx="1570482" cy="1005840"/>
          </a:xfrm>
          <a:prstGeom prst="roundRect">
            <a:avLst>
              <a:gd name="adj" fmla="val 4545"/>
            </a:avLst>
          </a:prstGeom>
          <a:solidFill>
            <a:srgbClr val="13273A"/>
          </a:solidFill>
          <a:ln/>
        </p:spPr>
      </p:sp>
      <p:sp>
        <p:nvSpPr>
          <p:cNvPr id="6" name="Text 4"/>
          <p:cNvSpPr/>
          <p:nvPr/>
        </p:nvSpPr>
        <p:spPr>
          <a:xfrm>
            <a:off x="5543550" y="2194560"/>
            <a:ext cx="1460754" cy="422453"/>
          </a:xfrm>
          <a:prstGeom prst="rect">
            <a:avLst/>
          </a:prstGeom>
          <a:noFill/>
          <a:ln/>
        </p:spPr>
        <p:txBody>
          <a:bodyPr wrap="square" rtlCol="0" anchor="b">
            <a:normAutofit/>
          </a:bodyPr>
          <a:lstStyle/>
          <a:p>
            <a:pPr marL="0" indent="0" algn="ctr" rtl="1">
              <a:lnSpc>
                <a:spcPct val="98000"/>
              </a:lnSpc>
              <a:buNone/>
            </a:pPr>
            <a:r>
              <a:rPr lang="ar-SA" altLang="en-US" sz="1550" b="1" dirty="0">
                <a:solidFill>
                  <a:srgbClr val="C9A15A"/>
                </a:solidFill>
                <a:latin typeface="Arial" pitchFamily="34" charset="0"/>
                <a:ea typeface="Arial" pitchFamily="34" charset="-122"/>
                <a:cs typeface="Arial" pitchFamily="34" charset="-120"/>
              </a:rPr>
              <a:t>122 مليون</a:t>
            </a:r>
            <a:endParaRPr lang="ar-SA" sz="1550" dirty="0"/>
          </a:p>
        </p:txBody>
      </p:sp>
      <p:sp>
        <p:nvSpPr>
          <p:cNvPr id="7" name="Text 5"/>
          <p:cNvSpPr/>
          <p:nvPr/>
        </p:nvSpPr>
        <p:spPr>
          <a:xfrm>
            <a:off x="5598414" y="2646274"/>
            <a:ext cx="1351026" cy="241402"/>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زيارات محلية ودولية</a:t>
            </a:r>
            <a:endParaRPr lang="ar-SA" sz="880" dirty="0"/>
          </a:p>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في 2025 (بنمو 5% سنويًا)</a:t>
            </a:r>
            <a:endParaRPr lang="ar-SA" sz="880" dirty="0"/>
          </a:p>
        </p:txBody>
      </p:sp>
      <p:sp>
        <p:nvSpPr>
          <p:cNvPr id="8" name="Shape 6"/>
          <p:cNvSpPr/>
          <p:nvPr/>
        </p:nvSpPr>
        <p:spPr>
          <a:xfrm>
            <a:off x="3826764" y="2103120"/>
            <a:ext cx="1570482" cy="1005840"/>
          </a:xfrm>
          <a:prstGeom prst="roundRect">
            <a:avLst>
              <a:gd name="adj" fmla="val 4545"/>
            </a:avLst>
          </a:prstGeom>
          <a:solidFill>
            <a:srgbClr val="13273A"/>
          </a:solidFill>
          <a:ln/>
        </p:spPr>
      </p:sp>
      <p:sp>
        <p:nvSpPr>
          <p:cNvPr id="9" name="Text 7"/>
          <p:cNvSpPr/>
          <p:nvPr/>
        </p:nvSpPr>
        <p:spPr>
          <a:xfrm>
            <a:off x="3881628" y="2194560"/>
            <a:ext cx="1460754" cy="422453"/>
          </a:xfrm>
          <a:prstGeom prst="rect">
            <a:avLst/>
          </a:prstGeom>
          <a:noFill/>
          <a:ln/>
        </p:spPr>
        <p:txBody>
          <a:bodyPr wrap="square" rtlCol="0" anchor="b">
            <a:normAutofit/>
          </a:bodyPr>
          <a:lstStyle/>
          <a:p>
            <a:pPr marL="0" indent="0" algn="ctr" rtl="1">
              <a:lnSpc>
                <a:spcPct val="98000"/>
              </a:lnSpc>
              <a:buNone/>
            </a:pPr>
            <a:r>
              <a:rPr lang="ar-SA" altLang="en-US" sz="1550" b="1" dirty="0">
                <a:solidFill>
                  <a:srgbClr val="C9A15A"/>
                </a:solidFill>
                <a:latin typeface="Arial" pitchFamily="34" charset="0"/>
                <a:ea typeface="Arial" pitchFamily="34" charset="-122"/>
                <a:cs typeface="Arial" pitchFamily="34" charset="-120"/>
              </a:rPr>
              <a:t>300 مليار ريال</a:t>
            </a:r>
            <a:endParaRPr lang="ar-SA" sz="1550" dirty="0"/>
          </a:p>
        </p:txBody>
      </p:sp>
      <p:sp>
        <p:nvSpPr>
          <p:cNvPr id="10" name="Text 8"/>
          <p:cNvSpPr/>
          <p:nvPr/>
        </p:nvSpPr>
        <p:spPr>
          <a:xfrm>
            <a:off x="3936492" y="2646274"/>
            <a:ext cx="1351026" cy="241402"/>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إجمالي الإنفاق السياحي</a:t>
            </a:r>
            <a:endParaRPr lang="ar-SA" sz="880" dirty="0"/>
          </a:p>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في 2025 (≈ 81 مليار دولار)</a:t>
            </a:r>
            <a:endParaRPr lang="ar-SA" sz="880" dirty="0"/>
          </a:p>
        </p:txBody>
      </p:sp>
      <p:sp>
        <p:nvSpPr>
          <p:cNvPr id="11" name="Shape 9"/>
          <p:cNvSpPr/>
          <p:nvPr/>
        </p:nvSpPr>
        <p:spPr>
          <a:xfrm>
            <a:off x="2164842" y="2103120"/>
            <a:ext cx="1570482" cy="1005840"/>
          </a:xfrm>
          <a:prstGeom prst="roundRect">
            <a:avLst>
              <a:gd name="adj" fmla="val 4545"/>
            </a:avLst>
          </a:prstGeom>
          <a:solidFill>
            <a:srgbClr val="13273A"/>
          </a:solidFill>
          <a:ln/>
        </p:spPr>
      </p:sp>
      <p:sp>
        <p:nvSpPr>
          <p:cNvPr id="12" name="Text 10"/>
          <p:cNvSpPr/>
          <p:nvPr/>
        </p:nvSpPr>
        <p:spPr>
          <a:xfrm>
            <a:off x="2219706" y="2194560"/>
            <a:ext cx="1460754" cy="422453"/>
          </a:xfrm>
          <a:prstGeom prst="rect">
            <a:avLst/>
          </a:prstGeom>
          <a:noFill/>
          <a:ln/>
        </p:spPr>
        <p:txBody>
          <a:bodyPr wrap="square" rtlCol="0" anchor="b">
            <a:normAutofit/>
          </a:bodyPr>
          <a:lstStyle/>
          <a:p>
            <a:pPr marL="0" indent="0" algn="ctr" rtl="1">
              <a:lnSpc>
                <a:spcPct val="98000"/>
              </a:lnSpc>
              <a:buNone/>
            </a:pPr>
            <a:r>
              <a:rPr lang="ar-SA" altLang="en-US" sz="1850" b="1" dirty="0">
                <a:solidFill>
                  <a:srgbClr val="C9A15A"/>
                </a:solidFill>
                <a:latin typeface="Arial" pitchFamily="34" charset="0"/>
                <a:ea typeface="Arial" pitchFamily="34" charset="-122"/>
                <a:cs typeface="Arial" pitchFamily="34" charset="-120"/>
              </a:rPr>
              <a:t>362 ألف</a:t>
            </a:r>
            <a:endParaRPr lang="ar-SA" sz="1850" dirty="0"/>
          </a:p>
        </p:txBody>
      </p:sp>
      <p:sp>
        <p:nvSpPr>
          <p:cNvPr id="13" name="Text 11"/>
          <p:cNvSpPr/>
          <p:nvPr/>
        </p:nvSpPr>
        <p:spPr>
          <a:xfrm>
            <a:off x="2274570" y="2646274"/>
            <a:ext cx="1351026" cy="241402"/>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غرفة فندقية متوقعة</a:t>
            </a:r>
            <a:endParaRPr lang="ar-SA" sz="880" dirty="0"/>
          </a:p>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بحلول 2030 (من نحو 167.5 ألف)</a:t>
            </a:r>
            <a:endParaRPr lang="ar-SA" sz="880" dirty="0"/>
          </a:p>
        </p:txBody>
      </p:sp>
      <p:sp>
        <p:nvSpPr>
          <p:cNvPr id="14" name="Shape 12"/>
          <p:cNvSpPr/>
          <p:nvPr/>
        </p:nvSpPr>
        <p:spPr>
          <a:xfrm>
            <a:off x="502920" y="2103120"/>
            <a:ext cx="1570482" cy="1005840"/>
          </a:xfrm>
          <a:prstGeom prst="roundRect">
            <a:avLst>
              <a:gd name="adj" fmla="val 4545"/>
            </a:avLst>
          </a:prstGeom>
          <a:solidFill>
            <a:srgbClr val="13273A"/>
          </a:solidFill>
          <a:ln/>
        </p:spPr>
      </p:sp>
      <p:sp>
        <p:nvSpPr>
          <p:cNvPr id="15" name="Text 13"/>
          <p:cNvSpPr/>
          <p:nvPr/>
        </p:nvSpPr>
        <p:spPr>
          <a:xfrm>
            <a:off x="557784" y="2194560"/>
            <a:ext cx="1460754" cy="422453"/>
          </a:xfrm>
          <a:prstGeom prst="rect">
            <a:avLst/>
          </a:prstGeom>
          <a:noFill/>
          <a:ln/>
        </p:spPr>
        <p:txBody>
          <a:bodyPr wrap="square" rtlCol="0" anchor="b">
            <a:normAutofit lnSpcReduction="10000"/>
          </a:bodyPr>
          <a:lstStyle/>
          <a:p>
            <a:pPr marL="0" indent="0" algn="ctr">
              <a:buNone/>
            </a:pPr>
            <a:r>
              <a:rPr lang="en-US" sz="2400" b="1" dirty="0">
                <a:solidFill>
                  <a:srgbClr val="C9A15A"/>
                </a:solidFill>
                <a:latin typeface="Arial" pitchFamily="34" charset="0"/>
                <a:ea typeface="Arial" pitchFamily="34" charset="-122"/>
                <a:cs typeface="Arial" pitchFamily="34" charset="-120"/>
              </a:rPr>
              <a:t>78%</a:t>
            </a:r>
            <a:endParaRPr lang="en-US" sz="2400" dirty="0"/>
          </a:p>
        </p:txBody>
      </p:sp>
      <p:sp>
        <p:nvSpPr>
          <p:cNvPr id="16" name="Text 14"/>
          <p:cNvSpPr/>
          <p:nvPr/>
        </p:nvSpPr>
        <p:spPr>
          <a:xfrm>
            <a:off x="612648" y="2646274"/>
            <a:ext cx="1351026" cy="241402"/>
          </a:xfrm>
          <a:prstGeom prst="rect">
            <a:avLst/>
          </a:prstGeom>
          <a:noFill/>
          <a:ln/>
        </p:spPr>
        <p:txBody>
          <a:bodyPr wrap="square" rtlCol="0" anchor="t"/>
          <a:lstStyle/>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من المشاريع قيد التطوير</a:t>
            </a:r>
            <a:endParaRPr lang="ar-SA" sz="880" dirty="0"/>
          </a:p>
          <a:p>
            <a:pPr marL="0" indent="0" algn="ctr" rtl="1">
              <a:lnSpc>
                <a:spcPct val="98000"/>
              </a:lnSpc>
              <a:buNone/>
            </a:pPr>
            <a:r>
              <a:rPr lang="ar-SA" altLang="en-US" sz="880" b="1" dirty="0">
                <a:solidFill>
                  <a:srgbClr val="FFFFFF"/>
                </a:solidFill>
                <a:latin typeface="Arial" pitchFamily="34" charset="0"/>
                <a:ea typeface="Arial" pitchFamily="34" charset="-122"/>
                <a:cs typeface="Arial" pitchFamily="34" charset="-120"/>
              </a:rPr>
              <a:t>في الفئات الفاخرة والراقية وفوق الراقية</a:t>
            </a:r>
            <a:endParaRPr lang="ar-SA" sz="880" dirty="0"/>
          </a:p>
        </p:txBody>
      </p:sp>
      <p:sp>
        <p:nvSpPr>
          <p:cNvPr id="17" name="Text 15"/>
          <p:cNvSpPr/>
          <p:nvPr/>
        </p:nvSpPr>
        <p:spPr>
          <a:xfrm>
            <a:off x="502920" y="3337560"/>
            <a:ext cx="6556248" cy="201168"/>
          </a:xfrm>
          <a:prstGeom prst="rect">
            <a:avLst/>
          </a:prstGeom>
          <a:noFill/>
          <a:ln/>
        </p:spPr>
        <p:txBody>
          <a:bodyPr wrap="square" rtlCol="0" anchor="ctr"/>
          <a:lstStyle/>
          <a:p>
            <a:pPr marL="0" indent="0" algn="r" rtl="1">
              <a:lnSpc>
                <a:spcPct val="98000"/>
              </a:lnSpc>
              <a:buNone/>
            </a:pPr>
            <a:r>
              <a:rPr lang="ar-SA" altLang="en-US" sz="900" b="1" dirty="0">
                <a:solidFill>
                  <a:srgbClr val="C1501D"/>
                </a:solidFill>
                <a:latin typeface="Arial" pitchFamily="34" charset="0"/>
                <a:ea typeface="Arial" pitchFamily="34" charset="-122"/>
                <a:cs typeface="Arial" pitchFamily="34" charset="-120"/>
              </a:rPr>
              <a:t>مسار الزيارات نحو المستهدف البالغ 150 مليون (بملايين الزيارات)</a:t>
            </a:r>
            <a:endParaRPr lang="ar-SA" sz="900" dirty="0"/>
          </a:p>
        </p:txBody>
      </p:sp>
      <p:graphicFrame>
        <p:nvGraphicFramePr>
          <p:cNvPr id="18" name="Chart 0"/>
          <p:cNvGraphicFramePr/>
          <p:nvPr/>
        </p:nvGraphicFramePr>
        <p:xfrm>
          <a:off x="502920" y="3593592"/>
          <a:ext cx="6556248"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502920" y="6062472"/>
            <a:ext cx="6556248" cy="201168"/>
          </a:xfrm>
          <a:prstGeom prst="rect">
            <a:avLst/>
          </a:prstGeom>
          <a:noFill/>
          <a:ln/>
        </p:spPr>
        <p:txBody>
          <a:bodyPr wrap="square" rtlCol="0" anchor="ctr"/>
          <a:lstStyle/>
          <a:p>
            <a:pPr marL="0" indent="0" algn="r" rtl="1">
              <a:lnSpc>
                <a:spcPct val="98000"/>
              </a:lnSpc>
              <a:buNone/>
            </a:pPr>
            <a:r>
              <a:rPr lang="ar-SA" altLang="en-US" sz="900" b="1" dirty="0">
                <a:solidFill>
                  <a:srgbClr val="C1501D"/>
                </a:solidFill>
                <a:latin typeface="Arial" pitchFamily="34" charset="0"/>
                <a:ea typeface="Arial" pitchFamily="34" charset="-122"/>
                <a:cs typeface="Arial" pitchFamily="34" charset="-120"/>
              </a:rPr>
              <a:t>توسّع المعروض الفندقي (بآلاف الغرف)</a:t>
            </a:r>
            <a:endParaRPr lang="ar-SA" sz="900" dirty="0"/>
          </a:p>
        </p:txBody>
      </p:sp>
      <p:graphicFrame>
        <p:nvGraphicFramePr>
          <p:cNvPr id="20" name="Chart 1"/>
          <p:cNvGraphicFramePr/>
          <p:nvPr/>
        </p:nvGraphicFramePr>
        <p:xfrm>
          <a:off x="502920" y="6318504"/>
          <a:ext cx="6556248"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502920" y="8193024"/>
            <a:ext cx="6556248" cy="201168"/>
          </a:xfrm>
          <a:prstGeom prst="rect">
            <a:avLst/>
          </a:prstGeom>
          <a:noFill/>
          <a:ln/>
        </p:spPr>
        <p:txBody>
          <a:bodyPr wrap="square" rtlCol="0" anchor="ctr"/>
          <a:lstStyle/>
          <a:p>
            <a:pPr marL="0" indent="0" algn="r" rtl="1">
              <a:lnSpc>
                <a:spcPct val="98000"/>
              </a:lnSpc>
              <a:buNone/>
            </a:pPr>
            <a:r>
              <a:rPr lang="ar-SA" altLang="en-US" sz="900" b="1" dirty="0">
                <a:solidFill>
                  <a:srgbClr val="C1501D"/>
                </a:solidFill>
                <a:latin typeface="Arial" pitchFamily="34" charset="0"/>
                <a:ea typeface="Arial" pitchFamily="34" charset="-122"/>
                <a:cs typeface="Arial" pitchFamily="34" charset="-120"/>
              </a:rPr>
              <a:t>محفّزات الطلب</a:t>
            </a:r>
            <a:endParaRPr lang="ar-SA" sz="900" dirty="0"/>
          </a:p>
        </p:txBody>
      </p:sp>
      <p:sp>
        <p:nvSpPr>
          <p:cNvPr id="22" name="Shape 18"/>
          <p:cNvSpPr/>
          <p:nvPr/>
        </p:nvSpPr>
        <p:spPr>
          <a:xfrm>
            <a:off x="6986016" y="8476488"/>
            <a:ext cx="73152" cy="73152"/>
          </a:xfrm>
          <a:prstGeom prst="ellipse">
            <a:avLst/>
          </a:prstGeom>
          <a:solidFill>
            <a:srgbClr val="0F5C42"/>
          </a:solidFill>
          <a:ln/>
        </p:spPr>
      </p:sp>
      <p:sp>
        <p:nvSpPr>
          <p:cNvPr id="23" name="Text 19"/>
          <p:cNvSpPr/>
          <p:nvPr/>
        </p:nvSpPr>
        <p:spPr>
          <a:xfrm>
            <a:off x="502920" y="8430768"/>
            <a:ext cx="6391656" cy="219456"/>
          </a:xfrm>
          <a:prstGeom prst="rect">
            <a:avLst/>
          </a:prstGeom>
          <a:noFill/>
          <a:ln/>
        </p:spPr>
        <p:txBody>
          <a:bodyPr wrap="square" rtlCol="0" anchor="ctr"/>
          <a:lstStyle/>
          <a:p>
            <a:pPr marL="0" indent="0" algn="r" rtl="1">
              <a:lnSpc>
                <a:spcPct val="98000"/>
              </a:lnSpc>
              <a:buNone/>
            </a:pPr>
            <a:r>
              <a:rPr lang="ar-SA" altLang="en-US" sz="930" dirty="0">
                <a:solidFill>
                  <a:srgbClr val="2B2A27"/>
                </a:solidFill>
                <a:latin typeface="Arial" pitchFamily="34" charset="0"/>
                <a:ea typeface="Arial" pitchFamily="34" charset="-122"/>
                <a:cs typeface="Arial" pitchFamily="34" charset="-120"/>
              </a:rPr>
              <a:t>35.7 مليون معتمر (2024): طلب ديني قياسي</a:t>
            </a:r>
            <a:endParaRPr lang="ar-SA" sz="930" dirty="0"/>
          </a:p>
        </p:txBody>
      </p:sp>
      <p:sp>
        <p:nvSpPr>
          <p:cNvPr id="24" name="Shape 20"/>
          <p:cNvSpPr/>
          <p:nvPr/>
        </p:nvSpPr>
        <p:spPr>
          <a:xfrm>
            <a:off x="6986016" y="8723376"/>
            <a:ext cx="73152" cy="73152"/>
          </a:xfrm>
          <a:prstGeom prst="ellipse">
            <a:avLst/>
          </a:prstGeom>
          <a:solidFill>
            <a:srgbClr val="0F5C42"/>
          </a:solidFill>
          <a:ln/>
        </p:spPr>
      </p:sp>
      <p:sp>
        <p:nvSpPr>
          <p:cNvPr id="25" name="Text 21"/>
          <p:cNvSpPr/>
          <p:nvPr/>
        </p:nvSpPr>
        <p:spPr>
          <a:xfrm>
            <a:off x="502920" y="8677656"/>
            <a:ext cx="6391656" cy="219456"/>
          </a:xfrm>
          <a:prstGeom prst="rect">
            <a:avLst/>
          </a:prstGeom>
          <a:noFill/>
          <a:ln/>
        </p:spPr>
        <p:txBody>
          <a:bodyPr wrap="square" rtlCol="0" anchor="ctr"/>
          <a:lstStyle/>
          <a:p>
            <a:pPr marL="0" indent="0" algn="r" rtl="1">
              <a:lnSpc>
                <a:spcPct val="98000"/>
              </a:lnSpc>
              <a:buNone/>
            </a:pPr>
            <a:r>
              <a:rPr lang="ar-SA" altLang="en-US" sz="930" dirty="0">
                <a:solidFill>
                  <a:srgbClr val="2B2A27"/>
                </a:solidFill>
                <a:latin typeface="Arial" pitchFamily="34" charset="0"/>
                <a:ea typeface="Arial" pitchFamily="34" charset="-122"/>
                <a:cs typeface="Arial" pitchFamily="34" charset="-120"/>
              </a:rPr>
              <a:t>إكسبو 2030 الرياض  •  كأس العالم لكرة القدم (FIFA) 2034  •  دورة الألعاب الآسيوية الشتوية 2029</a:t>
            </a:r>
            <a:endParaRPr lang="ar-SA" sz="930" dirty="0"/>
          </a:p>
        </p:txBody>
      </p:sp>
      <p:sp>
        <p:nvSpPr>
          <p:cNvPr id="26" name="Shape 22"/>
          <p:cNvSpPr/>
          <p:nvPr/>
        </p:nvSpPr>
        <p:spPr>
          <a:xfrm>
            <a:off x="6986016" y="8970264"/>
            <a:ext cx="73152" cy="73152"/>
          </a:xfrm>
          <a:prstGeom prst="ellipse">
            <a:avLst/>
          </a:prstGeom>
          <a:solidFill>
            <a:srgbClr val="0F5C42"/>
          </a:solidFill>
          <a:ln/>
        </p:spPr>
      </p:sp>
      <p:sp>
        <p:nvSpPr>
          <p:cNvPr id="27" name="Text 23"/>
          <p:cNvSpPr/>
          <p:nvPr/>
        </p:nvSpPr>
        <p:spPr>
          <a:xfrm>
            <a:off x="502920" y="8924544"/>
            <a:ext cx="6391656" cy="219456"/>
          </a:xfrm>
          <a:prstGeom prst="rect">
            <a:avLst/>
          </a:prstGeom>
          <a:noFill/>
          <a:ln/>
        </p:spPr>
        <p:txBody>
          <a:bodyPr wrap="square" rtlCol="0" anchor="ctr"/>
          <a:lstStyle/>
          <a:p>
            <a:pPr marL="0" indent="0" algn="r" rtl="1">
              <a:lnSpc>
                <a:spcPct val="98000"/>
              </a:lnSpc>
              <a:buNone/>
            </a:pPr>
            <a:r>
              <a:rPr lang="ar-SA" altLang="en-US" sz="930" dirty="0">
                <a:solidFill>
                  <a:srgbClr val="2B2A27"/>
                </a:solidFill>
                <a:latin typeface="Arial" pitchFamily="34" charset="0"/>
                <a:ea typeface="Arial" pitchFamily="34" charset="-122"/>
                <a:cs typeface="Arial" pitchFamily="34" charset="-120"/>
              </a:rPr>
              <a:t>المشاريع العملاقة: نيوم، والبحر الأحمر، والدرعية، والعلا، والقدية</a:t>
            </a:r>
            <a:endParaRPr lang="ar-SA" sz="930" dirty="0"/>
          </a:p>
        </p:txBody>
      </p:sp>
      <p:sp>
        <p:nvSpPr>
          <p:cNvPr id="28" name="Text 24"/>
          <p:cNvSpPr/>
          <p:nvPr/>
        </p:nvSpPr>
        <p:spPr>
          <a:xfrm>
            <a:off x="502920" y="9217152"/>
            <a:ext cx="6556248" cy="274320"/>
          </a:xfrm>
          <a:prstGeom prst="rect">
            <a:avLst/>
          </a:prstGeom>
          <a:noFill/>
          <a:ln/>
        </p:spPr>
        <p:txBody>
          <a:bodyPr wrap="square" rtlCol="0" anchor="ctr"/>
          <a:lstStyle/>
          <a:p>
            <a:pPr marL="0" indent="0" algn="r" rtl="1">
              <a:lnSpc>
                <a:spcPct val="98000"/>
              </a:lnSpc>
              <a:buNone/>
            </a:pPr>
            <a:r>
              <a:rPr lang="ar-SA" altLang="en-US" sz="750" dirty="0">
                <a:solidFill>
                  <a:srgbClr val="6B675F"/>
                </a:solidFill>
                <a:latin typeface="Arial" pitchFamily="34" charset="0"/>
                <a:ea typeface="Arial" pitchFamily="34" charset="-122"/>
                <a:cs typeface="Arial" pitchFamily="34" charset="-120"/>
              </a:rPr>
              <a:t>المصادر: بيانات وزارة السياحة السعودية الأولية (يناير 2026)؛ Knight Frank، مراجعة سوق الضيافة في السعودية 2025؛ وزارة الحج والعمرة، 2024.</a:t>
            </a:r>
            <a:endParaRPr lang="ar-SA" sz="750" dirty="0"/>
          </a:p>
        </p:txBody>
      </p:sp>
      <p:sp>
        <p:nvSpPr>
          <p:cNvPr id="29" name="Shape 25"/>
          <p:cNvSpPr/>
          <p:nvPr/>
        </p:nvSpPr>
        <p:spPr>
          <a:xfrm>
            <a:off x="502920" y="10186416"/>
            <a:ext cx="6556248" cy="0"/>
          </a:xfrm>
          <a:prstGeom prst="line">
            <a:avLst/>
          </a:prstGeom>
          <a:noFill/>
          <a:ln w="9525">
            <a:solidFill>
              <a:srgbClr val="E4DDCB"/>
            </a:solidFill>
            <a:prstDash val="solid"/>
          </a:ln>
        </p:spPr>
      </p:sp>
      <p:sp>
        <p:nvSpPr>
          <p:cNvPr id="30" name="Text 26"/>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1" name="Text 27"/>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15</a:t>
            </a:r>
            <a:endParaRPr lang="ar-SA" sz="88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14  •  شواهد عملية • الأول</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دراسات حالة توضيحية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مهام مركّبة مجهولة الهوية وموسومة بوضوح بأنها توضيحية. تعكس كلٌّ منها نوع المهام التي قادها شركاؤنا الرئيسيون بأنفسهم داخل علامات عالمية ومحافظ مستقلة؛ وتختلف النتائج الفردية بحسب الأصل والسوق والتنفيذ.</a:t>
            </a:r>
            <a:endParaRPr lang="ar-SA" sz="1180" dirty="0"/>
          </a:p>
        </p:txBody>
      </p:sp>
      <p:sp>
        <p:nvSpPr>
          <p:cNvPr id="5" name="Shape 3"/>
          <p:cNvSpPr/>
          <p:nvPr/>
        </p:nvSpPr>
        <p:spPr>
          <a:xfrm>
            <a:off x="502920" y="2103120"/>
            <a:ext cx="6556248" cy="3200400"/>
          </a:xfrm>
          <a:prstGeom prst="roundRect">
            <a:avLst>
              <a:gd name="adj" fmla="val 1714"/>
            </a:avLst>
          </a:prstGeom>
          <a:solidFill>
            <a:srgbClr val="FFFFFF"/>
          </a:solidFill>
          <a:ln w="9525">
            <a:solidFill>
              <a:srgbClr val="E4DDCB"/>
            </a:solidFill>
            <a:prstDash val="solid"/>
          </a:ln>
        </p:spPr>
      </p:sp>
      <p:sp>
        <p:nvSpPr>
          <p:cNvPr id="6" name="Shape 4"/>
          <p:cNvSpPr/>
          <p:nvPr/>
        </p:nvSpPr>
        <p:spPr>
          <a:xfrm>
            <a:off x="5047488" y="2267712"/>
            <a:ext cx="1828800" cy="274320"/>
          </a:xfrm>
          <a:prstGeom prst="roundRect">
            <a:avLst>
              <a:gd name="adj" fmla="val 50000"/>
            </a:avLst>
          </a:prstGeom>
          <a:solidFill>
            <a:srgbClr val="C9A15A"/>
          </a:solidFill>
          <a:ln/>
        </p:spPr>
      </p:sp>
      <p:sp>
        <p:nvSpPr>
          <p:cNvPr id="7" name="Text 5"/>
          <p:cNvSpPr/>
          <p:nvPr/>
        </p:nvSpPr>
        <p:spPr>
          <a:xfrm>
            <a:off x="5047488" y="2267712"/>
            <a:ext cx="1828800" cy="274320"/>
          </a:xfrm>
          <a:prstGeom prst="rect">
            <a:avLst/>
          </a:prstGeom>
          <a:noFill/>
          <a:ln/>
        </p:spPr>
        <p:txBody>
          <a:bodyPr wrap="square" rtlCol="0" anchor="ctr"/>
          <a:lstStyle/>
          <a:p>
            <a:pPr marL="0" indent="0" algn="ctr" rtl="1">
              <a:lnSpc>
                <a:spcPct val="98000"/>
              </a:lnSpc>
              <a:buNone/>
            </a:pPr>
            <a:r>
              <a:rPr lang="ar-SA" altLang="en-US" sz="750" b="1" dirty="0">
                <a:solidFill>
                  <a:srgbClr val="0B1B2B"/>
                </a:solidFill>
                <a:latin typeface="Arial" pitchFamily="34" charset="0"/>
                <a:ea typeface="Arial" pitchFamily="34" charset="-122"/>
                <a:cs typeface="Arial" pitchFamily="34" charset="-120"/>
              </a:rPr>
              <a:t>دراسة حالة توضيحية</a:t>
            </a:r>
            <a:endParaRPr lang="ar-SA" sz="750" dirty="0"/>
          </a:p>
        </p:txBody>
      </p:sp>
      <p:sp>
        <p:nvSpPr>
          <p:cNvPr id="8" name="Text 6"/>
          <p:cNvSpPr/>
          <p:nvPr/>
        </p:nvSpPr>
        <p:spPr>
          <a:xfrm>
            <a:off x="685800" y="2267712"/>
            <a:ext cx="4224528" cy="274320"/>
          </a:xfrm>
          <a:prstGeom prst="rect">
            <a:avLst/>
          </a:prstGeom>
          <a:noFill/>
          <a:ln/>
        </p:spPr>
        <p:txBody>
          <a:bodyPr wrap="square" rtlCol="0" anchor="ctr"/>
          <a:lstStyle/>
          <a:p>
            <a:pPr marL="0" indent="0" algn="l" rtl="1">
              <a:lnSpc>
                <a:spcPct val="98000"/>
              </a:lnSpc>
              <a:buNone/>
            </a:pPr>
            <a:r>
              <a:rPr lang="ar-SA" altLang="en-US" sz="820" b="1" dirty="0">
                <a:solidFill>
                  <a:srgbClr val="6B675F"/>
                </a:solidFill>
                <a:latin typeface="Arial" pitchFamily="34" charset="0"/>
                <a:ea typeface="Arial" pitchFamily="34" charset="-122"/>
                <a:cs typeface="Arial" pitchFamily="34" charset="-120"/>
              </a:rPr>
              <a:t>منتجع رئيسي • مصر • إعادة الإصلاح</a:t>
            </a:r>
            <a:endParaRPr lang="ar-SA" sz="820" dirty="0"/>
          </a:p>
        </p:txBody>
      </p:sp>
      <p:sp>
        <p:nvSpPr>
          <p:cNvPr id="9" name="Text 7"/>
          <p:cNvSpPr/>
          <p:nvPr/>
        </p:nvSpPr>
        <p:spPr>
          <a:xfrm>
            <a:off x="685800" y="2560320"/>
            <a:ext cx="6190488" cy="292608"/>
          </a:xfrm>
          <a:prstGeom prst="rect">
            <a:avLst/>
          </a:prstGeom>
          <a:noFill/>
          <a:ln/>
        </p:spPr>
        <p:txBody>
          <a:bodyPr wrap="square" rtlCol="0" anchor="ctr"/>
          <a:lstStyle/>
          <a:p>
            <a:pPr marL="0" indent="0" algn="r" rtl="1">
              <a:lnSpc>
                <a:spcPct val="98000"/>
              </a:lnSpc>
              <a:buNone/>
            </a:pPr>
            <a:r>
              <a:rPr lang="ar-SA" altLang="en-US" sz="1490" b="1" dirty="0">
                <a:solidFill>
                  <a:srgbClr val="0B1B2B"/>
                </a:solidFill>
                <a:latin typeface="Arial" pitchFamily="34" charset="0"/>
                <a:ea typeface="Arial" pitchFamily="34" charset="-122"/>
                <a:cs typeface="Arial" pitchFamily="34" charset="-120"/>
              </a:rPr>
              <a:t>إعادة إصلاح أداء منتجع رئيسي وريادة مستدامة في السوق</a:t>
            </a:r>
            <a:endParaRPr lang="ar-SA" sz="1490" dirty="0"/>
          </a:p>
        </p:txBody>
      </p:sp>
      <p:sp>
        <p:nvSpPr>
          <p:cNvPr id="10" name="Text 8"/>
          <p:cNvSpPr/>
          <p:nvPr/>
        </p:nvSpPr>
        <p:spPr>
          <a:xfrm>
            <a:off x="5824728" y="2944368"/>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العميل</a:t>
            </a:r>
            <a:endParaRPr lang="ar-SA" sz="800" dirty="0"/>
          </a:p>
        </p:txBody>
      </p:sp>
      <p:sp>
        <p:nvSpPr>
          <p:cNvPr id="11" name="Text 9"/>
          <p:cNvSpPr/>
          <p:nvPr/>
        </p:nvSpPr>
        <p:spPr>
          <a:xfrm>
            <a:off x="685800" y="2944368"/>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منتجع بعلامة عالمية على الواجهة البحرية بأكثر من 300 غرفة، في سوق ترفيهي تنافسي، يقلّ أداؤه عن مجموعة منافسيه في السعر وانطباعات النزلاء.</a:t>
            </a:r>
            <a:endParaRPr lang="ar-SA" sz="890" dirty="0"/>
          </a:p>
        </p:txBody>
      </p:sp>
      <p:sp>
        <p:nvSpPr>
          <p:cNvPr id="12" name="Text 10"/>
          <p:cNvSpPr/>
          <p:nvPr/>
        </p:nvSpPr>
        <p:spPr>
          <a:xfrm>
            <a:off x="5824728" y="3346704"/>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التحدي</a:t>
            </a:r>
            <a:endParaRPr lang="ar-SA" sz="800" dirty="0"/>
          </a:p>
        </p:txBody>
      </p:sp>
      <p:sp>
        <p:nvSpPr>
          <p:cNvPr id="13" name="Text 11"/>
          <p:cNvSpPr/>
          <p:nvPr/>
        </p:nvSpPr>
        <p:spPr>
          <a:xfrm>
            <a:off x="685800" y="3346704"/>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ركود في إيراد الغرفة المتاحة (RevPAR)، وتراجع مؤشرات رضا النزلاء، وضغط على الهوامش رغم قوة مقومات الموقع.</a:t>
            </a:r>
            <a:endParaRPr lang="ar-SA" sz="890" dirty="0"/>
          </a:p>
        </p:txBody>
      </p:sp>
      <p:sp>
        <p:nvSpPr>
          <p:cNvPr id="14" name="Text 12"/>
          <p:cNvSpPr/>
          <p:nvPr/>
        </p:nvSpPr>
        <p:spPr>
          <a:xfrm>
            <a:off x="5824728" y="3749040"/>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النهج</a:t>
            </a:r>
            <a:endParaRPr lang="ar-SA" sz="800" dirty="0"/>
          </a:p>
        </p:txBody>
      </p:sp>
      <p:sp>
        <p:nvSpPr>
          <p:cNvPr id="15" name="Text 13"/>
          <p:cNvSpPr/>
          <p:nvPr/>
        </p:nvSpPr>
        <p:spPr>
          <a:xfrm>
            <a:off x="685800" y="3749040"/>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إعادة هندسة تجارية شاملة: هيكلة التسعير، ومزيج القنوات، وبرنامج ثقافة الخدمة، وإعادة تصميم رحلة النزيل بقيادة سيجما ستة (Six Sigma)، مع حوكمة منضبطة للتكاليف.</a:t>
            </a:r>
            <a:endParaRPr lang="ar-SA" sz="890" dirty="0"/>
          </a:p>
        </p:txBody>
      </p:sp>
      <p:sp>
        <p:nvSpPr>
          <p:cNvPr id="16" name="Text 14"/>
          <p:cNvSpPr/>
          <p:nvPr/>
        </p:nvSpPr>
        <p:spPr>
          <a:xfrm>
            <a:off x="5824728" y="4151376"/>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النتيجة</a:t>
            </a:r>
            <a:endParaRPr lang="ar-SA" sz="800" dirty="0"/>
          </a:p>
        </p:txBody>
      </p:sp>
      <p:sp>
        <p:nvSpPr>
          <p:cNvPr id="17" name="Text 15"/>
          <p:cNvSpPr/>
          <p:nvPr/>
        </p:nvSpPr>
        <p:spPr>
          <a:xfrm>
            <a:off x="685800" y="4151376"/>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ارتقى المنتجع إلى المرتبة الأولى ضمن مجموعته التنافسية وحافظ عليها ست سنوات متتالية، إلى جانب توسّع هيكلي في هامش GOP.</a:t>
            </a:r>
            <a:endParaRPr lang="ar-SA" sz="890" dirty="0"/>
          </a:p>
        </p:txBody>
      </p:sp>
      <p:sp>
        <p:nvSpPr>
          <p:cNvPr id="18" name="Shape 16"/>
          <p:cNvSpPr/>
          <p:nvPr/>
        </p:nvSpPr>
        <p:spPr>
          <a:xfrm>
            <a:off x="5456682" y="4663440"/>
            <a:ext cx="1419606" cy="457200"/>
          </a:xfrm>
          <a:prstGeom prst="roundRect">
            <a:avLst>
              <a:gd name="adj" fmla="val 8000"/>
            </a:avLst>
          </a:prstGeom>
          <a:solidFill>
            <a:srgbClr val="0B1B2B"/>
          </a:solidFill>
          <a:ln/>
        </p:spPr>
      </p:sp>
      <p:sp>
        <p:nvSpPr>
          <p:cNvPr id="19" name="Text 17"/>
          <p:cNvSpPr/>
          <p:nvPr/>
        </p:nvSpPr>
        <p:spPr>
          <a:xfrm>
            <a:off x="5456682"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+25%</a:t>
            </a:r>
            <a:endParaRPr lang="en-US" sz="1300" dirty="0"/>
          </a:p>
        </p:txBody>
      </p:sp>
      <p:sp>
        <p:nvSpPr>
          <p:cNvPr id="20" name="Text 18"/>
          <p:cNvSpPr/>
          <p:nvPr/>
        </p:nvSpPr>
        <p:spPr>
          <a:xfrm>
            <a:off x="5484114"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نمو RevPAR</a:t>
            </a:r>
            <a:endParaRPr lang="ar-SA" sz="670" dirty="0"/>
          </a:p>
        </p:txBody>
      </p:sp>
      <p:sp>
        <p:nvSpPr>
          <p:cNvPr id="21" name="Shape 19"/>
          <p:cNvSpPr/>
          <p:nvPr/>
        </p:nvSpPr>
        <p:spPr>
          <a:xfrm>
            <a:off x="3927348" y="4663440"/>
            <a:ext cx="1419606" cy="457200"/>
          </a:xfrm>
          <a:prstGeom prst="roundRect">
            <a:avLst>
              <a:gd name="adj" fmla="val 8000"/>
            </a:avLst>
          </a:prstGeom>
          <a:solidFill>
            <a:srgbClr val="0B1B2B"/>
          </a:solidFill>
          <a:ln/>
        </p:spPr>
      </p:sp>
      <p:sp>
        <p:nvSpPr>
          <p:cNvPr id="22" name="Text 20"/>
          <p:cNvSpPr/>
          <p:nvPr/>
        </p:nvSpPr>
        <p:spPr>
          <a:xfrm>
            <a:off x="3927348"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+30%</a:t>
            </a:r>
            <a:endParaRPr lang="en-US" sz="1300" dirty="0"/>
          </a:p>
        </p:txBody>
      </p:sp>
      <p:sp>
        <p:nvSpPr>
          <p:cNvPr id="23" name="Text 21"/>
          <p:cNvSpPr/>
          <p:nvPr/>
        </p:nvSpPr>
        <p:spPr>
          <a:xfrm>
            <a:off x="3954780"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رضا النزلاء</a:t>
            </a:r>
            <a:endParaRPr lang="ar-SA" sz="670" dirty="0"/>
          </a:p>
        </p:txBody>
      </p:sp>
      <p:sp>
        <p:nvSpPr>
          <p:cNvPr id="24" name="Shape 22"/>
          <p:cNvSpPr/>
          <p:nvPr/>
        </p:nvSpPr>
        <p:spPr>
          <a:xfrm>
            <a:off x="2398014" y="4663440"/>
            <a:ext cx="1419606" cy="457200"/>
          </a:xfrm>
          <a:prstGeom prst="roundRect">
            <a:avLst>
              <a:gd name="adj" fmla="val 8000"/>
            </a:avLst>
          </a:prstGeom>
          <a:solidFill>
            <a:srgbClr val="0B1B2B"/>
          </a:solidFill>
          <a:ln/>
        </p:spPr>
      </p:sp>
      <p:sp>
        <p:nvSpPr>
          <p:cNvPr id="25" name="Text 23"/>
          <p:cNvSpPr/>
          <p:nvPr/>
        </p:nvSpPr>
        <p:spPr>
          <a:xfrm>
            <a:off x="2398014"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#1</a:t>
            </a:r>
            <a:endParaRPr lang="en-US" sz="1300" dirty="0"/>
          </a:p>
        </p:txBody>
      </p:sp>
      <p:sp>
        <p:nvSpPr>
          <p:cNvPr id="26" name="Text 24"/>
          <p:cNvSpPr/>
          <p:nvPr/>
        </p:nvSpPr>
        <p:spPr>
          <a:xfrm>
            <a:off x="2425446"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المجموعة التنافسية، 6 سنوات</a:t>
            </a:r>
            <a:endParaRPr lang="ar-SA" sz="670" dirty="0"/>
          </a:p>
        </p:txBody>
      </p:sp>
      <p:sp>
        <p:nvSpPr>
          <p:cNvPr id="27" name="Shape 25"/>
          <p:cNvSpPr/>
          <p:nvPr/>
        </p:nvSpPr>
        <p:spPr>
          <a:xfrm>
            <a:off x="868680" y="4663440"/>
            <a:ext cx="1419606" cy="457200"/>
          </a:xfrm>
          <a:prstGeom prst="roundRect">
            <a:avLst>
              <a:gd name="adj" fmla="val 8000"/>
            </a:avLst>
          </a:prstGeom>
          <a:solidFill>
            <a:srgbClr val="0B1B2B"/>
          </a:solidFill>
          <a:ln/>
        </p:spPr>
      </p:sp>
      <p:sp>
        <p:nvSpPr>
          <p:cNvPr id="28" name="Text 26"/>
          <p:cNvSpPr/>
          <p:nvPr/>
        </p:nvSpPr>
        <p:spPr>
          <a:xfrm>
            <a:off x="868680" y="4690872"/>
            <a:ext cx="1419606" cy="246888"/>
          </a:xfrm>
          <a:prstGeom prst="rect">
            <a:avLst/>
          </a:prstGeom>
          <a:noFill/>
          <a:ln/>
        </p:spPr>
        <p:txBody>
          <a:bodyPr wrap="square" rtlCol="0" anchor="ctr"/>
          <a:lstStyle/>
          <a:p>
            <a:pPr marL="0" indent="0" algn="ctr" rtl="1">
              <a:lnSpc>
                <a:spcPct val="98000"/>
              </a:lnSpc>
              <a:buNone/>
            </a:pPr>
            <a:r>
              <a:rPr lang="ar-SA" altLang="en-US" sz="1340" b="1" dirty="0">
                <a:solidFill>
                  <a:srgbClr val="E4C98A"/>
                </a:solidFill>
                <a:latin typeface="Arial" pitchFamily="34" charset="0"/>
                <a:ea typeface="Arial" pitchFamily="34" charset="-122"/>
                <a:cs typeface="Arial" pitchFamily="34" charset="-120"/>
              </a:rPr>
              <a:t>340 ألف دولار</a:t>
            </a:r>
            <a:endParaRPr lang="ar-SA" sz="1340" dirty="0"/>
          </a:p>
        </p:txBody>
      </p:sp>
      <p:sp>
        <p:nvSpPr>
          <p:cNvPr id="29" name="Text 27"/>
          <p:cNvSpPr/>
          <p:nvPr/>
        </p:nvSpPr>
        <p:spPr>
          <a:xfrm>
            <a:off x="896112"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وفورات سنوية، مشروع واحد</a:t>
            </a:r>
            <a:endParaRPr lang="ar-SA" sz="670" dirty="0"/>
          </a:p>
        </p:txBody>
      </p:sp>
      <p:sp>
        <p:nvSpPr>
          <p:cNvPr id="30" name="Shape 28"/>
          <p:cNvSpPr/>
          <p:nvPr/>
        </p:nvSpPr>
        <p:spPr>
          <a:xfrm>
            <a:off x="502920" y="5577840"/>
            <a:ext cx="6556248" cy="3200400"/>
          </a:xfrm>
          <a:prstGeom prst="roundRect">
            <a:avLst>
              <a:gd name="adj" fmla="val 1714"/>
            </a:avLst>
          </a:prstGeom>
          <a:solidFill>
            <a:srgbClr val="FFFFFF"/>
          </a:solidFill>
          <a:ln w="9525">
            <a:solidFill>
              <a:srgbClr val="E4DDCB"/>
            </a:solidFill>
            <a:prstDash val="solid"/>
          </a:ln>
        </p:spPr>
      </p:sp>
      <p:sp>
        <p:nvSpPr>
          <p:cNvPr id="31" name="Shape 29"/>
          <p:cNvSpPr/>
          <p:nvPr/>
        </p:nvSpPr>
        <p:spPr>
          <a:xfrm>
            <a:off x="5047488" y="5742432"/>
            <a:ext cx="1828800" cy="274320"/>
          </a:xfrm>
          <a:prstGeom prst="roundRect">
            <a:avLst>
              <a:gd name="adj" fmla="val 50000"/>
            </a:avLst>
          </a:prstGeom>
          <a:solidFill>
            <a:srgbClr val="C9A15A"/>
          </a:solidFill>
          <a:ln/>
        </p:spPr>
      </p:sp>
      <p:sp>
        <p:nvSpPr>
          <p:cNvPr id="32" name="Text 30"/>
          <p:cNvSpPr/>
          <p:nvPr/>
        </p:nvSpPr>
        <p:spPr>
          <a:xfrm>
            <a:off x="5047488" y="5742432"/>
            <a:ext cx="1828800" cy="274320"/>
          </a:xfrm>
          <a:prstGeom prst="rect">
            <a:avLst/>
          </a:prstGeom>
          <a:noFill/>
          <a:ln/>
        </p:spPr>
        <p:txBody>
          <a:bodyPr wrap="square" rtlCol="0" anchor="ctr"/>
          <a:lstStyle/>
          <a:p>
            <a:pPr marL="0" indent="0" algn="ctr" rtl="1">
              <a:lnSpc>
                <a:spcPct val="98000"/>
              </a:lnSpc>
              <a:buNone/>
            </a:pPr>
            <a:r>
              <a:rPr lang="ar-SA" altLang="en-US" sz="750" b="1" dirty="0">
                <a:solidFill>
                  <a:srgbClr val="0B1B2B"/>
                </a:solidFill>
                <a:latin typeface="Arial" pitchFamily="34" charset="0"/>
                <a:ea typeface="Arial" pitchFamily="34" charset="-122"/>
                <a:cs typeface="Arial" pitchFamily="34" charset="-120"/>
              </a:rPr>
              <a:t>دراسة حالة توضيحية</a:t>
            </a:r>
            <a:endParaRPr lang="ar-SA" sz="750" dirty="0"/>
          </a:p>
        </p:txBody>
      </p:sp>
      <p:sp>
        <p:nvSpPr>
          <p:cNvPr id="33" name="Text 31"/>
          <p:cNvSpPr/>
          <p:nvPr/>
        </p:nvSpPr>
        <p:spPr>
          <a:xfrm>
            <a:off x="685800" y="5742432"/>
            <a:ext cx="4224528" cy="274320"/>
          </a:xfrm>
          <a:prstGeom prst="rect">
            <a:avLst/>
          </a:prstGeom>
          <a:noFill/>
          <a:ln/>
        </p:spPr>
        <p:txBody>
          <a:bodyPr wrap="square" rtlCol="0" anchor="ctr"/>
          <a:lstStyle/>
          <a:p>
            <a:pPr marL="0" indent="0" algn="l" rtl="1">
              <a:lnSpc>
                <a:spcPct val="98000"/>
              </a:lnSpc>
              <a:buNone/>
            </a:pPr>
            <a:r>
              <a:rPr lang="ar-SA" altLang="en-US" sz="820" b="1" dirty="0">
                <a:solidFill>
                  <a:srgbClr val="6B675F"/>
                </a:solidFill>
                <a:latin typeface="Arial" pitchFamily="34" charset="0"/>
                <a:ea typeface="Arial" pitchFamily="34" charset="-122"/>
                <a:cs typeface="Arial" pitchFamily="34" charset="-120"/>
              </a:rPr>
              <a:t>متعدد المنشآت • 19 فندقًا • التميّز التشغيلي</a:t>
            </a:r>
            <a:endParaRPr lang="ar-SA" sz="820" dirty="0"/>
          </a:p>
        </p:txBody>
      </p:sp>
      <p:sp>
        <p:nvSpPr>
          <p:cNvPr id="34" name="Text 32"/>
          <p:cNvSpPr/>
          <p:nvPr/>
        </p:nvSpPr>
        <p:spPr>
          <a:xfrm>
            <a:off x="685800" y="6035040"/>
            <a:ext cx="6190488" cy="292608"/>
          </a:xfrm>
          <a:prstGeom prst="rect">
            <a:avLst/>
          </a:prstGeom>
          <a:noFill/>
          <a:ln/>
        </p:spPr>
        <p:txBody>
          <a:bodyPr wrap="square" rtlCol="0" anchor="ctr"/>
          <a:lstStyle/>
          <a:p>
            <a:pPr marL="0" indent="0" algn="r" rtl="1">
              <a:lnSpc>
                <a:spcPct val="98000"/>
              </a:lnSpc>
              <a:buNone/>
            </a:pPr>
            <a:r>
              <a:rPr lang="ar-SA" altLang="en-US" sz="1490" b="1" dirty="0">
                <a:solidFill>
                  <a:srgbClr val="0B1B2B"/>
                </a:solidFill>
                <a:latin typeface="Arial" pitchFamily="34" charset="0"/>
                <a:ea typeface="Arial" pitchFamily="34" charset="-122"/>
                <a:cs typeface="Arial" pitchFamily="34" charset="-120"/>
              </a:rPr>
              <a:t>مهمة التميّز التشغيلي على مستوى المحفظة</a:t>
            </a:r>
            <a:endParaRPr lang="ar-SA" sz="1490" dirty="0"/>
          </a:p>
        </p:txBody>
      </p:sp>
      <p:sp>
        <p:nvSpPr>
          <p:cNvPr id="35" name="Text 33"/>
          <p:cNvSpPr/>
          <p:nvPr/>
        </p:nvSpPr>
        <p:spPr>
          <a:xfrm>
            <a:off x="5824728" y="6419088"/>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العميل</a:t>
            </a:r>
            <a:endParaRPr lang="ar-SA" sz="800" dirty="0"/>
          </a:p>
        </p:txBody>
      </p:sp>
      <p:sp>
        <p:nvSpPr>
          <p:cNvPr id="36" name="Text 34"/>
          <p:cNvSpPr/>
          <p:nvPr/>
        </p:nvSpPr>
        <p:spPr>
          <a:xfrm>
            <a:off x="685800" y="6419088"/>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محفظة مشغّل عالمي في دولة واحدة تضم 19 فندقًا وأكثر من 3,000 غرفة، تشمل فنادق المدن والمنتجعات والمطارات.</a:t>
            </a:r>
            <a:endParaRPr lang="ar-SA" sz="890" dirty="0"/>
          </a:p>
        </p:txBody>
      </p:sp>
      <p:sp>
        <p:nvSpPr>
          <p:cNvPr id="37" name="Text 35"/>
          <p:cNvSpPr/>
          <p:nvPr/>
        </p:nvSpPr>
        <p:spPr>
          <a:xfrm>
            <a:off x="5824728" y="6821424"/>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التحدي</a:t>
            </a:r>
            <a:endParaRPr lang="ar-SA" sz="800" dirty="0"/>
          </a:p>
        </p:txBody>
      </p:sp>
      <p:sp>
        <p:nvSpPr>
          <p:cNvPr id="38" name="Text 36"/>
          <p:cNvSpPr/>
          <p:nvPr/>
        </p:nvSpPr>
        <p:spPr>
          <a:xfrm>
            <a:off x="685800" y="6821424"/>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تفاوت في تقديم الخدمة، وتشتت في أداء الأغذية والمشروبات، وتباين في الالتزام بمعايير العلامة عبر المحفظة.</a:t>
            </a:r>
            <a:endParaRPr lang="ar-SA" sz="890" dirty="0"/>
          </a:p>
        </p:txBody>
      </p:sp>
      <p:sp>
        <p:nvSpPr>
          <p:cNvPr id="39" name="Text 37"/>
          <p:cNvSpPr/>
          <p:nvPr/>
        </p:nvSpPr>
        <p:spPr>
          <a:xfrm>
            <a:off x="5824728" y="7223760"/>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النهج</a:t>
            </a:r>
            <a:endParaRPr lang="ar-SA" sz="800" dirty="0"/>
          </a:p>
        </p:txBody>
      </p:sp>
      <p:sp>
        <p:nvSpPr>
          <p:cNvPr id="40" name="Text 38"/>
          <p:cNvSpPr/>
          <p:nvPr/>
        </p:nvSpPr>
        <p:spPr>
          <a:xfrm>
            <a:off x="685800" y="7223760"/>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برنامج تميّز مركزي: توحيد المعايير، وتشخيصات مستهدفة على مستوى كل منشأة، وتدريب المديرين العامين ورؤساء الأقسام على تنمية القدرات، وقياس شهري للأداء.</a:t>
            </a:r>
            <a:endParaRPr lang="ar-SA" sz="890" dirty="0"/>
          </a:p>
        </p:txBody>
      </p:sp>
      <p:sp>
        <p:nvSpPr>
          <p:cNvPr id="41" name="Text 39"/>
          <p:cNvSpPr/>
          <p:nvPr/>
        </p:nvSpPr>
        <p:spPr>
          <a:xfrm>
            <a:off x="5824728" y="7626096"/>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النتيجة</a:t>
            </a:r>
            <a:endParaRPr lang="ar-SA" sz="800" dirty="0"/>
          </a:p>
        </p:txBody>
      </p:sp>
      <p:sp>
        <p:nvSpPr>
          <p:cNvPr id="42" name="Text 40"/>
          <p:cNvSpPr/>
          <p:nvPr/>
        </p:nvSpPr>
        <p:spPr>
          <a:xfrm>
            <a:off x="685800" y="7626096"/>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ارتفاع في رضا النزلاء وإيرادات الأغذية والمشروبات على مستوى المحفظة خلال 18 شهرًا، مع دليل عمل قابل للتكرار جرى ترسيخه في جميع المنشآت.</a:t>
            </a:r>
            <a:endParaRPr lang="ar-SA" sz="890" dirty="0"/>
          </a:p>
        </p:txBody>
      </p:sp>
      <p:sp>
        <p:nvSpPr>
          <p:cNvPr id="43" name="Shape 41"/>
          <p:cNvSpPr/>
          <p:nvPr/>
        </p:nvSpPr>
        <p:spPr>
          <a:xfrm>
            <a:off x="5456682" y="8138160"/>
            <a:ext cx="1419606" cy="457200"/>
          </a:xfrm>
          <a:prstGeom prst="roundRect">
            <a:avLst>
              <a:gd name="adj" fmla="val 8000"/>
            </a:avLst>
          </a:prstGeom>
          <a:solidFill>
            <a:srgbClr val="0B1B2B"/>
          </a:solidFill>
          <a:ln/>
        </p:spPr>
      </p:sp>
      <p:sp>
        <p:nvSpPr>
          <p:cNvPr id="44" name="Text 42"/>
          <p:cNvSpPr/>
          <p:nvPr/>
        </p:nvSpPr>
        <p:spPr>
          <a:xfrm>
            <a:off x="5456682"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19</a:t>
            </a:r>
            <a:endParaRPr lang="en-US" sz="1300" dirty="0"/>
          </a:p>
        </p:txBody>
      </p:sp>
      <p:sp>
        <p:nvSpPr>
          <p:cNvPr id="45" name="Text 43"/>
          <p:cNvSpPr/>
          <p:nvPr/>
        </p:nvSpPr>
        <p:spPr>
          <a:xfrm>
            <a:off x="5484114"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فندقًا في مهمة واحدة</a:t>
            </a:r>
            <a:endParaRPr lang="ar-SA" sz="670" dirty="0"/>
          </a:p>
        </p:txBody>
      </p:sp>
      <p:sp>
        <p:nvSpPr>
          <p:cNvPr id="46" name="Shape 44"/>
          <p:cNvSpPr/>
          <p:nvPr/>
        </p:nvSpPr>
        <p:spPr>
          <a:xfrm>
            <a:off x="3927348" y="8138160"/>
            <a:ext cx="1419606" cy="457200"/>
          </a:xfrm>
          <a:prstGeom prst="roundRect">
            <a:avLst>
              <a:gd name="adj" fmla="val 8000"/>
            </a:avLst>
          </a:prstGeom>
          <a:solidFill>
            <a:srgbClr val="0B1B2B"/>
          </a:solidFill>
          <a:ln/>
        </p:spPr>
      </p:sp>
      <p:sp>
        <p:nvSpPr>
          <p:cNvPr id="47" name="Text 45"/>
          <p:cNvSpPr/>
          <p:nvPr/>
        </p:nvSpPr>
        <p:spPr>
          <a:xfrm>
            <a:off x="3927348"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3,000+</a:t>
            </a:r>
            <a:endParaRPr lang="en-US" sz="1300" dirty="0"/>
          </a:p>
        </p:txBody>
      </p:sp>
      <p:sp>
        <p:nvSpPr>
          <p:cNvPr id="48" name="Text 46"/>
          <p:cNvSpPr/>
          <p:nvPr/>
        </p:nvSpPr>
        <p:spPr>
          <a:xfrm>
            <a:off x="3954780"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غرفة ضمن النطاق</a:t>
            </a:r>
            <a:endParaRPr lang="ar-SA" sz="670" dirty="0"/>
          </a:p>
        </p:txBody>
      </p:sp>
      <p:sp>
        <p:nvSpPr>
          <p:cNvPr id="49" name="Shape 47"/>
          <p:cNvSpPr/>
          <p:nvPr/>
        </p:nvSpPr>
        <p:spPr>
          <a:xfrm>
            <a:off x="2398014" y="8138160"/>
            <a:ext cx="1419606" cy="457200"/>
          </a:xfrm>
          <a:prstGeom prst="roundRect">
            <a:avLst>
              <a:gd name="adj" fmla="val 8000"/>
            </a:avLst>
          </a:prstGeom>
          <a:solidFill>
            <a:srgbClr val="0B1B2B"/>
          </a:solidFill>
          <a:ln/>
        </p:spPr>
      </p:sp>
      <p:sp>
        <p:nvSpPr>
          <p:cNvPr id="50" name="Text 48"/>
          <p:cNvSpPr/>
          <p:nvPr/>
        </p:nvSpPr>
        <p:spPr>
          <a:xfrm>
            <a:off x="2398014"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+10%</a:t>
            </a:r>
            <a:endParaRPr lang="en-US" sz="1300" dirty="0"/>
          </a:p>
        </p:txBody>
      </p:sp>
      <p:sp>
        <p:nvSpPr>
          <p:cNvPr id="51" name="Text 49"/>
          <p:cNvSpPr/>
          <p:nvPr/>
        </p:nvSpPr>
        <p:spPr>
          <a:xfrm>
            <a:off x="2425446"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رضا النزلاء</a:t>
            </a:r>
            <a:endParaRPr lang="ar-SA" sz="670" dirty="0"/>
          </a:p>
        </p:txBody>
      </p:sp>
      <p:sp>
        <p:nvSpPr>
          <p:cNvPr id="52" name="Shape 50"/>
          <p:cNvSpPr/>
          <p:nvPr/>
        </p:nvSpPr>
        <p:spPr>
          <a:xfrm>
            <a:off x="868680" y="8138160"/>
            <a:ext cx="1419606" cy="457200"/>
          </a:xfrm>
          <a:prstGeom prst="roundRect">
            <a:avLst>
              <a:gd name="adj" fmla="val 8000"/>
            </a:avLst>
          </a:prstGeom>
          <a:solidFill>
            <a:srgbClr val="0B1B2B"/>
          </a:solidFill>
          <a:ln/>
        </p:spPr>
      </p:sp>
      <p:sp>
        <p:nvSpPr>
          <p:cNvPr id="53" name="Text 51"/>
          <p:cNvSpPr/>
          <p:nvPr/>
        </p:nvSpPr>
        <p:spPr>
          <a:xfrm>
            <a:off x="868680"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+8%</a:t>
            </a:r>
            <a:endParaRPr lang="en-US" sz="1300" dirty="0"/>
          </a:p>
        </p:txBody>
      </p:sp>
      <p:sp>
        <p:nvSpPr>
          <p:cNvPr id="54" name="Text 52"/>
          <p:cNvSpPr/>
          <p:nvPr/>
        </p:nvSpPr>
        <p:spPr>
          <a:xfrm>
            <a:off x="896112"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إيرادات الأغذية والمشروبات، 18 شهرًا</a:t>
            </a:r>
            <a:endParaRPr lang="ar-SA" sz="670" dirty="0"/>
          </a:p>
        </p:txBody>
      </p:sp>
      <p:sp>
        <p:nvSpPr>
          <p:cNvPr id="55" name="Shape 53"/>
          <p:cNvSpPr/>
          <p:nvPr/>
        </p:nvSpPr>
        <p:spPr>
          <a:xfrm>
            <a:off x="502920" y="10186416"/>
            <a:ext cx="6556248" cy="0"/>
          </a:xfrm>
          <a:prstGeom prst="line">
            <a:avLst/>
          </a:prstGeom>
          <a:noFill/>
          <a:ln w="9525">
            <a:solidFill>
              <a:srgbClr val="E4DDCB"/>
            </a:solidFill>
            <a:prstDash val="solid"/>
          </a:ln>
        </p:spPr>
      </p:sp>
      <p:sp>
        <p:nvSpPr>
          <p:cNvPr id="56" name="Text 54"/>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57" name="Text 55"/>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16</a:t>
            </a:r>
            <a:endParaRPr lang="ar-SA" sz="88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15  •  شواهد عملية • الثاني</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دراسات حالة توضيحية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تنفيذ ما قبل الافتتاح وتمثيل المالك: مهمتان تدعم فيهما الحوكمة المنضبطة إلى جانب العميل رأس المال المستثمر بأكبر قدر من المباشرة. وهما مقدَّمتان كأمثلة توضيحية؛ وتختلف النتائج الفردية بحسب الأصل والسوق والتنفيذ.</a:t>
            </a:r>
            <a:endParaRPr lang="ar-SA" sz="1180" dirty="0"/>
          </a:p>
        </p:txBody>
      </p:sp>
      <p:sp>
        <p:nvSpPr>
          <p:cNvPr id="5" name="Shape 3"/>
          <p:cNvSpPr/>
          <p:nvPr/>
        </p:nvSpPr>
        <p:spPr>
          <a:xfrm>
            <a:off x="502920" y="2103120"/>
            <a:ext cx="6556248" cy="3200400"/>
          </a:xfrm>
          <a:prstGeom prst="roundRect">
            <a:avLst>
              <a:gd name="adj" fmla="val 1714"/>
            </a:avLst>
          </a:prstGeom>
          <a:solidFill>
            <a:srgbClr val="FFFFFF"/>
          </a:solidFill>
          <a:ln w="9525">
            <a:solidFill>
              <a:srgbClr val="E4DDCB"/>
            </a:solidFill>
            <a:prstDash val="solid"/>
          </a:ln>
        </p:spPr>
      </p:sp>
      <p:sp>
        <p:nvSpPr>
          <p:cNvPr id="6" name="Shape 4"/>
          <p:cNvSpPr/>
          <p:nvPr/>
        </p:nvSpPr>
        <p:spPr>
          <a:xfrm>
            <a:off x="5047488" y="2267712"/>
            <a:ext cx="1828800" cy="274320"/>
          </a:xfrm>
          <a:prstGeom prst="roundRect">
            <a:avLst>
              <a:gd name="adj" fmla="val 50000"/>
            </a:avLst>
          </a:prstGeom>
          <a:solidFill>
            <a:srgbClr val="C9A15A"/>
          </a:solidFill>
          <a:ln/>
        </p:spPr>
      </p:sp>
      <p:sp>
        <p:nvSpPr>
          <p:cNvPr id="7" name="Text 5"/>
          <p:cNvSpPr/>
          <p:nvPr/>
        </p:nvSpPr>
        <p:spPr>
          <a:xfrm>
            <a:off x="5047488" y="2267712"/>
            <a:ext cx="1828800" cy="274320"/>
          </a:xfrm>
          <a:prstGeom prst="rect">
            <a:avLst/>
          </a:prstGeom>
          <a:noFill/>
          <a:ln/>
        </p:spPr>
        <p:txBody>
          <a:bodyPr wrap="square" rtlCol="0" anchor="ctr"/>
          <a:lstStyle/>
          <a:p>
            <a:pPr marL="0" indent="0" algn="ctr" rtl="1">
              <a:lnSpc>
                <a:spcPct val="98000"/>
              </a:lnSpc>
              <a:buNone/>
            </a:pPr>
            <a:r>
              <a:rPr lang="ar-SA" altLang="en-US" sz="750" b="1" dirty="0">
                <a:solidFill>
                  <a:srgbClr val="0B1B2B"/>
                </a:solidFill>
                <a:latin typeface="Arial" pitchFamily="34" charset="0"/>
                <a:ea typeface="Arial" pitchFamily="34" charset="-122"/>
                <a:cs typeface="Arial" pitchFamily="34" charset="-120"/>
              </a:rPr>
              <a:t>دراسة حالة توضيحية</a:t>
            </a:r>
            <a:endParaRPr lang="ar-SA" sz="750" dirty="0"/>
          </a:p>
        </p:txBody>
      </p:sp>
      <p:sp>
        <p:nvSpPr>
          <p:cNvPr id="8" name="Text 6"/>
          <p:cNvSpPr/>
          <p:nvPr/>
        </p:nvSpPr>
        <p:spPr>
          <a:xfrm>
            <a:off x="685800" y="2267712"/>
            <a:ext cx="4224528" cy="274320"/>
          </a:xfrm>
          <a:prstGeom prst="rect">
            <a:avLst/>
          </a:prstGeom>
          <a:noFill/>
          <a:ln/>
        </p:spPr>
        <p:txBody>
          <a:bodyPr wrap="square" rtlCol="0" anchor="ctr"/>
          <a:lstStyle/>
          <a:p>
            <a:pPr marL="0" indent="0" algn="l" rtl="1">
              <a:lnSpc>
                <a:spcPct val="98000"/>
              </a:lnSpc>
              <a:buNone/>
            </a:pPr>
            <a:r>
              <a:rPr lang="ar-SA" altLang="en-US" sz="820" b="1" dirty="0">
                <a:solidFill>
                  <a:srgbClr val="6B675F"/>
                </a:solidFill>
                <a:latin typeface="Arial" pitchFamily="34" charset="0"/>
                <a:ea typeface="Arial" pitchFamily="34" charset="-122"/>
                <a:cs typeface="Arial" pitchFamily="34" charset="-120"/>
              </a:rPr>
              <a:t>ما قبل الافتتاح • السعودية • افتتاح مزدوج</a:t>
            </a:r>
            <a:endParaRPr lang="ar-SA" sz="820" dirty="0"/>
          </a:p>
        </p:txBody>
      </p:sp>
      <p:sp>
        <p:nvSpPr>
          <p:cNvPr id="9" name="Text 7"/>
          <p:cNvSpPr/>
          <p:nvPr/>
        </p:nvSpPr>
        <p:spPr>
          <a:xfrm>
            <a:off x="685800" y="2560320"/>
            <a:ext cx="6190488" cy="292608"/>
          </a:xfrm>
          <a:prstGeom prst="rect">
            <a:avLst/>
          </a:prstGeom>
          <a:noFill/>
          <a:ln/>
        </p:spPr>
        <p:txBody>
          <a:bodyPr wrap="square" rtlCol="0" anchor="ctr"/>
          <a:lstStyle/>
          <a:p>
            <a:pPr marL="0" indent="0" algn="r" rtl="1">
              <a:lnSpc>
                <a:spcPct val="98000"/>
              </a:lnSpc>
              <a:buNone/>
            </a:pPr>
            <a:r>
              <a:rPr lang="ar-SA" altLang="en-US" sz="1490" b="1" dirty="0">
                <a:solidFill>
                  <a:srgbClr val="0B1B2B"/>
                </a:solidFill>
                <a:latin typeface="Arial" pitchFamily="34" charset="0"/>
                <a:ea typeface="Arial" pitchFamily="34" charset="-122"/>
                <a:cs typeface="Arial" pitchFamily="34" charset="-120"/>
              </a:rPr>
              <a:t>الاستعداد المتزامن لافتتاح فندقين والوصول إلى التشغيل الكامل</a:t>
            </a:r>
            <a:endParaRPr lang="ar-SA" sz="1490" dirty="0"/>
          </a:p>
        </p:txBody>
      </p:sp>
      <p:sp>
        <p:nvSpPr>
          <p:cNvPr id="10" name="Text 8"/>
          <p:cNvSpPr/>
          <p:nvPr/>
        </p:nvSpPr>
        <p:spPr>
          <a:xfrm>
            <a:off x="5824728" y="2944368"/>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العميل</a:t>
            </a:r>
            <a:endParaRPr lang="ar-SA" sz="800" dirty="0"/>
          </a:p>
        </p:txBody>
      </p:sp>
      <p:sp>
        <p:nvSpPr>
          <p:cNvPr id="11" name="Text 9"/>
          <p:cNvSpPr/>
          <p:nvPr/>
        </p:nvSpPr>
        <p:spPr>
          <a:xfrm>
            <a:off x="685800" y="2944368"/>
            <a:ext cx="5093208" cy="356616"/>
          </a:xfrm>
          <a:prstGeom prst="rect">
            <a:avLst/>
          </a:prstGeom>
          <a:noFill/>
          <a:ln/>
        </p:spPr>
        <p:txBody>
          <a:bodyPr wrap="square" rtlCol="0" anchor="t"/>
          <a:lstStyle/>
          <a:p>
            <a:pPr marL="0" indent="0" algn="r" rtl="1">
              <a:lnSpc>
                <a:spcPct val="109760"/>
              </a:lnSpc>
              <a:buNone/>
            </a:pPr>
            <a:r>
              <a:rPr lang="ar-SA" altLang="en-US" sz="890" smtClean="0">
                <a:solidFill>
                  <a:srgbClr val="2B2A27"/>
                </a:solidFill>
                <a:latin typeface="Arial" pitchFamily="34" charset="0"/>
                <a:ea typeface="Arial" pitchFamily="34" charset="-122"/>
                <a:cs typeface="Arial" pitchFamily="34" charset="-120"/>
              </a:rPr>
              <a:t>مجموعة إقليمية </a:t>
            </a:r>
            <a:r>
              <a:rPr lang="ar-SA" altLang="en-US" sz="890" dirty="0">
                <a:solidFill>
                  <a:srgbClr val="2B2A27"/>
                </a:solidFill>
                <a:latin typeface="Arial" pitchFamily="34" charset="0"/>
                <a:ea typeface="Arial" pitchFamily="34" charset="-122"/>
                <a:cs typeface="Arial" pitchFamily="34" charset="-120"/>
              </a:rPr>
              <a:t>تُدخل في الخدمة فندقين جديدين في المملكة خلال موسم افتتاح واحد.</a:t>
            </a:r>
            <a:endParaRPr lang="ar-SA" sz="890" dirty="0"/>
          </a:p>
        </p:txBody>
      </p:sp>
      <p:sp>
        <p:nvSpPr>
          <p:cNvPr id="12" name="Text 10"/>
          <p:cNvSpPr/>
          <p:nvPr/>
        </p:nvSpPr>
        <p:spPr>
          <a:xfrm>
            <a:off x="5824728" y="3346704"/>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التحدي</a:t>
            </a:r>
            <a:endParaRPr lang="ar-SA" sz="800" dirty="0"/>
          </a:p>
        </p:txBody>
      </p:sp>
      <p:sp>
        <p:nvSpPr>
          <p:cNvPr id="13" name="Text 11"/>
          <p:cNvSpPr/>
          <p:nvPr/>
        </p:nvSpPr>
        <p:spPr>
          <a:xfrm>
            <a:off x="685800" y="3346704"/>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مسارات حرجة متوازية تشمل التراخيص والتوظيف وشراء المستلزمات والمعدات التشغيلية (OS&amp;E) والأنظمة ومعايير العلامة، مع هامش ضيق جدًا لتأخر الافتتاح.</a:t>
            </a:r>
            <a:endParaRPr lang="ar-SA" sz="890" dirty="0"/>
          </a:p>
        </p:txBody>
      </p:sp>
      <p:sp>
        <p:nvSpPr>
          <p:cNvPr id="14" name="Text 12"/>
          <p:cNvSpPr/>
          <p:nvPr/>
        </p:nvSpPr>
        <p:spPr>
          <a:xfrm>
            <a:off x="5824728" y="3749040"/>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النهج</a:t>
            </a:r>
            <a:endParaRPr lang="ar-SA" sz="800" dirty="0"/>
          </a:p>
        </p:txBody>
      </p:sp>
      <p:sp>
        <p:nvSpPr>
          <p:cNvPr id="15" name="Text 13"/>
          <p:cNvSpPr/>
          <p:nvPr/>
        </p:nvSpPr>
        <p:spPr>
          <a:xfrm>
            <a:off x="685800" y="3749040"/>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هيكل قيادة متكامل لما قبل الافتتاح: خطة موحّدة للعد التنازلي، وموجات توظيف وتدريب مرحلية، وحوكمة المشتريات، وأنظمة إيرادات جاهزة قبل الافتتاح التجريبي.</a:t>
            </a:r>
            <a:endParaRPr lang="ar-SA" sz="890" dirty="0"/>
          </a:p>
        </p:txBody>
      </p:sp>
      <p:sp>
        <p:nvSpPr>
          <p:cNvPr id="16" name="Text 14"/>
          <p:cNvSpPr/>
          <p:nvPr/>
        </p:nvSpPr>
        <p:spPr>
          <a:xfrm>
            <a:off x="5824728" y="4151376"/>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النتيجة</a:t>
            </a:r>
            <a:endParaRPr lang="ar-SA" sz="800" dirty="0"/>
          </a:p>
        </p:txBody>
      </p:sp>
      <p:sp>
        <p:nvSpPr>
          <p:cNvPr id="17" name="Text 15"/>
          <p:cNvSpPr/>
          <p:nvPr/>
        </p:nvSpPr>
        <p:spPr>
          <a:xfrm>
            <a:off x="685800" y="4151376"/>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افتُتح الفندقان في موعدهما، وانتقلا إلى التشغيل الكامل، وحققا ربحية رائدة في السوق ضمن المنطقة.</a:t>
            </a:r>
            <a:endParaRPr lang="ar-SA" sz="890" dirty="0"/>
          </a:p>
        </p:txBody>
      </p:sp>
      <p:sp>
        <p:nvSpPr>
          <p:cNvPr id="18" name="Shape 16"/>
          <p:cNvSpPr/>
          <p:nvPr/>
        </p:nvSpPr>
        <p:spPr>
          <a:xfrm>
            <a:off x="5456682" y="4663440"/>
            <a:ext cx="1419606" cy="457200"/>
          </a:xfrm>
          <a:prstGeom prst="roundRect">
            <a:avLst>
              <a:gd name="adj" fmla="val 8000"/>
            </a:avLst>
          </a:prstGeom>
          <a:solidFill>
            <a:srgbClr val="0B1B2B"/>
          </a:solidFill>
          <a:ln/>
        </p:spPr>
      </p:sp>
      <p:sp>
        <p:nvSpPr>
          <p:cNvPr id="19" name="Text 17"/>
          <p:cNvSpPr/>
          <p:nvPr/>
        </p:nvSpPr>
        <p:spPr>
          <a:xfrm>
            <a:off x="5456682"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2</a:t>
            </a:r>
            <a:endParaRPr lang="en-US" sz="1300" dirty="0"/>
          </a:p>
        </p:txBody>
      </p:sp>
      <p:sp>
        <p:nvSpPr>
          <p:cNvPr id="20" name="Text 18"/>
          <p:cNvSpPr/>
          <p:nvPr/>
        </p:nvSpPr>
        <p:spPr>
          <a:xfrm>
            <a:off x="5484114"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فندقان بالتزامن</a:t>
            </a:r>
            <a:endParaRPr lang="ar-SA" sz="670" dirty="0"/>
          </a:p>
        </p:txBody>
      </p:sp>
      <p:sp>
        <p:nvSpPr>
          <p:cNvPr id="21" name="Shape 19"/>
          <p:cNvSpPr/>
          <p:nvPr/>
        </p:nvSpPr>
        <p:spPr>
          <a:xfrm>
            <a:off x="3927348" y="4663440"/>
            <a:ext cx="1419606" cy="457200"/>
          </a:xfrm>
          <a:prstGeom prst="roundRect">
            <a:avLst>
              <a:gd name="adj" fmla="val 8000"/>
            </a:avLst>
          </a:prstGeom>
          <a:solidFill>
            <a:srgbClr val="0B1B2B"/>
          </a:solidFill>
          <a:ln/>
        </p:spPr>
      </p:sp>
      <p:sp>
        <p:nvSpPr>
          <p:cNvPr id="22" name="Text 20"/>
          <p:cNvSpPr/>
          <p:nvPr/>
        </p:nvSpPr>
        <p:spPr>
          <a:xfrm>
            <a:off x="3927348"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90–95%</a:t>
            </a:r>
            <a:endParaRPr lang="en-US" sz="1300" dirty="0"/>
          </a:p>
        </p:txBody>
      </p:sp>
      <p:sp>
        <p:nvSpPr>
          <p:cNvPr id="23" name="Text 21"/>
          <p:cNvSpPr/>
          <p:nvPr/>
        </p:nvSpPr>
        <p:spPr>
          <a:xfrm>
            <a:off x="3954780"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الجاهزية عند الافتتاح</a:t>
            </a:r>
            <a:endParaRPr lang="ar-SA" sz="670" dirty="0"/>
          </a:p>
        </p:txBody>
      </p:sp>
      <p:sp>
        <p:nvSpPr>
          <p:cNvPr id="24" name="Shape 22"/>
          <p:cNvSpPr/>
          <p:nvPr/>
        </p:nvSpPr>
        <p:spPr>
          <a:xfrm>
            <a:off x="2398014" y="4663440"/>
            <a:ext cx="1419606" cy="457200"/>
          </a:xfrm>
          <a:prstGeom prst="roundRect">
            <a:avLst>
              <a:gd name="adj" fmla="val 8000"/>
            </a:avLst>
          </a:prstGeom>
          <a:solidFill>
            <a:srgbClr val="0B1B2B"/>
          </a:solidFill>
          <a:ln/>
        </p:spPr>
      </p:sp>
      <p:sp>
        <p:nvSpPr>
          <p:cNvPr id="25" name="Text 23"/>
          <p:cNvSpPr/>
          <p:nvPr/>
        </p:nvSpPr>
        <p:spPr>
          <a:xfrm>
            <a:off x="2398014"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#1</a:t>
            </a:r>
            <a:endParaRPr lang="en-US" sz="1300" dirty="0"/>
          </a:p>
        </p:txBody>
      </p:sp>
      <p:sp>
        <p:nvSpPr>
          <p:cNvPr id="26" name="Text 24"/>
          <p:cNvSpPr/>
          <p:nvPr/>
        </p:nvSpPr>
        <p:spPr>
          <a:xfrm>
            <a:off x="2425446"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GOP في المنطقة بعد التشغيل الكامل</a:t>
            </a:r>
            <a:endParaRPr lang="ar-SA" sz="670" dirty="0"/>
          </a:p>
        </p:txBody>
      </p:sp>
      <p:sp>
        <p:nvSpPr>
          <p:cNvPr id="27" name="Shape 25"/>
          <p:cNvSpPr/>
          <p:nvPr/>
        </p:nvSpPr>
        <p:spPr>
          <a:xfrm>
            <a:off x="868680" y="4663440"/>
            <a:ext cx="1419606" cy="457200"/>
          </a:xfrm>
          <a:prstGeom prst="roundRect">
            <a:avLst>
              <a:gd name="adj" fmla="val 8000"/>
            </a:avLst>
          </a:prstGeom>
          <a:solidFill>
            <a:srgbClr val="0B1B2B"/>
          </a:solidFill>
          <a:ln/>
        </p:spPr>
      </p:sp>
      <p:sp>
        <p:nvSpPr>
          <p:cNvPr id="28" name="Text 26"/>
          <p:cNvSpPr/>
          <p:nvPr/>
        </p:nvSpPr>
        <p:spPr>
          <a:xfrm>
            <a:off x="868680" y="469087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T-0</a:t>
            </a:r>
            <a:endParaRPr lang="en-US" sz="1300" dirty="0"/>
          </a:p>
        </p:txBody>
      </p:sp>
      <p:sp>
        <p:nvSpPr>
          <p:cNvPr id="29" name="Text 27"/>
          <p:cNvSpPr/>
          <p:nvPr/>
        </p:nvSpPr>
        <p:spPr>
          <a:xfrm>
            <a:off x="896112" y="493776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افتتاح في الموعد</a:t>
            </a:r>
            <a:endParaRPr lang="ar-SA" sz="670" dirty="0"/>
          </a:p>
        </p:txBody>
      </p:sp>
      <p:sp>
        <p:nvSpPr>
          <p:cNvPr id="30" name="Shape 28"/>
          <p:cNvSpPr/>
          <p:nvPr/>
        </p:nvSpPr>
        <p:spPr>
          <a:xfrm>
            <a:off x="502920" y="5577840"/>
            <a:ext cx="6556248" cy="3200400"/>
          </a:xfrm>
          <a:prstGeom prst="roundRect">
            <a:avLst>
              <a:gd name="adj" fmla="val 1714"/>
            </a:avLst>
          </a:prstGeom>
          <a:solidFill>
            <a:srgbClr val="FFFFFF"/>
          </a:solidFill>
          <a:ln w="9525">
            <a:solidFill>
              <a:srgbClr val="E4DDCB"/>
            </a:solidFill>
            <a:prstDash val="solid"/>
          </a:ln>
        </p:spPr>
      </p:sp>
      <p:sp>
        <p:nvSpPr>
          <p:cNvPr id="31" name="Shape 29"/>
          <p:cNvSpPr/>
          <p:nvPr/>
        </p:nvSpPr>
        <p:spPr>
          <a:xfrm>
            <a:off x="5047488" y="5742432"/>
            <a:ext cx="1828800" cy="274320"/>
          </a:xfrm>
          <a:prstGeom prst="roundRect">
            <a:avLst>
              <a:gd name="adj" fmla="val 50000"/>
            </a:avLst>
          </a:prstGeom>
          <a:solidFill>
            <a:srgbClr val="C9A15A"/>
          </a:solidFill>
          <a:ln/>
        </p:spPr>
      </p:sp>
      <p:sp>
        <p:nvSpPr>
          <p:cNvPr id="32" name="Text 30"/>
          <p:cNvSpPr/>
          <p:nvPr/>
        </p:nvSpPr>
        <p:spPr>
          <a:xfrm>
            <a:off x="5047488" y="5742432"/>
            <a:ext cx="1828800" cy="274320"/>
          </a:xfrm>
          <a:prstGeom prst="rect">
            <a:avLst/>
          </a:prstGeom>
          <a:noFill/>
          <a:ln/>
        </p:spPr>
        <p:txBody>
          <a:bodyPr wrap="square" rtlCol="0" anchor="ctr"/>
          <a:lstStyle/>
          <a:p>
            <a:pPr marL="0" indent="0" algn="ctr" rtl="1">
              <a:lnSpc>
                <a:spcPct val="98000"/>
              </a:lnSpc>
              <a:buNone/>
            </a:pPr>
            <a:r>
              <a:rPr lang="ar-SA" altLang="en-US" sz="750" b="1" dirty="0">
                <a:solidFill>
                  <a:srgbClr val="0B1B2B"/>
                </a:solidFill>
                <a:latin typeface="Arial" pitchFamily="34" charset="0"/>
                <a:ea typeface="Arial" pitchFamily="34" charset="-122"/>
                <a:cs typeface="Arial" pitchFamily="34" charset="-120"/>
              </a:rPr>
              <a:t>دراسة حالة توضيحية</a:t>
            </a:r>
            <a:endParaRPr lang="ar-SA" sz="750" dirty="0"/>
          </a:p>
        </p:txBody>
      </p:sp>
      <p:sp>
        <p:nvSpPr>
          <p:cNvPr id="33" name="Text 31"/>
          <p:cNvSpPr/>
          <p:nvPr/>
        </p:nvSpPr>
        <p:spPr>
          <a:xfrm>
            <a:off x="685800" y="5742432"/>
            <a:ext cx="4224528" cy="274320"/>
          </a:xfrm>
          <a:prstGeom prst="rect">
            <a:avLst/>
          </a:prstGeom>
          <a:noFill/>
          <a:ln/>
        </p:spPr>
        <p:txBody>
          <a:bodyPr wrap="square" rtlCol="0" anchor="ctr"/>
          <a:lstStyle/>
          <a:p>
            <a:pPr marL="0" indent="0" algn="l" rtl="1">
              <a:lnSpc>
                <a:spcPct val="98000"/>
              </a:lnSpc>
              <a:buNone/>
            </a:pPr>
            <a:r>
              <a:rPr lang="ar-SA" altLang="en-US" sz="820" b="1" dirty="0">
                <a:solidFill>
                  <a:srgbClr val="6B675F"/>
                </a:solidFill>
                <a:latin typeface="Arial" pitchFamily="34" charset="0"/>
                <a:ea typeface="Arial" pitchFamily="34" charset="-122"/>
                <a:cs typeface="Arial" pitchFamily="34" charset="-120"/>
              </a:rPr>
              <a:t>تمثيل المالك • الرياض • 4 أصول بعلامات عالمية</a:t>
            </a:r>
            <a:endParaRPr lang="ar-SA" sz="820" dirty="0"/>
          </a:p>
        </p:txBody>
      </p:sp>
      <p:sp>
        <p:nvSpPr>
          <p:cNvPr id="34" name="Text 32"/>
          <p:cNvSpPr/>
          <p:nvPr/>
        </p:nvSpPr>
        <p:spPr>
          <a:xfrm>
            <a:off x="685800" y="6035040"/>
            <a:ext cx="6190488" cy="292608"/>
          </a:xfrm>
          <a:prstGeom prst="rect">
            <a:avLst/>
          </a:prstGeom>
          <a:noFill/>
          <a:ln/>
        </p:spPr>
        <p:txBody>
          <a:bodyPr wrap="square" rtlCol="0" anchor="ctr"/>
          <a:lstStyle/>
          <a:p>
            <a:pPr marL="0" indent="0" algn="r" rtl="1">
              <a:lnSpc>
                <a:spcPct val="98000"/>
              </a:lnSpc>
              <a:buNone/>
            </a:pPr>
            <a:r>
              <a:rPr lang="ar-SA" altLang="en-US" sz="1490" b="1" dirty="0">
                <a:solidFill>
                  <a:srgbClr val="0B1B2B"/>
                </a:solidFill>
                <a:latin typeface="Arial" pitchFamily="34" charset="0"/>
                <a:ea typeface="Arial" pitchFamily="34" charset="-122"/>
                <a:cs typeface="Arial" pitchFamily="34" charset="-120"/>
              </a:rPr>
              <a:t>ممثّل المالك لمحفظة فنادق بعلامات عالمية في الرياض</a:t>
            </a:r>
            <a:endParaRPr lang="ar-SA" sz="1490" dirty="0"/>
          </a:p>
        </p:txBody>
      </p:sp>
      <p:sp>
        <p:nvSpPr>
          <p:cNvPr id="35" name="Text 33"/>
          <p:cNvSpPr/>
          <p:nvPr/>
        </p:nvSpPr>
        <p:spPr>
          <a:xfrm>
            <a:off x="5824728" y="6419088"/>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العميل</a:t>
            </a:r>
            <a:endParaRPr lang="ar-SA" sz="800" dirty="0"/>
          </a:p>
        </p:txBody>
      </p:sp>
      <p:sp>
        <p:nvSpPr>
          <p:cNvPr id="36" name="Text 34"/>
          <p:cNvSpPr/>
          <p:nvPr/>
        </p:nvSpPr>
        <p:spPr>
          <a:xfrm>
            <a:off x="685800" y="6419088"/>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مالك مؤسسي يطوّر أربعة فنادق بعلامات عالمية داخل حي مالي وتقني رئيسي في الرياض.</a:t>
            </a:r>
            <a:endParaRPr lang="ar-SA" sz="890" dirty="0"/>
          </a:p>
        </p:txBody>
      </p:sp>
      <p:sp>
        <p:nvSpPr>
          <p:cNvPr id="37" name="Text 35"/>
          <p:cNvSpPr/>
          <p:nvPr/>
        </p:nvSpPr>
        <p:spPr>
          <a:xfrm>
            <a:off x="5824728" y="6821424"/>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التحدي</a:t>
            </a:r>
            <a:endParaRPr lang="ar-SA" sz="800" dirty="0"/>
          </a:p>
        </p:txBody>
      </p:sp>
      <p:sp>
        <p:nvSpPr>
          <p:cNvPr id="38" name="Text 36"/>
          <p:cNvSpPr/>
          <p:nvPr/>
        </p:nvSpPr>
        <p:spPr>
          <a:xfrm>
            <a:off x="685800" y="6821424"/>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دعم مصالح المالك في حوكمة اتفاقيات إدارة الفنادق (HMA) والخدمات الفنية والمشتريات ومراجعة OS&amp;E وتسليم المشغّل، عبر أربعة مشاريع متزامنة.</a:t>
            </a:r>
            <a:endParaRPr lang="ar-SA" sz="890" dirty="0"/>
          </a:p>
        </p:txBody>
      </p:sp>
      <p:sp>
        <p:nvSpPr>
          <p:cNvPr id="39" name="Text 37"/>
          <p:cNvSpPr/>
          <p:nvPr/>
        </p:nvSpPr>
        <p:spPr>
          <a:xfrm>
            <a:off x="5824728" y="7223760"/>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النهج</a:t>
            </a:r>
            <a:endParaRPr lang="ar-SA" sz="800" dirty="0"/>
          </a:p>
        </p:txBody>
      </p:sp>
      <p:sp>
        <p:nvSpPr>
          <p:cNvPr id="40" name="Text 38"/>
          <p:cNvSpPr/>
          <p:nvPr/>
        </p:nvSpPr>
        <p:spPr>
          <a:xfrm>
            <a:off x="685800" y="7223760"/>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مكتب مخصص لتمثيل المالك: متابعة الالتزام باتفاقيات إدارة الفنادق (HMA)، ومراجعة نقدية للتصميم والمشتريات، وإدارة المقاولين وفق المراحل، وبروتوكولات منظّمة لتسليم المبنى.</a:t>
            </a:r>
            <a:endParaRPr lang="ar-SA" sz="890" dirty="0"/>
          </a:p>
        </p:txBody>
      </p:sp>
      <p:sp>
        <p:nvSpPr>
          <p:cNvPr id="41" name="Text 39"/>
          <p:cNvSpPr/>
          <p:nvPr/>
        </p:nvSpPr>
        <p:spPr>
          <a:xfrm>
            <a:off x="5824728" y="7626096"/>
            <a:ext cx="1051560" cy="356616"/>
          </a:xfrm>
          <a:prstGeom prst="rect">
            <a:avLst/>
          </a:prstGeom>
          <a:noFill/>
          <a:ln/>
        </p:spPr>
        <p:txBody>
          <a:bodyPr wrap="square" rtlCol="0" anchor="t"/>
          <a:lstStyle/>
          <a:p>
            <a:pPr marL="0" indent="0" algn="r" rtl="1">
              <a:lnSpc>
                <a:spcPct val="98000"/>
              </a:lnSpc>
              <a:buNone/>
            </a:pPr>
            <a:r>
              <a:rPr lang="ar-SA" altLang="en-US" sz="800" b="1" dirty="0">
                <a:solidFill>
                  <a:srgbClr val="C1501D"/>
                </a:solidFill>
                <a:latin typeface="Arial" pitchFamily="34" charset="0"/>
                <a:ea typeface="Arial" pitchFamily="34" charset="-122"/>
                <a:cs typeface="Arial" pitchFamily="34" charset="-120"/>
              </a:rPr>
              <a:t>النتيجة</a:t>
            </a:r>
            <a:endParaRPr lang="ar-SA" sz="800" dirty="0"/>
          </a:p>
        </p:txBody>
      </p:sp>
      <p:sp>
        <p:nvSpPr>
          <p:cNvPr id="42" name="Text 40"/>
          <p:cNvSpPr/>
          <p:nvPr/>
        </p:nvSpPr>
        <p:spPr>
          <a:xfrm>
            <a:off x="685800" y="7626096"/>
            <a:ext cx="5093208" cy="356616"/>
          </a:xfrm>
          <a:prstGeom prst="rect">
            <a:avLst/>
          </a:prstGeom>
          <a:noFill/>
          <a:ln/>
        </p:spPr>
        <p:txBody>
          <a:bodyPr wrap="square" rtlCol="0" anchor="t"/>
          <a:lstStyle/>
          <a:p>
            <a:pPr marL="0" indent="0" algn="r" rtl="1">
              <a:lnSpc>
                <a:spcPct val="109760"/>
              </a:lnSpc>
              <a:buNone/>
            </a:pPr>
            <a:r>
              <a:rPr lang="ar-SA" altLang="en-US" sz="890" dirty="0">
                <a:solidFill>
                  <a:srgbClr val="2B2A27"/>
                </a:solidFill>
                <a:latin typeface="Arial" pitchFamily="34" charset="0"/>
                <a:ea typeface="Arial" pitchFamily="34" charset="-122"/>
                <a:cs typeface="Arial" pitchFamily="34" charset="-120"/>
              </a:rPr>
              <a:t>دُعمت مصالح المالك في الأصول الأربعة كلها: حماية الميزانيات، والحدّ من المطالبات، وإتمام التسليم إلى المشغّل بقبوله دون تآكل جوهري في القيمة.</a:t>
            </a:r>
            <a:endParaRPr lang="ar-SA" sz="890" dirty="0"/>
          </a:p>
        </p:txBody>
      </p:sp>
      <p:sp>
        <p:nvSpPr>
          <p:cNvPr id="43" name="Shape 41"/>
          <p:cNvSpPr/>
          <p:nvPr/>
        </p:nvSpPr>
        <p:spPr>
          <a:xfrm>
            <a:off x="5456682" y="8138160"/>
            <a:ext cx="1419606" cy="457200"/>
          </a:xfrm>
          <a:prstGeom prst="roundRect">
            <a:avLst>
              <a:gd name="adj" fmla="val 8000"/>
            </a:avLst>
          </a:prstGeom>
          <a:solidFill>
            <a:srgbClr val="0B1B2B"/>
          </a:solidFill>
          <a:ln/>
        </p:spPr>
      </p:sp>
      <p:sp>
        <p:nvSpPr>
          <p:cNvPr id="44" name="Text 42"/>
          <p:cNvSpPr/>
          <p:nvPr/>
        </p:nvSpPr>
        <p:spPr>
          <a:xfrm>
            <a:off x="5456682"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4</a:t>
            </a:r>
            <a:endParaRPr lang="en-US" sz="1300" dirty="0"/>
          </a:p>
        </p:txBody>
      </p:sp>
      <p:sp>
        <p:nvSpPr>
          <p:cNvPr id="45" name="Text 43"/>
          <p:cNvSpPr/>
          <p:nvPr/>
        </p:nvSpPr>
        <p:spPr>
          <a:xfrm>
            <a:off x="5484114"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أصول بعلامات عالمية</a:t>
            </a:r>
            <a:endParaRPr lang="ar-SA" sz="670" dirty="0"/>
          </a:p>
        </p:txBody>
      </p:sp>
      <p:sp>
        <p:nvSpPr>
          <p:cNvPr id="46" name="Shape 44"/>
          <p:cNvSpPr/>
          <p:nvPr/>
        </p:nvSpPr>
        <p:spPr>
          <a:xfrm>
            <a:off x="3927348" y="8138160"/>
            <a:ext cx="1419606" cy="457200"/>
          </a:xfrm>
          <a:prstGeom prst="roundRect">
            <a:avLst>
              <a:gd name="adj" fmla="val 8000"/>
            </a:avLst>
          </a:prstGeom>
          <a:solidFill>
            <a:srgbClr val="0B1B2B"/>
          </a:solidFill>
          <a:ln/>
        </p:spPr>
      </p:sp>
      <p:sp>
        <p:nvSpPr>
          <p:cNvPr id="47" name="Text 45"/>
          <p:cNvSpPr/>
          <p:nvPr/>
        </p:nvSpPr>
        <p:spPr>
          <a:xfrm>
            <a:off x="3927348"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HMA</a:t>
            </a:r>
            <a:endParaRPr lang="en-US" sz="1300" dirty="0"/>
          </a:p>
        </p:txBody>
      </p:sp>
      <p:sp>
        <p:nvSpPr>
          <p:cNvPr id="48" name="Text 46"/>
          <p:cNvSpPr/>
          <p:nvPr/>
        </p:nvSpPr>
        <p:spPr>
          <a:xfrm>
            <a:off x="3954780"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حوكمة كاملة للاتفاقيات</a:t>
            </a:r>
            <a:endParaRPr lang="ar-SA" sz="670" dirty="0"/>
          </a:p>
        </p:txBody>
      </p:sp>
      <p:sp>
        <p:nvSpPr>
          <p:cNvPr id="49" name="Shape 47"/>
          <p:cNvSpPr/>
          <p:nvPr/>
        </p:nvSpPr>
        <p:spPr>
          <a:xfrm>
            <a:off x="2398014" y="8138160"/>
            <a:ext cx="1419606" cy="457200"/>
          </a:xfrm>
          <a:prstGeom prst="roundRect">
            <a:avLst>
              <a:gd name="adj" fmla="val 8000"/>
            </a:avLst>
          </a:prstGeom>
          <a:solidFill>
            <a:srgbClr val="0B1B2B"/>
          </a:solidFill>
          <a:ln/>
        </p:spPr>
      </p:sp>
      <p:sp>
        <p:nvSpPr>
          <p:cNvPr id="50" name="Text 48"/>
          <p:cNvSpPr/>
          <p:nvPr/>
        </p:nvSpPr>
        <p:spPr>
          <a:xfrm>
            <a:off x="2398014"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OS&amp;E</a:t>
            </a:r>
            <a:endParaRPr lang="en-US" sz="1300" dirty="0"/>
          </a:p>
        </p:txBody>
      </p:sp>
      <p:sp>
        <p:nvSpPr>
          <p:cNvPr id="51" name="Text 49"/>
          <p:cNvSpPr/>
          <p:nvPr/>
        </p:nvSpPr>
        <p:spPr>
          <a:xfrm>
            <a:off x="2425446"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مراجعة المشتريات</a:t>
            </a:r>
            <a:endParaRPr lang="ar-SA" sz="670" dirty="0"/>
          </a:p>
        </p:txBody>
      </p:sp>
      <p:sp>
        <p:nvSpPr>
          <p:cNvPr id="52" name="Shape 50"/>
          <p:cNvSpPr/>
          <p:nvPr/>
        </p:nvSpPr>
        <p:spPr>
          <a:xfrm>
            <a:off x="868680" y="8138160"/>
            <a:ext cx="1419606" cy="457200"/>
          </a:xfrm>
          <a:prstGeom prst="roundRect">
            <a:avLst>
              <a:gd name="adj" fmla="val 8000"/>
            </a:avLst>
          </a:prstGeom>
          <a:solidFill>
            <a:srgbClr val="0B1B2B"/>
          </a:solidFill>
          <a:ln/>
        </p:spPr>
      </p:sp>
      <p:sp>
        <p:nvSpPr>
          <p:cNvPr id="53" name="Text 51"/>
          <p:cNvSpPr/>
          <p:nvPr/>
        </p:nvSpPr>
        <p:spPr>
          <a:xfrm>
            <a:off x="868680" y="8165592"/>
            <a:ext cx="1419606" cy="246888"/>
          </a:xfrm>
          <a:prstGeom prst="rect">
            <a:avLst/>
          </a:prstGeom>
          <a:noFill/>
          <a:ln/>
        </p:spPr>
        <p:txBody>
          <a:bodyPr wrap="square" rtlCol="0" anchor="ctr"/>
          <a:lstStyle/>
          <a:p>
            <a:pPr marL="0" indent="0" algn="ctr">
              <a:buNone/>
            </a:pPr>
            <a:r>
              <a:rPr lang="en-US" sz="1300" b="1" dirty="0">
                <a:solidFill>
                  <a:srgbClr val="E4C98A"/>
                </a:solidFill>
                <a:latin typeface="Arial" pitchFamily="34" charset="0"/>
                <a:ea typeface="Arial" pitchFamily="34" charset="-122"/>
                <a:cs typeface="Arial" pitchFamily="34" charset="-120"/>
              </a:rPr>
              <a:t>100%</a:t>
            </a:r>
            <a:endParaRPr lang="en-US" sz="1300" dirty="0"/>
          </a:p>
        </p:txBody>
      </p:sp>
      <p:sp>
        <p:nvSpPr>
          <p:cNvPr id="54" name="Text 52"/>
          <p:cNvSpPr/>
          <p:nvPr/>
        </p:nvSpPr>
        <p:spPr>
          <a:xfrm>
            <a:off x="896112" y="8412480"/>
            <a:ext cx="1364742" cy="164592"/>
          </a:xfrm>
          <a:prstGeom prst="rect">
            <a:avLst/>
          </a:prstGeom>
          <a:noFill/>
          <a:ln/>
        </p:spPr>
        <p:txBody>
          <a:bodyPr wrap="square" rtlCol="0" anchor="ctr"/>
          <a:lstStyle/>
          <a:p>
            <a:pPr marL="0" indent="0" algn="ctr" rtl="1">
              <a:lnSpc>
                <a:spcPct val="98000"/>
              </a:lnSpc>
              <a:buNone/>
            </a:pPr>
            <a:r>
              <a:rPr lang="ar-SA" altLang="en-US" sz="670" dirty="0">
                <a:solidFill>
                  <a:srgbClr val="B9C3CC"/>
                </a:solidFill>
                <a:latin typeface="Arial" pitchFamily="34" charset="0"/>
                <a:ea typeface="Arial" pitchFamily="34" charset="-122"/>
                <a:cs typeface="Arial" pitchFamily="34" charset="-120"/>
              </a:rPr>
              <a:t>عمليات تسليم مقبولة</a:t>
            </a:r>
            <a:endParaRPr lang="ar-SA" sz="670" dirty="0"/>
          </a:p>
        </p:txBody>
      </p:sp>
      <p:sp>
        <p:nvSpPr>
          <p:cNvPr id="55" name="Shape 53"/>
          <p:cNvSpPr/>
          <p:nvPr/>
        </p:nvSpPr>
        <p:spPr>
          <a:xfrm>
            <a:off x="502920" y="10186416"/>
            <a:ext cx="6556248" cy="0"/>
          </a:xfrm>
          <a:prstGeom prst="line">
            <a:avLst/>
          </a:prstGeom>
          <a:noFill/>
          <a:ln w="9525">
            <a:solidFill>
              <a:srgbClr val="E4DDCB"/>
            </a:solidFill>
            <a:prstDash val="solid"/>
          </a:ln>
        </p:spPr>
      </p:sp>
      <p:sp>
        <p:nvSpPr>
          <p:cNvPr id="56" name="Text 54"/>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57" name="Text 55"/>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17</a:t>
            </a:r>
            <a:endParaRPr lang="ar-SA" sz="88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16  •  القيادة التنفيذية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إسلام محروس</a:t>
            </a:r>
            <a:endParaRPr lang="ar-SA" sz="2780" dirty="0"/>
          </a:p>
        </p:txBody>
      </p:sp>
      <p:pic>
        <p:nvPicPr>
          <p:cNvPr id="4" name="Image 0" descr="/home/claude/assets/monogram.png"/>
          <p:cNvPicPr>
            <a:picLocks noChangeAspect="1"/>
          </p:cNvPicPr>
          <p:nvPr/>
        </p:nvPicPr>
        <p:blipFill>
          <a:blip r:embed="rId3">
            <a:alphaModFix amt="20000"/>
          </a:blip>
          <a:stretch>
            <a:fillRect/>
          </a:stretch>
        </p:blipFill>
        <p:spPr>
          <a:xfrm>
            <a:off x="5138928" y="2377440"/>
            <a:ext cx="1051560" cy="898855"/>
          </a:xfrm>
          <a:prstGeom prst="rect">
            <a:avLst/>
          </a:prstGeom>
        </p:spPr>
      </p:pic>
      <p:sp>
        <p:nvSpPr>
          <p:cNvPr id="5" name="Shape 2"/>
          <p:cNvSpPr/>
          <p:nvPr/>
        </p:nvSpPr>
        <p:spPr>
          <a:xfrm>
            <a:off x="5321808" y="1417320"/>
            <a:ext cx="1737360" cy="1737360"/>
          </a:xfrm>
          <a:prstGeom prst="ellipse">
            <a:avLst/>
          </a:prstGeom>
          <a:solidFill>
            <a:srgbClr val="F3EEE4"/>
          </a:solidFill>
          <a:ln w="28575">
            <a:solidFill>
              <a:srgbClr val="C9A15A"/>
            </a:solidFill>
            <a:prstDash val="solid"/>
          </a:ln>
        </p:spPr>
      </p:sp>
      <p:pic>
        <p:nvPicPr>
          <p:cNvPr id="6" name="Image 1" descr="/home/claude/assets/founder_islam.jpg"/>
          <p:cNvPicPr>
            <a:picLocks noChangeAspect="1"/>
          </p:cNvPicPr>
          <p:nvPr/>
        </p:nvPicPr>
        <p:blipFill>
          <a:blip r:embed="rId4"/>
          <a:stretch>
            <a:fillRect/>
          </a:stretch>
        </p:blipFill>
        <p:spPr>
          <a:xfrm>
            <a:off x="5408676" y="1504188"/>
            <a:ext cx="1563624" cy="1563624"/>
          </a:xfrm>
          <a:prstGeom prst="ellipse">
            <a:avLst/>
          </a:prstGeom>
        </p:spPr>
      </p:pic>
      <p:sp>
        <p:nvSpPr>
          <p:cNvPr id="7" name="Text 3"/>
          <p:cNvSpPr/>
          <p:nvPr/>
        </p:nvSpPr>
        <p:spPr>
          <a:xfrm>
            <a:off x="502920" y="1435608"/>
            <a:ext cx="4544568" cy="548640"/>
          </a:xfrm>
          <a:prstGeom prst="rect">
            <a:avLst/>
          </a:prstGeom>
          <a:noFill/>
          <a:ln/>
        </p:spPr>
        <p:txBody>
          <a:bodyPr wrap="square" rtlCol="0" anchor="ctr"/>
          <a:lstStyle/>
          <a:p>
            <a:pPr marL="0" indent="0" algn="r" rtl="1">
              <a:lnSpc>
                <a:spcPct val="117600"/>
              </a:lnSpc>
              <a:buNone/>
            </a:pPr>
            <a:r>
              <a:rPr lang="ar-SA" altLang="en-US" sz="1290" b="1" dirty="0">
                <a:solidFill>
                  <a:srgbClr val="0F5C42"/>
                </a:solidFill>
                <a:latin typeface="Arial" pitchFamily="34" charset="0"/>
                <a:ea typeface="Arial" pitchFamily="34" charset="-122"/>
                <a:cs typeface="Arial" pitchFamily="34" charset="-120"/>
              </a:rPr>
              <a:t>شريك مؤسس: العلامة التجارية والاستراتيجية التجارية والتحول الرقمي المدعوم بالذكاء الاصطناعي</a:t>
            </a:r>
            <a:endParaRPr lang="ar-SA" sz="1290" dirty="0"/>
          </a:p>
        </p:txBody>
      </p:sp>
      <p:sp>
        <p:nvSpPr>
          <p:cNvPr id="8" name="Text 4"/>
          <p:cNvSpPr/>
          <p:nvPr/>
        </p:nvSpPr>
        <p:spPr>
          <a:xfrm>
            <a:off x="502920" y="2075688"/>
            <a:ext cx="4544568" cy="1143000"/>
          </a:xfrm>
          <a:prstGeom prst="rect">
            <a:avLst/>
          </a:prstGeom>
          <a:noFill/>
          <a:ln/>
        </p:spPr>
        <p:txBody>
          <a:bodyPr wrap="square" rtlCol="0" anchor="t"/>
          <a:lstStyle/>
          <a:p>
            <a:pPr marL="0" indent="0" algn="r" rtl="1">
              <a:lnSpc>
                <a:spcPct val="125440"/>
              </a:lnSpc>
              <a:buNone/>
            </a:pPr>
            <a:r>
              <a:rPr lang="ar-SA" altLang="en-US" sz="1060" dirty="0">
                <a:solidFill>
                  <a:srgbClr val="2B2A27"/>
                </a:solidFill>
                <a:latin typeface="Arial" pitchFamily="34" charset="0"/>
                <a:ea typeface="Arial" pitchFamily="34" charset="-122"/>
                <a:cs typeface="Arial" pitchFamily="34" charset="-120"/>
              </a:rPr>
              <a:t>إسلام هو مبتكر النمو في الشركة وواجهتها التقنية الاستشرافية: الجسر بين نماذج الأعمال التقليدية ومتطلبات العصر الحديث. وعبر ثلاثة عقود من القيادة متعددة العلامات مع ماريوت وIHG وستاروود وأكور، وفي إدارة الأصول المستقلة في السعودية ودول الخليج ومصر وشمال أفريقيا، أثبت لرواد الأعمال والمستثمرين على السواء أن التحديث الرقمي ووضوح العلامة قد يكونان محرّكين مباشرين وقابلين للقياس لقيمة المؤسسة. وهو مصمّم منتج منصة Altus Gulf للمعرفة والأداء في قطاع الضيافة.</a:t>
            </a:r>
            <a:endParaRPr lang="ar-SA" sz="1060" dirty="0"/>
          </a:p>
        </p:txBody>
      </p:sp>
      <p:sp>
        <p:nvSpPr>
          <p:cNvPr id="9" name="Text 5"/>
          <p:cNvSpPr/>
          <p:nvPr/>
        </p:nvSpPr>
        <p:spPr>
          <a:xfrm>
            <a:off x="502920" y="356616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السجل المهني</a:t>
            </a:r>
            <a:endParaRPr lang="ar-SA" sz="1080" dirty="0"/>
          </a:p>
        </p:txBody>
      </p:sp>
      <p:sp>
        <p:nvSpPr>
          <p:cNvPr id="10" name="Shape 6"/>
          <p:cNvSpPr/>
          <p:nvPr/>
        </p:nvSpPr>
        <p:spPr>
          <a:xfrm>
            <a:off x="6986016" y="3963924"/>
            <a:ext cx="73152" cy="73152"/>
          </a:xfrm>
          <a:prstGeom prst="ellipse">
            <a:avLst/>
          </a:prstGeom>
          <a:solidFill>
            <a:srgbClr val="0F5C42"/>
          </a:solidFill>
          <a:ln/>
        </p:spPr>
      </p:sp>
      <p:sp>
        <p:nvSpPr>
          <p:cNvPr id="11" name="Text 7"/>
          <p:cNvSpPr/>
          <p:nvPr/>
        </p:nvSpPr>
        <p:spPr>
          <a:xfrm>
            <a:off x="502920" y="389534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أكثر من 30 عامًا من القيادة في قطاع الضيافة متعددة العلامات عبر دول الخليج ومصر وشمال أفريقيا: منظومات ماريوت وIHG وستاروود وأكور.</a:t>
            </a:r>
            <a:endParaRPr lang="ar-SA" sz="1070" dirty="0"/>
          </a:p>
        </p:txBody>
      </p:sp>
      <p:sp>
        <p:nvSpPr>
          <p:cNvPr id="12" name="Shape 8"/>
          <p:cNvSpPr/>
          <p:nvPr/>
        </p:nvSpPr>
        <p:spPr>
          <a:xfrm>
            <a:off x="6986016" y="4604004"/>
            <a:ext cx="73152" cy="73152"/>
          </a:xfrm>
          <a:prstGeom prst="ellipse">
            <a:avLst/>
          </a:prstGeom>
          <a:solidFill>
            <a:srgbClr val="0F5C42"/>
          </a:solidFill>
          <a:ln/>
        </p:spPr>
      </p:sp>
      <p:sp>
        <p:nvSpPr>
          <p:cNvPr id="13" name="Text 9"/>
          <p:cNvSpPr/>
          <p:nvPr/>
        </p:nvSpPr>
        <p:spPr>
          <a:xfrm>
            <a:off x="502920" y="453542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قاد منتجعًا رئيسيًا بعلامة عالمية إلى المرتبة الأولى في المجموعة التنافسية لماريوت في مصر ست سنوات متتالية: نمو RevPAR بنسبة 25% وارتفاع رضا النزلاء بنسبة 30%، مع توسّع مستدام في هامش GOP.</a:t>
            </a:r>
            <a:endParaRPr lang="ar-SA" sz="1070" dirty="0"/>
          </a:p>
        </p:txBody>
      </p:sp>
      <p:sp>
        <p:nvSpPr>
          <p:cNvPr id="14" name="Shape 10"/>
          <p:cNvSpPr/>
          <p:nvPr/>
        </p:nvSpPr>
        <p:spPr>
          <a:xfrm>
            <a:off x="6986016" y="5244084"/>
            <a:ext cx="73152" cy="73152"/>
          </a:xfrm>
          <a:prstGeom prst="ellipse">
            <a:avLst/>
          </a:prstGeom>
          <a:solidFill>
            <a:srgbClr val="0F5C42"/>
          </a:solidFill>
          <a:ln/>
        </p:spPr>
      </p:sp>
      <p:sp>
        <p:nvSpPr>
          <p:cNvPr id="15" name="Text 11"/>
          <p:cNvSpPr/>
          <p:nvPr/>
        </p:nvSpPr>
        <p:spPr>
          <a:xfrm>
            <a:off x="502920" y="517550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كُلِّف من ماريوت إنترناشونال بقيادة التميّز التشغيلي في 19 فندقًا في مصر (أكثر من 3,000 غرفة)، فرفع رضا النزلاء بنسبة 10% وإيرادات الأغذية والمشروبات بنسبة 8% خلال 18 شهرًا.</a:t>
            </a:r>
            <a:endParaRPr lang="ar-SA" sz="1070" dirty="0"/>
          </a:p>
        </p:txBody>
      </p:sp>
      <p:sp>
        <p:nvSpPr>
          <p:cNvPr id="16" name="Shape 12"/>
          <p:cNvSpPr/>
          <p:nvPr/>
        </p:nvSpPr>
        <p:spPr>
          <a:xfrm>
            <a:off x="6986016" y="5884164"/>
            <a:ext cx="73152" cy="73152"/>
          </a:xfrm>
          <a:prstGeom prst="ellipse">
            <a:avLst/>
          </a:prstGeom>
          <a:solidFill>
            <a:srgbClr val="0F5C42"/>
          </a:solidFill>
          <a:ln/>
        </p:spPr>
      </p:sp>
      <p:sp>
        <p:nvSpPr>
          <p:cNvPr id="17" name="Text 13"/>
          <p:cNvSpPr/>
          <p:nvPr/>
        </p:nvSpPr>
        <p:spPr>
          <a:xfrm>
            <a:off x="502920" y="581558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أشرف على خمسة مشاريع ما قبل افتتاح في السعودية وليبيا ومصر وغرب أفريقيا: أكثر من 1,700 غرفة سُلّمت بجاهزية تشغيلية بلغت 90–95%.</a:t>
            </a:r>
            <a:endParaRPr lang="ar-SA" sz="1070" dirty="0"/>
          </a:p>
        </p:txBody>
      </p:sp>
      <p:sp>
        <p:nvSpPr>
          <p:cNvPr id="18" name="Shape 14"/>
          <p:cNvSpPr/>
          <p:nvPr/>
        </p:nvSpPr>
        <p:spPr>
          <a:xfrm>
            <a:off x="6986016" y="6524244"/>
            <a:ext cx="73152" cy="73152"/>
          </a:xfrm>
          <a:prstGeom prst="ellipse">
            <a:avLst/>
          </a:prstGeom>
          <a:solidFill>
            <a:srgbClr val="0F5C42"/>
          </a:solidFill>
          <a:ln/>
        </p:spPr>
      </p:sp>
      <p:sp>
        <p:nvSpPr>
          <p:cNvPr id="19" name="Text 15"/>
          <p:cNvSpPr/>
          <p:nvPr/>
        </p:nvSpPr>
        <p:spPr>
          <a:xfrm>
            <a:off x="502920" y="645566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حاصل على الحزام الأسود في سيجما ستة (Six Sigma): أربعة مشاريع DMAIC معتمدة، منها إعادة تصميم رحلة النزيل بوفر سنوي بلغ 340 ألف دولار أمريكي.</a:t>
            </a:r>
            <a:endParaRPr lang="ar-SA" sz="1070" dirty="0"/>
          </a:p>
        </p:txBody>
      </p:sp>
      <p:sp>
        <p:nvSpPr>
          <p:cNvPr id="20" name="Shape 16"/>
          <p:cNvSpPr/>
          <p:nvPr/>
        </p:nvSpPr>
        <p:spPr>
          <a:xfrm>
            <a:off x="6986016" y="7164324"/>
            <a:ext cx="73152" cy="73152"/>
          </a:xfrm>
          <a:prstGeom prst="ellipse">
            <a:avLst/>
          </a:prstGeom>
          <a:solidFill>
            <a:srgbClr val="0F5C42"/>
          </a:solidFill>
          <a:ln/>
        </p:spPr>
      </p:sp>
      <p:sp>
        <p:nvSpPr>
          <p:cNvPr id="21" name="Text 17"/>
          <p:cNvSpPr/>
          <p:nvPr/>
        </p:nvSpPr>
        <p:spPr>
          <a:xfrm>
            <a:off x="502920" y="709574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أشرف على محفظة تجديدات رأسمالية تتجاوز 10 ملايين دولار أمريكي، حققت وفورات في التكاليف بين 7% و20% مع أدنى قدر من التأثير على تجربة النزيل.</a:t>
            </a:r>
            <a:endParaRPr lang="ar-SA" sz="1070" dirty="0"/>
          </a:p>
        </p:txBody>
      </p:sp>
      <p:sp>
        <p:nvSpPr>
          <p:cNvPr id="22" name="Text 18"/>
          <p:cNvSpPr/>
          <p:nvPr/>
        </p:nvSpPr>
        <p:spPr>
          <a:xfrm>
            <a:off x="502920" y="7845552"/>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التكريمات</a:t>
            </a:r>
            <a:endParaRPr lang="ar-SA" sz="1080" dirty="0"/>
          </a:p>
        </p:txBody>
      </p:sp>
      <p:sp>
        <p:nvSpPr>
          <p:cNvPr id="23" name="Shape 19"/>
          <p:cNvSpPr/>
          <p:nvPr/>
        </p:nvSpPr>
        <p:spPr>
          <a:xfrm>
            <a:off x="3872484" y="8174736"/>
            <a:ext cx="3186684" cy="914400"/>
          </a:xfrm>
          <a:prstGeom prst="roundRect">
            <a:avLst>
              <a:gd name="adj" fmla="val 6000"/>
            </a:avLst>
          </a:prstGeom>
          <a:solidFill>
            <a:srgbClr val="0B1B2B"/>
          </a:solidFill>
          <a:ln/>
        </p:spPr>
      </p:sp>
      <p:sp>
        <p:nvSpPr>
          <p:cNvPr id="24" name="Shape 20"/>
          <p:cNvSpPr/>
          <p:nvPr/>
        </p:nvSpPr>
        <p:spPr>
          <a:xfrm>
            <a:off x="6364224" y="8394192"/>
            <a:ext cx="475488" cy="475488"/>
          </a:xfrm>
          <a:prstGeom prst="ellipse">
            <a:avLst/>
          </a:prstGeom>
          <a:solidFill>
            <a:srgbClr val="C9A15A"/>
          </a:solidFill>
          <a:ln/>
        </p:spPr>
      </p:sp>
      <p:pic>
        <p:nvPicPr>
          <p:cNvPr id="25" name="Image 2" descr="/home/claude/assets/icons/award.png"/>
          <p:cNvPicPr>
            <a:picLocks noChangeAspect="1"/>
          </p:cNvPicPr>
          <p:nvPr/>
        </p:nvPicPr>
        <p:blipFill>
          <a:blip r:embed="rId5"/>
          <a:stretch>
            <a:fillRect/>
          </a:stretch>
        </p:blipFill>
        <p:spPr>
          <a:xfrm>
            <a:off x="6478341" y="8508309"/>
            <a:ext cx="247254" cy="247254"/>
          </a:xfrm>
          <a:prstGeom prst="rect">
            <a:avLst/>
          </a:prstGeom>
        </p:spPr>
      </p:pic>
      <p:sp>
        <p:nvSpPr>
          <p:cNvPr id="26" name="Text 21"/>
          <p:cNvSpPr/>
          <p:nvPr/>
        </p:nvSpPr>
        <p:spPr>
          <a:xfrm>
            <a:off x="4055364" y="8302752"/>
            <a:ext cx="2162556" cy="658368"/>
          </a:xfrm>
          <a:prstGeom prst="rect">
            <a:avLst/>
          </a:prstGeom>
          <a:noFill/>
          <a:ln/>
        </p:spPr>
        <p:txBody>
          <a:bodyPr wrap="square" rtlCol="0" anchor="ctr"/>
          <a:lstStyle/>
          <a:p>
            <a:pPr marL="0" indent="0" algn="r" rtl="1">
              <a:lnSpc>
                <a:spcPct val="119560"/>
              </a:lnSpc>
              <a:buNone/>
            </a:pPr>
            <a:r>
              <a:rPr lang="ar-SA" altLang="en-US" sz="990" dirty="0">
                <a:solidFill>
                  <a:srgbClr val="FFFFFF"/>
                </a:solidFill>
                <a:latin typeface="Arial" pitchFamily="34" charset="0"/>
                <a:ea typeface="Arial" pitchFamily="34" charset="-122"/>
                <a:cs typeface="Arial" pitchFamily="34" charset="-120"/>
              </a:rPr>
              <a:t>جائزة ماريوت لمديري الفنادق للتميّز في خدمة العملاء: الشرق الأوسط وأفريقيا، 2017 و2022</a:t>
            </a:r>
            <a:endParaRPr lang="ar-SA" sz="990" dirty="0"/>
          </a:p>
        </p:txBody>
      </p:sp>
      <p:sp>
        <p:nvSpPr>
          <p:cNvPr id="27" name="Shape 22"/>
          <p:cNvSpPr/>
          <p:nvPr/>
        </p:nvSpPr>
        <p:spPr>
          <a:xfrm>
            <a:off x="502920" y="8174736"/>
            <a:ext cx="3186684" cy="914400"/>
          </a:xfrm>
          <a:prstGeom prst="roundRect">
            <a:avLst>
              <a:gd name="adj" fmla="val 6000"/>
            </a:avLst>
          </a:prstGeom>
          <a:solidFill>
            <a:srgbClr val="0B1B2B"/>
          </a:solidFill>
          <a:ln/>
        </p:spPr>
      </p:sp>
      <p:sp>
        <p:nvSpPr>
          <p:cNvPr id="28" name="Shape 23"/>
          <p:cNvSpPr/>
          <p:nvPr/>
        </p:nvSpPr>
        <p:spPr>
          <a:xfrm>
            <a:off x="2994660" y="8394192"/>
            <a:ext cx="475488" cy="475488"/>
          </a:xfrm>
          <a:prstGeom prst="ellipse">
            <a:avLst/>
          </a:prstGeom>
          <a:solidFill>
            <a:srgbClr val="C9A15A"/>
          </a:solidFill>
          <a:ln/>
        </p:spPr>
      </p:sp>
      <p:pic>
        <p:nvPicPr>
          <p:cNvPr id="29" name="Image 3" descr="/home/claude/assets/icons/award.png"/>
          <p:cNvPicPr>
            <a:picLocks noChangeAspect="1"/>
          </p:cNvPicPr>
          <p:nvPr/>
        </p:nvPicPr>
        <p:blipFill>
          <a:blip r:embed="rId5"/>
          <a:stretch>
            <a:fillRect/>
          </a:stretch>
        </p:blipFill>
        <p:spPr>
          <a:xfrm>
            <a:off x="3108777" y="8508309"/>
            <a:ext cx="247254" cy="247254"/>
          </a:xfrm>
          <a:prstGeom prst="rect">
            <a:avLst/>
          </a:prstGeom>
        </p:spPr>
      </p:pic>
      <p:sp>
        <p:nvSpPr>
          <p:cNvPr id="30" name="Text 24"/>
          <p:cNvSpPr/>
          <p:nvPr/>
        </p:nvSpPr>
        <p:spPr>
          <a:xfrm>
            <a:off x="685800" y="8302752"/>
            <a:ext cx="2162556" cy="658368"/>
          </a:xfrm>
          <a:prstGeom prst="rect">
            <a:avLst/>
          </a:prstGeom>
          <a:noFill/>
          <a:ln/>
        </p:spPr>
        <p:txBody>
          <a:bodyPr wrap="square" rtlCol="0" anchor="ctr"/>
          <a:lstStyle/>
          <a:p>
            <a:pPr marL="0" indent="0" algn="r" rtl="1">
              <a:lnSpc>
                <a:spcPct val="119560"/>
              </a:lnSpc>
              <a:buNone/>
            </a:pPr>
            <a:r>
              <a:rPr lang="ar-SA" altLang="en-US" sz="990" dirty="0">
                <a:solidFill>
                  <a:srgbClr val="FFFFFF"/>
                </a:solidFill>
                <a:latin typeface="Arial" pitchFamily="34" charset="0"/>
                <a:ea typeface="Arial" pitchFamily="34" charset="-122"/>
                <a:cs typeface="Arial" pitchFamily="34" charset="-120"/>
              </a:rPr>
              <a:t>أفضل مدير للابتكار التشغيلي من ستاروود، 2007</a:t>
            </a:r>
            <a:endParaRPr lang="ar-SA" sz="990" dirty="0"/>
          </a:p>
        </p:txBody>
      </p:sp>
      <p:pic>
        <p:nvPicPr>
          <p:cNvPr id="31" name="Image 4" descr="/home/claude/assets/monogram.png"/>
          <p:cNvPicPr>
            <a:picLocks noChangeAspect="1"/>
          </p:cNvPicPr>
          <p:nvPr/>
        </p:nvPicPr>
        <p:blipFill>
          <a:blip r:embed="rId3">
            <a:alphaModFix amt="18000"/>
          </a:blip>
          <a:stretch>
            <a:fillRect/>
          </a:stretch>
        </p:blipFill>
        <p:spPr>
          <a:xfrm>
            <a:off x="3323844" y="9454896"/>
            <a:ext cx="914400" cy="781812"/>
          </a:xfrm>
          <a:prstGeom prst="rect">
            <a:avLst/>
          </a:prstGeom>
        </p:spPr>
      </p:pic>
      <p:sp>
        <p:nvSpPr>
          <p:cNvPr id="32" name="Shape 25"/>
          <p:cNvSpPr/>
          <p:nvPr/>
        </p:nvSpPr>
        <p:spPr>
          <a:xfrm>
            <a:off x="502920" y="10186416"/>
            <a:ext cx="6556248" cy="0"/>
          </a:xfrm>
          <a:prstGeom prst="line">
            <a:avLst/>
          </a:prstGeom>
          <a:noFill/>
          <a:ln w="9525">
            <a:solidFill>
              <a:srgbClr val="E4DDCB"/>
            </a:solidFill>
            <a:prstDash val="solid"/>
          </a:ln>
        </p:spPr>
      </p:sp>
      <p:sp>
        <p:nvSpPr>
          <p:cNvPr id="33" name="Text 26"/>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4" name="Text 27"/>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18</a:t>
            </a:r>
            <a:endParaRPr lang="ar-SA" sz="88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17  •  القيادة التنفيذية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smtClean="0">
                <a:solidFill>
                  <a:srgbClr val="0B1B2B"/>
                </a:solidFill>
                <a:latin typeface="Arial" pitchFamily="34" charset="0"/>
                <a:ea typeface="Arial" pitchFamily="34" charset="-122"/>
                <a:cs typeface="Arial" pitchFamily="34" charset="-120"/>
              </a:rPr>
              <a:t>حسام</a:t>
            </a:r>
            <a:r>
              <a:rPr lang="ar-EG" altLang="en-US" sz="2780" dirty="0" smtClean="0">
                <a:solidFill>
                  <a:srgbClr val="0B1B2B"/>
                </a:solidFill>
                <a:latin typeface="Arial" pitchFamily="34" charset="0"/>
                <a:ea typeface="Arial" pitchFamily="34" charset="-122"/>
                <a:cs typeface="Arial" pitchFamily="34" charset="-120"/>
              </a:rPr>
              <a:t> </a:t>
            </a:r>
            <a:r>
              <a:rPr lang="ar-SA" altLang="en-US" sz="2780" dirty="0" smtClean="0">
                <a:solidFill>
                  <a:srgbClr val="0B1B2B"/>
                </a:solidFill>
                <a:latin typeface="Arial" pitchFamily="34" charset="0"/>
                <a:ea typeface="Arial" pitchFamily="34" charset="-122"/>
                <a:cs typeface="Arial" pitchFamily="34" charset="-120"/>
              </a:rPr>
              <a:t>صمادي</a:t>
            </a:r>
            <a:endParaRPr lang="ar-SA" sz="2780" dirty="0"/>
          </a:p>
        </p:txBody>
      </p:sp>
      <p:pic>
        <p:nvPicPr>
          <p:cNvPr id="4" name="Image 0" descr="/home/claude/assets/monogram.png"/>
          <p:cNvPicPr>
            <a:picLocks noChangeAspect="1"/>
          </p:cNvPicPr>
          <p:nvPr/>
        </p:nvPicPr>
        <p:blipFill>
          <a:blip r:embed="rId3">
            <a:alphaModFix amt="20000"/>
          </a:blip>
          <a:stretch>
            <a:fillRect/>
          </a:stretch>
        </p:blipFill>
        <p:spPr>
          <a:xfrm>
            <a:off x="5138928" y="2377440"/>
            <a:ext cx="1051560" cy="898855"/>
          </a:xfrm>
          <a:prstGeom prst="rect">
            <a:avLst/>
          </a:prstGeom>
        </p:spPr>
      </p:pic>
      <p:sp>
        <p:nvSpPr>
          <p:cNvPr id="5" name="Shape 2"/>
          <p:cNvSpPr/>
          <p:nvPr/>
        </p:nvSpPr>
        <p:spPr>
          <a:xfrm>
            <a:off x="5321808" y="1417320"/>
            <a:ext cx="1737360" cy="1737360"/>
          </a:xfrm>
          <a:prstGeom prst="ellipse">
            <a:avLst/>
          </a:prstGeom>
          <a:solidFill>
            <a:srgbClr val="F3EEE4"/>
          </a:solidFill>
          <a:ln w="28575">
            <a:solidFill>
              <a:srgbClr val="C9A15A"/>
            </a:solidFill>
            <a:prstDash val="solid"/>
          </a:ln>
        </p:spPr>
      </p:sp>
      <p:pic>
        <p:nvPicPr>
          <p:cNvPr id="6" name="Image 1" descr="/home/claude/assets/founder_hossam.jpg"/>
          <p:cNvPicPr>
            <a:picLocks noChangeAspect="1"/>
          </p:cNvPicPr>
          <p:nvPr/>
        </p:nvPicPr>
        <p:blipFill>
          <a:blip r:embed="rId4"/>
          <a:stretch>
            <a:fillRect/>
          </a:stretch>
        </p:blipFill>
        <p:spPr>
          <a:xfrm>
            <a:off x="5408676" y="1504188"/>
            <a:ext cx="1563624" cy="1563624"/>
          </a:xfrm>
          <a:prstGeom prst="ellipse">
            <a:avLst/>
          </a:prstGeom>
        </p:spPr>
      </p:pic>
      <p:sp>
        <p:nvSpPr>
          <p:cNvPr id="7" name="Text 3"/>
          <p:cNvSpPr/>
          <p:nvPr/>
        </p:nvSpPr>
        <p:spPr>
          <a:xfrm>
            <a:off x="502920" y="1435608"/>
            <a:ext cx="4544568" cy="548640"/>
          </a:xfrm>
          <a:prstGeom prst="rect">
            <a:avLst/>
          </a:prstGeom>
          <a:noFill/>
          <a:ln/>
        </p:spPr>
        <p:txBody>
          <a:bodyPr wrap="square" rtlCol="0" anchor="ctr"/>
          <a:lstStyle/>
          <a:p>
            <a:pPr marL="0" indent="0" algn="r" rtl="1">
              <a:lnSpc>
                <a:spcPct val="117600"/>
              </a:lnSpc>
              <a:buNone/>
            </a:pPr>
            <a:r>
              <a:rPr lang="ar-SA" altLang="en-US" sz="1290" b="1" dirty="0">
                <a:solidFill>
                  <a:srgbClr val="0F5C42"/>
                </a:solidFill>
                <a:latin typeface="Arial" pitchFamily="34" charset="0"/>
                <a:ea typeface="Arial" pitchFamily="34" charset="-122"/>
                <a:cs typeface="Arial" pitchFamily="34" charset="-120"/>
              </a:rPr>
              <a:t>شريك مؤسس: عمليات الضيافة وإدارة الأصول</a:t>
            </a:r>
            <a:endParaRPr lang="ar-SA" sz="1290" dirty="0"/>
          </a:p>
        </p:txBody>
      </p:sp>
      <p:sp>
        <p:nvSpPr>
          <p:cNvPr id="8" name="Text 4"/>
          <p:cNvSpPr/>
          <p:nvPr/>
        </p:nvSpPr>
        <p:spPr>
          <a:xfrm>
            <a:off x="502920" y="2075688"/>
            <a:ext cx="4544568" cy="1143000"/>
          </a:xfrm>
          <a:prstGeom prst="rect">
            <a:avLst/>
          </a:prstGeom>
          <a:noFill/>
          <a:ln/>
        </p:spPr>
        <p:txBody>
          <a:bodyPr wrap="square" rtlCol="0" anchor="t"/>
          <a:lstStyle/>
          <a:p>
            <a:pPr marL="0" indent="0" algn="r" rtl="1">
              <a:lnSpc>
                <a:spcPct val="125440"/>
              </a:lnSpc>
              <a:buNone/>
            </a:pPr>
            <a:r>
              <a:rPr lang="ar-SA" altLang="en-US" sz="1060" dirty="0">
                <a:solidFill>
                  <a:srgbClr val="2B2A27"/>
                </a:solidFill>
                <a:latin typeface="Arial" pitchFamily="34" charset="0"/>
                <a:ea typeface="Arial" pitchFamily="34" charset="-122"/>
                <a:cs typeface="Arial" pitchFamily="34" charset="-120"/>
              </a:rPr>
              <a:t>حسام هو مهندس العمليات في الشركة. وبخبرة عميقة في تعقيدات التشغيل في الضيافة الدولية، يتركّز اهتمامه على تحويل الأصول المادية إلى مؤسسات عالية الأداء وقوية تشغيليًا. وعبر أكثر من 30 عامًا من القيادة التنفيذية في تشغيل الفنادق وإدارة الأصول في السعودية والأردن، مع علامات عالمية ومجموعات مستقلة، يسهم في تجسيد الاستراتيجية رفيعة المستوى على أرض الواقع بعناية وبالتزام وثيق بمعايير الجودة.</a:t>
            </a:r>
            <a:endParaRPr lang="ar-SA" sz="1060" dirty="0"/>
          </a:p>
        </p:txBody>
      </p:sp>
      <p:sp>
        <p:nvSpPr>
          <p:cNvPr id="9" name="Text 5"/>
          <p:cNvSpPr/>
          <p:nvPr/>
        </p:nvSpPr>
        <p:spPr>
          <a:xfrm>
            <a:off x="502920" y="356616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السجل المهني</a:t>
            </a:r>
            <a:endParaRPr lang="ar-SA" sz="1080" dirty="0"/>
          </a:p>
        </p:txBody>
      </p:sp>
      <p:sp>
        <p:nvSpPr>
          <p:cNvPr id="10" name="Shape 6"/>
          <p:cNvSpPr/>
          <p:nvPr/>
        </p:nvSpPr>
        <p:spPr>
          <a:xfrm>
            <a:off x="6986016" y="3963924"/>
            <a:ext cx="73152" cy="73152"/>
          </a:xfrm>
          <a:prstGeom prst="ellipse">
            <a:avLst/>
          </a:prstGeom>
          <a:solidFill>
            <a:srgbClr val="0F5C42"/>
          </a:solidFill>
          <a:ln/>
        </p:spPr>
      </p:sp>
      <p:sp>
        <p:nvSpPr>
          <p:cNvPr id="11" name="Text 7"/>
          <p:cNvSpPr/>
          <p:nvPr/>
        </p:nvSpPr>
        <p:spPr>
          <a:xfrm>
            <a:off x="502920" y="389534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أكثر من 30 عامًا من القيادة التنفيذية في تشغيل الفنادق وإدارة الأصول في السعودية والأردن: علامات عالمية ومجموعات مستقلة.</a:t>
            </a:r>
            <a:endParaRPr lang="ar-SA" sz="1070" dirty="0"/>
          </a:p>
        </p:txBody>
      </p:sp>
      <p:sp>
        <p:nvSpPr>
          <p:cNvPr id="12" name="Shape 8"/>
          <p:cNvSpPr/>
          <p:nvPr/>
        </p:nvSpPr>
        <p:spPr>
          <a:xfrm>
            <a:off x="6986016" y="4604004"/>
            <a:ext cx="73152" cy="73152"/>
          </a:xfrm>
          <a:prstGeom prst="ellipse">
            <a:avLst/>
          </a:prstGeom>
          <a:solidFill>
            <a:srgbClr val="0F5C42"/>
          </a:solidFill>
          <a:ln/>
        </p:spPr>
      </p:sp>
      <p:sp>
        <p:nvSpPr>
          <p:cNvPr id="13" name="Text 9"/>
          <p:cNvSpPr/>
          <p:nvPr/>
        </p:nvSpPr>
        <p:spPr>
          <a:xfrm>
            <a:off x="502920" y="453542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بصفته مديرًا عامًا، قاد فندقًا من مرحلة ما قبل الافتتاح إلى التشغيل الكامل، ثم إلى لقب أفضل فندق اقتصادي في السعودية.</a:t>
            </a:r>
            <a:endParaRPr lang="ar-SA" sz="1070" dirty="0"/>
          </a:p>
        </p:txBody>
      </p:sp>
      <p:sp>
        <p:nvSpPr>
          <p:cNvPr id="14" name="Shape 10"/>
          <p:cNvSpPr/>
          <p:nvPr/>
        </p:nvSpPr>
        <p:spPr>
          <a:xfrm>
            <a:off x="6986016" y="5244084"/>
            <a:ext cx="73152" cy="73152"/>
          </a:xfrm>
          <a:prstGeom prst="ellipse">
            <a:avLst/>
          </a:prstGeom>
          <a:solidFill>
            <a:srgbClr val="0F5C42"/>
          </a:solidFill>
          <a:ln/>
        </p:spPr>
      </p:sp>
      <p:sp>
        <p:nvSpPr>
          <p:cNvPr id="15" name="Text 11"/>
          <p:cNvSpPr/>
          <p:nvPr/>
        </p:nvSpPr>
        <p:spPr>
          <a:xfrm>
            <a:off x="502920" y="517550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حقق أعلى GOP في منطقة جازان أثناء قيادته منشآت Swiss Blue Hotels، من خلال الانضباط التجاري والحوكمة الصارمة للتكاليف.</a:t>
            </a:r>
            <a:endParaRPr lang="ar-SA" sz="1070" dirty="0"/>
          </a:p>
        </p:txBody>
      </p:sp>
      <p:sp>
        <p:nvSpPr>
          <p:cNvPr id="16" name="Shape 12"/>
          <p:cNvSpPr/>
          <p:nvPr/>
        </p:nvSpPr>
        <p:spPr>
          <a:xfrm>
            <a:off x="6986016" y="5884164"/>
            <a:ext cx="73152" cy="73152"/>
          </a:xfrm>
          <a:prstGeom prst="ellipse">
            <a:avLst/>
          </a:prstGeom>
          <a:solidFill>
            <a:srgbClr val="0F5C42"/>
          </a:solidFill>
          <a:ln/>
        </p:spPr>
      </p:sp>
      <p:sp>
        <p:nvSpPr>
          <p:cNvPr id="17" name="Text 13"/>
          <p:cNvSpPr/>
          <p:nvPr/>
        </p:nvSpPr>
        <p:spPr>
          <a:xfrm>
            <a:off x="502920" y="581558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أدار بنجاح افتتاح فندقين بالتزامن في عام 2018، ونقلهما إلى التشغيل الكامل وتوليد الإيرادات.</a:t>
            </a:r>
            <a:endParaRPr lang="ar-SA" sz="1070" dirty="0"/>
          </a:p>
        </p:txBody>
      </p:sp>
      <p:sp>
        <p:nvSpPr>
          <p:cNvPr id="18" name="Shape 14"/>
          <p:cNvSpPr/>
          <p:nvPr/>
        </p:nvSpPr>
        <p:spPr>
          <a:xfrm>
            <a:off x="6986016" y="6524244"/>
            <a:ext cx="73152" cy="73152"/>
          </a:xfrm>
          <a:prstGeom prst="ellipse">
            <a:avLst/>
          </a:prstGeom>
          <a:solidFill>
            <a:srgbClr val="0F5C42"/>
          </a:solidFill>
          <a:ln/>
        </p:spPr>
      </p:sp>
      <p:sp>
        <p:nvSpPr>
          <p:cNvPr id="19" name="Text 15"/>
          <p:cNvSpPr/>
          <p:nvPr/>
        </p:nvSpPr>
        <p:spPr>
          <a:xfrm>
            <a:off x="502920" y="645566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ممثّل المالك لأربعة أصول بعلامات عالمية في الرياض: Crowne Plaza Digital City، وInterContinental، وHotel Indigo، وWyndham Grand في KAFD.</a:t>
            </a:r>
            <a:endParaRPr lang="ar-SA" sz="1070" dirty="0"/>
          </a:p>
        </p:txBody>
      </p:sp>
      <p:sp>
        <p:nvSpPr>
          <p:cNvPr id="20" name="Shape 16"/>
          <p:cNvSpPr/>
          <p:nvPr/>
        </p:nvSpPr>
        <p:spPr>
          <a:xfrm>
            <a:off x="6986016" y="7164324"/>
            <a:ext cx="73152" cy="73152"/>
          </a:xfrm>
          <a:prstGeom prst="ellipse">
            <a:avLst/>
          </a:prstGeom>
          <a:solidFill>
            <a:srgbClr val="0F5C42"/>
          </a:solidFill>
          <a:ln/>
        </p:spPr>
      </p:sp>
      <p:sp>
        <p:nvSpPr>
          <p:cNvPr id="21" name="Text 17"/>
          <p:cNvSpPr/>
          <p:nvPr/>
        </p:nvSpPr>
        <p:spPr>
          <a:xfrm>
            <a:off x="502920" y="7095744"/>
            <a:ext cx="6355080" cy="493776"/>
          </a:xfrm>
          <a:prstGeom prst="rect">
            <a:avLst/>
          </a:prstGeom>
          <a:noFill/>
          <a:ln/>
        </p:spPr>
        <p:txBody>
          <a:bodyPr wrap="square" rtlCol="0" anchor="t"/>
          <a:lstStyle/>
          <a:p>
            <a:pPr marL="0" indent="0" algn="r" rtl="1">
              <a:lnSpc>
                <a:spcPct val="121520"/>
              </a:lnSpc>
              <a:buNone/>
            </a:pPr>
            <a:r>
              <a:rPr lang="ar-SA" altLang="en-US" sz="1070" dirty="0">
                <a:solidFill>
                  <a:srgbClr val="2B2A27"/>
                </a:solidFill>
                <a:latin typeface="Arial" pitchFamily="34" charset="0"/>
                <a:ea typeface="Arial" pitchFamily="34" charset="-122"/>
                <a:cs typeface="Arial" pitchFamily="34" charset="-120"/>
              </a:rPr>
              <a:t>تولّى مباشرةً حوكمة اتفاقيات إدارة الفنادق (HMA) ومراجعات المشتريات وOS&amp;E وعمليات تسليم المبنى للمشغّل.</a:t>
            </a:r>
            <a:endParaRPr lang="ar-SA" sz="1070" dirty="0"/>
          </a:p>
        </p:txBody>
      </p:sp>
      <p:sp>
        <p:nvSpPr>
          <p:cNvPr id="22" name="Text 18"/>
          <p:cNvSpPr/>
          <p:nvPr/>
        </p:nvSpPr>
        <p:spPr>
          <a:xfrm>
            <a:off x="502920" y="7845552"/>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التكريمات</a:t>
            </a:r>
            <a:endParaRPr lang="ar-SA" sz="1080" dirty="0"/>
          </a:p>
        </p:txBody>
      </p:sp>
      <p:sp>
        <p:nvSpPr>
          <p:cNvPr id="23" name="Shape 19"/>
          <p:cNvSpPr/>
          <p:nvPr/>
        </p:nvSpPr>
        <p:spPr>
          <a:xfrm>
            <a:off x="3872484" y="8174736"/>
            <a:ext cx="3186684" cy="914400"/>
          </a:xfrm>
          <a:prstGeom prst="roundRect">
            <a:avLst>
              <a:gd name="adj" fmla="val 6000"/>
            </a:avLst>
          </a:prstGeom>
          <a:solidFill>
            <a:srgbClr val="0B1B2B"/>
          </a:solidFill>
          <a:ln/>
        </p:spPr>
      </p:sp>
      <p:sp>
        <p:nvSpPr>
          <p:cNvPr id="24" name="Shape 20"/>
          <p:cNvSpPr/>
          <p:nvPr/>
        </p:nvSpPr>
        <p:spPr>
          <a:xfrm>
            <a:off x="6364224" y="8394192"/>
            <a:ext cx="475488" cy="475488"/>
          </a:xfrm>
          <a:prstGeom prst="ellipse">
            <a:avLst/>
          </a:prstGeom>
          <a:solidFill>
            <a:srgbClr val="C9A15A"/>
          </a:solidFill>
          <a:ln/>
        </p:spPr>
      </p:sp>
      <p:pic>
        <p:nvPicPr>
          <p:cNvPr id="25" name="Image 2" descr="/home/claude/assets/icons/award.png"/>
          <p:cNvPicPr>
            <a:picLocks noChangeAspect="1"/>
          </p:cNvPicPr>
          <p:nvPr/>
        </p:nvPicPr>
        <p:blipFill>
          <a:blip r:embed="rId5"/>
          <a:stretch>
            <a:fillRect/>
          </a:stretch>
        </p:blipFill>
        <p:spPr>
          <a:xfrm>
            <a:off x="6478341" y="8508309"/>
            <a:ext cx="247254" cy="247254"/>
          </a:xfrm>
          <a:prstGeom prst="rect">
            <a:avLst/>
          </a:prstGeom>
        </p:spPr>
      </p:pic>
      <p:sp>
        <p:nvSpPr>
          <p:cNvPr id="26" name="Text 21"/>
          <p:cNvSpPr/>
          <p:nvPr/>
        </p:nvSpPr>
        <p:spPr>
          <a:xfrm>
            <a:off x="4055364" y="8302752"/>
            <a:ext cx="2162556" cy="658368"/>
          </a:xfrm>
          <a:prstGeom prst="rect">
            <a:avLst/>
          </a:prstGeom>
          <a:noFill/>
          <a:ln/>
        </p:spPr>
        <p:txBody>
          <a:bodyPr wrap="square" rtlCol="0" anchor="ctr"/>
          <a:lstStyle/>
          <a:p>
            <a:pPr marL="0" indent="0" algn="r" rtl="1">
              <a:lnSpc>
                <a:spcPct val="119560"/>
              </a:lnSpc>
              <a:buNone/>
            </a:pPr>
            <a:r>
              <a:rPr lang="ar-SA" altLang="en-US" sz="990" dirty="0">
                <a:solidFill>
                  <a:srgbClr val="FFFFFF"/>
                </a:solidFill>
                <a:latin typeface="Arial" pitchFamily="34" charset="0"/>
                <a:ea typeface="Arial" pitchFamily="34" charset="-122"/>
                <a:cs typeface="Arial" pitchFamily="34" charset="-120"/>
              </a:rPr>
              <a:t>أفضل فندق اقتصادي في السعودية، بصفته مديرًا عامًا</a:t>
            </a:r>
            <a:endParaRPr lang="ar-SA" sz="990" dirty="0"/>
          </a:p>
        </p:txBody>
      </p:sp>
      <p:sp>
        <p:nvSpPr>
          <p:cNvPr id="27" name="Shape 22"/>
          <p:cNvSpPr/>
          <p:nvPr/>
        </p:nvSpPr>
        <p:spPr>
          <a:xfrm>
            <a:off x="502920" y="8174736"/>
            <a:ext cx="3186684" cy="914400"/>
          </a:xfrm>
          <a:prstGeom prst="roundRect">
            <a:avLst>
              <a:gd name="adj" fmla="val 6000"/>
            </a:avLst>
          </a:prstGeom>
          <a:solidFill>
            <a:srgbClr val="0B1B2B"/>
          </a:solidFill>
          <a:ln/>
        </p:spPr>
      </p:sp>
      <p:sp>
        <p:nvSpPr>
          <p:cNvPr id="28" name="Shape 23"/>
          <p:cNvSpPr/>
          <p:nvPr/>
        </p:nvSpPr>
        <p:spPr>
          <a:xfrm>
            <a:off x="2994660" y="8394192"/>
            <a:ext cx="475488" cy="475488"/>
          </a:xfrm>
          <a:prstGeom prst="ellipse">
            <a:avLst/>
          </a:prstGeom>
          <a:solidFill>
            <a:srgbClr val="C9A15A"/>
          </a:solidFill>
          <a:ln/>
        </p:spPr>
      </p:sp>
      <p:pic>
        <p:nvPicPr>
          <p:cNvPr id="29" name="Image 3" descr="/home/claude/assets/icons/award.png"/>
          <p:cNvPicPr>
            <a:picLocks noChangeAspect="1"/>
          </p:cNvPicPr>
          <p:nvPr/>
        </p:nvPicPr>
        <p:blipFill>
          <a:blip r:embed="rId5"/>
          <a:stretch>
            <a:fillRect/>
          </a:stretch>
        </p:blipFill>
        <p:spPr>
          <a:xfrm>
            <a:off x="3108777" y="8508309"/>
            <a:ext cx="247254" cy="247254"/>
          </a:xfrm>
          <a:prstGeom prst="rect">
            <a:avLst/>
          </a:prstGeom>
        </p:spPr>
      </p:pic>
      <p:sp>
        <p:nvSpPr>
          <p:cNvPr id="30" name="Text 24"/>
          <p:cNvSpPr/>
          <p:nvPr/>
        </p:nvSpPr>
        <p:spPr>
          <a:xfrm>
            <a:off x="685800" y="8302752"/>
            <a:ext cx="2162556" cy="658368"/>
          </a:xfrm>
          <a:prstGeom prst="rect">
            <a:avLst/>
          </a:prstGeom>
          <a:noFill/>
          <a:ln/>
        </p:spPr>
        <p:txBody>
          <a:bodyPr wrap="square" rtlCol="0" anchor="ctr"/>
          <a:lstStyle/>
          <a:p>
            <a:pPr marL="0" indent="0" algn="r" rtl="1">
              <a:lnSpc>
                <a:spcPct val="119560"/>
              </a:lnSpc>
              <a:buNone/>
            </a:pPr>
            <a:r>
              <a:rPr lang="ar-SA" altLang="en-US" sz="990" dirty="0">
                <a:solidFill>
                  <a:srgbClr val="FFFFFF"/>
                </a:solidFill>
                <a:latin typeface="Arial" pitchFamily="34" charset="0"/>
                <a:ea typeface="Arial" pitchFamily="34" charset="-122"/>
                <a:cs typeface="Arial" pitchFamily="34" charset="-120"/>
              </a:rPr>
              <a:t>تكريم من سفارة الولايات المتحدة في الرياض: أفضل إجراءات أمنية</a:t>
            </a:r>
            <a:endParaRPr lang="ar-SA" sz="990" dirty="0"/>
          </a:p>
        </p:txBody>
      </p:sp>
      <p:pic>
        <p:nvPicPr>
          <p:cNvPr id="31" name="Image 4" descr="/home/claude/assets/monogram.png"/>
          <p:cNvPicPr>
            <a:picLocks noChangeAspect="1"/>
          </p:cNvPicPr>
          <p:nvPr/>
        </p:nvPicPr>
        <p:blipFill>
          <a:blip r:embed="rId3">
            <a:alphaModFix amt="18000"/>
          </a:blip>
          <a:stretch>
            <a:fillRect/>
          </a:stretch>
        </p:blipFill>
        <p:spPr>
          <a:xfrm>
            <a:off x="3323844" y="9454896"/>
            <a:ext cx="914400" cy="781812"/>
          </a:xfrm>
          <a:prstGeom prst="rect">
            <a:avLst/>
          </a:prstGeom>
        </p:spPr>
      </p:pic>
      <p:sp>
        <p:nvSpPr>
          <p:cNvPr id="32" name="Shape 25"/>
          <p:cNvSpPr/>
          <p:nvPr/>
        </p:nvSpPr>
        <p:spPr>
          <a:xfrm>
            <a:off x="502920" y="10186416"/>
            <a:ext cx="6556248" cy="0"/>
          </a:xfrm>
          <a:prstGeom prst="line">
            <a:avLst/>
          </a:prstGeom>
          <a:noFill/>
          <a:ln w="9525">
            <a:solidFill>
              <a:srgbClr val="E4DDCB"/>
            </a:solidFill>
            <a:prstDash val="solid"/>
          </a:ln>
        </p:spPr>
      </p:sp>
      <p:sp>
        <p:nvSpPr>
          <p:cNvPr id="33" name="Text 26"/>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4" name="Text 27"/>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19</a:t>
            </a:r>
            <a:endParaRPr lang="ar-SA" sz="88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18  •  المنظومة والتحالفات</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الشراكات الاستراتيجية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تعمل Altus Gulf بوصفها محور منظومة مُنتقاة بعناية: تجمع المشغّلين ورأس المال والتقنية والجهات الحكومية، بحيث تستعين كل مهمة بأفضل شركاء التنفيذ في فئتها.</a:t>
            </a:r>
            <a:endParaRPr lang="ar-SA" sz="1180" dirty="0"/>
          </a:p>
        </p:txBody>
      </p:sp>
      <p:sp>
        <p:nvSpPr>
          <p:cNvPr id="5" name="Shape 3"/>
          <p:cNvSpPr/>
          <p:nvPr/>
        </p:nvSpPr>
        <p:spPr>
          <a:xfrm>
            <a:off x="3895344" y="2103120"/>
            <a:ext cx="3163824" cy="1965960"/>
          </a:xfrm>
          <a:prstGeom prst="roundRect">
            <a:avLst>
              <a:gd name="adj" fmla="val 2791"/>
            </a:avLst>
          </a:prstGeom>
          <a:solidFill>
            <a:srgbClr val="FFFFFF"/>
          </a:solidFill>
          <a:ln w="9525">
            <a:solidFill>
              <a:srgbClr val="E4DDCB"/>
            </a:solidFill>
            <a:prstDash val="solid"/>
          </a:ln>
        </p:spPr>
      </p:sp>
      <p:sp>
        <p:nvSpPr>
          <p:cNvPr id="6" name="Shape 4"/>
          <p:cNvSpPr/>
          <p:nvPr/>
        </p:nvSpPr>
        <p:spPr>
          <a:xfrm>
            <a:off x="6455664" y="2304288"/>
            <a:ext cx="402336" cy="402336"/>
          </a:xfrm>
          <a:prstGeom prst="ellipse">
            <a:avLst/>
          </a:prstGeom>
          <a:solidFill>
            <a:srgbClr val="0F5C42"/>
          </a:solidFill>
          <a:ln/>
        </p:spPr>
      </p:sp>
      <p:pic>
        <p:nvPicPr>
          <p:cNvPr id="7" name="Image 0" descr="/home/claude/assets/icons/building.png"/>
          <p:cNvPicPr>
            <a:picLocks noChangeAspect="1"/>
          </p:cNvPicPr>
          <p:nvPr/>
        </p:nvPicPr>
        <p:blipFill>
          <a:blip r:embed="rId3"/>
          <a:stretch>
            <a:fillRect/>
          </a:stretch>
        </p:blipFill>
        <p:spPr>
          <a:xfrm>
            <a:off x="6552225" y="2400849"/>
            <a:ext cx="209215" cy="209215"/>
          </a:xfrm>
          <a:prstGeom prst="rect">
            <a:avLst/>
          </a:prstGeom>
        </p:spPr>
      </p:pic>
      <p:sp>
        <p:nvSpPr>
          <p:cNvPr id="8" name="Text 5"/>
          <p:cNvSpPr/>
          <p:nvPr/>
        </p:nvSpPr>
        <p:spPr>
          <a:xfrm>
            <a:off x="4096512" y="2286000"/>
            <a:ext cx="2194560"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مشغّلو الفنادق والعلامات العالمية</a:t>
            </a:r>
            <a:endParaRPr lang="ar-SA" sz="1290" dirty="0"/>
          </a:p>
        </p:txBody>
      </p:sp>
      <p:sp>
        <p:nvSpPr>
          <p:cNvPr id="9" name="Text 6"/>
          <p:cNvSpPr/>
          <p:nvPr/>
        </p:nvSpPr>
        <p:spPr>
          <a:xfrm>
            <a:off x="4096512" y="2871216"/>
            <a:ext cx="2761488" cy="116128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علاقات عمل عبر منظومات التشغيل الدولية: دعم التفاوض المدروس على اتفاقيات إدارة الفنادق (HMA)، واختيار العلامة، وحوكمة أداء المشغّل نيابةً عن المالك.</a:t>
            </a:r>
            <a:endParaRPr lang="ar-SA" sz="1000" dirty="0"/>
          </a:p>
        </p:txBody>
      </p:sp>
      <p:sp>
        <p:nvSpPr>
          <p:cNvPr id="10" name="Shape 7"/>
          <p:cNvSpPr/>
          <p:nvPr/>
        </p:nvSpPr>
        <p:spPr>
          <a:xfrm>
            <a:off x="502920" y="2103120"/>
            <a:ext cx="3163824" cy="1965960"/>
          </a:xfrm>
          <a:prstGeom prst="roundRect">
            <a:avLst>
              <a:gd name="adj" fmla="val 2791"/>
            </a:avLst>
          </a:prstGeom>
          <a:solidFill>
            <a:srgbClr val="FFFFFF"/>
          </a:solidFill>
          <a:ln w="9525">
            <a:solidFill>
              <a:srgbClr val="E4DDCB"/>
            </a:solidFill>
            <a:prstDash val="solid"/>
          </a:ln>
        </p:spPr>
      </p:sp>
      <p:sp>
        <p:nvSpPr>
          <p:cNvPr id="11" name="Shape 8"/>
          <p:cNvSpPr/>
          <p:nvPr/>
        </p:nvSpPr>
        <p:spPr>
          <a:xfrm>
            <a:off x="3063240" y="2304288"/>
            <a:ext cx="402336" cy="402336"/>
          </a:xfrm>
          <a:prstGeom prst="ellipse">
            <a:avLst/>
          </a:prstGeom>
          <a:solidFill>
            <a:srgbClr val="0F5C42"/>
          </a:solidFill>
          <a:ln/>
        </p:spPr>
      </p:sp>
      <p:pic>
        <p:nvPicPr>
          <p:cNvPr id="12" name="Image 1" descr="/home/claude/assets/icons/coins.png"/>
          <p:cNvPicPr>
            <a:picLocks noChangeAspect="1"/>
          </p:cNvPicPr>
          <p:nvPr/>
        </p:nvPicPr>
        <p:blipFill>
          <a:blip r:embed="rId4"/>
          <a:stretch>
            <a:fillRect/>
          </a:stretch>
        </p:blipFill>
        <p:spPr>
          <a:xfrm>
            <a:off x="3159801" y="2400849"/>
            <a:ext cx="209215" cy="209215"/>
          </a:xfrm>
          <a:prstGeom prst="rect">
            <a:avLst/>
          </a:prstGeom>
        </p:spPr>
      </p:pic>
      <p:sp>
        <p:nvSpPr>
          <p:cNvPr id="13" name="Text 9"/>
          <p:cNvSpPr/>
          <p:nvPr/>
        </p:nvSpPr>
        <p:spPr>
          <a:xfrm>
            <a:off x="704088" y="2286000"/>
            <a:ext cx="2194560"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المستثمرون والصناديق والمكاتب العائلية</a:t>
            </a:r>
            <a:endParaRPr lang="ar-SA" sz="1290" dirty="0"/>
          </a:p>
        </p:txBody>
      </p:sp>
      <p:sp>
        <p:nvSpPr>
          <p:cNvPr id="14" name="Text 10"/>
          <p:cNvSpPr/>
          <p:nvPr/>
        </p:nvSpPr>
        <p:spPr>
          <a:xfrm>
            <a:off x="704088" y="2871216"/>
            <a:ext cx="2761488" cy="116128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مواءمة استشارية مع المستثمرين المؤسسيين والمطوّرين والمكاتب العائلية: التحقق من الجدوى، ودعم التقييم الاستثماري، والإشراف على أداء الأصل طوال فترة الاحتفاظ به.</a:t>
            </a:r>
            <a:endParaRPr lang="ar-SA" sz="1000" dirty="0"/>
          </a:p>
        </p:txBody>
      </p:sp>
      <p:sp>
        <p:nvSpPr>
          <p:cNvPr id="15" name="Shape 11"/>
          <p:cNvSpPr/>
          <p:nvPr/>
        </p:nvSpPr>
        <p:spPr>
          <a:xfrm>
            <a:off x="3895344" y="4270248"/>
            <a:ext cx="3163824" cy="1965960"/>
          </a:xfrm>
          <a:prstGeom prst="roundRect">
            <a:avLst>
              <a:gd name="adj" fmla="val 2791"/>
            </a:avLst>
          </a:prstGeom>
          <a:solidFill>
            <a:srgbClr val="FFFFFF"/>
          </a:solidFill>
          <a:ln w="9525">
            <a:solidFill>
              <a:srgbClr val="E4DDCB"/>
            </a:solidFill>
            <a:prstDash val="solid"/>
          </a:ln>
        </p:spPr>
      </p:sp>
      <p:sp>
        <p:nvSpPr>
          <p:cNvPr id="16" name="Shape 12"/>
          <p:cNvSpPr/>
          <p:nvPr/>
        </p:nvSpPr>
        <p:spPr>
          <a:xfrm>
            <a:off x="6455664" y="4471416"/>
            <a:ext cx="402336" cy="402336"/>
          </a:xfrm>
          <a:prstGeom prst="ellipse">
            <a:avLst/>
          </a:prstGeom>
          <a:solidFill>
            <a:srgbClr val="0F5C42"/>
          </a:solidFill>
          <a:ln/>
        </p:spPr>
      </p:sp>
      <p:pic>
        <p:nvPicPr>
          <p:cNvPr id="17" name="Image 2" descr="/home/claude/assets/icons/microchip.png"/>
          <p:cNvPicPr>
            <a:picLocks noChangeAspect="1"/>
          </p:cNvPicPr>
          <p:nvPr/>
        </p:nvPicPr>
        <p:blipFill>
          <a:blip r:embed="rId5"/>
          <a:stretch>
            <a:fillRect/>
          </a:stretch>
        </p:blipFill>
        <p:spPr>
          <a:xfrm>
            <a:off x="6552225" y="4567977"/>
            <a:ext cx="209215" cy="209215"/>
          </a:xfrm>
          <a:prstGeom prst="rect">
            <a:avLst/>
          </a:prstGeom>
        </p:spPr>
      </p:pic>
      <p:sp>
        <p:nvSpPr>
          <p:cNvPr id="18" name="Text 13"/>
          <p:cNvSpPr/>
          <p:nvPr/>
        </p:nvSpPr>
        <p:spPr>
          <a:xfrm>
            <a:off x="4096512" y="4453128"/>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شركاء التقنية والبيانات</a:t>
            </a:r>
            <a:endParaRPr lang="ar-SA" sz="1290" dirty="0"/>
          </a:p>
        </p:txBody>
      </p:sp>
      <p:sp>
        <p:nvSpPr>
          <p:cNvPr id="19" name="Text 14"/>
          <p:cNvSpPr/>
          <p:nvPr/>
        </p:nvSpPr>
        <p:spPr>
          <a:xfrm>
            <a:off x="4096512" y="4855464"/>
            <a:ext cx="2761488" cy="134416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نخبة مدقَّقة من مزوّدي أنظمة إدارة الفنادق (PMS) وإدارة الإيرادات وذكاء الأعمال (BI) وحلول الذكاء الاصطناعي: تُختار لكل مهمة على أساس الكفاءة لا العمولة، حفاظًا على الاستقلالية الاستشارية الكاملة.</a:t>
            </a:r>
            <a:endParaRPr lang="ar-SA" sz="1000" dirty="0"/>
          </a:p>
        </p:txBody>
      </p:sp>
      <p:sp>
        <p:nvSpPr>
          <p:cNvPr id="20" name="Shape 15"/>
          <p:cNvSpPr/>
          <p:nvPr/>
        </p:nvSpPr>
        <p:spPr>
          <a:xfrm>
            <a:off x="502920" y="4270248"/>
            <a:ext cx="3163824" cy="1965960"/>
          </a:xfrm>
          <a:prstGeom prst="roundRect">
            <a:avLst>
              <a:gd name="adj" fmla="val 2791"/>
            </a:avLst>
          </a:prstGeom>
          <a:solidFill>
            <a:srgbClr val="FFFFFF"/>
          </a:solidFill>
          <a:ln w="9525">
            <a:solidFill>
              <a:srgbClr val="E4DDCB"/>
            </a:solidFill>
            <a:prstDash val="solid"/>
          </a:ln>
        </p:spPr>
      </p:sp>
      <p:sp>
        <p:nvSpPr>
          <p:cNvPr id="21" name="Shape 16"/>
          <p:cNvSpPr/>
          <p:nvPr/>
        </p:nvSpPr>
        <p:spPr>
          <a:xfrm>
            <a:off x="3063240" y="4471416"/>
            <a:ext cx="402336" cy="402336"/>
          </a:xfrm>
          <a:prstGeom prst="ellipse">
            <a:avLst/>
          </a:prstGeom>
          <a:solidFill>
            <a:srgbClr val="0F5C42"/>
          </a:solidFill>
          <a:ln/>
        </p:spPr>
      </p:sp>
      <p:pic>
        <p:nvPicPr>
          <p:cNvPr id="22" name="Image 3" descr="/home/claude/assets/icons/landmark.png"/>
          <p:cNvPicPr>
            <a:picLocks noChangeAspect="1"/>
          </p:cNvPicPr>
          <p:nvPr/>
        </p:nvPicPr>
        <p:blipFill>
          <a:blip r:embed="rId6"/>
          <a:stretch>
            <a:fillRect/>
          </a:stretch>
        </p:blipFill>
        <p:spPr>
          <a:xfrm>
            <a:off x="3159801" y="4567977"/>
            <a:ext cx="209215" cy="209215"/>
          </a:xfrm>
          <a:prstGeom prst="rect">
            <a:avLst/>
          </a:prstGeom>
        </p:spPr>
      </p:pic>
      <p:sp>
        <p:nvSpPr>
          <p:cNvPr id="23" name="Text 17"/>
          <p:cNvSpPr/>
          <p:nvPr/>
        </p:nvSpPr>
        <p:spPr>
          <a:xfrm>
            <a:off x="704088" y="4453128"/>
            <a:ext cx="2194560" cy="47548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الجهات الحكومية وهيئات التطوير</a:t>
            </a:r>
            <a:endParaRPr lang="ar-SA" sz="1290" dirty="0"/>
          </a:p>
        </p:txBody>
      </p:sp>
      <p:sp>
        <p:nvSpPr>
          <p:cNvPr id="24" name="Text 18"/>
          <p:cNvSpPr/>
          <p:nvPr/>
        </p:nvSpPr>
        <p:spPr>
          <a:xfrm>
            <a:off x="704088" y="5038344"/>
            <a:ext cx="2761488" cy="116128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تواصل بنّاء مع الوزارات وهيئات الوجهات السياحية وجهات المشاريع العملاقة: لمواءمة استراتيجية الأصول الخاصة مع أولويات السياحة الوطنية ورؤية 2030.</a:t>
            </a:r>
            <a:endParaRPr lang="ar-SA" sz="1000" dirty="0"/>
          </a:p>
        </p:txBody>
      </p:sp>
      <p:sp>
        <p:nvSpPr>
          <p:cNvPr id="25" name="Shape 19"/>
          <p:cNvSpPr/>
          <p:nvPr/>
        </p:nvSpPr>
        <p:spPr>
          <a:xfrm>
            <a:off x="502920" y="6574536"/>
            <a:ext cx="6556248" cy="1371600"/>
          </a:xfrm>
          <a:prstGeom prst="roundRect">
            <a:avLst>
              <a:gd name="adj" fmla="val 4000"/>
            </a:avLst>
          </a:prstGeom>
          <a:solidFill>
            <a:srgbClr val="0B1B2B"/>
          </a:solidFill>
          <a:ln/>
        </p:spPr>
      </p:sp>
      <p:sp>
        <p:nvSpPr>
          <p:cNvPr id="26" name="Text 20"/>
          <p:cNvSpPr/>
          <p:nvPr/>
        </p:nvSpPr>
        <p:spPr>
          <a:xfrm>
            <a:off x="777240" y="6775704"/>
            <a:ext cx="6007608" cy="219456"/>
          </a:xfrm>
          <a:prstGeom prst="rect">
            <a:avLst/>
          </a:prstGeom>
          <a:noFill/>
          <a:ln/>
        </p:spPr>
        <p:txBody>
          <a:bodyPr wrap="square" rtlCol="0" anchor="ctr"/>
          <a:lstStyle/>
          <a:p>
            <a:pPr marL="0" indent="0" algn="r" rtl="1">
              <a:lnSpc>
                <a:spcPct val="98000"/>
              </a:lnSpc>
              <a:buNone/>
            </a:pPr>
            <a:r>
              <a:rPr lang="ar-SA" altLang="en-US" sz="1030" b="1" dirty="0">
                <a:solidFill>
                  <a:srgbClr val="E4C98A"/>
                </a:solidFill>
                <a:latin typeface="Arial" pitchFamily="34" charset="0"/>
                <a:ea typeface="Arial" pitchFamily="34" charset="-122"/>
                <a:cs typeface="Arial" pitchFamily="34" charset="-120"/>
              </a:rPr>
              <a:t>مبدأ الاستقلالية</a:t>
            </a:r>
            <a:endParaRPr lang="ar-SA" sz="1030" dirty="0"/>
          </a:p>
        </p:txBody>
      </p:sp>
      <p:sp>
        <p:nvSpPr>
          <p:cNvPr id="27" name="Text 21"/>
          <p:cNvSpPr/>
          <p:nvPr/>
        </p:nvSpPr>
        <p:spPr>
          <a:xfrm>
            <a:off x="777240" y="7031736"/>
            <a:ext cx="6007608" cy="822960"/>
          </a:xfrm>
          <a:prstGeom prst="rect">
            <a:avLst/>
          </a:prstGeom>
          <a:noFill/>
          <a:ln/>
        </p:spPr>
        <p:txBody>
          <a:bodyPr wrap="square" rtlCol="0" anchor="t"/>
          <a:lstStyle/>
          <a:p>
            <a:pPr marL="0" indent="0" algn="r" rtl="1">
              <a:lnSpc>
                <a:spcPct val="125440"/>
              </a:lnSpc>
              <a:buNone/>
            </a:pPr>
            <a:r>
              <a:rPr lang="ar-SA" altLang="en-US" sz="1240" dirty="0">
                <a:solidFill>
                  <a:srgbClr val="FFFFFF"/>
                </a:solidFill>
                <a:latin typeface="Arial" pitchFamily="34" charset="0"/>
                <a:ea typeface="Arial" pitchFamily="34" charset="-122"/>
                <a:cs typeface="Arial" pitchFamily="34" charset="-120"/>
              </a:rPr>
              <a:t>لا نملك حصصًا في المشغّلين، ولا نتقاضى عمولات من المزوّدين، ولا ننحاز إلى علامة بعينها. وقد قامت شراكاتنا لخدمة مصلحة واحدة هي مصلحة العميل. وهذه الاستقلالية هي الأساس الذي تقوم عليه كل توصية نقدمها.</a:t>
            </a:r>
            <a:endParaRPr lang="ar-SA" sz="1240" dirty="0"/>
          </a:p>
        </p:txBody>
      </p:sp>
      <p:pic>
        <p:nvPicPr>
          <p:cNvPr id="28" name="Image 4" descr="/home/claude/assets/monogram.png"/>
          <p:cNvPicPr>
            <a:picLocks noChangeAspect="1"/>
          </p:cNvPicPr>
          <p:nvPr/>
        </p:nvPicPr>
        <p:blipFill>
          <a:blip r:embed="rId7">
            <a:alphaModFix amt="20000"/>
          </a:blip>
          <a:stretch>
            <a:fillRect/>
          </a:stretch>
        </p:blipFill>
        <p:spPr>
          <a:xfrm>
            <a:off x="3278124" y="8174736"/>
            <a:ext cx="1005840" cy="859536"/>
          </a:xfrm>
          <a:prstGeom prst="rect">
            <a:avLst/>
          </a:prstGeom>
        </p:spPr>
      </p:pic>
      <p:sp>
        <p:nvSpPr>
          <p:cNvPr id="29" name="Shape 22"/>
          <p:cNvSpPr/>
          <p:nvPr/>
        </p:nvSpPr>
        <p:spPr>
          <a:xfrm>
            <a:off x="502920" y="10186416"/>
            <a:ext cx="6556248" cy="0"/>
          </a:xfrm>
          <a:prstGeom prst="line">
            <a:avLst/>
          </a:prstGeom>
          <a:noFill/>
          <a:ln w="9525">
            <a:solidFill>
              <a:srgbClr val="E4DDCB"/>
            </a:solidFill>
            <a:prstDash val="solid"/>
          </a:ln>
        </p:spPr>
      </p:sp>
      <p:sp>
        <p:nvSpPr>
          <p:cNvPr id="30" name="Text 23"/>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31" name="Text 24"/>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20</a:t>
            </a:r>
            <a:endParaRPr lang="ar-SA" sz="88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19  •  ما نؤمن به</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قيمنا</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سبعة التزامات توجّه كيف ننصح وكيف ننفّذ وكيف نتصرّف حين لا يراقبنا أحد.</a:t>
            </a:r>
            <a:endParaRPr lang="ar-SA" sz="1180" dirty="0"/>
          </a:p>
        </p:txBody>
      </p:sp>
      <p:sp>
        <p:nvSpPr>
          <p:cNvPr id="5" name="Shape 3"/>
          <p:cNvSpPr/>
          <p:nvPr/>
        </p:nvSpPr>
        <p:spPr>
          <a:xfrm>
            <a:off x="502920" y="2103120"/>
            <a:ext cx="6556248" cy="950976"/>
          </a:xfrm>
          <a:prstGeom prst="roundRect">
            <a:avLst>
              <a:gd name="adj" fmla="val 4808"/>
            </a:avLst>
          </a:prstGeom>
          <a:solidFill>
            <a:srgbClr val="FFFFFF"/>
          </a:solidFill>
          <a:ln w="9525">
            <a:solidFill>
              <a:srgbClr val="E4DDCB"/>
            </a:solidFill>
            <a:prstDash val="solid"/>
          </a:ln>
        </p:spPr>
      </p:sp>
      <p:sp>
        <p:nvSpPr>
          <p:cNvPr id="6" name="Shape 4"/>
          <p:cNvSpPr/>
          <p:nvPr/>
        </p:nvSpPr>
        <p:spPr>
          <a:xfrm>
            <a:off x="6446520" y="2350008"/>
            <a:ext cx="457200" cy="457200"/>
          </a:xfrm>
          <a:prstGeom prst="ellipse">
            <a:avLst/>
          </a:prstGeom>
          <a:solidFill>
            <a:srgbClr val="0F5C42"/>
          </a:solidFill>
          <a:ln/>
        </p:spPr>
      </p:sp>
      <p:pic>
        <p:nvPicPr>
          <p:cNvPr id="7" name="Image 0" descr="/home/claude/assets/icons/shield.png"/>
          <p:cNvPicPr>
            <a:picLocks noChangeAspect="1"/>
          </p:cNvPicPr>
          <p:nvPr/>
        </p:nvPicPr>
        <p:blipFill>
          <a:blip r:embed="rId3"/>
          <a:stretch>
            <a:fillRect/>
          </a:stretch>
        </p:blipFill>
        <p:spPr>
          <a:xfrm>
            <a:off x="6556248" y="2459736"/>
            <a:ext cx="237744" cy="237744"/>
          </a:xfrm>
          <a:prstGeom prst="rect">
            <a:avLst/>
          </a:prstGeom>
        </p:spPr>
      </p:pic>
      <p:sp>
        <p:nvSpPr>
          <p:cNvPr id="8" name="Shape 5"/>
          <p:cNvSpPr/>
          <p:nvPr/>
        </p:nvSpPr>
        <p:spPr>
          <a:xfrm>
            <a:off x="5230368" y="2249424"/>
            <a:ext cx="0" cy="658368"/>
          </a:xfrm>
          <a:prstGeom prst="line">
            <a:avLst/>
          </a:prstGeom>
          <a:noFill/>
          <a:ln w="19050">
            <a:solidFill>
              <a:srgbClr val="C9A15A"/>
            </a:solidFill>
            <a:prstDash val="solid"/>
          </a:ln>
        </p:spPr>
      </p:sp>
      <p:sp>
        <p:nvSpPr>
          <p:cNvPr id="9" name="Text 6"/>
          <p:cNvSpPr/>
          <p:nvPr/>
        </p:nvSpPr>
        <p:spPr>
          <a:xfrm>
            <a:off x="5303520" y="2212848"/>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النزاهة</a:t>
            </a:r>
            <a:endParaRPr lang="ar-SA" sz="1180" dirty="0"/>
          </a:p>
        </p:txBody>
      </p:sp>
      <p:sp>
        <p:nvSpPr>
          <p:cNvPr id="10" name="Text 7"/>
          <p:cNvSpPr/>
          <p:nvPr/>
        </p:nvSpPr>
        <p:spPr>
          <a:xfrm>
            <a:off x="685800" y="2194560"/>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نتصرف شريكًا حقيقيًا في صف العميل: تشخيص واقعي، وتقارير شفافة، ونصيحة تخدم مصلحتك حتى لو كلّفتنا التعاقد.</a:t>
            </a:r>
            <a:endParaRPr lang="ar-SA" sz="990" dirty="0"/>
          </a:p>
        </p:txBody>
      </p:sp>
      <p:sp>
        <p:nvSpPr>
          <p:cNvPr id="11" name="Shape 8"/>
          <p:cNvSpPr/>
          <p:nvPr/>
        </p:nvSpPr>
        <p:spPr>
          <a:xfrm>
            <a:off x="502920" y="3182112"/>
            <a:ext cx="6556248" cy="950976"/>
          </a:xfrm>
          <a:prstGeom prst="roundRect">
            <a:avLst>
              <a:gd name="adj" fmla="val 4808"/>
            </a:avLst>
          </a:prstGeom>
          <a:solidFill>
            <a:srgbClr val="FFFFFF"/>
          </a:solidFill>
          <a:ln w="9525">
            <a:solidFill>
              <a:srgbClr val="E4DDCB"/>
            </a:solidFill>
            <a:prstDash val="solid"/>
          </a:ln>
        </p:spPr>
      </p:sp>
      <p:sp>
        <p:nvSpPr>
          <p:cNvPr id="12" name="Shape 9"/>
          <p:cNvSpPr/>
          <p:nvPr/>
        </p:nvSpPr>
        <p:spPr>
          <a:xfrm>
            <a:off x="6446520" y="3429000"/>
            <a:ext cx="457200" cy="457200"/>
          </a:xfrm>
          <a:prstGeom prst="ellipse">
            <a:avLst/>
          </a:prstGeom>
          <a:solidFill>
            <a:srgbClr val="0F5C42"/>
          </a:solidFill>
          <a:ln/>
        </p:spPr>
      </p:sp>
      <p:pic>
        <p:nvPicPr>
          <p:cNvPr id="13" name="Image 1" descr="/home/claude/assets/icons/gem.png"/>
          <p:cNvPicPr>
            <a:picLocks noChangeAspect="1"/>
          </p:cNvPicPr>
          <p:nvPr/>
        </p:nvPicPr>
        <p:blipFill>
          <a:blip r:embed="rId4"/>
          <a:stretch>
            <a:fillRect/>
          </a:stretch>
        </p:blipFill>
        <p:spPr>
          <a:xfrm>
            <a:off x="6556248" y="3538728"/>
            <a:ext cx="237744" cy="237744"/>
          </a:xfrm>
          <a:prstGeom prst="rect">
            <a:avLst/>
          </a:prstGeom>
        </p:spPr>
      </p:pic>
      <p:sp>
        <p:nvSpPr>
          <p:cNvPr id="14" name="Shape 10"/>
          <p:cNvSpPr/>
          <p:nvPr/>
        </p:nvSpPr>
        <p:spPr>
          <a:xfrm>
            <a:off x="5230368" y="3328416"/>
            <a:ext cx="0" cy="658368"/>
          </a:xfrm>
          <a:prstGeom prst="line">
            <a:avLst/>
          </a:prstGeom>
          <a:noFill/>
          <a:ln w="19050">
            <a:solidFill>
              <a:srgbClr val="C9A15A"/>
            </a:solidFill>
            <a:prstDash val="solid"/>
          </a:ln>
        </p:spPr>
      </p:sp>
      <p:sp>
        <p:nvSpPr>
          <p:cNvPr id="15" name="Text 11"/>
          <p:cNvSpPr/>
          <p:nvPr/>
        </p:nvSpPr>
        <p:spPr>
          <a:xfrm>
            <a:off x="5303520" y="3291840"/>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التميّز</a:t>
            </a:r>
            <a:endParaRPr lang="ar-SA" sz="1180" dirty="0"/>
          </a:p>
        </p:txBody>
      </p:sp>
      <p:sp>
        <p:nvSpPr>
          <p:cNvPr id="16" name="Text 12"/>
          <p:cNvSpPr/>
          <p:nvPr/>
        </p:nvSpPr>
        <p:spPr>
          <a:xfrm>
            <a:off x="685800" y="3273552"/>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معايير عالية ثابتة: رفض للمستوى المتوسط من خلال العناية الدقيقة بتفاصيل التنفيذ والاستناد إلى مرجعيات عالمية قوية.</a:t>
            </a:r>
            <a:endParaRPr lang="ar-SA" sz="990" dirty="0"/>
          </a:p>
        </p:txBody>
      </p:sp>
      <p:sp>
        <p:nvSpPr>
          <p:cNvPr id="17" name="Shape 13"/>
          <p:cNvSpPr/>
          <p:nvPr/>
        </p:nvSpPr>
        <p:spPr>
          <a:xfrm>
            <a:off x="502920" y="4261104"/>
            <a:ext cx="6556248" cy="950976"/>
          </a:xfrm>
          <a:prstGeom prst="roundRect">
            <a:avLst>
              <a:gd name="adj" fmla="val 4808"/>
            </a:avLst>
          </a:prstGeom>
          <a:solidFill>
            <a:srgbClr val="FFFFFF"/>
          </a:solidFill>
          <a:ln w="9525">
            <a:solidFill>
              <a:srgbClr val="E4DDCB"/>
            </a:solidFill>
            <a:prstDash val="solid"/>
          </a:ln>
        </p:spPr>
      </p:sp>
      <p:sp>
        <p:nvSpPr>
          <p:cNvPr id="18" name="Shape 14"/>
          <p:cNvSpPr/>
          <p:nvPr/>
        </p:nvSpPr>
        <p:spPr>
          <a:xfrm>
            <a:off x="6446520" y="4507992"/>
            <a:ext cx="457200" cy="457200"/>
          </a:xfrm>
          <a:prstGeom prst="ellipse">
            <a:avLst/>
          </a:prstGeom>
          <a:solidFill>
            <a:srgbClr val="0F5C42"/>
          </a:solidFill>
          <a:ln/>
        </p:spPr>
      </p:sp>
      <p:pic>
        <p:nvPicPr>
          <p:cNvPr id="19" name="Image 2" descr="/home/claude/assets/icons/lightbulb.png"/>
          <p:cNvPicPr>
            <a:picLocks noChangeAspect="1"/>
          </p:cNvPicPr>
          <p:nvPr/>
        </p:nvPicPr>
        <p:blipFill>
          <a:blip r:embed="rId5"/>
          <a:stretch>
            <a:fillRect/>
          </a:stretch>
        </p:blipFill>
        <p:spPr>
          <a:xfrm>
            <a:off x="6556248" y="4617720"/>
            <a:ext cx="237744" cy="237744"/>
          </a:xfrm>
          <a:prstGeom prst="rect">
            <a:avLst/>
          </a:prstGeom>
        </p:spPr>
      </p:pic>
      <p:sp>
        <p:nvSpPr>
          <p:cNvPr id="20" name="Shape 15"/>
          <p:cNvSpPr/>
          <p:nvPr/>
        </p:nvSpPr>
        <p:spPr>
          <a:xfrm>
            <a:off x="5230368" y="4407408"/>
            <a:ext cx="0" cy="658368"/>
          </a:xfrm>
          <a:prstGeom prst="line">
            <a:avLst/>
          </a:prstGeom>
          <a:noFill/>
          <a:ln w="19050">
            <a:solidFill>
              <a:srgbClr val="C9A15A"/>
            </a:solidFill>
            <a:prstDash val="solid"/>
          </a:ln>
        </p:spPr>
      </p:sp>
      <p:sp>
        <p:nvSpPr>
          <p:cNvPr id="21" name="Text 16"/>
          <p:cNvSpPr/>
          <p:nvPr/>
        </p:nvSpPr>
        <p:spPr>
          <a:xfrm>
            <a:off x="5303520" y="4370832"/>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الابتكار</a:t>
            </a:r>
            <a:endParaRPr lang="ar-SA" sz="1180" dirty="0"/>
          </a:p>
        </p:txBody>
      </p:sp>
      <p:sp>
        <p:nvSpPr>
          <p:cNvPr id="22" name="Text 17"/>
          <p:cNvSpPr/>
          <p:nvPr/>
        </p:nvSpPr>
        <p:spPr>
          <a:xfrm>
            <a:off x="685800" y="4352544"/>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سعي رشيق نحو التقدم الرقمي: نبحث بنشاط عن قدرات جديدة ونختبرها وندمجها بوصفها ميزة تنافسية.</a:t>
            </a:r>
            <a:endParaRPr lang="ar-SA" sz="990" dirty="0"/>
          </a:p>
        </p:txBody>
      </p:sp>
      <p:sp>
        <p:nvSpPr>
          <p:cNvPr id="23" name="Shape 18"/>
          <p:cNvSpPr/>
          <p:nvPr/>
        </p:nvSpPr>
        <p:spPr>
          <a:xfrm>
            <a:off x="502920" y="5340096"/>
            <a:ext cx="6556248" cy="950976"/>
          </a:xfrm>
          <a:prstGeom prst="roundRect">
            <a:avLst>
              <a:gd name="adj" fmla="val 4808"/>
            </a:avLst>
          </a:prstGeom>
          <a:solidFill>
            <a:srgbClr val="FFFFFF"/>
          </a:solidFill>
          <a:ln w="9525">
            <a:solidFill>
              <a:srgbClr val="E4DDCB"/>
            </a:solidFill>
            <a:prstDash val="solid"/>
          </a:ln>
        </p:spPr>
      </p:sp>
      <p:sp>
        <p:nvSpPr>
          <p:cNvPr id="24" name="Shape 19"/>
          <p:cNvSpPr/>
          <p:nvPr/>
        </p:nvSpPr>
        <p:spPr>
          <a:xfrm>
            <a:off x="6446520" y="5586984"/>
            <a:ext cx="457200" cy="457200"/>
          </a:xfrm>
          <a:prstGeom prst="ellipse">
            <a:avLst/>
          </a:prstGeom>
          <a:solidFill>
            <a:srgbClr val="0F5C42"/>
          </a:solidFill>
          <a:ln/>
        </p:spPr>
      </p:sp>
      <p:pic>
        <p:nvPicPr>
          <p:cNvPr id="25" name="Image 3" descr="/home/claude/assets/icons/concierge.png"/>
          <p:cNvPicPr>
            <a:picLocks noChangeAspect="1"/>
          </p:cNvPicPr>
          <p:nvPr/>
        </p:nvPicPr>
        <p:blipFill>
          <a:blip r:embed="rId6"/>
          <a:stretch>
            <a:fillRect/>
          </a:stretch>
        </p:blipFill>
        <p:spPr>
          <a:xfrm>
            <a:off x="6556248" y="5696712"/>
            <a:ext cx="237744" cy="237744"/>
          </a:xfrm>
          <a:prstGeom prst="rect">
            <a:avLst/>
          </a:prstGeom>
        </p:spPr>
      </p:pic>
      <p:sp>
        <p:nvSpPr>
          <p:cNvPr id="26" name="Shape 20"/>
          <p:cNvSpPr/>
          <p:nvPr/>
        </p:nvSpPr>
        <p:spPr>
          <a:xfrm>
            <a:off x="5230368" y="5486400"/>
            <a:ext cx="0" cy="658368"/>
          </a:xfrm>
          <a:prstGeom prst="line">
            <a:avLst/>
          </a:prstGeom>
          <a:noFill/>
          <a:ln w="19050">
            <a:solidFill>
              <a:srgbClr val="C9A15A"/>
            </a:solidFill>
            <a:prstDash val="solid"/>
          </a:ln>
        </p:spPr>
      </p:sp>
      <p:sp>
        <p:nvSpPr>
          <p:cNvPr id="27" name="Text 21"/>
          <p:cNvSpPr/>
          <p:nvPr/>
        </p:nvSpPr>
        <p:spPr>
          <a:xfrm>
            <a:off x="5303520" y="5449824"/>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الضيافة</a:t>
            </a:r>
            <a:endParaRPr lang="ar-SA" sz="1180" dirty="0"/>
          </a:p>
        </p:txBody>
      </p:sp>
      <p:sp>
        <p:nvSpPr>
          <p:cNvPr id="28" name="Text 22"/>
          <p:cNvSpPr/>
          <p:nvPr/>
        </p:nvSpPr>
        <p:spPr>
          <a:xfrm>
            <a:off x="685800" y="5431536"/>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الخدمة لغتنا الأم. وتجربة النزيل، وعائد المالك منها، في صميم كل قرار.</a:t>
            </a:r>
            <a:endParaRPr lang="ar-SA" sz="990" dirty="0"/>
          </a:p>
        </p:txBody>
      </p:sp>
      <p:sp>
        <p:nvSpPr>
          <p:cNvPr id="29" name="Shape 23"/>
          <p:cNvSpPr/>
          <p:nvPr/>
        </p:nvSpPr>
        <p:spPr>
          <a:xfrm>
            <a:off x="502920" y="6419088"/>
            <a:ext cx="6556248" cy="950976"/>
          </a:xfrm>
          <a:prstGeom prst="roundRect">
            <a:avLst>
              <a:gd name="adj" fmla="val 4808"/>
            </a:avLst>
          </a:prstGeom>
          <a:solidFill>
            <a:srgbClr val="FFFFFF"/>
          </a:solidFill>
          <a:ln w="9525">
            <a:solidFill>
              <a:srgbClr val="E4DDCB"/>
            </a:solidFill>
            <a:prstDash val="solid"/>
          </a:ln>
        </p:spPr>
      </p:sp>
      <p:sp>
        <p:nvSpPr>
          <p:cNvPr id="30" name="Shape 24"/>
          <p:cNvSpPr/>
          <p:nvPr/>
        </p:nvSpPr>
        <p:spPr>
          <a:xfrm>
            <a:off x="6446520" y="6665976"/>
            <a:ext cx="457200" cy="457200"/>
          </a:xfrm>
          <a:prstGeom prst="ellipse">
            <a:avLst/>
          </a:prstGeom>
          <a:solidFill>
            <a:srgbClr val="0F5C42"/>
          </a:solidFill>
          <a:ln/>
        </p:spPr>
      </p:sp>
      <p:pic>
        <p:nvPicPr>
          <p:cNvPr id="31" name="Image 4" descr="/home/claude/assets/icons/chartline.png"/>
          <p:cNvPicPr>
            <a:picLocks noChangeAspect="1"/>
          </p:cNvPicPr>
          <p:nvPr/>
        </p:nvPicPr>
        <p:blipFill>
          <a:blip r:embed="rId7"/>
          <a:stretch>
            <a:fillRect/>
          </a:stretch>
        </p:blipFill>
        <p:spPr>
          <a:xfrm>
            <a:off x="6556248" y="6775704"/>
            <a:ext cx="237744" cy="237744"/>
          </a:xfrm>
          <a:prstGeom prst="rect">
            <a:avLst/>
          </a:prstGeom>
        </p:spPr>
      </p:pic>
      <p:sp>
        <p:nvSpPr>
          <p:cNvPr id="32" name="Shape 25"/>
          <p:cNvSpPr/>
          <p:nvPr/>
        </p:nvSpPr>
        <p:spPr>
          <a:xfrm>
            <a:off x="5230368" y="6565392"/>
            <a:ext cx="0" cy="658368"/>
          </a:xfrm>
          <a:prstGeom prst="line">
            <a:avLst/>
          </a:prstGeom>
          <a:noFill/>
          <a:ln w="19050">
            <a:solidFill>
              <a:srgbClr val="C9A15A"/>
            </a:solidFill>
            <a:prstDash val="solid"/>
          </a:ln>
        </p:spPr>
      </p:sp>
      <p:sp>
        <p:nvSpPr>
          <p:cNvPr id="33" name="Text 26"/>
          <p:cNvSpPr/>
          <p:nvPr/>
        </p:nvSpPr>
        <p:spPr>
          <a:xfrm>
            <a:off x="5303520" y="6528816"/>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الأداء</a:t>
            </a:r>
            <a:endParaRPr lang="ar-SA" sz="1180" dirty="0"/>
          </a:p>
        </p:txBody>
      </p:sp>
      <p:sp>
        <p:nvSpPr>
          <p:cNvPr id="34" name="Text 27"/>
          <p:cNvSpPr/>
          <p:nvPr/>
        </p:nvSpPr>
        <p:spPr>
          <a:xfrm>
            <a:off x="685800" y="6510528"/>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دقة قائمة على البيانات: نستبدل الحدس عمدًا بالتحليلات التجريبية والذكاء الاصطناعي والنمذجة المالية. أثر يُقاس ولا يُدَّعى.</a:t>
            </a:r>
            <a:endParaRPr lang="ar-SA" sz="990" dirty="0"/>
          </a:p>
        </p:txBody>
      </p:sp>
      <p:sp>
        <p:nvSpPr>
          <p:cNvPr id="35" name="Shape 28"/>
          <p:cNvSpPr/>
          <p:nvPr/>
        </p:nvSpPr>
        <p:spPr>
          <a:xfrm>
            <a:off x="502920" y="7498080"/>
            <a:ext cx="6556248" cy="950976"/>
          </a:xfrm>
          <a:prstGeom prst="roundRect">
            <a:avLst>
              <a:gd name="adj" fmla="val 4808"/>
            </a:avLst>
          </a:prstGeom>
          <a:solidFill>
            <a:srgbClr val="FFFFFF"/>
          </a:solidFill>
          <a:ln w="9525">
            <a:solidFill>
              <a:srgbClr val="E4DDCB"/>
            </a:solidFill>
            <a:prstDash val="solid"/>
          </a:ln>
        </p:spPr>
      </p:sp>
      <p:sp>
        <p:nvSpPr>
          <p:cNvPr id="36" name="Shape 29"/>
          <p:cNvSpPr/>
          <p:nvPr/>
        </p:nvSpPr>
        <p:spPr>
          <a:xfrm>
            <a:off x="6446520" y="7744968"/>
            <a:ext cx="457200" cy="457200"/>
          </a:xfrm>
          <a:prstGeom prst="ellipse">
            <a:avLst/>
          </a:prstGeom>
          <a:solidFill>
            <a:srgbClr val="0F5C42"/>
          </a:solidFill>
          <a:ln/>
        </p:spPr>
      </p:sp>
      <p:pic>
        <p:nvPicPr>
          <p:cNvPr id="37" name="Image 5" descr="/home/claude/assets/icons/heart.png"/>
          <p:cNvPicPr>
            <a:picLocks noChangeAspect="1"/>
          </p:cNvPicPr>
          <p:nvPr/>
        </p:nvPicPr>
        <p:blipFill>
          <a:blip r:embed="rId8"/>
          <a:stretch>
            <a:fillRect/>
          </a:stretch>
        </p:blipFill>
        <p:spPr>
          <a:xfrm>
            <a:off x="6556248" y="7854696"/>
            <a:ext cx="237744" cy="237744"/>
          </a:xfrm>
          <a:prstGeom prst="rect">
            <a:avLst/>
          </a:prstGeom>
        </p:spPr>
      </p:pic>
      <p:sp>
        <p:nvSpPr>
          <p:cNvPr id="38" name="Shape 30"/>
          <p:cNvSpPr/>
          <p:nvPr/>
        </p:nvSpPr>
        <p:spPr>
          <a:xfrm>
            <a:off x="5230368" y="7644384"/>
            <a:ext cx="0" cy="658368"/>
          </a:xfrm>
          <a:prstGeom prst="line">
            <a:avLst/>
          </a:prstGeom>
          <a:noFill/>
          <a:ln w="19050">
            <a:solidFill>
              <a:srgbClr val="C9A15A"/>
            </a:solidFill>
            <a:prstDash val="solid"/>
          </a:ln>
        </p:spPr>
      </p:sp>
      <p:sp>
        <p:nvSpPr>
          <p:cNvPr id="39" name="Text 31"/>
          <p:cNvSpPr/>
          <p:nvPr/>
        </p:nvSpPr>
        <p:spPr>
          <a:xfrm>
            <a:off x="5303520" y="7607808"/>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الثقة</a:t>
            </a:r>
            <a:endParaRPr lang="ar-SA" sz="1180" dirty="0"/>
          </a:p>
        </p:txBody>
      </p:sp>
      <p:sp>
        <p:nvSpPr>
          <p:cNvPr id="40" name="Text 32"/>
          <p:cNvSpPr/>
          <p:nvPr/>
        </p:nvSpPr>
        <p:spPr>
          <a:xfrm>
            <a:off x="685800" y="7589520"/>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تُكتسب بالصراحة والسرّية والثبات: وهي عملة كل علاقة نقيمها في قاعات مجالس الإدارة.</a:t>
            </a:r>
            <a:endParaRPr lang="ar-SA" sz="990" dirty="0"/>
          </a:p>
        </p:txBody>
      </p:sp>
      <p:sp>
        <p:nvSpPr>
          <p:cNvPr id="41" name="Shape 33"/>
          <p:cNvSpPr/>
          <p:nvPr/>
        </p:nvSpPr>
        <p:spPr>
          <a:xfrm>
            <a:off x="502920" y="8577072"/>
            <a:ext cx="6556248" cy="950976"/>
          </a:xfrm>
          <a:prstGeom prst="roundRect">
            <a:avLst>
              <a:gd name="adj" fmla="val 4808"/>
            </a:avLst>
          </a:prstGeom>
          <a:solidFill>
            <a:srgbClr val="FFFFFF"/>
          </a:solidFill>
          <a:ln w="9525">
            <a:solidFill>
              <a:srgbClr val="E4DDCB"/>
            </a:solidFill>
            <a:prstDash val="solid"/>
          </a:ln>
        </p:spPr>
      </p:sp>
      <p:sp>
        <p:nvSpPr>
          <p:cNvPr id="42" name="Shape 34"/>
          <p:cNvSpPr/>
          <p:nvPr/>
        </p:nvSpPr>
        <p:spPr>
          <a:xfrm>
            <a:off x="6446520" y="8823960"/>
            <a:ext cx="457200" cy="457200"/>
          </a:xfrm>
          <a:prstGeom prst="ellipse">
            <a:avLst/>
          </a:prstGeom>
          <a:solidFill>
            <a:srgbClr val="0F5C42"/>
          </a:solidFill>
          <a:ln/>
        </p:spPr>
      </p:sp>
      <p:pic>
        <p:nvPicPr>
          <p:cNvPr id="43" name="Image 6" descr="/home/claude/assets/icons/handshake.png"/>
          <p:cNvPicPr>
            <a:picLocks noChangeAspect="1"/>
          </p:cNvPicPr>
          <p:nvPr/>
        </p:nvPicPr>
        <p:blipFill>
          <a:blip r:embed="rId9"/>
          <a:stretch>
            <a:fillRect/>
          </a:stretch>
        </p:blipFill>
        <p:spPr>
          <a:xfrm>
            <a:off x="6556248" y="8933688"/>
            <a:ext cx="237744" cy="237744"/>
          </a:xfrm>
          <a:prstGeom prst="rect">
            <a:avLst/>
          </a:prstGeom>
        </p:spPr>
      </p:pic>
      <p:sp>
        <p:nvSpPr>
          <p:cNvPr id="44" name="Shape 35"/>
          <p:cNvSpPr/>
          <p:nvPr/>
        </p:nvSpPr>
        <p:spPr>
          <a:xfrm>
            <a:off x="5230368" y="8723376"/>
            <a:ext cx="0" cy="658368"/>
          </a:xfrm>
          <a:prstGeom prst="line">
            <a:avLst/>
          </a:prstGeom>
          <a:noFill/>
          <a:ln w="19050">
            <a:solidFill>
              <a:srgbClr val="C9A15A"/>
            </a:solidFill>
            <a:prstDash val="solid"/>
          </a:ln>
        </p:spPr>
      </p:sp>
      <p:sp>
        <p:nvSpPr>
          <p:cNvPr id="45" name="Text 36"/>
          <p:cNvSpPr/>
          <p:nvPr/>
        </p:nvSpPr>
        <p:spPr>
          <a:xfrm>
            <a:off x="5303520" y="8686800"/>
            <a:ext cx="1005840" cy="841248"/>
          </a:xfrm>
          <a:prstGeom prst="rect">
            <a:avLst/>
          </a:prstGeom>
          <a:noFill/>
          <a:ln/>
        </p:spPr>
        <p:txBody>
          <a:bodyPr wrap="square" rtlCol="0" anchor="ctr"/>
          <a:lstStyle/>
          <a:p>
            <a:pPr marL="0" indent="0" algn="r" rtl="1">
              <a:lnSpc>
                <a:spcPct val="102900"/>
              </a:lnSpc>
              <a:buNone/>
            </a:pPr>
            <a:r>
              <a:rPr lang="ar-SA" altLang="en-US" sz="1180" b="1" dirty="0">
                <a:solidFill>
                  <a:srgbClr val="0B1B2B"/>
                </a:solidFill>
                <a:latin typeface="Arial" pitchFamily="34" charset="0"/>
                <a:ea typeface="Arial" pitchFamily="34" charset="-122"/>
                <a:cs typeface="Arial" pitchFamily="34" charset="-120"/>
              </a:rPr>
              <a:t>التعاون</a:t>
            </a:r>
            <a:endParaRPr lang="ar-SA" sz="1180" dirty="0"/>
          </a:p>
        </p:txBody>
      </p:sp>
      <p:sp>
        <p:nvSpPr>
          <p:cNvPr id="46" name="Text 37"/>
          <p:cNvSpPr/>
          <p:nvPr/>
        </p:nvSpPr>
        <p:spPr>
          <a:xfrm>
            <a:off x="685800" y="8668512"/>
            <a:ext cx="4343400" cy="877824"/>
          </a:xfrm>
          <a:prstGeom prst="rect">
            <a:avLst/>
          </a:prstGeom>
          <a:noFill/>
          <a:ln/>
        </p:spPr>
        <p:txBody>
          <a:bodyPr wrap="square" rtlCol="0" anchor="ctr"/>
          <a:lstStyle/>
          <a:p>
            <a:pPr marL="0" indent="0" algn="r" rtl="1">
              <a:lnSpc>
                <a:spcPct val="117600"/>
              </a:lnSpc>
              <a:buNone/>
            </a:pPr>
            <a:r>
              <a:rPr lang="ar-SA" altLang="en-US" sz="990" dirty="0">
                <a:solidFill>
                  <a:srgbClr val="2B2A27"/>
                </a:solidFill>
                <a:latin typeface="Arial" pitchFamily="34" charset="0"/>
                <a:ea typeface="Arial" pitchFamily="34" charset="-122"/>
                <a:cs typeface="Arial" pitchFamily="34" charset="-120"/>
              </a:rPr>
              <a:t>تمكين محوره الإنسان: نبني جنبًا إلى جنب مع فرق العملاء والكفاءات المحلية، وننقل القدرات بدل أن نخلق الاعتمادية.</a:t>
            </a:r>
            <a:endParaRPr lang="ar-SA" sz="990" dirty="0"/>
          </a:p>
        </p:txBody>
      </p:sp>
      <p:sp>
        <p:nvSpPr>
          <p:cNvPr id="47" name="Shape 38"/>
          <p:cNvSpPr/>
          <p:nvPr/>
        </p:nvSpPr>
        <p:spPr>
          <a:xfrm>
            <a:off x="502920" y="10186416"/>
            <a:ext cx="6556248" cy="0"/>
          </a:xfrm>
          <a:prstGeom prst="line">
            <a:avLst/>
          </a:prstGeom>
          <a:noFill/>
          <a:ln w="9525">
            <a:solidFill>
              <a:srgbClr val="E4DDCB"/>
            </a:solidFill>
            <a:prstDash val="solid"/>
          </a:ln>
        </p:spPr>
      </p:sp>
      <p:sp>
        <p:nvSpPr>
          <p:cNvPr id="48" name="Text 39"/>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49" name="Text 40"/>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21</a:t>
            </a:r>
            <a:endParaRPr lang="ar-SA"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20  •  الأداء المسؤول</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البيئة والمجتمع والحوكمة (ESG) والاستدامة</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الأداء المستدام ليس تمرينًا للامتثال، بل استراتيجية لقيمة الأصل. ونساعد على دمج الانضباط البيئي والاجتماعي وانضباط الحوكمة في النموذج التشغيلي نفسه.</a:t>
            </a:r>
            <a:endParaRPr lang="ar-SA" sz="1180" dirty="0"/>
          </a:p>
        </p:txBody>
      </p:sp>
      <p:sp>
        <p:nvSpPr>
          <p:cNvPr id="5" name="Shape 3"/>
          <p:cNvSpPr/>
          <p:nvPr/>
        </p:nvSpPr>
        <p:spPr>
          <a:xfrm>
            <a:off x="3895344" y="2103120"/>
            <a:ext cx="3163824" cy="2148840"/>
          </a:xfrm>
          <a:prstGeom prst="roundRect">
            <a:avLst>
              <a:gd name="adj" fmla="val 2553"/>
            </a:avLst>
          </a:prstGeom>
          <a:solidFill>
            <a:srgbClr val="FFFFFF"/>
          </a:solidFill>
          <a:ln w="9525">
            <a:solidFill>
              <a:srgbClr val="E4DDCB"/>
            </a:solidFill>
            <a:prstDash val="solid"/>
          </a:ln>
        </p:spPr>
      </p:sp>
      <p:sp>
        <p:nvSpPr>
          <p:cNvPr id="6" name="Shape 4"/>
          <p:cNvSpPr/>
          <p:nvPr/>
        </p:nvSpPr>
        <p:spPr>
          <a:xfrm>
            <a:off x="6455664" y="2304288"/>
            <a:ext cx="402336" cy="402336"/>
          </a:xfrm>
          <a:prstGeom prst="ellipse">
            <a:avLst/>
          </a:prstGeom>
          <a:solidFill>
            <a:srgbClr val="0F5C42"/>
          </a:solidFill>
          <a:ln/>
        </p:spPr>
      </p:sp>
      <p:pic>
        <p:nvPicPr>
          <p:cNvPr id="7" name="Image 0" descr="/home/claude/assets/icons/gavel.png"/>
          <p:cNvPicPr>
            <a:picLocks noChangeAspect="1"/>
          </p:cNvPicPr>
          <p:nvPr/>
        </p:nvPicPr>
        <p:blipFill>
          <a:blip r:embed="rId3"/>
          <a:stretch>
            <a:fillRect/>
          </a:stretch>
        </p:blipFill>
        <p:spPr>
          <a:xfrm>
            <a:off x="6552225" y="2400849"/>
            <a:ext cx="209215" cy="209215"/>
          </a:xfrm>
          <a:prstGeom prst="rect">
            <a:avLst/>
          </a:prstGeom>
        </p:spPr>
      </p:pic>
      <p:sp>
        <p:nvSpPr>
          <p:cNvPr id="8" name="Text 5"/>
          <p:cNvSpPr/>
          <p:nvPr/>
        </p:nvSpPr>
        <p:spPr>
          <a:xfrm>
            <a:off x="4096512"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الحوكمة</a:t>
            </a:r>
            <a:endParaRPr lang="ar-SA" sz="1290" dirty="0"/>
          </a:p>
        </p:txBody>
      </p:sp>
      <p:sp>
        <p:nvSpPr>
          <p:cNvPr id="9" name="Text 6"/>
          <p:cNvSpPr/>
          <p:nvPr/>
        </p:nvSpPr>
        <p:spPr>
          <a:xfrm>
            <a:off x="4096512" y="2688336"/>
            <a:ext cx="2761488" cy="15270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تقارير شفافة للمالك، ونزاهة اتفاقيات إدارة الفنادق (HMA) والمشتريات، وضوابط منع التسرّب المالي، وأطر تأكيد بمستوى مجلس الإدارة: بنية حوكمة تدعم الانضباط في إدارة رأس المال والسمعة معًا.</a:t>
            </a:r>
            <a:endParaRPr lang="ar-SA" sz="1000" dirty="0"/>
          </a:p>
        </p:txBody>
      </p:sp>
      <p:sp>
        <p:nvSpPr>
          <p:cNvPr id="10" name="Shape 7"/>
          <p:cNvSpPr/>
          <p:nvPr/>
        </p:nvSpPr>
        <p:spPr>
          <a:xfrm>
            <a:off x="502920" y="2103120"/>
            <a:ext cx="3163824" cy="2148840"/>
          </a:xfrm>
          <a:prstGeom prst="roundRect">
            <a:avLst>
              <a:gd name="adj" fmla="val 2553"/>
            </a:avLst>
          </a:prstGeom>
          <a:solidFill>
            <a:srgbClr val="FFFFFF"/>
          </a:solidFill>
          <a:ln w="9525">
            <a:solidFill>
              <a:srgbClr val="E4DDCB"/>
            </a:solidFill>
            <a:prstDash val="solid"/>
          </a:ln>
        </p:spPr>
      </p:sp>
      <p:sp>
        <p:nvSpPr>
          <p:cNvPr id="11" name="Shape 8"/>
          <p:cNvSpPr/>
          <p:nvPr/>
        </p:nvSpPr>
        <p:spPr>
          <a:xfrm>
            <a:off x="3063240" y="2304288"/>
            <a:ext cx="402336" cy="402336"/>
          </a:xfrm>
          <a:prstGeom prst="ellipse">
            <a:avLst/>
          </a:prstGeom>
          <a:solidFill>
            <a:srgbClr val="0F5C42"/>
          </a:solidFill>
          <a:ln/>
        </p:spPr>
      </p:sp>
      <p:pic>
        <p:nvPicPr>
          <p:cNvPr id="12" name="Image 1" descr="/home/claude/assets/icons/leaf.png"/>
          <p:cNvPicPr>
            <a:picLocks noChangeAspect="1"/>
          </p:cNvPicPr>
          <p:nvPr/>
        </p:nvPicPr>
        <p:blipFill>
          <a:blip r:embed="rId4"/>
          <a:stretch>
            <a:fillRect/>
          </a:stretch>
        </p:blipFill>
        <p:spPr>
          <a:xfrm>
            <a:off x="3159801" y="2400849"/>
            <a:ext cx="209215" cy="209215"/>
          </a:xfrm>
          <a:prstGeom prst="rect">
            <a:avLst/>
          </a:prstGeom>
        </p:spPr>
      </p:pic>
      <p:sp>
        <p:nvSpPr>
          <p:cNvPr id="13" name="Text 9"/>
          <p:cNvSpPr/>
          <p:nvPr/>
        </p:nvSpPr>
        <p:spPr>
          <a:xfrm>
            <a:off x="704088"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السياحة المسؤولة</a:t>
            </a:r>
            <a:endParaRPr lang="ar-SA" sz="1290" dirty="0"/>
          </a:p>
        </p:txBody>
      </p:sp>
      <p:sp>
        <p:nvSpPr>
          <p:cNvPr id="14" name="Text 10"/>
          <p:cNvSpPr/>
          <p:nvPr/>
        </p:nvSpPr>
        <p:spPr>
          <a:xfrm>
            <a:off x="704088" y="2688336"/>
            <a:ext cx="2761488" cy="15270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رعاية الوجهات بما يتوافق مع أجندة السياحة التجديدية في رؤية 2030: إدارة أثر الزوار، وحماية التراث، وتجارب نزلاء مصمَّمة لتعطي أكثر مما تأخذ.</a:t>
            </a:r>
            <a:endParaRPr lang="ar-SA" sz="1000" dirty="0"/>
          </a:p>
        </p:txBody>
      </p:sp>
      <p:sp>
        <p:nvSpPr>
          <p:cNvPr id="15" name="Shape 11"/>
          <p:cNvSpPr/>
          <p:nvPr/>
        </p:nvSpPr>
        <p:spPr>
          <a:xfrm>
            <a:off x="3895344" y="4480560"/>
            <a:ext cx="3163824" cy="2148840"/>
          </a:xfrm>
          <a:prstGeom prst="roundRect">
            <a:avLst>
              <a:gd name="adj" fmla="val 2553"/>
            </a:avLst>
          </a:prstGeom>
          <a:solidFill>
            <a:srgbClr val="FFFFFF"/>
          </a:solidFill>
          <a:ln w="9525">
            <a:solidFill>
              <a:srgbClr val="E4DDCB"/>
            </a:solidFill>
            <a:prstDash val="solid"/>
          </a:ln>
        </p:spPr>
      </p:sp>
      <p:sp>
        <p:nvSpPr>
          <p:cNvPr id="16" name="Shape 12"/>
          <p:cNvSpPr/>
          <p:nvPr/>
        </p:nvSpPr>
        <p:spPr>
          <a:xfrm>
            <a:off x="6455664" y="4681728"/>
            <a:ext cx="402336" cy="402336"/>
          </a:xfrm>
          <a:prstGeom prst="ellipse">
            <a:avLst/>
          </a:prstGeom>
          <a:solidFill>
            <a:srgbClr val="0F5C42"/>
          </a:solidFill>
          <a:ln/>
        </p:spPr>
      </p:sp>
      <p:pic>
        <p:nvPicPr>
          <p:cNvPr id="17" name="Image 2" descr="/home/claude/assets/icons/users.png"/>
          <p:cNvPicPr>
            <a:picLocks noChangeAspect="1"/>
          </p:cNvPicPr>
          <p:nvPr/>
        </p:nvPicPr>
        <p:blipFill>
          <a:blip r:embed="rId5"/>
          <a:stretch>
            <a:fillRect/>
          </a:stretch>
        </p:blipFill>
        <p:spPr>
          <a:xfrm>
            <a:off x="6552225" y="4778289"/>
            <a:ext cx="209215" cy="209215"/>
          </a:xfrm>
          <a:prstGeom prst="rect">
            <a:avLst/>
          </a:prstGeom>
        </p:spPr>
      </p:pic>
      <p:sp>
        <p:nvSpPr>
          <p:cNvPr id="18" name="Text 13"/>
          <p:cNvSpPr/>
          <p:nvPr/>
        </p:nvSpPr>
        <p:spPr>
          <a:xfrm>
            <a:off x="4096512" y="466344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المجتمع والكفاءات البشرية</a:t>
            </a:r>
            <a:endParaRPr lang="ar-SA" sz="1290" dirty="0"/>
          </a:p>
        </p:txBody>
      </p:sp>
      <p:sp>
        <p:nvSpPr>
          <p:cNvPr id="19" name="Text 14"/>
          <p:cNvSpPr/>
          <p:nvPr/>
        </p:nvSpPr>
        <p:spPr>
          <a:xfrm>
            <a:off x="4096512" y="5065776"/>
            <a:ext cx="2761488" cy="15270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استراتيجيات استقطاب المواهب التي تُقدّم التوطين أولًا، وتطوير الموردين المحليين، وبيئات عمل عادلة تحفظ الكرامة، ونقل منظّم للمعرفة يهدف إلى ترك المجتمعات أقوى مما وجدناها.</a:t>
            </a:r>
            <a:endParaRPr lang="ar-SA" sz="1000" dirty="0"/>
          </a:p>
        </p:txBody>
      </p:sp>
      <p:sp>
        <p:nvSpPr>
          <p:cNvPr id="20" name="Shape 15"/>
          <p:cNvSpPr/>
          <p:nvPr/>
        </p:nvSpPr>
        <p:spPr>
          <a:xfrm>
            <a:off x="502920" y="4480560"/>
            <a:ext cx="3163824" cy="2148840"/>
          </a:xfrm>
          <a:prstGeom prst="roundRect">
            <a:avLst>
              <a:gd name="adj" fmla="val 2553"/>
            </a:avLst>
          </a:prstGeom>
          <a:solidFill>
            <a:srgbClr val="FFFFFF"/>
          </a:solidFill>
          <a:ln w="9525">
            <a:solidFill>
              <a:srgbClr val="E4DDCB"/>
            </a:solidFill>
            <a:prstDash val="solid"/>
          </a:ln>
        </p:spPr>
      </p:sp>
      <p:sp>
        <p:nvSpPr>
          <p:cNvPr id="21" name="Shape 16"/>
          <p:cNvSpPr/>
          <p:nvPr/>
        </p:nvSpPr>
        <p:spPr>
          <a:xfrm>
            <a:off x="3063240" y="4681728"/>
            <a:ext cx="402336" cy="402336"/>
          </a:xfrm>
          <a:prstGeom prst="ellipse">
            <a:avLst/>
          </a:prstGeom>
          <a:solidFill>
            <a:srgbClr val="0F5C42"/>
          </a:solidFill>
          <a:ln/>
        </p:spPr>
      </p:sp>
      <p:pic>
        <p:nvPicPr>
          <p:cNvPr id="22" name="Image 3" descr="/home/claude/assets/icons/recycle.png"/>
          <p:cNvPicPr>
            <a:picLocks noChangeAspect="1"/>
          </p:cNvPicPr>
          <p:nvPr/>
        </p:nvPicPr>
        <p:blipFill>
          <a:blip r:embed="rId6"/>
          <a:stretch>
            <a:fillRect/>
          </a:stretch>
        </p:blipFill>
        <p:spPr>
          <a:xfrm>
            <a:off x="3159801" y="4778289"/>
            <a:ext cx="209215" cy="209215"/>
          </a:xfrm>
          <a:prstGeom prst="rect">
            <a:avLst/>
          </a:prstGeom>
        </p:spPr>
      </p:pic>
      <p:sp>
        <p:nvSpPr>
          <p:cNvPr id="23" name="Text 17"/>
          <p:cNvSpPr/>
          <p:nvPr/>
        </p:nvSpPr>
        <p:spPr>
          <a:xfrm>
            <a:off x="704088" y="466344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0B1B2B"/>
                </a:solidFill>
                <a:latin typeface="Arial" pitchFamily="34" charset="0"/>
                <a:ea typeface="Arial" pitchFamily="34" charset="-122"/>
                <a:cs typeface="Arial" pitchFamily="34" charset="-120"/>
              </a:rPr>
              <a:t>الاستدامة التشغيلية</a:t>
            </a:r>
            <a:endParaRPr lang="ar-SA" sz="1290" dirty="0"/>
          </a:p>
        </p:txBody>
      </p:sp>
      <p:sp>
        <p:nvSpPr>
          <p:cNvPr id="24" name="Text 18"/>
          <p:cNvSpPr/>
          <p:nvPr/>
        </p:nvSpPr>
        <p:spPr>
          <a:xfrm>
            <a:off x="704088" y="5065776"/>
            <a:ext cx="2761488" cy="1527048"/>
          </a:xfrm>
          <a:prstGeom prst="rect">
            <a:avLst/>
          </a:prstGeom>
          <a:noFill/>
          <a:ln/>
        </p:spPr>
        <p:txBody>
          <a:bodyPr wrap="square" rtlCol="0" anchor="t"/>
          <a:lstStyle/>
          <a:p>
            <a:pPr marL="0" indent="0" algn="r" rtl="1">
              <a:lnSpc>
                <a:spcPct val="113680"/>
              </a:lnSpc>
              <a:buNone/>
            </a:pPr>
            <a:r>
              <a:rPr lang="ar-SA" altLang="en-US" sz="1000" dirty="0">
                <a:solidFill>
                  <a:srgbClr val="6B675F"/>
                </a:solidFill>
                <a:latin typeface="Arial" pitchFamily="34" charset="0"/>
                <a:ea typeface="Arial" pitchFamily="34" charset="-122"/>
                <a:cs typeface="Arial" pitchFamily="34" charset="-120"/>
              </a:rPr>
              <a:t>كفاءة الطاقة والمياه والنفايات مدمجة في إجراءات التشغيل القياسية وخطط النفقات الرأسمالية: ذكاء المرافق وتكلفة دورة الحياة بما قد يقلّل البصمة البيئية مع دعم GOP.</a:t>
            </a:r>
            <a:endParaRPr lang="ar-SA" sz="1000" dirty="0"/>
          </a:p>
        </p:txBody>
      </p:sp>
      <p:pic>
        <p:nvPicPr>
          <p:cNvPr id="25" name="Image 4" descr="/home/claude/assets/monogram.png"/>
          <p:cNvPicPr>
            <a:picLocks noChangeAspect="1"/>
          </p:cNvPicPr>
          <p:nvPr/>
        </p:nvPicPr>
        <p:blipFill>
          <a:blip r:embed="rId7"/>
          <a:stretch>
            <a:fillRect/>
          </a:stretch>
        </p:blipFill>
        <p:spPr>
          <a:xfrm>
            <a:off x="3323844" y="7315200"/>
            <a:ext cx="914400" cy="781812"/>
          </a:xfrm>
          <a:prstGeom prst="rect">
            <a:avLst/>
          </a:prstGeom>
        </p:spPr>
      </p:pic>
      <p:sp>
        <p:nvSpPr>
          <p:cNvPr id="26" name="Text 19"/>
          <p:cNvSpPr/>
          <p:nvPr/>
        </p:nvSpPr>
        <p:spPr>
          <a:xfrm>
            <a:off x="502920" y="827532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الأصول التي تحترم وجهتها تميل إلى التفوّق على تلك التي تكتفي بشغل موقعها فيها.</a:t>
            </a:r>
            <a:endParaRPr lang="ar-SA" sz="1340" dirty="0"/>
          </a:p>
        </p:txBody>
      </p:sp>
      <p:sp>
        <p:nvSpPr>
          <p:cNvPr id="27" name="Shape 20"/>
          <p:cNvSpPr/>
          <p:nvPr/>
        </p:nvSpPr>
        <p:spPr>
          <a:xfrm>
            <a:off x="502920" y="10186416"/>
            <a:ext cx="6556248" cy="0"/>
          </a:xfrm>
          <a:prstGeom prst="line">
            <a:avLst/>
          </a:prstGeom>
          <a:noFill/>
          <a:ln w="9525">
            <a:solidFill>
              <a:srgbClr val="E4DDCB"/>
            </a:solidFill>
            <a:prstDash val="solid"/>
          </a:ln>
        </p:spPr>
      </p:sp>
      <p:sp>
        <p:nvSpPr>
          <p:cNvPr id="28" name="Text 21"/>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29" name="Text 22"/>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22</a:t>
            </a:r>
            <a:endParaRPr lang="ar-SA" sz="8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E4C98A"/>
                </a:solidFill>
                <a:latin typeface="Arial" pitchFamily="34" charset="0"/>
                <a:ea typeface="Arial" pitchFamily="34" charset="-122"/>
                <a:cs typeface="Arial" pitchFamily="34" charset="-120"/>
              </a:rPr>
              <a:t>21  •  طبقة الذكاء</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FFFFFF"/>
                </a:solidFill>
                <a:latin typeface="Arial" pitchFamily="34" charset="0"/>
                <a:ea typeface="Arial" pitchFamily="34" charset="-122"/>
                <a:cs typeface="Arial" pitchFamily="34" charset="-120"/>
              </a:rPr>
              <a:t>الرقمنة والذكاء الاصطناعي</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B9C3CC"/>
                </a:solidFill>
                <a:latin typeface="Arial" pitchFamily="34" charset="0"/>
                <a:ea typeface="Arial" pitchFamily="34" charset="-122"/>
                <a:cs typeface="Arial" pitchFamily="34" charset="-120"/>
              </a:rPr>
              <a:t>تأتي كل مهمة من Altus Gulf مزوَّدة بطبقة ذكاء: أدوات القياس التي تحوّل العمليات إلى أدلة، والأدلة إلى ميزة تنافسية.</a:t>
            </a:r>
            <a:endParaRPr lang="ar-SA" sz="1180" dirty="0"/>
          </a:p>
        </p:txBody>
      </p:sp>
      <p:sp>
        <p:nvSpPr>
          <p:cNvPr id="5" name="Shape 3"/>
          <p:cNvSpPr/>
          <p:nvPr/>
        </p:nvSpPr>
        <p:spPr>
          <a:xfrm>
            <a:off x="3895344" y="2103120"/>
            <a:ext cx="3163824" cy="1463040"/>
          </a:xfrm>
          <a:prstGeom prst="roundRect">
            <a:avLst>
              <a:gd name="adj" fmla="val 3750"/>
            </a:avLst>
          </a:prstGeom>
          <a:solidFill>
            <a:srgbClr val="13273A"/>
          </a:solidFill>
          <a:ln w="9525">
            <a:solidFill>
              <a:srgbClr val="2A3B4C"/>
            </a:solidFill>
            <a:prstDash val="solid"/>
          </a:ln>
        </p:spPr>
      </p:sp>
      <p:sp>
        <p:nvSpPr>
          <p:cNvPr id="6" name="Shape 4"/>
          <p:cNvSpPr/>
          <p:nvPr/>
        </p:nvSpPr>
        <p:spPr>
          <a:xfrm>
            <a:off x="6455664" y="2304288"/>
            <a:ext cx="402336" cy="402336"/>
          </a:xfrm>
          <a:prstGeom prst="ellipse">
            <a:avLst/>
          </a:prstGeom>
          <a:solidFill>
            <a:srgbClr val="C9A15A"/>
          </a:solidFill>
          <a:ln/>
        </p:spPr>
      </p:sp>
      <p:pic>
        <p:nvPicPr>
          <p:cNvPr id="7" name="Image 0" descr="/home/claude/assets/icons/chartbar.png"/>
          <p:cNvPicPr>
            <a:picLocks noChangeAspect="1"/>
          </p:cNvPicPr>
          <p:nvPr/>
        </p:nvPicPr>
        <p:blipFill>
          <a:blip r:embed="rId3"/>
          <a:stretch>
            <a:fillRect/>
          </a:stretch>
        </p:blipFill>
        <p:spPr>
          <a:xfrm>
            <a:off x="6552225" y="2400849"/>
            <a:ext cx="209215" cy="209215"/>
          </a:xfrm>
          <a:prstGeom prst="rect">
            <a:avLst/>
          </a:prstGeom>
        </p:spPr>
      </p:pic>
      <p:sp>
        <p:nvSpPr>
          <p:cNvPr id="8" name="Text 5"/>
          <p:cNvSpPr/>
          <p:nvPr/>
        </p:nvSpPr>
        <p:spPr>
          <a:xfrm>
            <a:off x="4096512"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ذكاء الأعمال</a:t>
            </a:r>
            <a:endParaRPr lang="ar-SA" sz="1290" dirty="0"/>
          </a:p>
        </p:txBody>
      </p:sp>
      <p:sp>
        <p:nvSpPr>
          <p:cNvPr id="9" name="Text 6"/>
          <p:cNvSpPr/>
          <p:nvPr/>
        </p:nvSpPr>
        <p:spPr>
          <a:xfrm>
            <a:off x="4096512" y="268833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مصدر واحد للحقيقة عبر بيانات PMS وPOS والقنوات والبيانات المالية: موحَّدة ومنقّاة وجاهزة لاتخاذ القرار.</a:t>
            </a:r>
            <a:endParaRPr lang="ar-SA" sz="1000" dirty="0"/>
          </a:p>
        </p:txBody>
      </p:sp>
      <p:sp>
        <p:nvSpPr>
          <p:cNvPr id="10" name="Shape 7"/>
          <p:cNvSpPr/>
          <p:nvPr/>
        </p:nvSpPr>
        <p:spPr>
          <a:xfrm>
            <a:off x="502920" y="2103120"/>
            <a:ext cx="3163824" cy="1463040"/>
          </a:xfrm>
          <a:prstGeom prst="roundRect">
            <a:avLst>
              <a:gd name="adj" fmla="val 3750"/>
            </a:avLst>
          </a:prstGeom>
          <a:solidFill>
            <a:srgbClr val="13273A"/>
          </a:solidFill>
          <a:ln w="9525">
            <a:solidFill>
              <a:srgbClr val="2A3B4C"/>
            </a:solidFill>
            <a:prstDash val="solid"/>
          </a:ln>
        </p:spPr>
      </p:sp>
      <p:sp>
        <p:nvSpPr>
          <p:cNvPr id="11" name="Shape 8"/>
          <p:cNvSpPr/>
          <p:nvPr/>
        </p:nvSpPr>
        <p:spPr>
          <a:xfrm>
            <a:off x="3063240" y="2304288"/>
            <a:ext cx="402336" cy="402336"/>
          </a:xfrm>
          <a:prstGeom prst="ellipse">
            <a:avLst/>
          </a:prstGeom>
          <a:solidFill>
            <a:srgbClr val="C9A15A"/>
          </a:solidFill>
          <a:ln/>
        </p:spPr>
      </p:sp>
      <p:pic>
        <p:nvPicPr>
          <p:cNvPr id="12" name="Image 1" descr="/home/claude/assets/icons/tachometer.png"/>
          <p:cNvPicPr>
            <a:picLocks noChangeAspect="1"/>
          </p:cNvPicPr>
          <p:nvPr/>
        </p:nvPicPr>
        <p:blipFill>
          <a:blip r:embed="rId4"/>
          <a:stretch>
            <a:fillRect/>
          </a:stretch>
        </p:blipFill>
        <p:spPr>
          <a:xfrm>
            <a:off x="3159801" y="2400849"/>
            <a:ext cx="209215" cy="209215"/>
          </a:xfrm>
          <a:prstGeom prst="rect">
            <a:avLst/>
          </a:prstGeom>
        </p:spPr>
      </p:pic>
      <p:sp>
        <p:nvSpPr>
          <p:cNvPr id="13" name="Text 9"/>
          <p:cNvSpPr/>
          <p:nvPr/>
        </p:nvSpPr>
        <p:spPr>
          <a:xfrm>
            <a:off x="704088" y="228600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لوحات المتابعة التنفيذية</a:t>
            </a:r>
            <a:endParaRPr lang="ar-SA" sz="1290" dirty="0"/>
          </a:p>
        </p:txBody>
      </p:sp>
      <p:sp>
        <p:nvSpPr>
          <p:cNvPr id="14" name="Text 10"/>
          <p:cNvSpPr/>
          <p:nvPr/>
        </p:nvSpPr>
        <p:spPr>
          <a:xfrm>
            <a:off x="704088" y="268833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لوحات بمستوى المالك ومجلس الإدارة: RevPAR وGOPPAR والحجوزات المُضافة (pickup) وانطباعات النزلاء وإنتاجية الرواتب في عرض مباشر واحد.</a:t>
            </a:r>
            <a:endParaRPr lang="ar-SA" sz="1000" dirty="0"/>
          </a:p>
        </p:txBody>
      </p:sp>
      <p:sp>
        <p:nvSpPr>
          <p:cNvPr id="15" name="Shape 11"/>
          <p:cNvSpPr/>
          <p:nvPr/>
        </p:nvSpPr>
        <p:spPr>
          <a:xfrm>
            <a:off x="3895344" y="3749040"/>
            <a:ext cx="3163824" cy="1463040"/>
          </a:xfrm>
          <a:prstGeom prst="roundRect">
            <a:avLst>
              <a:gd name="adj" fmla="val 3750"/>
            </a:avLst>
          </a:prstGeom>
          <a:solidFill>
            <a:srgbClr val="13273A"/>
          </a:solidFill>
          <a:ln w="9525">
            <a:solidFill>
              <a:srgbClr val="2A3B4C"/>
            </a:solidFill>
            <a:prstDash val="solid"/>
          </a:ln>
        </p:spPr>
      </p:sp>
      <p:sp>
        <p:nvSpPr>
          <p:cNvPr id="16" name="Shape 12"/>
          <p:cNvSpPr/>
          <p:nvPr/>
        </p:nvSpPr>
        <p:spPr>
          <a:xfrm>
            <a:off x="6455664" y="3950208"/>
            <a:ext cx="402336" cy="402336"/>
          </a:xfrm>
          <a:prstGeom prst="ellipse">
            <a:avLst/>
          </a:prstGeom>
          <a:solidFill>
            <a:srgbClr val="C9A15A"/>
          </a:solidFill>
          <a:ln/>
        </p:spPr>
      </p:sp>
      <p:pic>
        <p:nvPicPr>
          <p:cNvPr id="17" name="Image 2" descr="/home/claude/assets/icons/robot.png"/>
          <p:cNvPicPr>
            <a:picLocks noChangeAspect="1"/>
          </p:cNvPicPr>
          <p:nvPr/>
        </p:nvPicPr>
        <p:blipFill>
          <a:blip r:embed="rId5"/>
          <a:stretch>
            <a:fillRect/>
          </a:stretch>
        </p:blipFill>
        <p:spPr>
          <a:xfrm>
            <a:off x="6552225" y="4046769"/>
            <a:ext cx="209215" cy="209215"/>
          </a:xfrm>
          <a:prstGeom prst="rect">
            <a:avLst/>
          </a:prstGeom>
        </p:spPr>
      </p:pic>
      <p:sp>
        <p:nvSpPr>
          <p:cNvPr id="18" name="Text 13"/>
          <p:cNvSpPr/>
          <p:nvPr/>
        </p:nvSpPr>
        <p:spPr>
          <a:xfrm>
            <a:off x="4096512" y="393192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الذكاء الاصطناعي التطبيقي</a:t>
            </a:r>
            <a:endParaRPr lang="ar-SA" sz="1290" dirty="0"/>
          </a:p>
        </p:txBody>
      </p:sp>
      <p:sp>
        <p:nvSpPr>
          <p:cNvPr id="19" name="Text 14"/>
          <p:cNvSpPr/>
          <p:nvPr/>
        </p:nvSpPr>
        <p:spPr>
          <a:xfrm>
            <a:off x="4096512" y="433425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مصفوفات التسعير الديناميكي، وإدارة العائد التنبؤية، والتنبؤ بالطلب، وخرائط طريق الجاهزية للذكاء الاصطناعي تُنفَّذ على مراحل.</a:t>
            </a:r>
            <a:endParaRPr lang="ar-SA" sz="1000" dirty="0"/>
          </a:p>
        </p:txBody>
      </p:sp>
      <p:sp>
        <p:nvSpPr>
          <p:cNvPr id="20" name="Shape 15"/>
          <p:cNvSpPr/>
          <p:nvPr/>
        </p:nvSpPr>
        <p:spPr>
          <a:xfrm>
            <a:off x="502920" y="3749040"/>
            <a:ext cx="3163824" cy="1463040"/>
          </a:xfrm>
          <a:prstGeom prst="roundRect">
            <a:avLst>
              <a:gd name="adj" fmla="val 3750"/>
            </a:avLst>
          </a:prstGeom>
          <a:solidFill>
            <a:srgbClr val="13273A"/>
          </a:solidFill>
          <a:ln w="9525">
            <a:solidFill>
              <a:srgbClr val="2A3B4C"/>
            </a:solidFill>
            <a:prstDash val="solid"/>
          </a:ln>
        </p:spPr>
      </p:sp>
      <p:sp>
        <p:nvSpPr>
          <p:cNvPr id="21" name="Shape 16"/>
          <p:cNvSpPr/>
          <p:nvPr/>
        </p:nvSpPr>
        <p:spPr>
          <a:xfrm>
            <a:off x="3063240" y="3950208"/>
            <a:ext cx="402336" cy="402336"/>
          </a:xfrm>
          <a:prstGeom prst="ellipse">
            <a:avLst/>
          </a:prstGeom>
          <a:solidFill>
            <a:srgbClr val="C9A15A"/>
          </a:solidFill>
          <a:ln/>
        </p:spPr>
      </p:sp>
      <p:pic>
        <p:nvPicPr>
          <p:cNvPr id="22" name="Image 3" descr="/home/claude/assets/icons/database.png"/>
          <p:cNvPicPr>
            <a:picLocks noChangeAspect="1"/>
          </p:cNvPicPr>
          <p:nvPr/>
        </p:nvPicPr>
        <p:blipFill>
          <a:blip r:embed="rId6"/>
          <a:stretch>
            <a:fillRect/>
          </a:stretch>
        </p:blipFill>
        <p:spPr>
          <a:xfrm>
            <a:off x="3159801" y="4046769"/>
            <a:ext cx="209215" cy="209215"/>
          </a:xfrm>
          <a:prstGeom prst="rect">
            <a:avLst/>
          </a:prstGeom>
        </p:spPr>
      </p:pic>
      <p:sp>
        <p:nvSpPr>
          <p:cNvPr id="23" name="Text 17"/>
          <p:cNvSpPr/>
          <p:nvPr/>
        </p:nvSpPr>
        <p:spPr>
          <a:xfrm>
            <a:off x="704088" y="393192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التحليلات المتقدمة</a:t>
            </a:r>
            <a:endParaRPr lang="ar-SA" sz="1290" dirty="0"/>
          </a:p>
        </p:txBody>
      </p:sp>
      <p:sp>
        <p:nvSpPr>
          <p:cNvPr id="24" name="Text 18"/>
          <p:cNvSpPr/>
          <p:nvPr/>
        </p:nvSpPr>
        <p:spPr>
          <a:xfrm>
            <a:off x="704088" y="433425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اقتصاديات القنوات، وتحليل انطباعات النزلاء، وتحليل محرّكات التكلفة، ونمذجة السيناريوهات لقرارات رأس المال.</a:t>
            </a:r>
            <a:endParaRPr lang="ar-SA" sz="1000" dirty="0"/>
          </a:p>
        </p:txBody>
      </p:sp>
      <p:sp>
        <p:nvSpPr>
          <p:cNvPr id="25" name="Shape 19"/>
          <p:cNvSpPr/>
          <p:nvPr/>
        </p:nvSpPr>
        <p:spPr>
          <a:xfrm>
            <a:off x="3895344" y="5394960"/>
            <a:ext cx="3163824" cy="1463040"/>
          </a:xfrm>
          <a:prstGeom prst="roundRect">
            <a:avLst>
              <a:gd name="adj" fmla="val 3750"/>
            </a:avLst>
          </a:prstGeom>
          <a:solidFill>
            <a:srgbClr val="13273A"/>
          </a:solidFill>
          <a:ln w="9525">
            <a:solidFill>
              <a:srgbClr val="2A3B4C"/>
            </a:solidFill>
            <a:prstDash val="solid"/>
          </a:ln>
        </p:spPr>
      </p:sp>
      <p:sp>
        <p:nvSpPr>
          <p:cNvPr id="26" name="Shape 20"/>
          <p:cNvSpPr/>
          <p:nvPr/>
        </p:nvSpPr>
        <p:spPr>
          <a:xfrm>
            <a:off x="6455664" y="5596128"/>
            <a:ext cx="402336" cy="402336"/>
          </a:xfrm>
          <a:prstGeom prst="ellipse">
            <a:avLst/>
          </a:prstGeom>
          <a:solidFill>
            <a:srgbClr val="C9A15A"/>
          </a:solidFill>
          <a:ln/>
        </p:spPr>
      </p:sp>
      <p:pic>
        <p:nvPicPr>
          <p:cNvPr id="27" name="Image 4" descr="/home/claude/assets/icons/eye.png"/>
          <p:cNvPicPr>
            <a:picLocks noChangeAspect="1"/>
          </p:cNvPicPr>
          <p:nvPr/>
        </p:nvPicPr>
        <p:blipFill>
          <a:blip r:embed="rId7"/>
          <a:stretch>
            <a:fillRect/>
          </a:stretch>
        </p:blipFill>
        <p:spPr>
          <a:xfrm>
            <a:off x="6552225" y="5692689"/>
            <a:ext cx="209215" cy="209215"/>
          </a:xfrm>
          <a:prstGeom prst="rect">
            <a:avLst/>
          </a:prstGeom>
        </p:spPr>
      </p:pic>
      <p:sp>
        <p:nvSpPr>
          <p:cNvPr id="28" name="Text 21"/>
          <p:cNvSpPr/>
          <p:nvPr/>
        </p:nvSpPr>
        <p:spPr>
          <a:xfrm>
            <a:off x="4096512" y="557784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متابعة الأداء</a:t>
            </a:r>
            <a:endParaRPr lang="ar-SA" sz="1290" dirty="0"/>
          </a:p>
        </p:txBody>
      </p:sp>
      <p:sp>
        <p:nvSpPr>
          <p:cNvPr id="29" name="Text 22"/>
          <p:cNvSpPr/>
          <p:nvPr/>
        </p:nvSpPr>
        <p:spPr>
          <a:xfrm>
            <a:off x="4096512" y="598017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قياس مستمر لمؤشرات الأداء الرئيسية (KPI) مع تنبيهات: تظهر الانحرافات خلال أيام، لا في مراجعات نهاية الشهر المتأخرة.</a:t>
            </a:r>
            <a:endParaRPr lang="ar-SA" sz="1000" dirty="0"/>
          </a:p>
        </p:txBody>
      </p:sp>
      <p:sp>
        <p:nvSpPr>
          <p:cNvPr id="30" name="Shape 23"/>
          <p:cNvSpPr/>
          <p:nvPr/>
        </p:nvSpPr>
        <p:spPr>
          <a:xfrm>
            <a:off x="502920" y="5394960"/>
            <a:ext cx="3163824" cy="1463040"/>
          </a:xfrm>
          <a:prstGeom prst="roundRect">
            <a:avLst>
              <a:gd name="adj" fmla="val 3750"/>
            </a:avLst>
          </a:prstGeom>
          <a:solidFill>
            <a:srgbClr val="13273A"/>
          </a:solidFill>
          <a:ln w="9525">
            <a:solidFill>
              <a:srgbClr val="2A3B4C"/>
            </a:solidFill>
            <a:prstDash val="solid"/>
          </a:ln>
        </p:spPr>
      </p:sp>
      <p:sp>
        <p:nvSpPr>
          <p:cNvPr id="31" name="Shape 24"/>
          <p:cNvSpPr/>
          <p:nvPr/>
        </p:nvSpPr>
        <p:spPr>
          <a:xfrm>
            <a:off x="3063240" y="5596128"/>
            <a:ext cx="402336" cy="402336"/>
          </a:xfrm>
          <a:prstGeom prst="ellipse">
            <a:avLst/>
          </a:prstGeom>
          <a:solidFill>
            <a:srgbClr val="C9A15A"/>
          </a:solidFill>
          <a:ln/>
        </p:spPr>
      </p:sp>
      <p:pic>
        <p:nvPicPr>
          <p:cNvPr id="32" name="Image 5" descr="/home/claude/assets/icons/rocket.png"/>
          <p:cNvPicPr>
            <a:picLocks noChangeAspect="1"/>
          </p:cNvPicPr>
          <p:nvPr/>
        </p:nvPicPr>
        <p:blipFill>
          <a:blip r:embed="rId8"/>
          <a:stretch>
            <a:fillRect/>
          </a:stretch>
        </p:blipFill>
        <p:spPr>
          <a:xfrm>
            <a:off x="3159801" y="5692689"/>
            <a:ext cx="209215" cy="209215"/>
          </a:xfrm>
          <a:prstGeom prst="rect">
            <a:avLst/>
          </a:prstGeom>
        </p:spPr>
      </p:pic>
      <p:sp>
        <p:nvSpPr>
          <p:cNvPr id="33" name="Text 25"/>
          <p:cNvSpPr/>
          <p:nvPr/>
        </p:nvSpPr>
        <p:spPr>
          <a:xfrm>
            <a:off x="704088" y="5577840"/>
            <a:ext cx="2194560" cy="292608"/>
          </a:xfrm>
          <a:prstGeom prst="rect">
            <a:avLst/>
          </a:prstGeom>
          <a:noFill/>
          <a:ln/>
        </p:spPr>
        <p:txBody>
          <a:bodyPr wrap="square" rtlCol="0" anchor="t"/>
          <a:lstStyle/>
          <a:p>
            <a:pPr marL="0" indent="0" algn="r" rtl="1">
              <a:lnSpc>
                <a:spcPct val="105840"/>
              </a:lnSpc>
              <a:buNone/>
            </a:pPr>
            <a:r>
              <a:rPr lang="ar-SA" altLang="en-US" sz="1290" b="1" dirty="0">
                <a:solidFill>
                  <a:srgbClr val="FFFFFF"/>
                </a:solidFill>
                <a:latin typeface="Arial" pitchFamily="34" charset="0"/>
                <a:ea typeface="Arial" pitchFamily="34" charset="-122"/>
                <a:cs typeface="Arial" pitchFamily="34" charset="-120"/>
              </a:rPr>
              <a:t>التحول الرقمي (Digital Transformation)</a:t>
            </a:r>
            <a:endParaRPr lang="ar-SA" sz="1290" dirty="0"/>
          </a:p>
        </p:txBody>
      </p:sp>
      <p:sp>
        <p:nvSpPr>
          <p:cNvPr id="34" name="Text 26"/>
          <p:cNvSpPr/>
          <p:nvPr/>
        </p:nvSpPr>
        <p:spPr>
          <a:xfrm>
            <a:off x="704088" y="5980176"/>
            <a:ext cx="2761488" cy="841248"/>
          </a:xfrm>
          <a:prstGeom prst="rect">
            <a:avLst/>
          </a:prstGeom>
          <a:noFill/>
          <a:ln/>
        </p:spPr>
        <p:txBody>
          <a:bodyPr wrap="square" rtlCol="0" anchor="t"/>
          <a:lstStyle/>
          <a:p>
            <a:pPr marL="0" indent="0" algn="r" rtl="1">
              <a:lnSpc>
                <a:spcPct val="113680"/>
              </a:lnSpc>
              <a:buNone/>
            </a:pPr>
            <a:r>
              <a:rPr lang="ar-SA" altLang="en-US" sz="1000" dirty="0">
                <a:solidFill>
                  <a:srgbClr val="B9C3CC"/>
                </a:solidFill>
                <a:latin typeface="Arial" pitchFamily="34" charset="0"/>
                <a:ea typeface="Arial" pitchFamily="34" charset="-122"/>
                <a:cs typeface="Arial" pitchFamily="34" charset="-120"/>
              </a:rPr>
              <a:t>بنية إدارة علاقات العملاء (CRM)، والانتقال إلى السحابة، ومخططات تقنية متكاملة تساعد على خفض تكاليف تقنية المعلومات على المدى البعيد.</a:t>
            </a:r>
            <a:endParaRPr lang="ar-SA" sz="1000" dirty="0"/>
          </a:p>
        </p:txBody>
      </p:sp>
      <p:sp>
        <p:nvSpPr>
          <p:cNvPr id="35" name="Shape 27"/>
          <p:cNvSpPr/>
          <p:nvPr/>
        </p:nvSpPr>
        <p:spPr>
          <a:xfrm>
            <a:off x="502920" y="7178040"/>
            <a:ext cx="6556248" cy="777240"/>
          </a:xfrm>
          <a:prstGeom prst="roundRect">
            <a:avLst>
              <a:gd name="adj" fmla="val 5882"/>
            </a:avLst>
          </a:prstGeom>
          <a:ln w="12700">
            <a:solidFill>
              <a:srgbClr val="C1501D"/>
            </a:solidFill>
            <a:prstDash val="solid"/>
          </a:ln>
        </p:spPr>
      </p:sp>
      <p:sp>
        <p:nvSpPr>
          <p:cNvPr id="36" name="Text 28"/>
          <p:cNvSpPr/>
          <p:nvPr/>
        </p:nvSpPr>
        <p:spPr>
          <a:xfrm>
            <a:off x="758952" y="7269480"/>
            <a:ext cx="6044184" cy="594360"/>
          </a:xfrm>
          <a:prstGeom prst="rect">
            <a:avLst/>
          </a:prstGeom>
          <a:noFill/>
          <a:ln/>
        </p:spPr>
        <p:txBody>
          <a:bodyPr wrap="square" rtlCol="0" anchor="ctr"/>
          <a:lstStyle/>
          <a:p>
            <a:pPr marL="0" indent="0" algn="r" rtl="1">
              <a:lnSpc>
                <a:spcPct val="119560"/>
              </a:lnSpc>
              <a:buNone/>
            </a:pPr>
            <a:r>
              <a:rPr lang="ar-SA" altLang="en-US" sz="1080" b="1" dirty="0">
                <a:solidFill>
                  <a:srgbClr val="E4C98A"/>
                </a:solidFill>
                <a:latin typeface="Arial" pitchFamily="34" charset="0"/>
                <a:ea typeface="Arial" pitchFamily="34" charset="-122"/>
                <a:cs typeface="Arial" pitchFamily="34" charset="-120"/>
              </a:rPr>
              <a:t>المنتج الرئيسي: </a:t>
            </a:r>
            <a:r>
              <a:rPr lang="ar-SA" altLang="en-US" sz="1080" dirty="0">
                <a:solidFill>
                  <a:srgbClr val="FFFFFF"/>
                </a:solidFill>
                <a:latin typeface="Arial" pitchFamily="34" charset="0"/>
                <a:ea typeface="Arial" pitchFamily="34" charset="-122"/>
                <a:cs typeface="Arial" pitchFamily="34" charset="-120"/>
              </a:rPr>
              <a:t>منصة Altus Gulf للمعرفة والأداء في قطاع الضيافة</a:t>
            </a:r>
            <a:r>
              <a:rPr lang="ar-SA" altLang="en-US" sz="1080" dirty="0">
                <a:solidFill>
                  <a:srgbClr val="B9C3CC"/>
                </a:solidFill>
                <a:latin typeface="Arial" pitchFamily="34" charset="0"/>
                <a:ea typeface="Arial" pitchFamily="34" charset="-122"/>
                <a:cs typeface="Arial" pitchFamily="34" charset="-120"/>
              </a:rPr>
              <a:t>، المنصة التي ترسّخ طبقة الذكاء هذه داخل كل منشأة لدى العملاء (الصفحتان 08 و09).</a:t>
            </a:r>
            <a:endParaRPr lang="ar-SA" sz="1080" dirty="0"/>
          </a:p>
        </p:txBody>
      </p:sp>
      <p:sp>
        <p:nvSpPr>
          <p:cNvPr id="37" name="Text 29"/>
          <p:cNvSpPr/>
          <p:nvPr/>
        </p:nvSpPr>
        <p:spPr>
          <a:xfrm>
            <a:off x="502920" y="813816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E4C98A"/>
                </a:solidFill>
                <a:latin typeface="Arial" pitchFamily="34" charset="0"/>
                <a:ea typeface="Arial" pitchFamily="34" charset="-122"/>
                <a:cs typeface="Arial" pitchFamily="34" charset="-120"/>
              </a:rPr>
              <a:t>من الحدس إلى الحقيقة الميدانية: نستبدل الحدس بالتحليلات التجريبية، عن قصد وفي كل مكان.</a:t>
            </a:r>
            <a:endParaRPr lang="ar-SA" sz="1340" dirty="0"/>
          </a:p>
        </p:txBody>
      </p:sp>
      <p:sp>
        <p:nvSpPr>
          <p:cNvPr id="38" name="Shape 30"/>
          <p:cNvSpPr/>
          <p:nvPr/>
        </p:nvSpPr>
        <p:spPr>
          <a:xfrm>
            <a:off x="502920" y="10186416"/>
            <a:ext cx="6556248" cy="0"/>
          </a:xfrm>
          <a:prstGeom prst="line">
            <a:avLst/>
          </a:prstGeom>
          <a:noFill/>
          <a:ln w="9525">
            <a:solidFill>
              <a:srgbClr val="2A3B4C"/>
            </a:solidFill>
            <a:prstDash val="solid"/>
          </a:ln>
        </p:spPr>
      </p:sp>
      <p:sp>
        <p:nvSpPr>
          <p:cNvPr id="39" name="Text 31"/>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B9C3CC"/>
                </a:solidFill>
                <a:latin typeface="Arial" pitchFamily="34" charset="0"/>
                <a:ea typeface="Arial" pitchFamily="34" charset="-122"/>
                <a:cs typeface="Arial" pitchFamily="34" charset="-120"/>
              </a:rPr>
              <a:t>Altus Gulf</a:t>
            </a:r>
            <a:endParaRPr lang="en-US" sz="850" dirty="0"/>
          </a:p>
        </p:txBody>
      </p:sp>
      <p:sp>
        <p:nvSpPr>
          <p:cNvPr id="40" name="Text 32"/>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B9C3CC"/>
                </a:solidFill>
                <a:latin typeface="Arial" pitchFamily="34" charset="0"/>
                <a:ea typeface="Arial" pitchFamily="34" charset="-122"/>
                <a:cs typeface="Arial" pitchFamily="34" charset="-120"/>
              </a:rPr>
              <a:t>الملف التعريفي للشركة  •  23</a:t>
            </a:r>
            <a:endParaRPr lang="ar-SA" sz="8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r" rtl="1">
              <a:lnSpc>
                <a:spcPct val="98000"/>
              </a:lnSpc>
              <a:buNone/>
            </a:pPr>
            <a:r>
              <a:rPr lang="ar-SA" altLang="en-US" sz="1080" b="1" dirty="0">
                <a:solidFill>
                  <a:srgbClr val="C1501D"/>
                </a:solidFill>
                <a:latin typeface="Arial" pitchFamily="34" charset="0"/>
                <a:ea typeface="Arial" pitchFamily="34" charset="-122"/>
                <a:cs typeface="Arial" pitchFamily="34" charset="-120"/>
              </a:rPr>
              <a:t>22  •  القرار في صفحة واحدة</a:t>
            </a:r>
            <a:endParaRPr lang="ar-SA" sz="1080" dirty="0"/>
          </a:p>
        </p:txBody>
      </p:sp>
      <p:sp>
        <p:nvSpPr>
          <p:cNvPr id="3" name="Text 1"/>
          <p:cNvSpPr/>
          <p:nvPr/>
        </p:nvSpPr>
        <p:spPr>
          <a:xfrm>
            <a:off x="502920" y="749808"/>
            <a:ext cx="6556248" cy="502920"/>
          </a:xfrm>
          <a:prstGeom prst="rect">
            <a:avLst/>
          </a:prstGeom>
          <a:noFill/>
          <a:ln/>
        </p:spPr>
        <p:txBody>
          <a:bodyPr wrap="square" rtlCol="0" anchor="ctr"/>
          <a:lstStyle/>
          <a:p>
            <a:pPr marL="0" indent="0" algn="r" rtl="1">
              <a:lnSpc>
                <a:spcPct val="98000"/>
              </a:lnSpc>
              <a:buNone/>
            </a:pPr>
            <a:r>
              <a:rPr lang="ar-SA" altLang="en-US" sz="2780" dirty="0">
                <a:solidFill>
                  <a:srgbClr val="0B1B2B"/>
                </a:solidFill>
                <a:latin typeface="Arial" pitchFamily="34" charset="0"/>
                <a:ea typeface="Arial" pitchFamily="34" charset="-122"/>
                <a:cs typeface="Arial" pitchFamily="34" charset="-120"/>
              </a:rPr>
              <a:t>لماذا يختار العملاء Altus Gulf</a:t>
            </a:r>
            <a:endParaRPr lang="ar-SA" sz="2780" dirty="0"/>
          </a:p>
        </p:txBody>
      </p:sp>
      <p:sp>
        <p:nvSpPr>
          <p:cNvPr id="4" name="Text 2"/>
          <p:cNvSpPr/>
          <p:nvPr/>
        </p:nvSpPr>
        <p:spPr>
          <a:xfrm>
            <a:off x="502920" y="1280160"/>
            <a:ext cx="6556248" cy="566928"/>
          </a:xfrm>
          <a:prstGeom prst="rect">
            <a:avLst/>
          </a:prstGeom>
          <a:noFill/>
          <a:ln/>
        </p:spPr>
        <p:txBody>
          <a:bodyPr wrap="square" rtlCol="0" anchor="t"/>
          <a:lstStyle/>
          <a:p>
            <a:pPr marL="0" indent="0" algn="r" rtl="1">
              <a:lnSpc>
                <a:spcPct val="115640"/>
              </a:lnSpc>
              <a:buNone/>
            </a:pPr>
            <a:r>
              <a:rPr lang="ar-SA" altLang="en-US" sz="1180" dirty="0">
                <a:solidFill>
                  <a:srgbClr val="6B675F"/>
                </a:solidFill>
                <a:latin typeface="Arial" pitchFamily="34" charset="0"/>
                <a:ea typeface="Arial" pitchFamily="34" charset="-122"/>
                <a:cs typeface="Arial" pitchFamily="34" charset="-120"/>
              </a:rPr>
              <a:t>مقارنة صريحة: كيف يختلف نموذج Altus Gulf عن الارتباطات الاستشارية التقليدية، بُعدًا بعد بُعد.</a:t>
            </a:r>
            <a:endParaRPr lang="ar-SA" sz="118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556248" cy="4937760"/>
        </p:xfrm>
        <a:graphic>
          <a:graphicData uri="http://schemas.openxmlformats.org/drawingml/2006/table">
            <a:tbl>
              <a:tblPr/>
              <a:tblGrid>
                <a:gridCol w="2889504">
                  <a:extLst>
                    <a:ext uri="{9D8B030D-6E8A-4147-A177-3AD203B41FA5}">
                      <a16:colId xmlns:a16="http://schemas.microsoft.com/office/drawing/2014/main" val="20000"/>
                    </a:ext>
                  </a:extLst>
                </a:gridCol>
                <a:gridCol w="2432304">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93776">
                <a:tc>
                  <a:txBody>
                    <a:bodyPr/>
                    <a:lstStyle/>
                    <a:p>
                      <a:pPr marL="0" indent="0" algn="r">
                        <a:buNone/>
                      </a:pPr>
                      <a:r>
                        <a:rPr lang="en-US" sz="850" b="1" dirty="0">
                          <a:solidFill>
                            <a:srgbClr val="FFFFFF"/>
                          </a:solidFill>
                          <a:latin typeface="Arial" pitchFamily="34" charset="0"/>
                          <a:ea typeface="Arial" pitchFamily="34" charset="-122"/>
                          <a:cs typeface="Arial" pitchFamily="34" charset="-120"/>
                        </a:rPr>
                        <a:t>Altus Gulf</a:t>
                      </a:r>
                      <a:endParaRPr lang="en-US" sz="85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F5C42"/>
                    </a:solidFill>
                  </a:tcPr>
                </a:tc>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الاستشارات التقليدية</a:t>
                      </a:r>
                      <a:endParaRPr lang="ar-SA" sz="88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lgn="r" rtl="1">
                        <a:lnSpc>
                          <a:spcPct val="98000"/>
                        </a:lnSpc>
                        <a:buNone/>
                      </a:pPr>
                      <a:r>
                        <a:rPr lang="ar-SA" altLang="en-US" sz="880" b="1" dirty="0">
                          <a:solidFill>
                            <a:srgbClr val="FFFFFF"/>
                          </a:solidFill>
                          <a:latin typeface="Arial" pitchFamily="34" charset="0"/>
                          <a:ea typeface="Arial" pitchFamily="34" charset="-122"/>
                          <a:cs typeface="Arial" pitchFamily="34" charset="-120"/>
                        </a:rPr>
                        <a:t>البُعد</a:t>
                      </a:r>
                      <a:endParaRPr lang="ar-SA" sz="88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extLst>
                  <a:ext uri="{0D108BD9-81ED-4DB2-BD59-A6C34878D82A}">
                    <a16:rowId xmlns:a16="http://schemas.microsoft.com/office/drawing/2014/main" val="10000"/>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في صف المالك، مستقل، ومتمحور حول العميل</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وجهات نظر متأثرة بالمشغّل أو المزوّد</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المنظور</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1"/>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يتولى الشركاء الرئيسيون تنفيذ كل مهمة بأنفسهم</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الشريك يبيع وفريق مبتدئ ينفّذ</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فريق التنفيذ</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2"/>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أكثر من 60 عامًا من القيادة الميدانية للأرباح والخسائر داخل علامات عالمية</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أطر ومقارنات مرجعية مستمدة من الخارج</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الأساس المعرفي</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3"/>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مهمة متكاملة واحدة تشمل التشغيل والجانب التجاري والذكاء الاصطناعي</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التشغيل أو الرقمنة، يُباعان منفصلين</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منطق النطاق</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4"/>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تحليلات تجريبية، وانضباط سيجما ستة (Six Sigma)، ومؤشرات أداء قابلة للقياس</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توصيات قائمة على الرأي</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الدليل</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5"/>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Altus Gulf HK&amp;P: منصة خاصة للتعلّم والأداء تبقى حيّة داخل مؤسسة العميل</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ينتهي الإرشاد عند التقرير</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التمكين الرقمي</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6"/>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أدلة عمل، ونقل قدرات، وتحالف ممتد</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تسليم التقرير يُغلق الملف</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نهاية التعاقد</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7"/>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متجذّرة في الرياض، ثنائية اللغة، ومتوائمة مع رؤية 2030 بالتصميم</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تغطية عبر زيارات عابرة</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العمق الإقليمي</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8"/>
                  </a:ext>
                </a:extLst>
              </a:tr>
              <a:tr h="493776">
                <a:tc>
                  <a:txBody>
                    <a:bodyPr/>
                    <a:lstStyle/>
                    <a:p>
                      <a:pPr marL="0" indent="0" algn="r" rtl="1">
                        <a:lnSpc>
                          <a:spcPct val="98000"/>
                        </a:lnSpc>
                        <a:buNone/>
                      </a:pPr>
                      <a:r>
                        <a:rPr lang="ar-SA" altLang="en-US" sz="810" b="1" dirty="0">
                          <a:solidFill>
                            <a:srgbClr val="0F5C42"/>
                          </a:solidFill>
                          <a:latin typeface="Arial" pitchFamily="34" charset="0"/>
                          <a:ea typeface="Arial" pitchFamily="34" charset="-122"/>
                          <a:cs typeface="Arial" pitchFamily="34" charset="-120"/>
                        </a:rPr>
                        <a:t>نجاح العميل أولًا: تتبع الشروط التجارية النتائج</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tc>
                  <a:txBody>
                    <a:bodyPr/>
                    <a:lstStyle/>
                    <a:p>
                      <a:pPr marL="0" indent="0" algn="r" rtl="1">
                        <a:lnSpc>
                          <a:spcPct val="98000"/>
                        </a:lnSpc>
                        <a:buNone/>
                      </a:pPr>
                      <a:r>
                        <a:rPr lang="ar-SA" altLang="en-US" sz="810" dirty="0">
                          <a:solidFill>
                            <a:srgbClr val="6B675F"/>
                          </a:solidFill>
                          <a:latin typeface="Arial" pitchFamily="34" charset="0"/>
                          <a:ea typeface="Arial" pitchFamily="34" charset="-122"/>
                          <a:cs typeface="Arial" pitchFamily="34" charset="-120"/>
                        </a:rPr>
                        <a:t>الساعات المفوترة كهدف</a:t>
                      </a:r>
                      <a:endParaRPr lang="ar-SA" sz="81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lgn="r" rtl="1">
                        <a:lnSpc>
                          <a:spcPct val="98000"/>
                        </a:lnSpc>
                        <a:buNone/>
                      </a:pPr>
                      <a:r>
                        <a:rPr lang="ar-SA" altLang="en-US" sz="840" b="1" dirty="0">
                          <a:solidFill>
                            <a:srgbClr val="0B1B2B"/>
                          </a:solidFill>
                          <a:latin typeface="Arial" pitchFamily="34" charset="0"/>
                          <a:ea typeface="Arial" pitchFamily="34" charset="-122"/>
                          <a:cs typeface="Arial" pitchFamily="34" charset="-120"/>
                        </a:rPr>
                        <a:t>فلسفة الأتعاب</a:t>
                      </a:r>
                      <a:endParaRPr lang="ar-SA" sz="840" dirty="0">
                        <a:latin typeface="Arial" charset="0"/>
                        <a:ea typeface="Arial" charset="0"/>
                        <a:cs typeface="Arial" charset="0"/>
                      </a:endParaRPr>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extLst>
                  <a:ext uri="{0D108BD9-81ED-4DB2-BD59-A6C34878D82A}">
                    <a16:rowId xmlns:a16="http://schemas.microsoft.com/office/drawing/2014/main" val="10009"/>
                  </a:ext>
                </a:extLst>
              </a:tr>
            </a:tbl>
          </a:graphicData>
        </a:graphic>
      </p:graphicFrame>
      <p:sp>
        <p:nvSpPr>
          <p:cNvPr id="6" name="Text 3"/>
          <p:cNvSpPr/>
          <p:nvPr/>
        </p:nvSpPr>
        <p:spPr>
          <a:xfrm>
            <a:off x="502920" y="7223760"/>
            <a:ext cx="6556248" cy="365760"/>
          </a:xfrm>
          <a:prstGeom prst="rect">
            <a:avLst/>
          </a:prstGeom>
          <a:noFill/>
          <a:ln/>
        </p:spPr>
        <p:txBody>
          <a:bodyPr wrap="square" rtlCol="0" anchor="ctr"/>
          <a:lstStyle/>
          <a:p>
            <a:pPr marL="0" indent="0" algn="ctr" rtl="1">
              <a:lnSpc>
                <a:spcPct val="98000"/>
              </a:lnSpc>
              <a:buNone/>
            </a:pPr>
            <a:r>
              <a:rPr lang="ar-SA" altLang="en-US" sz="1340" dirty="0">
                <a:solidFill>
                  <a:srgbClr val="C1501D"/>
                </a:solidFill>
                <a:latin typeface="Arial" pitchFamily="34" charset="0"/>
                <a:ea typeface="Arial" pitchFamily="34" charset="-122"/>
                <a:cs typeface="Arial" pitchFamily="34" charset="-120"/>
              </a:rPr>
              <a:t>المقارنة صريحة عن قصد: فمن حق العملاء أن يعرفوا بدقة ما يشترونه.</a:t>
            </a:r>
            <a:endParaRPr lang="ar-SA" sz="1340" dirty="0"/>
          </a:p>
        </p:txBody>
      </p:sp>
      <p:sp>
        <p:nvSpPr>
          <p:cNvPr id="7" name="Shape 4"/>
          <p:cNvSpPr/>
          <p:nvPr/>
        </p:nvSpPr>
        <p:spPr>
          <a:xfrm>
            <a:off x="502920" y="7680960"/>
            <a:ext cx="6556248" cy="1051560"/>
          </a:xfrm>
          <a:prstGeom prst="roundRect">
            <a:avLst>
              <a:gd name="adj" fmla="val 5217"/>
            </a:avLst>
          </a:prstGeom>
          <a:solidFill>
            <a:srgbClr val="0B1B2B"/>
          </a:solidFill>
          <a:ln/>
        </p:spPr>
      </p:sp>
      <p:sp>
        <p:nvSpPr>
          <p:cNvPr id="8" name="Text 5"/>
          <p:cNvSpPr/>
          <p:nvPr/>
        </p:nvSpPr>
        <p:spPr>
          <a:xfrm>
            <a:off x="777240" y="7790688"/>
            <a:ext cx="6007608" cy="841248"/>
          </a:xfrm>
          <a:prstGeom prst="rect">
            <a:avLst/>
          </a:prstGeom>
          <a:noFill/>
          <a:ln/>
        </p:spPr>
        <p:txBody>
          <a:bodyPr wrap="square" rtlCol="0" anchor="ctr"/>
          <a:lstStyle/>
          <a:p>
            <a:pPr marL="0" indent="0" algn="r" rtl="1">
              <a:lnSpc>
                <a:spcPct val="129360"/>
              </a:lnSpc>
              <a:buNone/>
            </a:pPr>
            <a:r>
              <a:rPr lang="ar-SA" altLang="en-US" sz="1340" b="1" dirty="0">
                <a:solidFill>
                  <a:srgbClr val="E4C98A"/>
                </a:solidFill>
                <a:latin typeface="Arial" pitchFamily="34" charset="0"/>
                <a:ea typeface="Arial" pitchFamily="34" charset="-122"/>
                <a:cs typeface="Arial" pitchFamily="34" charset="-120"/>
              </a:rPr>
              <a:t>الفرق الذي تصنعه Altus Gulf في جملة واحدة:  </a:t>
            </a:r>
            <a:r>
              <a:rPr lang="ar-SA" altLang="en-US" sz="1340" dirty="0">
                <a:solidFill>
                  <a:srgbClr val="FFFFFF"/>
                </a:solidFill>
                <a:latin typeface="Arial" pitchFamily="34" charset="0"/>
                <a:ea typeface="Arial" pitchFamily="34" charset="-122"/>
                <a:cs typeface="Arial" pitchFamily="34" charset="-120"/>
              </a:rPr>
              <a:t>نبقى قريبين من أعمالك، ويُقاس عملنا بالنتائج العملية، ونركّز على الأثر الفعلي لا على التقرير وحده.</a:t>
            </a:r>
            <a:endParaRPr lang="ar-SA" sz="1340" dirty="0"/>
          </a:p>
        </p:txBody>
      </p:sp>
      <p:sp>
        <p:nvSpPr>
          <p:cNvPr id="9" name="Shape 6"/>
          <p:cNvSpPr/>
          <p:nvPr/>
        </p:nvSpPr>
        <p:spPr>
          <a:xfrm>
            <a:off x="502920" y="10186416"/>
            <a:ext cx="6556248" cy="0"/>
          </a:xfrm>
          <a:prstGeom prst="line">
            <a:avLst/>
          </a:prstGeom>
          <a:noFill/>
          <a:ln w="9525">
            <a:solidFill>
              <a:srgbClr val="E4DDCB"/>
            </a:solidFill>
            <a:prstDash val="solid"/>
          </a:ln>
        </p:spPr>
      </p:sp>
      <p:sp>
        <p:nvSpPr>
          <p:cNvPr id="10" name="Text 7"/>
          <p:cNvSpPr/>
          <p:nvPr/>
        </p:nvSpPr>
        <p:spPr>
          <a:xfrm>
            <a:off x="4315968" y="10250424"/>
            <a:ext cx="2743200" cy="274320"/>
          </a:xfrm>
          <a:prstGeom prst="rect">
            <a:avLst/>
          </a:prstGeom>
          <a:noFill/>
          <a:ln/>
        </p:spPr>
        <p:txBody>
          <a:bodyPr wrap="square" rtlCol="0" anchor="ctr"/>
          <a:lstStyle/>
          <a:p>
            <a:pPr marL="0" indent="0" algn="r">
              <a:buNone/>
            </a:pPr>
            <a:r>
              <a:rPr lang="en-US" sz="850" b="1" dirty="0">
                <a:solidFill>
                  <a:srgbClr val="6B675F"/>
                </a:solidFill>
                <a:latin typeface="Arial" pitchFamily="34" charset="0"/>
                <a:ea typeface="Arial" pitchFamily="34" charset="-122"/>
                <a:cs typeface="Arial" pitchFamily="34" charset="-120"/>
              </a:rPr>
              <a:t>Altus Gulf</a:t>
            </a:r>
            <a:endParaRPr lang="en-US" sz="850" dirty="0"/>
          </a:p>
        </p:txBody>
      </p:sp>
      <p:sp>
        <p:nvSpPr>
          <p:cNvPr id="11" name="Text 8"/>
          <p:cNvSpPr/>
          <p:nvPr/>
        </p:nvSpPr>
        <p:spPr>
          <a:xfrm>
            <a:off x="502920" y="10250424"/>
            <a:ext cx="2743200" cy="274320"/>
          </a:xfrm>
          <a:prstGeom prst="rect">
            <a:avLst/>
          </a:prstGeom>
          <a:noFill/>
          <a:ln/>
        </p:spPr>
        <p:txBody>
          <a:bodyPr wrap="square" rtlCol="0" anchor="ctr"/>
          <a:lstStyle/>
          <a:p>
            <a:pPr marL="0" indent="0" algn="l" rtl="1">
              <a:lnSpc>
                <a:spcPct val="98000"/>
              </a:lnSpc>
              <a:buNone/>
            </a:pPr>
            <a:r>
              <a:rPr lang="ar-SA" altLang="en-US" sz="880" dirty="0">
                <a:solidFill>
                  <a:srgbClr val="6B675F"/>
                </a:solidFill>
                <a:latin typeface="Arial" pitchFamily="34" charset="0"/>
                <a:ea typeface="Arial" pitchFamily="34" charset="-122"/>
                <a:cs typeface="Arial" pitchFamily="34" charset="-120"/>
              </a:rPr>
              <a:t>الملف التعريفي للشركة  •  24</a:t>
            </a:r>
            <a:endParaRPr lang="ar-SA" sz="8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777240"/>
            <a:ext cx="6556248" cy="274320"/>
          </a:xfrm>
          <a:prstGeom prst="rect">
            <a:avLst/>
          </a:prstGeom>
          <a:noFill/>
          <a:ln/>
        </p:spPr>
        <p:txBody>
          <a:bodyPr wrap="square" rtlCol="0" anchor="ctr"/>
          <a:lstStyle/>
          <a:p>
            <a:pPr marL="0" indent="0" algn="ctr" rtl="1">
              <a:lnSpc>
                <a:spcPct val="98000"/>
              </a:lnSpc>
              <a:buNone/>
            </a:pPr>
            <a:r>
              <a:rPr lang="ar-SA" altLang="en-US" sz="1130" b="1" dirty="0">
                <a:solidFill>
                  <a:srgbClr val="C1501D"/>
                </a:solidFill>
                <a:latin typeface="Arial" pitchFamily="34" charset="0"/>
                <a:ea typeface="Arial" pitchFamily="34" charset="-122"/>
                <a:cs typeface="Arial" pitchFamily="34" charset="-120"/>
              </a:rPr>
              <a:t>لنرسم المرحلة القادمة معًا</a:t>
            </a:r>
            <a:endParaRPr lang="ar-SA" sz="1130" dirty="0"/>
          </a:p>
        </p:txBody>
      </p:sp>
      <p:pic>
        <p:nvPicPr>
          <p:cNvPr id="3" name="Image 0" descr="/home/claude/assets/logo_transparent.png"/>
          <p:cNvPicPr>
            <a:picLocks noChangeAspect="1"/>
          </p:cNvPicPr>
          <p:nvPr/>
        </p:nvPicPr>
        <p:blipFill>
          <a:blip r:embed="rId3"/>
          <a:stretch>
            <a:fillRect/>
          </a:stretch>
        </p:blipFill>
        <p:spPr>
          <a:xfrm>
            <a:off x="2592324" y="1188720"/>
            <a:ext cx="2377440" cy="1584655"/>
          </a:xfrm>
          <a:prstGeom prst="rect">
            <a:avLst/>
          </a:prstGeom>
        </p:spPr>
      </p:pic>
      <p:sp>
        <p:nvSpPr>
          <p:cNvPr id="4" name="Shape 1"/>
          <p:cNvSpPr/>
          <p:nvPr/>
        </p:nvSpPr>
        <p:spPr>
          <a:xfrm>
            <a:off x="2775204" y="2880360"/>
            <a:ext cx="2011680" cy="0"/>
          </a:xfrm>
          <a:prstGeom prst="line">
            <a:avLst/>
          </a:prstGeom>
          <a:noFill/>
          <a:ln w="12700">
            <a:solidFill>
              <a:srgbClr val="C9A15A"/>
            </a:solidFill>
            <a:prstDash val="solid"/>
          </a:ln>
        </p:spPr>
      </p:sp>
      <p:sp>
        <p:nvSpPr>
          <p:cNvPr id="5" name="Shape 2"/>
          <p:cNvSpPr/>
          <p:nvPr/>
        </p:nvSpPr>
        <p:spPr>
          <a:xfrm>
            <a:off x="3749040" y="2848356"/>
            <a:ext cx="64008" cy="64008"/>
          </a:xfrm>
          <a:prstGeom prst="ellipse">
            <a:avLst/>
          </a:prstGeom>
          <a:solidFill>
            <a:srgbClr val="C1501D"/>
          </a:solidFill>
          <a:ln/>
        </p:spPr>
      </p:sp>
      <p:sp>
        <p:nvSpPr>
          <p:cNvPr id="6" name="Text 3"/>
          <p:cNvSpPr/>
          <p:nvPr/>
        </p:nvSpPr>
        <p:spPr>
          <a:xfrm>
            <a:off x="731520" y="3154680"/>
            <a:ext cx="6099048" cy="914400"/>
          </a:xfrm>
          <a:prstGeom prst="rect">
            <a:avLst/>
          </a:prstGeom>
          <a:noFill/>
          <a:ln/>
        </p:spPr>
        <p:txBody>
          <a:bodyPr wrap="square" rtlCol="0" anchor="ctr"/>
          <a:lstStyle/>
          <a:p>
            <a:pPr marL="0" indent="0" algn="ctr" rtl="1">
              <a:lnSpc>
                <a:spcPct val="132300"/>
              </a:lnSpc>
              <a:buNone/>
            </a:pPr>
            <a:r>
              <a:rPr lang="ar-SA" altLang="en-US" sz="1390" dirty="0">
                <a:solidFill>
                  <a:srgbClr val="FFFFFF"/>
                </a:solidFill>
                <a:latin typeface="Arial" pitchFamily="34" charset="0"/>
                <a:ea typeface="Arial" pitchFamily="34" charset="-122"/>
                <a:cs typeface="Arial" pitchFamily="34" charset="-120"/>
              </a:rPr>
              <a:t>أينما كانت منشأتك اليوم، تبدأ المرحلة القادمة بالوضوح.</a:t>
            </a:r>
            <a:endParaRPr lang="ar-SA" sz="1390" dirty="0"/>
          </a:p>
          <a:p>
            <a:pPr marL="0" indent="0" algn="ctr" rtl="1">
              <a:lnSpc>
                <a:spcPct val="132300"/>
              </a:lnSpc>
              <a:buNone/>
            </a:pPr>
            <a:r>
              <a:rPr lang="ar-SA" altLang="en-US" sz="1390" dirty="0">
                <a:solidFill>
                  <a:srgbClr val="FFFFFF"/>
                </a:solidFill>
                <a:latin typeface="Arial" pitchFamily="34" charset="0"/>
                <a:ea typeface="Arial" pitchFamily="34" charset="-122"/>
                <a:cs typeface="Arial" pitchFamily="34" charset="-120"/>
              </a:rPr>
              <a:t>يمكن أن تساعد Altus Gulf في تحديد الأولويات، واكتشاف الفرص،</a:t>
            </a:r>
            <a:endParaRPr lang="ar-SA" sz="1390" dirty="0"/>
          </a:p>
          <a:p>
            <a:pPr marL="0" indent="0" algn="ctr" rtl="1">
              <a:lnSpc>
                <a:spcPct val="132300"/>
              </a:lnSpc>
              <a:buNone/>
            </a:pPr>
            <a:r>
              <a:rPr lang="ar-SA" altLang="en-US" sz="1390" dirty="0">
                <a:solidFill>
                  <a:srgbClr val="FFFFFF"/>
                </a:solidFill>
                <a:latin typeface="Arial" pitchFamily="34" charset="0"/>
                <a:ea typeface="Arial" pitchFamily="34" charset="-122"/>
                <a:cs typeface="Arial" pitchFamily="34" charset="-120"/>
              </a:rPr>
              <a:t>وبناء مسار عملي للمضي قدمًا.</a:t>
            </a:r>
            <a:endParaRPr lang="ar-SA" sz="1390" dirty="0"/>
          </a:p>
        </p:txBody>
      </p:sp>
      <p:sp>
        <p:nvSpPr>
          <p:cNvPr id="7" name="Shape 4"/>
          <p:cNvSpPr/>
          <p:nvPr/>
        </p:nvSpPr>
        <p:spPr>
          <a:xfrm>
            <a:off x="2592324" y="4251960"/>
            <a:ext cx="2377440" cy="457200"/>
          </a:xfrm>
          <a:prstGeom prst="roundRect">
            <a:avLst>
              <a:gd name="adj" fmla="val 50000"/>
            </a:avLst>
          </a:prstGeom>
          <a:solidFill>
            <a:srgbClr val="C1501D"/>
          </a:solidFill>
          <a:ln/>
        </p:spPr>
      </p:sp>
      <p:sp>
        <p:nvSpPr>
          <p:cNvPr id="8" name="Text 5"/>
          <p:cNvSpPr/>
          <p:nvPr/>
        </p:nvSpPr>
        <p:spPr>
          <a:xfrm>
            <a:off x="2592324" y="4251960"/>
            <a:ext cx="2377440" cy="457200"/>
          </a:xfrm>
          <a:prstGeom prst="rect">
            <a:avLst/>
          </a:prstGeom>
          <a:noFill/>
          <a:ln/>
        </p:spPr>
        <p:txBody>
          <a:bodyPr wrap="square" rtlCol="0" anchor="ctr"/>
          <a:lstStyle/>
          <a:p>
            <a:pPr marL="0" indent="0" algn="ctr" rtl="1">
              <a:lnSpc>
                <a:spcPct val="98000"/>
              </a:lnSpc>
              <a:buNone/>
            </a:pPr>
            <a:r>
              <a:rPr lang="ar-SA" altLang="en-US" sz="1080" b="1" dirty="0">
                <a:solidFill>
                  <a:srgbClr val="FFFFFF"/>
                </a:solidFill>
                <a:latin typeface="Arial" pitchFamily="34" charset="0"/>
                <a:ea typeface="Arial" pitchFamily="34" charset="-122"/>
                <a:cs typeface="Arial" pitchFamily="34" charset="-120"/>
              </a:rPr>
              <a:t>مرحلتك القادمة تبدأ من هنا</a:t>
            </a:r>
            <a:endParaRPr lang="ar-SA" sz="1080" dirty="0"/>
          </a:p>
        </p:txBody>
      </p:sp>
      <p:sp>
        <p:nvSpPr>
          <p:cNvPr id="9" name="Shape 6"/>
          <p:cNvSpPr/>
          <p:nvPr/>
        </p:nvSpPr>
        <p:spPr>
          <a:xfrm>
            <a:off x="4604004" y="5120640"/>
            <a:ext cx="1005840" cy="1005840"/>
          </a:xfrm>
          <a:prstGeom prst="ellipse">
            <a:avLst/>
          </a:prstGeom>
          <a:solidFill>
            <a:srgbClr val="13273A"/>
          </a:solidFill>
          <a:ln w="19050">
            <a:solidFill>
              <a:srgbClr val="C9A15A"/>
            </a:solidFill>
            <a:prstDash val="solid"/>
          </a:ln>
        </p:spPr>
      </p:sp>
      <p:pic>
        <p:nvPicPr>
          <p:cNvPr id="10" name="Image 1" descr="/home/claude/assets/founder_islam.jpg"/>
          <p:cNvPicPr>
            <a:picLocks noChangeAspect="1"/>
          </p:cNvPicPr>
          <p:nvPr/>
        </p:nvPicPr>
        <p:blipFill>
          <a:blip r:embed="rId4"/>
          <a:stretch>
            <a:fillRect/>
          </a:stretch>
        </p:blipFill>
        <p:spPr>
          <a:xfrm>
            <a:off x="4677156" y="5193792"/>
            <a:ext cx="859536" cy="859536"/>
          </a:xfrm>
          <a:prstGeom prst="ellipse">
            <a:avLst/>
          </a:prstGeom>
        </p:spPr>
      </p:pic>
      <p:sp>
        <p:nvSpPr>
          <p:cNvPr id="11" name="Text 7"/>
          <p:cNvSpPr/>
          <p:nvPr/>
        </p:nvSpPr>
        <p:spPr>
          <a:xfrm>
            <a:off x="3918204" y="6144768"/>
            <a:ext cx="2377440" cy="256032"/>
          </a:xfrm>
          <a:prstGeom prst="rect">
            <a:avLst/>
          </a:prstGeom>
          <a:noFill/>
          <a:ln/>
        </p:spPr>
        <p:txBody>
          <a:bodyPr wrap="square" rtlCol="0" anchor="ctr"/>
          <a:lstStyle/>
          <a:p>
            <a:pPr marL="0" indent="0" algn="ctr" rtl="1">
              <a:lnSpc>
                <a:spcPct val="98000"/>
              </a:lnSpc>
              <a:buNone/>
            </a:pPr>
            <a:r>
              <a:rPr lang="ar-SA" altLang="en-US" sz="1130" b="1" dirty="0">
                <a:solidFill>
                  <a:srgbClr val="FFFFFF"/>
                </a:solidFill>
                <a:latin typeface="Arial" pitchFamily="34" charset="0"/>
                <a:ea typeface="Arial" pitchFamily="34" charset="-122"/>
                <a:cs typeface="Arial" pitchFamily="34" charset="-120"/>
              </a:rPr>
              <a:t>إسلام محروس</a:t>
            </a:r>
            <a:endParaRPr lang="ar-SA" sz="1130" dirty="0"/>
          </a:p>
        </p:txBody>
      </p:sp>
      <p:sp>
        <p:nvSpPr>
          <p:cNvPr id="12" name="Text 8"/>
          <p:cNvSpPr/>
          <p:nvPr/>
        </p:nvSpPr>
        <p:spPr>
          <a:xfrm>
            <a:off x="3918204" y="6382512"/>
            <a:ext cx="2377440" cy="201168"/>
          </a:xfrm>
          <a:prstGeom prst="rect">
            <a:avLst/>
          </a:prstGeom>
          <a:noFill/>
          <a:ln/>
        </p:spPr>
        <p:txBody>
          <a:bodyPr wrap="square" rtlCol="0" anchor="ctr"/>
          <a:lstStyle/>
          <a:p>
            <a:pPr marL="0" indent="0" algn="ctr" rtl="1">
              <a:lnSpc>
                <a:spcPct val="98000"/>
              </a:lnSpc>
              <a:buNone/>
            </a:pPr>
            <a:r>
              <a:rPr lang="ar-SA" altLang="en-US" sz="820" dirty="0">
                <a:solidFill>
                  <a:srgbClr val="B9C3CC"/>
                </a:solidFill>
                <a:latin typeface="Arial" pitchFamily="34" charset="0"/>
                <a:ea typeface="Arial" pitchFamily="34" charset="-122"/>
                <a:cs typeface="Arial" pitchFamily="34" charset="-120"/>
              </a:rPr>
              <a:t>شريك مؤسس</a:t>
            </a:r>
            <a:endParaRPr lang="ar-SA" sz="820" dirty="0"/>
          </a:p>
        </p:txBody>
      </p:sp>
      <p:sp>
        <p:nvSpPr>
          <p:cNvPr id="13" name="Shape 9"/>
          <p:cNvSpPr/>
          <p:nvPr/>
        </p:nvSpPr>
        <p:spPr>
          <a:xfrm>
            <a:off x="1952244" y="5120640"/>
            <a:ext cx="1005840" cy="1005840"/>
          </a:xfrm>
          <a:prstGeom prst="ellipse">
            <a:avLst/>
          </a:prstGeom>
          <a:solidFill>
            <a:srgbClr val="13273A"/>
          </a:solidFill>
          <a:ln w="19050">
            <a:solidFill>
              <a:srgbClr val="C9A15A"/>
            </a:solidFill>
            <a:prstDash val="solid"/>
          </a:ln>
        </p:spPr>
      </p:sp>
      <p:pic>
        <p:nvPicPr>
          <p:cNvPr id="14" name="Image 2" descr="/home/claude/assets/founder_hossam.jpg"/>
          <p:cNvPicPr>
            <a:picLocks noChangeAspect="1"/>
          </p:cNvPicPr>
          <p:nvPr/>
        </p:nvPicPr>
        <p:blipFill>
          <a:blip r:embed="rId5"/>
          <a:stretch>
            <a:fillRect/>
          </a:stretch>
        </p:blipFill>
        <p:spPr>
          <a:xfrm>
            <a:off x="2025396" y="5193792"/>
            <a:ext cx="859536" cy="859536"/>
          </a:xfrm>
          <a:prstGeom prst="ellipse">
            <a:avLst/>
          </a:prstGeom>
        </p:spPr>
      </p:pic>
      <p:sp>
        <p:nvSpPr>
          <p:cNvPr id="15" name="Text 10"/>
          <p:cNvSpPr/>
          <p:nvPr/>
        </p:nvSpPr>
        <p:spPr>
          <a:xfrm>
            <a:off x="1266444" y="6144768"/>
            <a:ext cx="2377440" cy="256032"/>
          </a:xfrm>
          <a:prstGeom prst="rect">
            <a:avLst/>
          </a:prstGeom>
          <a:noFill/>
          <a:ln/>
        </p:spPr>
        <p:txBody>
          <a:bodyPr wrap="square" rtlCol="0" anchor="ctr"/>
          <a:lstStyle/>
          <a:p>
            <a:pPr marL="0" indent="0" algn="ctr" rtl="1">
              <a:lnSpc>
                <a:spcPct val="98000"/>
              </a:lnSpc>
              <a:buNone/>
            </a:pPr>
            <a:r>
              <a:rPr lang="ar-SA" altLang="en-US" sz="1130" b="1" dirty="0">
                <a:solidFill>
                  <a:srgbClr val="FFFFFF"/>
                </a:solidFill>
                <a:latin typeface="Arial" pitchFamily="34" charset="0"/>
                <a:ea typeface="Arial" pitchFamily="34" charset="-122"/>
                <a:cs typeface="Arial" pitchFamily="34" charset="-120"/>
              </a:rPr>
              <a:t>حسام الصمادي</a:t>
            </a:r>
            <a:endParaRPr lang="ar-SA" sz="1130" dirty="0"/>
          </a:p>
        </p:txBody>
      </p:sp>
      <p:sp>
        <p:nvSpPr>
          <p:cNvPr id="16" name="Text 11"/>
          <p:cNvSpPr/>
          <p:nvPr/>
        </p:nvSpPr>
        <p:spPr>
          <a:xfrm>
            <a:off x="1266444" y="6382512"/>
            <a:ext cx="2377440" cy="201168"/>
          </a:xfrm>
          <a:prstGeom prst="rect">
            <a:avLst/>
          </a:prstGeom>
          <a:noFill/>
          <a:ln/>
        </p:spPr>
        <p:txBody>
          <a:bodyPr wrap="square" rtlCol="0" anchor="ctr"/>
          <a:lstStyle/>
          <a:p>
            <a:pPr marL="0" indent="0" algn="ctr" rtl="1">
              <a:lnSpc>
                <a:spcPct val="98000"/>
              </a:lnSpc>
              <a:buNone/>
            </a:pPr>
            <a:r>
              <a:rPr lang="ar-SA" altLang="en-US" sz="820" dirty="0">
                <a:solidFill>
                  <a:srgbClr val="B9C3CC"/>
                </a:solidFill>
                <a:latin typeface="Arial" pitchFamily="34" charset="0"/>
                <a:ea typeface="Arial" pitchFamily="34" charset="-122"/>
                <a:cs typeface="Arial" pitchFamily="34" charset="-120"/>
              </a:rPr>
              <a:t>شريك مؤسس</a:t>
            </a:r>
            <a:endParaRPr lang="ar-SA" sz="820" dirty="0"/>
          </a:p>
        </p:txBody>
      </p:sp>
      <p:sp>
        <p:nvSpPr>
          <p:cNvPr id="17" name="Shape 12"/>
          <p:cNvSpPr/>
          <p:nvPr/>
        </p:nvSpPr>
        <p:spPr>
          <a:xfrm>
            <a:off x="502920" y="7040880"/>
            <a:ext cx="6556248" cy="0"/>
          </a:xfrm>
          <a:prstGeom prst="line">
            <a:avLst/>
          </a:prstGeom>
          <a:noFill/>
          <a:ln w="9525">
            <a:solidFill>
              <a:srgbClr val="2A3B4C"/>
            </a:solidFill>
            <a:prstDash val="solid"/>
          </a:ln>
        </p:spPr>
      </p:sp>
      <p:sp>
        <p:nvSpPr>
          <p:cNvPr id="18" name="Shape 13"/>
          <p:cNvSpPr/>
          <p:nvPr/>
        </p:nvSpPr>
        <p:spPr>
          <a:xfrm>
            <a:off x="6693408" y="7296912"/>
            <a:ext cx="365760" cy="365760"/>
          </a:xfrm>
          <a:prstGeom prst="ellipse">
            <a:avLst/>
          </a:prstGeom>
          <a:solidFill>
            <a:srgbClr val="C1501D"/>
          </a:solidFill>
          <a:ln/>
        </p:spPr>
      </p:sp>
      <p:pic>
        <p:nvPicPr>
          <p:cNvPr id="19" name="Image 3" descr="/home/claude/assets/icons/mapmarker.png"/>
          <p:cNvPicPr>
            <a:picLocks noChangeAspect="1"/>
          </p:cNvPicPr>
          <p:nvPr/>
        </p:nvPicPr>
        <p:blipFill>
          <a:blip r:embed="rId6"/>
          <a:stretch>
            <a:fillRect/>
          </a:stretch>
        </p:blipFill>
        <p:spPr>
          <a:xfrm>
            <a:off x="6781190" y="7384694"/>
            <a:ext cx="190195" cy="190195"/>
          </a:xfrm>
          <a:prstGeom prst="rect">
            <a:avLst/>
          </a:prstGeom>
        </p:spPr>
      </p:pic>
      <p:sp>
        <p:nvSpPr>
          <p:cNvPr id="20" name="Text 14"/>
          <p:cNvSpPr/>
          <p:nvPr/>
        </p:nvSpPr>
        <p:spPr>
          <a:xfrm>
            <a:off x="1874520" y="7315200"/>
            <a:ext cx="4727448" cy="329184"/>
          </a:xfrm>
          <a:prstGeom prst="rect">
            <a:avLst/>
          </a:prstGeom>
          <a:noFill/>
          <a:ln/>
        </p:spPr>
        <p:txBody>
          <a:bodyPr wrap="square" rtlCol="0" anchor="ctr"/>
          <a:lstStyle/>
          <a:p>
            <a:pPr marL="0" indent="0" algn="r" rtl="1">
              <a:lnSpc>
                <a:spcPct val="98000"/>
              </a:lnSpc>
              <a:buNone/>
            </a:pPr>
            <a:r>
              <a:rPr lang="ar-SA" altLang="en-US" sz="1030" dirty="0">
                <a:solidFill>
                  <a:srgbClr val="FFFFFF"/>
                </a:solidFill>
                <a:latin typeface="Arial" pitchFamily="34" charset="0"/>
                <a:ea typeface="Arial" pitchFamily="34" charset="-122"/>
                <a:cs typeface="Arial" pitchFamily="34" charset="-120"/>
              </a:rPr>
              <a:t>الرياض، المملكة العربية السعودية  •  [عنوان المكتب]</a:t>
            </a:r>
            <a:endParaRPr lang="ar-SA" sz="1030" dirty="0"/>
          </a:p>
        </p:txBody>
      </p:sp>
      <p:sp>
        <p:nvSpPr>
          <p:cNvPr id="21" name="Shape 15"/>
          <p:cNvSpPr/>
          <p:nvPr/>
        </p:nvSpPr>
        <p:spPr>
          <a:xfrm>
            <a:off x="6693408" y="7680960"/>
            <a:ext cx="365760" cy="365760"/>
          </a:xfrm>
          <a:prstGeom prst="ellipse">
            <a:avLst/>
          </a:prstGeom>
          <a:solidFill>
            <a:srgbClr val="C1501D"/>
          </a:solidFill>
          <a:ln/>
        </p:spPr>
      </p:sp>
      <p:pic>
        <p:nvPicPr>
          <p:cNvPr id="22" name="Image 4" descr="/home/claude/assets/icons/globe.png"/>
          <p:cNvPicPr>
            <a:picLocks noChangeAspect="1"/>
          </p:cNvPicPr>
          <p:nvPr/>
        </p:nvPicPr>
        <p:blipFill>
          <a:blip r:embed="rId7"/>
          <a:stretch>
            <a:fillRect/>
          </a:stretch>
        </p:blipFill>
        <p:spPr>
          <a:xfrm>
            <a:off x="6781190" y="7768742"/>
            <a:ext cx="190195" cy="190195"/>
          </a:xfrm>
          <a:prstGeom prst="rect">
            <a:avLst/>
          </a:prstGeom>
        </p:spPr>
      </p:pic>
      <p:sp>
        <p:nvSpPr>
          <p:cNvPr id="23" name="Text 16"/>
          <p:cNvSpPr/>
          <p:nvPr/>
        </p:nvSpPr>
        <p:spPr>
          <a:xfrm>
            <a:off x="1874520" y="7699248"/>
            <a:ext cx="4727448" cy="329184"/>
          </a:xfrm>
          <a:prstGeom prst="rect">
            <a:avLst/>
          </a:prstGeom>
          <a:noFill/>
          <a:ln/>
        </p:spPr>
        <p:txBody>
          <a:bodyPr wrap="square" rtlCol="0" anchor="ctr"/>
          <a:lstStyle/>
          <a:p>
            <a:pPr marL="0" indent="0" algn="r" rtl="1">
              <a:lnSpc>
                <a:spcPct val="98000"/>
              </a:lnSpc>
              <a:buNone/>
            </a:pPr>
            <a:r>
              <a:rPr lang="ar-SA" altLang="en-US" sz="1030" dirty="0">
                <a:solidFill>
                  <a:srgbClr val="FFFFFF"/>
                </a:solidFill>
                <a:latin typeface="Arial" pitchFamily="34" charset="0"/>
                <a:ea typeface="Arial" pitchFamily="34" charset="-122"/>
                <a:cs typeface="Arial" pitchFamily="34" charset="-120"/>
              </a:rPr>
              <a:t>www.altusgulf.com  [نص مؤقت]</a:t>
            </a:r>
            <a:endParaRPr lang="ar-SA" sz="1030" dirty="0"/>
          </a:p>
        </p:txBody>
      </p:sp>
      <p:sp>
        <p:nvSpPr>
          <p:cNvPr id="24" name="Shape 17"/>
          <p:cNvSpPr/>
          <p:nvPr/>
        </p:nvSpPr>
        <p:spPr>
          <a:xfrm>
            <a:off x="6693408" y="8065008"/>
            <a:ext cx="365760" cy="365760"/>
          </a:xfrm>
          <a:prstGeom prst="ellipse">
            <a:avLst/>
          </a:prstGeom>
          <a:solidFill>
            <a:srgbClr val="C1501D"/>
          </a:solidFill>
          <a:ln/>
        </p:spPr>
      </p:sp>
      <p:pic>
        <p:nvPicPr>
          <p:cNvPr id="25" name="Image 5" descr="/home/claude/assets/icons/envelope.png"/>
          <p:cNvPicPr>
            <a:picLocks noChangeAspect="1"/>
          </p:cNvPicPr>
          <p:nvPr/>
        </p:nvPicPr>
        <p:blipFill>
          <a:blip r:embed="rId8"/>
          <a:stretch>
            <a:fillRect/>
          </a:stretch>
        </p:blipFill>
        <p:spPr>
          <a:xfrm>
            <a:off x="6781190" y="8152790"/>
            <a:ext cx="190195" cy="190195"/>
          </a:xfrm>
          <a:prstGeom prst="rect">
            <a:avLst/>
          </a:prstGeom>
        </p:spPr>
      </p:pic>
      <p:sp>
        <p:nvSpPr>
          <p:cNvPr id="26" name="Text 18"/>
          <p:cNvSpPr/>
          <p:nvPr/>
        </p:nvSpPr>
        <p:spPr>
          <a:xfrm>
            <a:off x="1874520" y="8083296"/>
            <a:ext cx="4727448" cy="329184"/>
          </a:xfrm>
          <a:prstGeom prst="rect">
            <a:avLst/>
          </a:prstGeom>
          <a:noFill/>
          <a:ln/>
        </p:spPr>
        <p:txBody>
          <a:bodyPr wrap="square" rtlCol="0" anchor="ctr"/>
          <a:lstStyle/>
          <a:p>
            <a:pPr marL="0" indent="0" algn="r">
              <a:buNone/>
            </a:pPr>
            <a:r>
              <a:rPr lang="en-US" sz="1000" dirty="0">
                <a:solidFill>
                  <a:srgbClr val="FFFFFF"/>
                </a:solidFill>
                <a:latin typeface="Arial" pitchFamily="34" charset="0"/>
                <a:ea typeface="Arial" pitchFamily="34" charset="-122"/>
                <a:cs typeface="Arial" pitchFamily="34" charset="-120"/>
              </a:rPr>
              <a:t>islam.mahrous@altusgulf.com</a:t>
            </a:r>
            <a:endParaRPr lang="en-US" sz="1000" dirty="0"/>
          </a:p>
        </p:txBody>
      </p:sp>
      <p:sp>
        <p:nvSpPr>
          <p:cNvPr id="27" name="Shape 19"/>
          <p:cNvSpPr/>
          <p:nvPr/>
        </p:nvSpPr>
        <p:spPr>
          <a:xfrm>
            <a:off x="6693408" y="8449056"/>
            <a:ext cx="365760" cy="365760"/>
          </a:xfrm>
          <a:prstGeom prst="ellipse">
            <a:avLst/>
          </a:prstGeom>
          <a:solidFill>
            <a:srgbClr val="C1501D"/>
          </a:solidFill>
          <a:ln/>
        </p:spPr>
      </p:sp>
      <p:pic>
        <p:nvPicPr>
          <p:cNvPr id="28" name="Image 6" descr="/home/claude/assets/icons/envelope.png"/>
          <p:cNvPicPr>
            <a:picLocks noChangeAspect="1"/>
          </p:cNvPicPr>
          <p:nvPr/>
        </p:nvPicPr>
        <p:blipFill>
          <a:blip r:embed="rId8"/>
          <a:stretch>
            <a:fillRect/>
          </a:stretch>
        </p:blipFill>
        <p:spPr>
          <a:xfrm>
            <a:off x="6781190" y="8536838"/>
            <a:ext cx="190195" cy="190195"/>
          </a:xfrm>
          <a:prstGeom prst="rect">
            <a:avLst/>
          </a:prstGeom>
        </p:spPr>
      </p:pic>
      <p:sp>
        <p:nvSpPr>
          <p:cNvPr id="29" name="Text 20"/>
          <p:cNvSpPr/>
          <p:nvPr/>
        </p:nvSpPr>
        <p:spPr>
          <a:xfrm>
            <a:off x="1874520" y="8467344"/>
            <a:ext cx="4727448" cy="329184"/>
          </a:xfrm>
          <a:prstGeom prst="rect">
            <a:avLst/>
          </a:prstGeom>
          <a:noFill/>
          <a:ln/>
        </p:spPr>
        <p:txBody>
          <a:bodyPr wrap="square" rtlCol="0" anchor="ctr"/>
          <a:lstStyle/>
          <a:p>
            <a:pPr marL="0" indent="0" algn="r">
              <a:buNone/>
            </a:pPr>
            <a:r>
              <a:rPr lang="en-US" sz="1000" dirty="0">
                <a:solidFill>
                  <a:srgbClr val="FFFFFF"/>
                </a:solidFill>
                <a:latin typeface="Arial" pitchFamily="34" charset="0"/>
                <a:ea typeface="Arial" pitchFamily="34" charset="-122"/>
                <a:cs typeface="Arial" pitchFamily="34" charset="-120"/>
              </a:rPr>
              <a:t>hussam.smadi@altusgulf.com</a:t>
            </a:r>
            <a:endParaRPr lang="en-US" sz="1000" dirty="0"/>
          </a:p>
        </p:txBody>
      </p:sp>
      <p:sp>
        <p:nvSpPr>
          <p:cNvPr id="30" name="Shape 21"/>
          <p:cNvSpPr/>
          <p:nvPr/>
        </p:nvSpPr>
        <p:spPr>
          <a:xfrm>
            <a:off x="6693408" y="8833104"/>
            <a:ext cx="365760" cy="365760"/>
          </a:xfrm>
          <a:prstGeom prst="ellipse">
            <a:avLst/>
          </a:prstGeom>
          <a:solidFill>
            <a:srgbClr val="C1501D"/>
          </a:solidFill>
          <a:ln/>
        </p:spPr>
      </p:sp>
      <p:pic>
        <p:nvPicPr>
          <p:cNvPr id="31" name="Image 7" descr="/home/claude/assets/icons/linkedin.png"/>
          <p:cNvPicPr>
            <a:picLocks noChangeAspect="1"/>
          </p:cNvPicPr>
          <p:nvPr/>
        </p:nvPicPr>
        <p:blipFill>
          <a:blip r:embed="rId9"/>
          <a:stretch>
            <a:fillRect/>
          </a:stretch>
        </p:blipFill>
        <p:spPr>
          <a:xfrm>
            <a:off x="6781190" y="8920886"/>
            <a:ext cx="190195" cy="190195"/>
          </a:xfrm>
          <a:prstGeom prst="rect">
            <a:avLst/>
          </a:prstGeom>
        </p:spPr>
      </p:pic>
      <p:sp>
        <p:nvSpPr>
          <p:cNvPr id="32" name="Text 22"/>
          <p:cNvSpPr/>
          <p:nvPr/>
        </p:nvSpPr>
        <p:spPr>
          <a:xfrm>
            <a:off x="1874520" y="8851392"/>
            <a:ext cx="4727448" cy="329184"/>
          </a:xfrm>
          <a:prstGeom prst="rect">
            <a:avLst/>
          </a:prstGeom>
          <a:noFill/>
          <a:ln/>
        </p:spPr>
        <p:txBody>
          <a:bodyPr wrap="square" rtlCol="0" anchor="ctr"/>
          <a:lstStyle/>
          <a:p>
            <a:pPr marL="0" indent="0" algn="r" rtl="1">
              <a:lnSpc>
                <a:spcPct val="98000"/>
              </a:lnSpc>
              <a:buNone/>
            </a:pPr>
            <a:r>
              <a:rPr lang="ar-SA" altLang="en-US" sz="1030" dirty="0">
                <a:solidFill>
                  <a:srgbClr val="FFFFFF"/>
                </a:solidFill>
                <a:latin typeface="Arial" pitchFamily="34" charset="0"/>
                <a:ea typeface="Arial" pitchFamily="34" charset="-122"/>
                <a:cs typeface="Arial" pitchFamily="34" charset="-120"/>
              </a:rPr>
              <a:t>linkedin.com/company/altus-gulf  [نص مؤقت]</a:t>
            </a:r>
            <a:endParaRPr lang="ar-SA" sz="1030" dirty="0"/>
          </a:p>
        </p:txBody>
      </p:sp>
      <p:sp>
        <p:nvSpPr>
          <p:cNvPr id="33" name="Shape 23"/>
          <p:cNvSpPr/>
          <p:nvPr/>
        </p:nvSpPr>
        <p:spPr>
          <a:xfrm>
            <a:off x="502920" y="7040880"/>
            <a:ext cx="1234440" cy="1234440"/>
          </a:xfrm>
          <a:prstGeom prst="roundRect">
            <a:avLst>
              <a:gd name="adj" fmla="val 4444"/>
            </a:avLst>
          </a:prstGeom>
          <a:ln w="12700">
            <a:solidFill>
              <a:srgbClr val="B9C3CC"/>
            </a:solidFill>
            <a:prstDash val="solid"/>
          </a:ln>
        </p:spPr>
      </p:sp>
      <p:sp>
        <p:nvSpPr>
          <p:cNvPr id="34" name="Shape 24"/>
          <p:cNvSpPr/>
          <p:nvPr/>
        </p:nvSpPr>
        <p:spPr>
          <a:xfrm>
            <a:off x="868680" y="7356348"/>
            <a:ext cx="502920" cy="502920"/>
          </a:xfrm>
          <a:prstGeom prst="ellipse">
            <a:avLst/>
          </a:prstGeom>
          <a:solidFill>
            <a:srgbClr val="13273A"/>
          </a:solidFill>
          <a:ln/>
        </p:spPr>
      </p:sp>
      <p:pic>
        <p:nvPicPr>
          <p:cNvPr id="35" name="Image 8" descr="/home/claude/assets/icons/key.png"/>
          <p:cNvPicPr>
            <a:picLocks noChangeAspect="1"/>
          </p:cNvPicPr>
          <p:nvPr/>
        </p:nvPicPr>
        <p:blipFill>
          <a:blip r:embed="rId10"/>
          <a:stretch>
            <a:fillRect/>
          </a:stretch>
        </p:blipFill>
        <p:spPr>
          <a:xfrm>
            <a:off x="989381" y="7477049"/>
            <a:ext cx="261518" cy="261518"/>
          </a:xfrm>
          <a:prstGeom prst="rect">
            <a:avLst/>
          </a:prstGeom>
        </p:spPr>
      </p:pic>
      <p:sp>
        <p:nvSpPr>
          <p:cNvPr id="36" name="Text 25"/>
          <p:cNvSpPr/>
          <p:nvPr/>
        </p:nvSpPr>
        <p:spPr>
          <a:xfrm>
            <a:off x="502920" y="7973568"/>
            <a:ext cx="1234440" cy="228600"/>
          </a:xfrm>
          <a:prstGeom prst="rect">
            <a:avLst/>
          </a:prstGeom>
          <a:noFill/>
          <a:ln/>
        </p:spPr>
        <p:txBody>
          <a:bodyPr wrap="square" rtlCol="0" anchor="ctr"/>
          <a:lstStyle/>
          <a:p>
            <a:pPr marL="0" indent="0" algn="ctr">
              <a:buNone/>
            </a:pPr>
            <a:r>
              <a:rPr lang="en-US" sz="800" dirty="0">
                <a:solidFill>
                  <a:srgbClr val="B9C3CC"/>
                </a:solidFill>
                <a:latin typeface="Arial" pitchFamily="34" charset="0"/>
                <a:ea typeface="Arial" pitchFamily="34" charset="-122"/>
                <a:cs typeface="Arial" pitchFamily="34" charset="-120"/>
              </a:rPr>
              <a:t>QR</a:t>
            </a:r>
            <a:endParaRPr lang="en-US" sz="800" dirty="0"/>
          </a:p>
        </p:txBody>
      </p:sp>
      <p:sp>
        <p:nvSpPr>
          <p:cNvPr id="37" name="Shape 26"/>
          <p:cNvSpPr/>
          <p:nvPr/>
        </p:nvSpPr>
        <p:spPr>
          <a:xfrm>
            <a:off x="502920" y="9372600"/>
            <a:ext cx="6556248" cy="0"/>
          </a:xfrm>
          <a:prstGeom prst="line">
            <a:avLst/>
          </a:prstGeom>
          <a:noFill/>
          <a:ln w="9525">
            <a:solidFill>
              <a:srgbClr val="2A3B4C"/>
            </a:solidFill>
            <a:prstDash val="solid"/>
          </a:ln>
        </p:spPr>
      </p:sp>
      <p:sp>
        <p:nvSpPr>
          <p:cNvPr id="38" name="Text 27"/>
          <p:cNvSpPr/>
          <p:nvPr/>
        </p:nvSpPr>
        <p:spPr>
          <a:xfrm>
            <a:off x="502920" y="9537192"/>
            <a:ext cx="6556248" cy="274320"/>
          </a:xfrm>
          <a:prstGeom prst="rect">
            <a:avLst/>
          </a:prstGeom>
          <a:noFill/>
          <a:ln/>
        </p:spPr>
        <p:txBody>
          <a:bodyPr wrap="square" rtlCol="0" anchor="ctr"/>
          <a:lstStyle/>
          <a:p>
            <a:pPr marL="0" indent="0" algn="ctr" rtl="1">
              <a:lnSpc>
                <a:spcPct val="98000"/>
              </a:lnSpc>
              <a:buNone/>
            </a:pPr>
            <a:r>
              <a:rPr lang="ar-SA" altLang="en-US" sz="980" b="1" dirty="0">
                <a:solidFill>
                  <a:srgbClr val="C1501D"/>
                </a:solidFill>
                <a:latin typeface="Arial" pitchFamily="34" charset="0"/>
                <a:ea typeface="Arial" pitchFamily="34" charset="-122"/>
                <a:cs typeface="Arial" pitchFamily="34" charset="-120"/>
              </a:rPr>
              <a:t>الارتقاء بالضيافة وأداء الأعمال</a:t>
            </a:r>
            <a:endParaRPr lang="ar-SA" sz="980" dirty="0"/>
          </a:p>
        </p:txBody>
      </p:sp>
      <p:sp>
        <p:nvSpPr>
          <p:cNvPr id="39" name="Text 28"/>
          <p:cNvSpPr/>
          <p:nvPr/>
        </p:nvSpPr>
        <p:spPr>
          <a:xfrm>
            <a:off x="502920" y="9875520"/>
            <a:ext cx="6556248" cy="274320"/>
          </a:xfrm>
          <a:prstGeom prst="rect">
            <a:avLst/>
          </a:prstGeom>
          <a:noFill/>
          <a:ln/>
        </p:spPr>
        <p:txBody>
          <a:bodyPr wrap="square" rtlCol="0" anchor="ctr"/>
          <a:lstStyle/>
          <a:p>
            <a:pPr marL="0" indent="0" algn="ctr" rtl="1">
              <a:lnSpc>
                <a:spcPct val="98000"/>
              </a:lnSpc>
              <a:buNone/>
            </a:pPr>
            <a:r>
              <a:rPr lang="ar-SA" altLang="en-US" sz="820" dirty="0">
                <a:solidFill>
                  <a:srgbClr val="B9C3CC"/>
                </a:solidFill>
                <a:latin typeface="Arial" pitchFamily="34" charset="0"/>
                <a:ea typeface="Arial" pitchFamily="34" charset="-122"/>
                <a:cs typeface="Arial" pitchFamily="34" charset="-120"/>
              </a:rPr>
              <a:t>جميع الحقوق محفوظة © 2026 Altus Gulf  •  الاستشارات الاستراتيجية واستشارات الأعمال</a:t>
            </a:r>
            <a:endParaRPr lang="ar-SA"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5480</Words>
  <Application>Microsoft Office PowerPoint</Application>
  <PresentationFormat>Custom</PresentationFormat>
  <Paragraphs>685</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Mahrous.islam@outlook.com</cp:lastModifiedBy>
  <cp:revision>3</cp:revision>
  <dcterms:created xsi:type="dcterms:W3CDTF">2026-09-28T12:01:44Z</dcterms:created>
  <dcterms:modified xsi:type="dcterms:W3CDTF">2026-09-28T12:20:37Z</dcterms:modified>
</cp:coreProperties>
</file>