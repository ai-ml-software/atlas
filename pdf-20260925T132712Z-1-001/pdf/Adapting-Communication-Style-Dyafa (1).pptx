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d90d84c1064e7b" /><Relationship Type="http://schemas.openxmlformats.org/officeDocument/2006/relationships/extended-properties" Target="/docProps/app.xml" Id="Rcce6cab33b7f463f" /><Relationship Type="http://schemas.openxmlformats.org/officeDocument/2006/relationships/officeDocument" Target="/ppt/presentation.xml" Id="Rcc65f0b105dc45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d889463c1104f21"/>
  </p:sldMasterIdLst>
  <p:notesMasterIdLst>
    <p:notesMasterId xmlns:r="http://schemas.openxmlformats.org/officeDocument/2006/relationships" r:id="R0df8407e9ca647b5"/>
  </p:notesMasterIdLst>
  <p:sldIdLst>
    <p:sldId xmlns:r="http://schemas.openxmlformats.org/officeDocument/2006/relationships" id="256" r:id="R7cdd21ac6a744c87"/>
    <p:sldId xmlns:r="http://schemas.openxmlformats.org/officeDocument/2006/relationships" id="257" r:id="R860571d494af4fa0"/>
    <p:sldId xmlns:r="http://schemas.openxmlformats.org/officeDocument/2006/relationships" id="258" r:id="R3ec37e531e8c4391"/>
    <p:sldId xmlns:r="http://schemas.openxmlformats.org/officeDocument/2006/relationships" id="259" r:id="R7c8c3ac71ceb490d"/>
    <p:sldId xmlns:r="http://schemas.openxmlformats.org/officeDocument/2006/relationships" id="260" r:id="Rbe1f48749e434c6e"/>
    <p:sldId xmlns:r="http://schemas.openxmlformats.org/officeDocument/2006/relationships" id="261" r:id="R93be93c5057b4a5a"/>
    <p:sldId xmlns:r="http://schemas.openxmlformats.org/officeDocument/2006/relationships" id="262" r:id="R8176558bfdb044bf"/>
    <p:sldId xmlns:r="http://schemas.openxmlformats.org/officeDocument/2006/relationships" id="263" r:id="R492b4bff6803485a"/>
    <p:sldId xmlns:r="http://schemas.openxmlformats.org/officeDocument/2006/relationships" id="264" r:id="R0b1a92e5bc7142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5dbeb5d38fc47dd" /><Relationship Type="http://schemas.openxmlformats.org/officeDocument/2006/relationships/slideMaster" Target="/ppt/slideMasters/slideMaster1.xml" Id="Rdd889463c1104f21" /><Relationship Type="http://schemas.openxmlformats.org/officeDocument/2006/relationships/notesMaster" Target="/ppt/notesMasters/notesMaster1.xml" Id="R0df8407e9ca647b5" /><Relationship Type="http://schemas.openxmlformats.org/officeDocument/2006/relationships/presProps" Target="/ppt/presProps.xml" Id="Rb02f7620676740c2" /><Relationship Type="http://schemas.openxmlformats.org/officeDocument/2006/relationships/tableStyles" Target="/ppt/tableStyles.xml" Id="R9dc2876325744c98" /><Relationship Type="http://schemas.openxmlformats.org/officeDocument/2006/relationships/slide" Target="/ppt/slides/slide1.xml" Id="R7cdd21ac6a744c87" /><Relationship Type="http://schemas.openxmlformats.org/officeDocument/2006/relationships/slide" Target="/ppt/slides/slide2.xml" Id="R860571d494af4fa0" /><Relationship Type="http://schemas.openxmlformats.org/officeDocument/2006/relationships/slide" Target="/ppt/slides/slide3.xml" Id="R3ec37e531e8c4391" /><Relationship Type="http://schemas.openxmlformats.org/officeDocument/2006/relationships/slide" Target="/ppt/slides/slide4.xml" Id="R7c8c3ac71ceb490d" /><Relationship Type="http://schemas.openxmlformats.org/officeDocument/2006/relationships/slide" Target="/ppt/slides/slide5.xml" Id="Rbe1f48749e434c6e" /><Relationship Type="http://schemas.openxmlformats.org/officeDocument/2006/relationships/slide" Target="/ppt/slides/slide6.xml" Id="R93be93c5057b4a5a" /><Relationship Type="http://schemas.openxmlformats.org/officeDocument/2006/relationships/slide" Target="/ppt/slides/slide7.xml" Id="R8176558bfdb044bf" /><Relationship Type="http://schemas.openxmlformats.org/officeDocument/2006/relationships/slide" Target="/ppt/slides/slide8.xml" Id="R492b4bff6803485a" /><Relationship Type="http://schemas.openxmlformats.org/officeDocument/2006/relationships/slide" Target="/ppt/slides/slide9.xml" Id="R0b1a92e5bc7142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93f7c008bf40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f1326bcf844d97" /><Relationship Type="http://schemas.openxmlformats.org/officeDocument/2006/relationships/notesMaster" Target="/ppt/notesMasters/notesMaster1.xml" Id="R5aa4fdd13d5f409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6035e797f54f23" /><Relationship Type="http://schemas.openxmlformats.org/officeDocument/2006/relationships/notesMaster" Target="/ppt/notesMasters/notesMaster1.xml" Id="Rbc3570a5f74f40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28bb3178e8848e5" /><Relationship Type="http://schemas.openxmlformats.org/officeDocument/2006/relationships/notesMaster" Target="/ppt/notesMasters/notesMaster1.xml" Id="R0f863e2a7b4848b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06f121358b4f75" /><Relationship Type="http://schemas.openxmlformats.org/officeDocument/2006/relationships/notesMaster" Target="/ppt/notesMasters/notesMaster1.xml" Id="R28618f7e42754b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674b1f9e3c34904" /><Relationship Type="http://schemas.openxmlformats.org/officeDocument/2006/relationships/notesMaster" Target="/ppt/notesMasters/notesMaster1.xml" Id="Rcf60c94b886e4c1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65aa327c19947a8" /><Relationship Type="http://schemas.openxmlformats.org/officeDocument/2006/relationships/notesMaster" Target="/ppt/notesMasters/notesMaster1.xml" Id="R55219c7857b449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9993f7d9ab4fd0" /><Relationship Type="http://schemas.openxmlformats.org/officeDocument/2006/relationships/notesMaster" Target="/ppt/notesMasters/notesMaster1.xml" Id="R7f6263f0e3424f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b95a072d714da8" /><Relationship Type="http://schemas.openxmlformats.org/officeDocument/2006/relationships/notesMaster" Target="/ppt/notesMasters/notesMaster1.xml" Id="R5bcfe22fd22e4a9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f66f044be824eb7" /><Relationship Type="http://schemas.openxmlformats.org/officeDocument/2006/relationships/notesMaster" Target="/ppt/notesMasters/notesMaster1.xml" Id="R0363aab63dbb446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Dyafa welcome poster from مرحبا في بيتك.pdf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content from 28- MATCHING SPEECH PATTERN.pptx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content from 28- MATCHING SPEECH PATTERN.pptx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content from 28- MATCHING SPEECH PATTERN.pptx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content from 28- MATCHING SPEECH PATTERN.pptx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content from 28- MATCHING SPEECH PATTERN.pptx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content from 28- MATCHING SPEECH PATTERN.pptx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training content from 28- MATCHING SPEECH PATTERN.pptx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Dyafa logo from مرحبا في بيتك.pdf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80bddf122a43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eefe27e24c43b8" /><Relationship Type="http://schemas.openxmlformats.org/officeDocument/2006/relationships/slideLayout" Target="/ppt/slideLayouts/slideLayout1.xml" Id="R6dc4e1bf5da345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c4e1bf5da345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928d852ead4ede" /><Relationship Type="http://schemas.openxmlformats.org/officeDocument/2006/relationships/image" Target="/ppt/media/image.png" Id="Rbafbb0595d714188" /><Relationship Type="http://schemas.openxmlformats.org/officeDocument/2006/relationships/notesSlide" Target="/ppt/notesSlides/notesSlide1.xml" Id="Rae40c66463cf4d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8bce5bef14420" /><Relationship Type="http://schemas.openxmlformats.org/officeDocument/2006/relationships/notesSlide" Target="/ppt/notesSlides/notesSlide2.xml" Id="R63388083ce7d4f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889cab98f4a79" /><Relationship Type="http://schemas.openxmlformats.org/officeDocument/2006/relationships/notesSlide" Target="/ppt/notesSlides/notesSlide3.xml" Id="Rd3f88e4c9dc348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f31dae7944ddb" /><Relationship Type="http://schemas.openxmlformats.org/officeDocument/2006/relationships/notesSlide" Target="/ppt/notesSlides/notesSlide4.xml" Id="R61e0d10d8cf544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787c5a23e47e5" /><Relationship Type="http://schemas.openxmlformats.org/officeDocument/2006/relationships/notesSlide" Target="/ppt/notesSlides/notesSlide5.xml" Id="R203014dc141943b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e52f5a7fa4582" /><Relationship Type="http://schemas.openxmlformats.org/officeDocument/2006/relationships/notesSlide" Target="/ppt/notesSlides/notesSlide6.xml" Id="R14bd0d546c7c4c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d8a1c75e24b1e" /><Relationship Type="http://schemas.openxmlformats.org/officeDocument/2006/relationships/notesSlide" Target="/ppt/notesSlides/notesSlide7.xml" Id="R329d4c2b7a4847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048d9f2a141d2" /><Relationship Type="http://schemas.openxmlformats.org/officeDocument/2006/relationships/notesSlide" Target="/ppt/notesSlides/notesSlide8.xml" Id="R9668539a7a90460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5f46d07a0416b" /><Relationship Type="http://schemas.openxmlformats.org/officeDocument/2006/relationships/image" Target="/ppt/media/image2.png" Id="R4c840993dca54d4f" /><Relationship Type="http://schemas.openxmlformats.org/officeDocument/2006/relationships/notesSlide" Target="/ppt/notesSlides/notesSlide9.xml" Id="R7b09dfa3240241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fbb0595d714188"/>
          <a:srcRect xmlns:a="http://schemas.openxmlformats.org/drawingml/2006/main" l="20597" t="0" r="205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403611-4AB1-4549-99A6-814F2534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00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5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9D1D75-55ED-4C41-B643-6F968198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38200"/>
            <a:ext cx="85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7A88B-831B-4EFF-8F01-7D30A58D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5286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825" b="1">
                <a:solidFill>
                  <a:srgbClr val="F5F0E5"/>
                </a:solidFill>
              </a:defRPr>
            </a:pPr>
            <a:r>
              <a:rPr sz="3825" b="1">
                <a:solidFill>
                  <a:srgbClr val="F5F0E5"/>
                </a:solidFill>
              </a:rPr>
              <a:t>تكييف أسلوب التواصل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304EAC-499B-46C8-8106-FA691699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5286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D5B46A"/>
                </a:solidFill>
              </a:defRPr>
            </a:pPr>
            <a:r>
              <a:rPr sz="3150" b="1">
                <a:solidFill>
                  <a:srgbClr val="D5B46A"/>
                </a:solidFill>
              </a:rPr>
              <a:t>تواصل بطريقة تريح النزيل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FE4D2-AC76-485D-A596-5F5083DA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A49A"/>
                </a:solidFill>
              </a:defRPr>
            </a:pPr>
            <a:r>
              <a:rPr sz="1800" b="1">
                <a:solidFill>
                  <a:srgbClr val="1FA49A"/>
                </a:solidFill>
              </a:rPr>
              <a:t>ADAPTING COMMUNICATION STYLE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A8D642-DAF0-4E05-8B1B-F41E20B5B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538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MATCH THE NEED — NEVER MIMIC.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E4F9F-9839-42CC-91E0-5DE741E5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24375"/>
            <a:ext cx="5000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3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047E37-3B5D-43EE-802E-4154B8A3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95825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5F0E5"/>
                </a:solidFill>
              </a:defRPr>
            </a:pPr>
            <a:r>
              <a:rPr sz="1725" b="1">
                <a:solidFill>
                  <a:srgbClr val="F5F0E5"/>
                </a:solidFill>
              </a:rPr>
              <a:t>لاحظ  •  استمع  •  كيّف  •  تأكد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54E7B-FF43-4A4B-B0BB-7FB9A745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62550"/>
            <a:ext cx="523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7E3"/>
                </a:solidFill>
              </a:defRPr>
            </a:pPr>
            <a:r>
              <a:rPr sz="1200" b="0">
                <a:solidFill>
                  <a:srgbClr val="D9E7E3"/>
                </a:solidFill>
              </a:rPr>
              <a:t>Observe • Listen • Adapt • Confirm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59046-CB1F-4A56-A454-59A8C4A7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48375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AC3BE"/>
                </a:solidFill>
              </a:defRPr>
            </a:pPr>
            <a:r>
              <a:rPr sz="1050" b="0">
                <a:solidFill>
                  <a:srgbClr val="AAC3BE"/>
                </a:solidFill>
              </a:rPr>
              <a:t>فنادق ومنتجعات ضيافة  |  Dyafa Hotels &amp; Resorts</a:t>
            </a:r>
          </a:p>
        </p:txBody>
      </p:sp>
    </p:spTree>
    <p:extLst>
      <p:ext uri="{BB962C8B-B14F-4D97-AF65-F5344CB8AC3E}">
        <p14:creationId xmlns:p14="http://schemas.microsoft.com/office/powerpoint/2010/main" val="18093146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92A311-8023-4C39-BA45-31326F9B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F711AE-5E4C-4489-80B3-E2BE1BBF7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F5F0E5"/>
                </a:solidFill>
              </a:defRPr>
            </a:pPr>
            <a:r>
              <a:rPr sz="2850" b="1">
                <a:solidFill>
                  <a:srgbClr val="F5F0E5"/>
                </a:solidFill>
              </a:rPr>
              <a:t>الأسلوب المرن يجعل التواصل أسهل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2E898-2B6D-479F-B504-461AC4A3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WHY ADAPT COMMUNICATION?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07AD2-BF60-4FA0-8DC7-716D93D5C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930F56-B740-4069-899C-6845B1E4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3CEC11-62C8-4F91-80AD-D04280AB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C3BE"/>
                </a:solidFill>
              </a:defRPr>
            </a:pPr>
            <a:r>
              <a:rPr sz="900" b="0">
                <a:solidFill>
                  <a:srgbClr val="AAC3BE"/>
                </a:solidFill>
              </a:rPr>
              <a:t>فنادق ومنتجعات ضيافة  |  Dyafa Hotels &amp; Resorts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52CC8-FD58-434D-8793-59E2E4AD7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76375"/>
            <a:ext cx="261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D5B46A"/>
                </a:solidFill>
              </a:defRPr>
            </a:pPr>
            <a:r>
              <a:rPr sz="4350" b="1">
                <a:solidFill>
                  <a:srgbClr val="D5B46A"/>
                </a:solidFill>
              </a:rPr>
              <a:t>راحة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B1BEB-BA34-4F5D-82A9-2CA1EE2D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86000"/>
            <a:ext cx="26193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5F0E5"/>
                </a:solidFill>
              </a:defRPr>
            </a:pPr>
            <a:r>
              <a:rPr sz="1875" b="1">
                <a:solidFill>
                  <a:srgbClr val="F5F0E5"/>
                </a:solidFill>
              </a:rPr>
              <a:t>وفهم أسرع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879469-2E26-4A2B-8686-2DDD1192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2619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E7E3"/>
                </a:solidFill>
              </a:defRPr>
            </a:pPr>
            <a:r>
              <a:rPr sz="1125" b="1">
                <a:solidFill>
                  <a:srgbClr val="D9E7E3"/>
                </a:solidFill>
              </a:rPr>
              <a:t>COMFORT AND CLARITY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C3519-3847-4B89-8373-A84B0566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3335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E1D5D-3FF7-4D69-A6AA-CD432C7E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381125"/>
            <a:ext cx="19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5B6479-C7CE-45BD-A7AF-360E3F78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651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5F0E5"/>
                </a:solidFill>
              </a:defRPr>
            </a:pPr>
            <a:r>
              <a:rPr sz="1575" b="0">
                <a:solidFill>
                  <a:srgbClr val="F5F0E5"/>
                </a:solidFill>
              </a:rPr>
              <a:t>الضيوف يختلفون في اللغة والسرعة وطريقة الفهم.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269BDB-2934-4512-B216-846310AF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952625"/>
            <a:ext cx="19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95AE69-88F2-44FC-97CA-1B1C2FCD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651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5F0E5"/>
                </a:solidFill>
              </a:defRPr>
            </a:pPr>
            <a:r>
              <a:rPr sz="1575" b="0">
                <a:solidFill>
                  <a:srgbClr val="F5F0E5"/>
                </a:solidFill>
              </a:rPr>
              <a:t>الكلام السريع قد يشعر بعضهم بالاستعجال.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CD627-E2C5-4CA3-A168-7630CDA1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24125"/>
            <a:ext cx="19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C5535-5DD5-48AB-983C-006364D3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651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5F0E5"/>
                </a:solidFill>
              </a:defRPr>
            </a:pPr>
            <a:r>
              <a:rPr sz="1575" b="0">
                <a:solidFill>
                  <a:srgbClr val="F5F0E5"/>
                </a:solidFill>
              </a:rPr>
              <a:t>الشرح البطيء جدًا قد يزعج من يريد نتيجة سريعة.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A2938E-A0C9-4B40-AB32-E83E6213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095625"/>
            <a:ext cx="19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44ACB8-7D3E-4B21-9EAA-F0316CAA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95625"/>
            <a:ext cx="651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5F0E5"/>
                </a:solidFill>
              </a:defRPr>
            </a:pPr>
            <a:r>
              <a:rPr sz="1575" b="0">
                <a:solidFill>
                  <a:srgbClr val="F5F0E5"/>
                </a:solidFill>
              </a:rPr>
              <a:t>بعض الضيوف يفضلون الاختصار وآخرون يحتاجون تفاصيل.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781F8-3F98-4F6C-BDD3-4DE7ABB83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667125"/>
            <a:ext cx="19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D412CB-D988-4F56-AC00-E40E62968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67125"/>
            <a:ext cx="6515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F5F0E5"/>
                </a:solidFill>
              </a:defRPr>
            </a:pPr>
            <a:r>
              <a:rPr sz="1575" b="0">
                <a:solidFill>
                  <a:srgbClr val="F5F0E5"/>
                </a:solidFill>
              </a:rPr>
              <a:t>تكييف الأسلوب يقلل سوء الفهم ويبني الارتياح.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F843D-5A6B-410B-B07D-E9258041F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72000"/>
            <a:ext cx="68580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0B2827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694D30-6816-4182-BFEF-79EF2369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667250"/>
            <a:ext cx="638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0E5"/>
                </a:solidFill>
              </a:defRPr>
            </a:pPr>
            <a:r>
              <a:rPr sz="1725" b="1">
                <a:solidFill>
                  <a:srgbClr val="F5F0E5"/>
                </a:solidFill>
              </a:rPr>
              <a:t>ثبّت الاحترام والمعلومة — وكيّف طريقة تقديمهما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54FD7-038C-4DA1-9B5C-CEC783E3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095875"/>
            <a:ext cx="638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D9E7E3"/>
                </a:solidFill>
              </a:defRPr>
            </a:pPr>
            <a:r>
              <a:rPr sz="1200" b="0">
                <a:solidFill>
                  <a:srgbClr val="D9E7E3"/>
                </a:solidFill>
              </a:rPr>
              <a:t>Keep the message consistent; adapt how you deliver it.</a:t>
            </a:r>
          </a:p>
        </p:txBody>
      </p:sp>
    </p:spTree>
    <p:extLst>
      <p:ext uri="{BB962C8B-B14F-4D97-AF65-F5344CB8AC3E}">
        <p14:creationId xmlns:p14="http://schemas.microsoft.com/office/powerpoint/2010/main" val="9432627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29FEBE-BA7A-4810-AC91-9435DFA7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27030-CED3-46AA-9AEB-625AB945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F5F0E5"/>
                </a:solidFill>
              </a:defRPr>
            </a:pPr>
            <a:r>
              <a:rPr sz="2850" b="1">
                <a:solidFill>
                  <a:srgbClr val="F5F0E5"/>
                </a:solidFill>
              </a:rPr>
              <a:t>لاحظ تفضيل النزيل ثم تحقّق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B14718-F38C-4B98-A069-093ABFED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OBSERVE AND CONFIRM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33F47-3B99-44C0-BE40-6E2D7A152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4B9185-52A7-4889-8A56-D0378B974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7BB33-F0E4-4229-8205-AE18298E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C3BE"/>
                </a:solidFill>
              </a:defRPr>
            </a:pPr>
            <a:r>
              <a:rPr sz="900" b="0">
                <a:solidFill>
                  <a:srgbClr val="AAC3BE"/>
                </a:solidFill>
              </a:rPr>
              <a:t>فنادق ومنتجعات ضيافة  |  Dyafa Hotels &amp; Resorts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6B4C5-04FF-4696-85A2-24B48B8C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7625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023297-FE2E-45C3-B4BC-C54F0C37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668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5B46A"/>
                </a:solidFill>
              </a:defRPr>
            </a:pPr>
            <a:r>
              <a:rPr sz="2475" b="1">
                <a:solidFill>
                  <a:srgbClr val="D5B46A"/>
                </a:solidFill>
              </a:rPr>
              <a:t>ما الذي تلاحظه؟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32305-CCFF-4807-BD9F-F30CA8E8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431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E7E3"/>
                </a:solidFill>
              </a:defRPr>
            </a:pPr>
            <a:r>
              <a:rPr sz="1200" b="1">
                <a:solidFill>
                  <a:srgbClr val="D9E7E3"/>
                </a:solidFill>
              </a:rPr>
              <a:t>COMMUNICATION CUES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3AA1E5-C790-48B3-9A42-A4FB5AEA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71750"/>
            <a:ext cx="19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7527FD-65F7-400C-8ED0-B2ECE331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3752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5F0E5"/>
                </a:solidFill>
              </a:defRPr>
            </a:pPr>
            <a:r>
              <a:rPr sz="1425" b="0">
                <a:solidFill>
                  <a:srgbClr val="F5F0E5"/>
                </a:solidFill>
              </a:rPr>
              <a:t>لغة التواصل التي يستخدمها.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45E74-5C1E-4B8D-96E9-2EB0BA15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038475"/>
            <a:ext cx="19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3011E0-A995-45D8-A4A2-DE7BCE07C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38475"/>
            <a:ext cx="3752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5F0E5"/>
                </a:solidFill>
              </a:defRPr>
            </a:pPr>
            <a:r>
              <a:rPr sz="1425" b="0">
                <a:solidFill>
                  <a:srgbClr val="F5F0E5"/>
                </a:solidFill>
              </a:rPr>
              <a:t>سرعة كلامه وطول الجمل.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09D58-3176-4AD3-B181-8C1BA584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505200"/>
            <a:ext cx="19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E1F6B8-0B21-47C5-B93A-BE0B92B3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05200"/>
            <a:ext cx="3752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5F0E5"/>
                </a:solidFill>
              </a:defRPr>
            </a:pPr>
            <a:r>
              <a:rPr sz="1425" b="0">
                <a:solidFill>
                  <a:srgbClr val="F5F0E5"/>
                </a:solidFill>
              </a:rPr>
              <a:t>هل يسأل عن الخلاصة أم التفاصيل.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80657B-565C-4B7C-A362-62181C55E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971925"/>
            <a:ext cx="19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90D4DD-51AA-46D6-85CF-850B0999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71925"/>
            <a:ext cx="3752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5F0E5"/>
                </a:solidFill>
              </a:defRPr>
            </a:pPr>
            <a:r>
              <a:rPr sz="1425" b="0">
                <a:solidFill>
                  <a:srgbClr val="F5F0E5"/>
                </a:solidFill>
              </a:rPr>
              <a:t>درجة وضوح الصوت المناسبة.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4FA0A9-23E7-44B3-8C8A-3838E5ADD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438650"/>
            <a:ext cx="19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71321-E74A-4582-B645-330D472E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38650"/>
            <a:ext cx="3752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F5F0E5"/>
                </a:solidFill>
              </a:defRPr>
            </a:pPr>
            <a:r>
              <a:rPr sz="1425" b="0">
                <a:solidFill>
                  <a:srgbClr val="F5F0E5"/>
                </a:solidFill>
              </a:rPr>
              <a:t>مدى حاجته للتكرار أو الكتابة.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4C929-6922-48F5-835B-A2D125E1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76250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265136-E7E7-4C4E-99DB-2107F1E8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66875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5B46A"/>
                </a:solidFill>
              </a:defRPr>
            </a:pPr>
            <a:r>
              <a:rPr sz="2475" b="1">
                <a:solidFill>
                  <a:srgbClr val="D5B46A"/>
                </a:solidFill>
              </a:rPr>
              <a:t>كيف تتحقق؟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DD2D5-0EAC-47C7-84B6-61EF02B23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14312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D9E7E3"/>
                </a:solidFill>
              </a:defRPr>
            </a:pPr>
            <a:r>
              <a:rPr sz="1200" b="1">
                <a:solidFill>
                  <a:srgbClr val="D9E7E3"/>
                </a:solidFill>
              </a:rPr>
              <a:t>CONFIRM THE PREFERENCE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8895E8-D03B-424D-A710-E497242F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2571750"/>
            <a:ext cx="19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7EB63F-B8D6-413B-9D4D-8B021C329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71750"/>
            <a:ext cx="3752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5F0E5"/>
                </a:solidFill>
              </a:defRPr>
            </a:pPr>
            <a:r>
              <a:rPr sz="1350" b="0">
                <a:solidFill>
                  <a:srgbClr val="F5F0E5"/>
                </a:solidFill>
              </a:rPr>
              <a:t>ما اللغة التي تفضلونها؟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E2A3CF-CE58-4A74-9654-4B50048F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038475"/>
            <a:ext cx="19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0A947B-66B6-4E08-86E5-29046B25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38475"/>
            <a:ext cx="3752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5F0E5"/>
                </a:solidFill>
              </a:defRPr>
            </a:pPr>
            <a:r>
              <a:rPr sz="1350" b="0">
                <a:solidFill>
                  <a:srgbClr val="F5F0E5"/>
                </a:solidFill>
              </a:rPr>
              <a:t>هل تفضلون شرحًا مختصرًا أم تفصيليًا؟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4C62D5-E548-406F-BC0E-35B4C894D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505200"/>
            <a:ext cx="19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A2094-0F5F-4E67-A904-3487F100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05200"/>
            <a:ext cx="3752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5F0E5"/>
                </a:solidFill>
              </a:defRPr>
            </a:pPr>
            <a:r>
              <a:rPr sz="1350" b="0">
                <a:solidFill>
                  <a:srgbClr val="F5F0E5"/>
                </a:solidFill>
              </a:rPr>
              <a:t>هل أكرر المعلومة أو أكتبها؟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F1E0EB-456D-4C9D-A3EE-C96DCCFB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3971925"/>
            <a:ext cx="19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15670D-2F7A-4A02-9754-8196CD378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971925"/>
            <a:ext cx="3752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5F0E5"/>
                </a:solidFill>
              </a:defRPr>
            </a:pPr>
            <a:r>
              <a:rPr sz="1350" b="0">
                <a:solidFill>
                  <a:srgbClr val="F5F0E5"/>
                </a:solidFill>
              </a:rPr>
              <a:t>هل كانت السرعة والوضوح مناسبين؟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3039A8-5048-4FF0-B86B-70F8F9A6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2725" y="4438650"/>
            <a:ext cx="190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87740B-D420-481D-AD19-8CF3DFF8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438650"/>
            <a:ext cx="3752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F5F0E5"/>
                </a:solidFill>
              </a:defRPr>
            </a:pPr>
            <a:r>
              <a:rPr sz="1350" b="0">
                <a:solidFill>
                  <a:srgbClr val="F5F0E5"/>
                </a:solidFill>
              </a:rPr>
              <a:t>هل يمكنني التأكد مما فهمتموه؟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EC4DB0-B2E4-4D8B-8B90-60EA5C870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B46A"/>
                </a:solidFill>
              </a:defRPr>
            </a:pPr>
            <a:r>
              <a:rPr sz="1650" b="1">
                <a:solidFill>
                  <a:srgbClr val="D5B46A"/>
                </a:solidFill>
              </a:rPr>
              <a:t>الإشارة تساعدك — لكن السؤال يمنع الافتراض</a:t>
            </a:r>
          </a:p>
        </p:txBody>
      </p:sp>
    </p:spTree>
    <p:extLst>
      <p:ext uri="{BB962C8B-B14F-4D97-AF65-F5344CB8AC3E}">
        <p14:creationId xmlns:p14="http://schemas.microsoft.com/office/powerpoint/2010/main" val="210406230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5D81AC-F905-4B29-A871-C74D6B7B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1AF444-5FA8-476B-8E45-2560EBB2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F5F0E5"/>
                </a:solidFill>
              </a:defRPr>
            </a:pPr>
            <a:r>
              <a:rPr sz="2850" b="1">
                <a:solidFill>
                  <a:srgbClr val="F5F0E5"/>
                </a:solidFill>
              </a:rPr>
              <a:t>خمسة عناصر يمكن تكييفها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F5E12-0C2B-4182-98A0-007C3649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FIVE COMMUNICATION ELEMENTS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DA0FC-F831-46E3-952E-FF822FDB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94C273-ACCB-433F-BF58-26DA7BB1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6202C8-4AC3-43AB-8F0A-FA634A2E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C3BE"/>
                </a:solidFill>
              </a:defRPr>
            </a:pPr>
            <a:r>
              <a:rPr sz="900" b="0">
                <a:solidFill>
                  <a:srgbClr val="AAC3BE"/>
                </a:solidFill>
              </a:rPr>
              <a:t>فنادق ومنتجعات ضيافة  |  Dyafa Hotels &amp; Resorts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0B2646-CA7E-4822-AA76-883AB562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A4363-F4A9-4CF9-855E-7251570A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5737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FA49A"/>
                </a:solidFill>
              </a:defRPr>
            </a:pPr>
            <a:r>
              <a:rPr sz="2850" b="1">
                <a:solidFill>
                  <a:srgbClr val="1FA49A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2A9E8-DD73-4B5C-908D-D0991F1E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19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5F0E5"/>
                </a:solidFill>
              </a:defRPr>
            </a:pPr>
            <a:r>
              <a:rPr sz="2400" b="1">
                <a:solidFill>
                  <a:srgbClr val="F5F0E5"/>
                </a:solidFill>
              </a:rPr>
              <a:t>اللغة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3A4FF3-C561-4CF7-AB3D-F2EF47EF3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B46A"/>
                </a:solidFill>
              </a:defRPr>
            </a:pPr>
            <a:r>
              <a:rPr sz="975" b="1">
                <a:solidFill>
                  <a:srgbClr val="D5B46A"/>
                </a:solidFill>
              </a:rPr>
              <a:t>LANGUAGE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D4B9D-BE77-4918-9AAC-76CDF229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7E3"/>
                </a:solidFill>
              </a:defRPr>
            </a:pPr>
            <a:r>
              <a:rPr sz="1275" b="0">
                <a:solidFill>
                  <a:srgbClr val="D9E7E3"/>
                </a:solidFill>
              </a:rPr>
              <a:t>المفضلة والأوضح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EA38EB-402C-4D29-8B05-F76A5998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6192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0456E4-30D1-4EB4-B68D-D0C9AC7F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5737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5B46A"/>
                </a:solidFill>
              </a:defRPr>
            </a:pPr>
            <a:r>
              <a:rPr sz="2850" b="1">
                <a:solidFill>
                  <a:srgbClr val="D5B46A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B2467-0AAF-4F16-83E9-40E0AD98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19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5F0E5"/>
                </a:solidFill>
              </a:defRPr>
            </a:pPr>
            <a:r>
              <a:rPr sz="2400" b="1">
                <a:solidFill>
                  <a:srgbClr val="F5F0E5"/>
                </a:solidFill>
              </a:rPr>
              <a:t>السرعة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29C7D-5724-4E2B-BDD3-EE4091FE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B46A"/>
                </a:solidFill>
              </a:defRPr>
            </a:pPr>
            <a:r>
              <a:rPr sz="975" b="1">
                <a:solidFill>
                  <a:srgbClr val="D5B46A"/>
                </a:solidFill>
              </a:rPr>
              <a:t>PACE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63E912-A166-4A8D-8C08-F3BEA6D35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14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7E3"/>
                </a:solidFill>
              </a:defRPr>
            </a:pPr>
            <a:r>
              <a:rPr sz="1275" b="0">
                <a:solidFill>
                  <a:srgbClr val="D9E7E3"/>
                </a:solidFill>
              </a:rPr>
              <a:t>أسرع أو أبطأ قليلًا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153399-E871-4E8F-82B1-FE3964F9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6192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7738CA-568B-4560-B4F6-9860DE38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5737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FA49A"/>
                </a:solidFill>
              </a:defRPr>
            </a:pPr>
            <a:r>
              <a:rPr sz="2850" b="1">
                <a:solidFill>
                  <a:srgbClr val="1FA49A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0FEA2B-0537-4EB8-AFEA-C4AC3DD3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619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5F0E5"/>
                </a:solidFill>
              </a:defRPr>
            </a:pPr>
            <a:r>
              <a:rPr sz="2400" b="1">
                <a:solidFill>
                  <a:srgbClr val="F5F0E5"/>
                </a:solidFill>
              </a:rPr>
              <a:t>الصوت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2B5558-83B9-4917-8FCD-1A0CDDA40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B46A"/>
                </a:solidFill>
              </a:defRPr>
            </a:pPr>
            <a:r>
              <a:rPr sz="975" b="1">
                <a:solidFill>
                  <a:srgbClr val="D5B46A"/>
                </a:solidFill>
              </a:rPr>
              <a:t>VOLUME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7FFEF9-6AC2-4ED4-B747-D985793BA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14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7E3"/>
                </a:solidFill>
              </a:defRPr>
            </a:pPr>
            <a:r>
              <a:rPr sz="1275" b="0">
                <a:solidFill>
                  <a:srgbClr val="D9E7E3"/>
                </a:solidFill>
              </a:rPr>
              <a:t>مسموع ومريح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2A648A-F9DB-4A82-B41D-BE134141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192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28B44-9DDD-481A-937E-9AEB8D54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5737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D5B46A"/>
                </a:solidFill>
              </a:defRPr>
            </a:pPr>
            <a:r>
              <a:rPr sz="2850" b="1">
                <a:solidFill>
                  <a:srgbClr val="D5B46A"/>
                </a:solidFill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AAD741-CB7A-4E3E-8938-256E77C5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19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5F0E5"/>
                </a:solidFill>
              </a:defRPr>
            </a:pPr>
            <a:r>
              <a:rPr sz="2400" b="1">
                <a:solidFill>
                  <a:srgbClr val="F5F0E5"/>
                </a:solidFill>
              </a:rPr>
              <a:t>النبرة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43F0C0-5D17-4263-8AB5-95BE4815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B46A"/>
                </a:solidFill>
              </a:defRPr>
            </a:pPr>
            <a:r>
              <a:rPr sz="975" b="1">
                <a:solidFill>
                  <a:srgbClr val="D5B46A"/>
                </a:solidFill>
              </a:rPr>
              <a:t>TONE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89E75D-3F53-459E-A9B8-267CFC52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7E3"/>
                </a:solidFill>
              </a:defRPr>
            </a:pPr>
            <a:r>
              <a:rPr sz="1275" b="0">
                <a:solidFill>
                  <a:srgbClr val="D9E7E3"/>
                </a:solidFill>
              </a:rPr>
              <a:t>ودود ومهني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EFD5AA-8FB5-4B84-818A-98AF88A23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619250"/>
            <a:ext cx="1905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FBD7DA-A3F2-4AA9-A191-3E134D4E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1857375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FA49A"/>
                </a:solidFill>
              </a:defRPr>
            </a:pPr>
            <a:r>
              <a:rPr sz="2850" b="1">
                <a:solidFill>
                  <a:srgbClr val="1FA49A"/>
                </a:solidFill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BCF50B-EFF6-4D65-BF4F-D4BD4E18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193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5F0E5"/>
                </a:solidFill>
              </a:defRPr>
            </a:pPr>
            <a:r>
              <a:rPr sz="2400" b="1">
                <a:solidFill>
                  <a:srgbClr val="F5F0E5"/>
                </a:solidFill>
              </a:rPr>
              <a:t>التفصيل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EC2A59-9671-44BE-AC16-54FA1208D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432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D5B46A"/>
                </a:solidFill>
              </a:defRPr>
            </a:pPr>
            <a:r>
              <a:rPr sz="975" b="1">
                <a:solidFill>
                  <a:srgbClr val="D5B46A"/>
                </a:solidFill>
              </a:rPr>
              <a:t>DETAIL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26A64B-6372-4AE5-A2B7-FCF008BC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714750"/>
            <a:ext cx="152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7E3"/>
                </a:solidFill>
              </a:defRPr>
            </a:pPr>
            <a:r>
              <a:rPr sz="1275" b="0">
                <a:solidFill>
                  <a:srgbClr val="D9E7E3"/>
                </a:solidFill>
              </a:rPr>
              <a:t>خلاصة أو شرح أوسع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C91CA3F-EACF-489E-A4F9-8507B45D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095875"/>
            <a:ext cx="8191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5B46A"/>
                </a:solidFill>
              </a:defRPr>
            </a:pPr>
            <a:r>
              <a:rPr sz="2025" b="1">
                <a:solidFill>
                  <a:srgbClr val="D5B46A"/>
                </a:solidFill>
              </a:rPr>
              <a:t>كيّف بدرجة معتدلة — ولا تقلّد اللهجة أو السلوك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2C3C12-6E17-4680-941F-3B0791C56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6197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D9E7E3"/>
                </a:solidFill>
              </a:defRPr>
            </a:pPr>
            <a:r>
              <a:rPr sz="1275" b="0">
                <a:solidFill>
                  <a:srgbClr val="D9E7E3"/>
                </a:solidFill>
              </a:rPr>
              <a:t>Adapt gently. Never imitate an accent, emotion, or mannerism.</a:t>
            </a:r>
          </a:p>
        </p:txBody>
      </p:sp>
    </p:spTree>
    <p:extLst>
      <p:ext uri="{BB962C8B-B14F-4D97-AF65-F5344CB8AC3E}">
        <p14:creationId xmlns:p14="http://schemas.microsoft.com/office/powerpoint/2010/main" val="115013427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9117EE-C984-43C8-916F-7E51CC1C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941FA-992B-4322-B3E9-B57A6014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F5F0E5"/>
                </a:solidFill>
              </a:defRPr>
            </a:pPr>
            <a:r>
              <a:rPr sz="2850" b="1">
                <a:solidFill>
                  <a:srgbClr val="F5F0E5"/>
                </a:solidFill>
              </a:rPr>
              <a:t>كيّف السرعة دون أن تبدو متعجلًا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29851A-DC46-4EDF-BC2E-8AA3E3C1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ADAPT THE PACE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07A3FA-D71A-445C-BD22-17D792765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957346-2C2C-4C2F-A4E6-0D4BB531D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23D37-42B4-4A28-A0BD-4B39FFF7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C3BE"/>
                </a:solidFill>
              </a:defRPr>
            </a:pPr>
            <a:r>
              <a:rPr sz="900" b="0">
                <a:solidFill>
                  <a:srgbClr val="AAC3BE"/>
                </a:solidFill>
              </a:rPr>
              <a:t>فنادق ومنتجعات ضيافة  |  Dyafa Hotels &amp; Resorts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EFE28-FCE4-49D0-9A00-AB43517B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47625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296FC1-E4A4-45E2-9632-63CA6454A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19250"/>
            <a:ext cx="4095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D5B46A"/>
                </a:solidFill>
              </a:defRPr>
            </a:pPr>
            <a:r>
              <a:rPr sz="2250" b="1">
                <a:solidFill>
                  <a:srgbClr val="D5B46A"/>
                </a:solidFill>
              </a:rPr>
              <a:t>مع المتحدث الهادئ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B46631-36F6-4591-851A-E31F5378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190750"/>
            <a:ext cx="19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B677D-2486-42F3-8959-FF4E538A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90750"/>
            <a:ext cx="3752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5F0E5"/>
                </a:solidFill>
              </a:defRPr>
            </a:pPr>
            <a:r>
              <a:rPr sz="1500" b="0">
                <a:solidFill>
                  <a:srgbClr val="F5F0E5"/>
                </a:solidFill>
              </a:rPr>
              <a:t>خفف السرعة قليلًا.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373802-EDB4-42CF-9524-5366EAEC1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733675"/>
            <a:ext cx="19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B2A6E-C44D-49FD-843D-435331886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33675"/>
            <a:ext cx="3752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5F0E5"/>
                </a:solidFill>
              </a:defRPr>
            </a:pPr>
            <a:r>
              <a:rPr sz="1500" b="0">
                <a:solidFill>
                  <a:srgbClr val="F5F0E5"/>
                </a:solidFill>
              </a:rPr>
              <a:t>اترك فاصلًا قبل الرد.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B5F8E8-B315-4BF9-B606-DC948866D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276600"/>
            <a:ext cx="19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6CEC5A-273A-479B-8C0C-A19559DB6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76600"/>
            <a:ext cx="3752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5F0E5"/>
                </a:solidFill>
              </a:defRPr>
            </a:pPr>
            <a:r>
              <a:rPr sz="1500" b="0">
                <a:solidFill>
                  <a:srgbClr val="F5F0E5"/>
                </a:solidFill>
              </a:rPr>
              <a:t>استخدم جملًا واضحة وقصيرة.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4851C0-6C58-41DE-8349-6753180C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3819525"/>
            <a:ext cx="19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709273-2E2F-4E4A-8652-A09030175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19525"/>
            <a:ext cx="3752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5F0E5"/>
                </a:solidFill>
              </a:defRPr>
            </a:pPr>
            <a:r>
              <a:rPr sz="1500" b="0">
                <a:solidFill>
                  <a:srgbClr val="F5F0E5"/>
                </a:solidFill>
              </a:rPr>
              <a:t>لا تقاطعه أو تكمل الجملة عنه.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03F86D-C68C-4EA3-A9BA-521DB27DB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362450"/>
            <a:ext cx="1905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FA49A"/>
                </a:solidFill>
              </a:defRPr>
            </a:pPr>
            <a:r>
              <a:rPr sz="1050" b="0">
                <a:solidFill>
                  <a:srgbClr val="1FA49A"/>
                </a:solidFill>
              </a:rPr>
              <a:t>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1F6DC9-A0F3-42C7-A967-28DEAC75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362450"/>
            <a:ext cx="37528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5F0E5"/>
                </a:solidFill>
              </a:defRPr>
            </a:pPr>
            <a:r>
              <a:rPr sz="1500" b="0">
                <a:solidFill>
                  <a:srgbClr val="F5F0E5"/>
                </a:solidFill>
              </a:rPr>
              <a:t>تحقق من الفهم دون استعجال.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2D99D9-F80D-4E1C-A1A5-19DC3C040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81125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5B46A"/>
                </a:solidFill>
              </a:defRPr>
            </a:pPr>
            <a:r>
              <a:rPr sz="2175" b="1">
                <a:solidFill>
                  <a:srgbClr val="D5B46A"/>
                </a:solidFill>
              </a:rPr>
              <a:t>مع المتحدث السريع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FB8ACB-0D3A-4096-B9F8-6245AFEE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952625"/>
            <a:ext cx="19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9E5591-3798-437D-9785-3F1C4D97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5F0E5"/>
                </a:solidFill>
              </a:defRPr>
            </a:pPr>
            <a:r>
              <a:rPr sz="1500" b="0">
                <a:solidFill>
                  <a:srgbClr val="F5F0E5"/>
                </a:solidFill>
              </a:rPr>
              <a:t>اذهب مباشرة إلى النقطة.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F63E66-7B6C-4387-ABFF-ED3DEDA8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2562225"/>
            <a:ext cx="19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EA39D0-789E-42BD-B927-95D1B44D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222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5F0E5"/>
                </a:solidFill>
              </a:defRPr>
            </a:pPr>
            <a:r>
              <a:rPr sz="1500" b="0">
                <a:solidFill>
                  <a:srgbClr val="F5F0E5"/>
                </a:solidFill>
              </a:rPr>
              <a:t>قدّم الخيارات بترتيب واضح.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72657C-CE8C-4CF7-885F-6C704F706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171825"/>
            <a:ext cx="19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0E5CDE-863A-4771-BC6C-00400F43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7182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5F0E5"/>
                </a:solidFill>
              </a:defRPr>
            </a:pPr>
            <a:r>
              <a:rPr sz="1500" b="0">
                <a:solidFill>
                  <a:srgbClr val="F5F0E5"/>
                </a:solidFill>
              </a:rPr>
              <a:t>اختصر الأمثلة غير الضرورية.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4E4BFC-620E-4B41-962A-A0DC1481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781425"/>
            <a:ext cx="19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D5EBDF-D872-4051-A019-27357850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8142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5F0E5"/>
                </a:solidFill>
              </a:defRPr>
            </a:pPr>
            <a:r>
              <a:rPr sz="1500" b="0">
                <a:solidFill>
                  <a:srgbClr val="F5F0E5"/>
                </a:solidFill>
              </a:rPr>
              <a:t>لا تتحدث بسرعة تضر بالدقة.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A93CFA-6C0C-4813-8F24-15E1BCDA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4391025"/>
            <a:ext cx="19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5B46A"/>
                </a:solidFill>
              </a:defRPr>
            </a:pPr>
            <a:r>
              <a:rPr sz="1050" b="0">
                <a:solidFill>
                  <a:srgbClr val="D5B46A"/>
                </a:solidFill>
              </a:rPr>
              <a:t>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47768A-0388-43A2-80C0-3A54EDB4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91025"/>
            <a:ext cx="441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F5F0E5"/>
                </a:solidFill>
              </a:defRPr>
            </a:pPr>
            <a:r>
              <a:rPr sz="1500" b="0">
                <a:solidFill>
                  <a:srgbClr val="F5F0E5"/>
                </a:solidFill>
              </a:rPr>
              <a:t>استخدم ملخصًا نهائيًا مؤكدًا.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55ECF9-D6EC-4656-AB92-CF4F81FB3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81915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0B2827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BE937B-6486-417E-A088-1134A539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19750"/>
            <a:ext cx="762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5B46A"/>
                </a:solidFill>
              </a:defRPr>
            </a:pPr>
            <a:r>
              <a:rPr sz="1650" b="1">
                <a:solidFill>
                  <a:srgbClr val="D5B46A"/>
                </a:solidFill>
              </a:rPr>
              <a:t>الهدف ليس المطابقة الكاملة — بل راحة الفهم</a:t>
            </a:r>
          </a:p>
        </p:txBody>
      </p:sp>
    </p:spTree>
    <p:extLst>
      <p:ext uri="{BB962C8B-B14F-4D97-AF65-F5344CB8AC3E}">
        <p14:creationId xmlns:p14="http://schemas.microsoft.com/office/powerpoint/2010/main" val="17144094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B6FE3A-43F5-4C87-B464-5CE92093D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6647C-1072-425C-B136-5BC6347C1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F5F0E5"/>
                </a:solidFill>
              </a:defRPr>
            </a:pPr>
            <a:r>
              <a:rPr sz="2850" b="1">
                <a:solidFill>
                  <a:srgbClr val="F5F0E5"/>
                </a:solidFill>
              </a:rPr>
              <a:t>اضبط الصوت والنبرة باحتراف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5BB7D8-DA7D-4620-8624-5098DA94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VOLUME AND TONE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DE319-9B3A-46E4-A01E-816D0886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33D968-64C0-479A-B433-AB950908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995F8-3A7D-49CF-9364-467959B02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C3BE"/>
                </a:solidFill>
              </a:defRPr>
            </a:pPr>
            <a:r>
              <a:rPr sz="900" b="0">
                <a:solidFill>
                  <a:srgbClr val="AAC3BE"/>
                </a:solidFill>
              </a:rPr>
              <a:t>فنادق ومنتجعات ضيافة  |  Dyafa Hotels &amp; Resorts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12861-5EE0-4C19-BD92-3D6D5822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2382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FA49A"/>
                </a:solidFill>
              </a:defRPr>
            </a:pPr>
            <a:r>
              <a:rPr sz="2025" b="1">
                <a:solidFill>
                  <a:srgbClr val="1FA49A"/>
                </a:solidFill>
              </a:rPr>
              <a:t>افعل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DD55AA-65AF-46A0-9485-297288FA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238250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E36D67"/>
                </a:solidFill>
              </a:defRPr>
            </a:pPr>
            <a:r>
              <a:rPr sz="2025" b="1">
                <a:solidFill>
                  <a:srgbClr val="E36D67"/>
                </a:solidFill>
              </a:rPr>
              <a:t>تجنّب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26F0A-396A-4978-A8DD-6F54696D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71450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94F88F-0452-4418-ADD8-932D04EB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716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0E5"/>
                </a:solidFill>
              </a:defRPr>
            </a:pPr>
            <a:r>
              <a:rPr sz="1500" b="1">
                <a:solidFill>
                  <a:srgbClr val="F5F0E5"/>
                </a:solidFill>
              </a:rPr>
              <a:t>اجعل صوتك مسموعًا ومريحًا.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F3A2E-D9D4-44B2-B66D-E6C07227D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3533"/>
          </a:solidFill>
          <a:ln xmlns:a="http://schemas.openxmlformats.org/drawingml/2006/main" w="9525">
            <a:solidFill>
              <a:srgbClr val="E36D6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76B06-B943-42F8-8A46-AE4B24F4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7716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D9E7E3"/>
                </a:solidFill>
              </a:defRPr>
            </a:pPr>
            <a:r>
              <a:rPr sz="1425" b="0">
                <a:solidFill>
                  <a:srgbClr val="D9E7E3"/>
                </a:solidFill>
              </a:rPr>
              <a:t>رفع الصوت لمجرد أن النزيل يرفعه.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AC0632-058E-492C-9BAA-063BD0DC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5745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EBCD24-9CC5-49C2-9DCD-7DE7C916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14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0E5"/>
                </a:solidFill>
              </a:defRPr>
            </a:pPr>
            <a:r>
              <a:rPr sz="1500" b="1">
                <a:solidFill>
                  <a:srgbClr val="F5F0E5"/>
                </a:solidFill>
              </a:rPr>
              <a:t>استخدم نبرة ودودة وواثقة.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EEB112-1217-4F8A-A29A-6CD2FE43A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5745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3533"/>
          </a:solidFill>
          <a:ln xmlns:a="http://schemas.openxmlformats.org/drawingml/2006/main" w="9525">
            <a:solidFill>
              <a:srgbClr val="E36D6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59BA1-1D19-4582-BF86-42270D61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146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D9E7E3"/>
                </a:solidFill>
              </a:defRPr>
            </a:pPr>
            <a:r>
              <a:rPr sz="1425" b="0">
                <a:solidFill>
                  <a:srgbClr val="D9E7E3"/>
                </a:solidFill>
              </a:rPr>
              <a:t>تقليد اللهجة أو طريقة النطق.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D75C2F-59C7-4958-BE3C-C4DAA06C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20040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443A4-B28F-4B49-9168-82A26AE9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575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0E5"/>
                </a:solidFill>
              </a:defRPr>
            </a:pPr>
            <a:r>
              <a:rPr sz="1500" b="1">
                <a:solidFill>
                  <a:srgbClr val="F5F0E5"/>
                </a:solidFill>
              </a:rPr>
              <a:t>خفف الحماس في المواقف الجادة.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1FF17-F24F-42D3-AE5B-BBA339F9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3533"/>
          </a:solidFill>
          <a:ln xmlns:a="http://schemas.openxmlformats.org/drawingml/2006/main" w="9525">
            <a:solidFill>
              <a:srgbClr val="E36D6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081358-12AD-48ED-BA76-A453C003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575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D9E7E3"/>
                </a:solidFill>
              </a:defRPr>
            </a:pPr>
            <a:r>
              <a:rPr sz="1425" b="0">
                <a:solidFill>
                  <a:srgbClr val="D9E7E3"/>
                </a:solidFill>
              </a:rPr>
              <a:t>مجاراة نبرة الغضب أو السخرية.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F9D1A4-150D-4D8E-AE07-182072D1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94335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926FE3-8DAB-4C91-ADD4-A253CBDE0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0E5"/>
                </a:solidFill>
              </a:defRPr>
            </a:pPr>
            <a:r>
              <a:rPr sz="1500" b="1">
                <a:solidFill>
                  <a:srgbClr val="F5F0E5"/>
                </a:solidFill>
              </a:rPr>
              <a:t>أظهر نشاطًا مناسبًا في الترحيب.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88AB5B-ABB6-453D-93F4-F67B4428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4335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3533"/>
          </a:solidFill>
          <a:ln xmlns:a="http://schemas.openxmlformats.org/drawingml/2006/main" w="9525">
            <a:solidFill>
              <a:srgbClr val="E36D6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F42168-3509-403F-9223-3D0C3232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D9E7E3"/>
                </a:solidFill>
              </a:defRPr>
            </a:pPr>
            <a:r>
              <a:rPr sz="1425" b="0">
                <a:solidFill>
                  <a:srgbClr val="D9E7E3"/>
                </a:solidFill>
              </a:rPr>
              <a:t>استخدام صوت طفولي أو متعالٍ.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7AE80A-3D10-4B64-96D0-51E4D936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68630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74441"/>
          </a:solidFill>
          <a:ln xmlns:a="http://schemas.openxmlformats.org/drawingml/2006/main" w="9525">
            <a:solidFill>
              <a:srgbClr val="1FA49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DD8C8B-29AE-4BD1-8307-C5CDBE976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434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F5F0E5"/>
                </a:solidFill>
              </a:defRPr>
            </a:pPr>
            <a:r>
              <a:rPr sz="1500" b="1">
                <a:solidFill>
                  <a:srgbClr val="F5F0E5"/>
                </a:solidFill>
              </a:rPr>
              <a:t>اسأل إن كان الصوت واضحًا.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CAA1E7-4CA6-405C-807A-3406C11D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86300"/>
            <a:ext cx="4810125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3533"/>
          </a:solidFill>
          <a:ln xmlns:a="http://schemas.openxmlformats.org/drawingml/2006/main" w="9525">
            <a:solidFill>
              <a:srgbClr val="E36D6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B6391B-1CA4-49DD-B3FE-8D4F6010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434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D9E7E3"/>
                </a:solidFill>
              </a:defRPr>
            </a:pPr>
            <a:r>
              <a:rPr sz="1425" b="0">
                <a:solidFill>
                  <a:srgbClr val="D9E7E3"/>
                </a:solidFill>
              </a:rPr>
              <a:t>التحول إلى نبرة مصطنعة مبالغ فيها.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45F47F-EE4B-4BE2-A11C-2EE82399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150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5B46A"/>
                </a:solidFill>
              </a:defRPr>
            </a:pPr>
            <a:r>
              <a:rPr sz="1275" b="1">
                <a:solidFill>
                  <a:srgbClr val="D5B46A"/>
                </a:solidFill>
              </a:rPr>
              <a:t>Adjust for clarity and comfort — never imitate the guest.</a:t>
            </a:r>
          </a:p>
        </p:txBody>
      </p:sp>
    </p:spTree>
    <p:extLst>
      <p:ext uri="{BB962C8B-B14F-4D97-AF65-F5344CB8AC3E}">
        <p14:creationId xmlns:p14="http://schemas.microsoft.com/office/powerpoint/2010/main" val="15077334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F2F48E-FE79-43E2-82D4-E32ED33B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C9061-1C5A-4030-8C6A-15B146D9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850" b="1">
                <a:solidFill>
                  <a:srgbClr val="F5F0E5"/>
                </a:solidFill>
              </a:defRPr>
            </a:pPr>
            <a:r>
              <a:rPr sz="2850" b="1">
                <a:solidFill>
                  <a:srgbClr val="F5F0E5"/>
                </a:solidFill>
              </a:rPr>
              <a:t>طبّق الأسلوب بحسب الموقف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09AA66-F40D-4D41-A9C8-6FE928C75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PRACTICAL EXAMPLES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C106F-9410-4284-8DD0-EADAE797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477BB5-8A2C-4FAF-AAFC-60BB5E40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050EFF-8240-4E17-8259-8E8EFA6A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C3BE"/>
                </a:solidFill>
              </a:defRPr>
            </a:pPr>
            <a:r>
              <a:rPr sz="900" b="0">
                <a:solidFill>
                  <a:srgbClr val="AAC3BE"/>
                </a:solidFill>
              </a:rPr>
              <a:t>فنادق ومنتجعات ضيافة  |  Dyafa Hotels &amp; Resorts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80DBE-F319-4E9E-859B-263A17FD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4287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5B46A"/>
                </a:solidFill>
              </a:defRPr>
            </a:pPr>
            <a:r>
              <a:rPr sz="2550" b="1">
                <a:solidFill>
                  <a:srgbClr val="D5B46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CE9D3-E97A-4049-BC96-6C1629CD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5F0E5"/>
                </a:solidFill>
              </a:defRPr>
            </a:pPr>
            <a:r>
              <a:rPr sz="1650" b="1">
                <a:solidFill>
                  <a:srgbClr val="F5F0E5"/>
                </a:solidFill>
              </a:rPr>
              <a:t>نزيل مستعجل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C23794-16C6-4206-88C1-2F168DFB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4287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E7E3"/>
                </a:solidFill>
              </a:defRPr>
            </a:pPr>
            <a:r>
              <a:rPr sz="1350" b="0">
                <a:solidFill>
                  <a:srgbClr val="D9E7E3"/>
                </a:solidFill>
              </a:rPr>
              <a:t>قدّم الخلاصة والوقت والخيار الأسرع أولًا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97D747-C098-45FB-9688-95C46AB43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287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C3BE"/>
                </a:solidFill>
              </a:defRPr>
            </a:pPr>
            <a:r>
              <a:rPr sz="1200" b="0">
                <a:solidFill>
                  <a:srgbClr val="AAC3BE"/>
                </a:solidFill>
              </a:rPr>
              <a:t>Guest in a hurry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273EC-AA8E-42B3-AB9A-702D5C3E5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F7D2AB-8F7C-4295-9C08-94C172AE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955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A49A"/>
                </a:solidFill>
              </a:defRPr>
            </a:pPr>
            <a:r>
              <a:rPr sz="2550" b="1">
                <a:solidFill>
                  <a:srgbClr val="1FA49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E44CF1-8916-4508-9EDD-9C4612F3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955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5F0E5"/>
                </a:solidFill>
              </a:defRPr>
            </a:pPr>
            <a:r>
              <a:rPr sz="1650" b="1">
                <a:solidFill>
                  <a:srgbClr val="F5F0E5"/>
                </a:solidFill>
              </a:rPr>
              <a:t>نزيل يريد التفاصيل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7BD3BC-459F-402A-9C69-074BE3A25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955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E7E3"/>
                </a:solidFill>
              </a:defRPr>
            </a:pPr>
            <a:r>
              <a:rPr sz="1350" b="0">
                <a:solidFill>
                  <a:srgbClr val="D9E7E3"/>
                </a:solidFill>
              </a:rPr>
              <a:t>اشرح بالتسلسل واكتب المعلومات المهمة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416EF4-E944-421B-9307-C2FA4D4A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955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C3BE"/>
                </a:solidFill>
              </a:defRPr>
            </a:pPr>
            <a:r>
              <a:rPr sz="1200" b="0">
                <a:solidFill>
                  <a:srgbClr val="AAC3BE"/>
                </a:solidFill>
              </a:rPr>
              <a:t>Detail-focused guest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66B73-3A37-4D53-B211-ECDE370B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14D8A-8D24-49F5-8788-719F2996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5623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5B46A"/>
                </a:solidFill>
              </a:defRPr>
            </a:pPr>
            <a:r>
              <a:rPr sz="2550" b="1">
                <a:solidFill>
                  <a:srgbClr val="D5B46A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A7267E-E401-4981-8F52-FD010D6C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623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5F0E5"/>
                </a:solidFill>
              </a:defRPr>
            </a:pPr>
            <a:r>
              <a:rPr sz="1650" b="1">
                <a:solidFill>
                  <a:srgbClr val="F5F0E5"/>
                </a:solidFill>
              </a:rPr>
              <a:t>نزيل لا يتقن اللغة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55F19D-53AD-47EB-80AA-A98686FAD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5623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E7E3"/>
                </a:solidFill>
              </a:defRPr>
            </a:pPr>
            <a:r>
              <a:rPr sz="1350" b="0">
                <a:solidFill>
                  <a:srgbClr val="D9E7E3"/>
                </a:solidFill>
              </a:rPr>
              <a:t>استخدم كلمات بسيطة ووسيلة ترجمة معتمدة عند توفرها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F97B78-F6AB-48CE-9089-B1A3EB39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C3BE"/>
                </a:solidFill>
              </a:defRPr>
            </a:pPr>
            <a:r>
              <a:rPr sz="1200" b="0">
                <a:solidFill>
                  <a:srgbClr val="AAC3BE"/>
                </a:solidFill>
              </a:rPr>
              <a:t>Language barrier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94640-74F3-423C-B69C-B49541ECA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52CD1F-4588-4653-8BB0-95471C30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629150"/>
            <a:ext cx="1000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A49A"/>
                </a:solidFill>
              </a:defRPr>
            </a:pPr>
            <a:r>
              <a:rPr sz="2550" b="1">
                <a:solidFill>
                  <a:srgbClr val="1FA49A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C3ECFA-C1A0-4E50-A545-8C5D758D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629150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5F0E5"/>
                </a:solidFill>
              </a:defRPr>
            </a:pPr>
            <a:r>
              <a:rPr sz="1650" b="1">
                <a:solidFill>
                  <a:srgbClr val="F5F0E5"/>
                </a:solidFill>
              </a:rPr>
              <a:t>نزيل غاضب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0EF5CA-6DE3-4B61-91C1-CEB8C2F5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291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9E7E3"/>
                </a:solidFill>
              </a:defRPr>
            </a:pPr>
            <a:r>
              <a:rPr sz="1350" b="0">
                <a:solidFill>
                  <a:srgbClr val="D9E7E3"/>
                </a:solidFill>
              </a:rPr>
              <a:t>لا تطابق الغضب؛ اخفض التصعيد بنبرة ثابتة وحدود واضحة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85B89E-0408-40DE-9302-8BF68F8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29150"/>
            <a:ext cx="2428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AAC3BE"/>
                </a:solidFill>
              </a:defRPr>
            </a:pPr>
            <a:r>
              <a:rPr sz="1200" b="0">
                <a:solidFill>
                  <a:srgbClr val="AAC3BE"/>
                </a:solidFill>
              </a:rPr>
              <a:t>Angry guest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2F7A98-B678-4266-9F8A-F544F3B1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95900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83F057-ED45-43DD-B482-5CAB12F0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15000"/>
            <a:ext cx="7429500" cy="428625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0B2827"/>
          </a:solidFill>
          <a:ln xmlns:a="http://schemas.openxmlformats.org/drawingml/2006/main" w="9525">
            <a:solidFill>
              <a:srgbClr val="D5B46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377192A-9683-4D7D-8631-6E8E58B6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753100"/>
            <a:ext cx="695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5B46A"/>
                </a:solidFill>
              </a:defRPr>
            </a:pPr>
            <a:r>
              <a:rPr sz="1575" b="1">
                <a:solidFill>
                  <a:srgbClr val="D5B46A"/>
                </a:solidFill>
              </a:rPr>
              <a:t>كيّف الأسلوب — ولا تغيّر الحقيقة أو السياسة</a:t>
            </a:r>
          </a:p>
        </p:txBody>
      </p:sp>
    </p:spTree>
    <p:extLst>
      <p:ext uri="{BB962C8B-B14F-4D97-AF65-F5344CB8AC3E}">
        <p14:creationId xmlns:p14="http://schemas.microsoft.com/office/powerpoint/2010/main" val="18739119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5A361AB-09E6-4D3E-969D-1063D2828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A4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B30D07-5ECA-4C68-B236-D75E1887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77628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2625" b="1">
                <a:solidFill>
                  <a:srgbClr val="F5F0E5"/>
                </a:solidFill>
              </a:defRPr>
            </a:pPr>
            <a:r>
              <a:rPr sz="2625" b="1">
                <a:solidFill>
                  <a:srgbClr val="F5F0E5"/>
                </a:solidFill>
              </a:rPr>
              <a:t>المهارة تتحسن بالملاحظة والتدريب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28E72-EA1B-43DF-B830-61B8405E3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0957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D5B46A"/>
                </a:solidFill>
              </a:defRPr>
            </a:pPr>
            <a:r>
              <a:rPr sz="1200" b="1">
                <a:solidFill>
                  <a:srgbClr val="D5B46A"/>
                </a:solidFill>
              </a:rPr>
              <a:t>PRACTICE AND SELF-CHECK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3EA8C5-CED0-431F-B86F-3198AFA0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15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B20F2-1850-450E-B850-FF17CD8D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436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AAC3BE"/>
                </a:solidFill>
              </a:defRPr>
            </a:pPr>
            <a:r>
              <a:rPr sz="975" b="0">
                <a:solidFill>
                  <a:srgbClr val="AAC3BE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F713E-B000-4297-97D9-20938FB5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43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AAC3BE"/>
                </a:solidFill>
              </a:defRPr>
            </a:pPr>
            <a:r>
              <a:rPr sz="900" b="0">
                <a:solidFill>
                  <a:srgbClr val="AAC3BE"/>
                </a:solidFill>
              </a:rPr>
              <a:t>فنادق ومنتجعات ضيافة  |  Dyafa Hotels &amp; Resorts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C353E-4A5F-4052-A88E-2F3421A90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14450"/>
            <a:ext cx="1000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5B46A"/>
                </a:solidFill>
              </a:defRPr>
            </a:pPr>
            <a:r>
              <a:rPr sz="2550" b="1">
                <a:solidFill>
                  <a:srgbClr val="D5B46A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CCC51D-51AA-48D2-A912-1ECD689B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144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5F0E5"/>
                </a:solidFill>
              </a:defRPr>
            </a:pPr>
            <a:r>
              <a:rPr sz="1650" b="1">
                <a:solidFill>
                  <a:srgbClr val="F5F0E5"/>
                </a:solidFill>
              </a:rPr>
              <a:t>لاحظ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BDB7F0-5748-4431-82B1-569618D2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144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9E7E3"/>
                </a:solidFill>
              </a:defRPr>
            </a:pPr>
            <a:r>
              <a:rPr sz="1275" b="0">
                <a:solidFill>
                  <a:srgbClr val="D9E7E3"/>
                </a:solidFill>
              </a:rPr>
              <a:t>طريقة تواصل النزيل دون أحكام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B27955-5080-492D-A7D6-2A18714A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3144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C3BE"/>
                </a:solidFill>
              </a:defRPr>
            </a:pPr>
            <a:r>
              <a:rPr sz="1125" b="0">
                <a:solidFill>
                  <a:srgbClr val="AAC3BE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E0E85-3CCC-4D71-8CD7-9AFEFA10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7850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4AF746-276F-4DAE-A00D-454D8F451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219325"/>
            <a:ext cx="1000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A49A"/>
                </a:solidFill>
              </a:defRPr>
            </a:pPr>
            <a:r>
              <a:rPr sz="2550" b="1">
                <a:solidFill>
                  <a:srgbClr val="1FA49A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E66697-7410-48EE-995F-3762E491B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1932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5F0E5"/>
                </a:solidFill>
              </a:defRPr>
            </a:pPr>
            <a:r>
              <a:rPr sz="1650" b="1">
                <a:solidFill>
                  <a:srgbClr val="F5F0E5"/>
                </a:solidFill>
              </a:rPr>
              <a:t>جرّب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4014E9-054B-4C13-80F5-73F8566A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193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9E7E3"/>
                </a:solidFill>
              </a:defRPr>
            </a:pPr>
            <a:r>
              <a:rPr sz="1275" b="0">
                <a:solidFill>
                  <a:srgbClr val="D9E7E3"/>
                </a:solidFill>
              </a:rPr>
              <a:t>تعديلًا بسيطًا في السرعة أو التفصيل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D0759E-597B-4357-8CE1-AB8F25F1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19325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C3BE"/>
                </a:solidFill>
              </a:defRPr>
            </a:pPr>
            <a:r>
              <a:rPr sz="1125" b="0">
                <a:solidFill>
                  <a:srgbClr val="AAC3BE"/>
                </a:solidFill>
              </a:rPr>
              <a:t>Practise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CBF25E-358A-45AF-9AEC-114FC65A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5272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0E309-E478-4478-BBFE-36BCA67F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124200"/>
            <a:ext cx="1000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5B46A"/>
                </a:solidFill>
              </a:defRPr>
            </a:pPr>
            <a:r>
              <a:rPr sz="2550" b="1">
                <a:solidFill>
                  <a:srgbClr val="D5B46A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14AE74-99B9-47BF-A5C6-EE724B97F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2420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5F0E5"/>
                </a:solidFill>
              </a:defRPr>
            </a:pPr>
            <a:r>
              <a:rPr sz="1650" b="1">
                <a:solidFill>
                  <a:srgbClr val="F5F0E5"/>
                </a:solidFill>
              </a:rPr>
              <a:t>راقب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A04EC-76EE-400C-80EB-44574246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242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9E7E3"/>
                </a:solidFill>
              </a:defRPr>
            </a:pPr>
            <a:r>
              <a:rPr sz="1275" b="0">
                <a:solidFill>
                  <a:srgbClr val="D9E7E3"/>
                </a:solidFill>
              </a:rPr>
              <a:t>هل زاد الفهم والارتياح؟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81FD3E-DDFE-41BA-9437-48ED9444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C3BE"/>
                </a:solidFill>
              </a:defRPr>
            </a:pPr>
            <a:r>
              <a:rPr sz="1125" b="0">
                <a:solidFill>
                  <a:srgbClr val="AAC3BE"/>
                </a:solidFill>
              </a:rPr>
              <a:t>Monitor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A67B85-2D26-43CF-9C74-80B189594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57600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1CA069-94BD-4B1E-89BC-9C0FD16DF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29075"/>
            <a:ext cx="1000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FA49A"/>
                </a:solidFill>
              </a:defRPr>
            </a:pPr>
            <a:r>
              <a:rPr sz="2550" b="1">
                <a:solidFill>
                  <a:srgbClr val="1FA49A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FDAC77-16BB-425D-8301-021A70104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029075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5F0E5"/>
                </a:solidFill>
              </a:defRPr>
            </a:pPr>
            <a:r>
              <a:rPr sz="1650" b="1">
                <a:solidFill>
                  <a:srgbClr val="F5F0E5"/>
                </a:solidFill>
              </a:rPr>
              <a:t>اسأل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48EB0D-AED9-484E-B744-8E440CB6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2907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9E7E3"/>
                </a:solidFill>
              </a:defRPr>
            </a:pPr>
            <a:r>
              <a:rPr sz="1275" b="0">
                <a:solidFill>
                  <a:srgbClr val="D9E7E3"/>
                </a:solidFill>
              </a:rPr>
              <a:t>هل كان الشرح مناسبًا لكم؟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49E437-D020-4142-AD9D-356EADF5D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C3BE"/>
                </a:solidFill>
              </a:defRPr>
            </a:pPr>
            <a:r>
              <a:rPr sz="1125" b="0">
                <a:solidFill>
                  <a:srgbClr val="AAC3BE"/>
                </a:solidFill>
              </a:rPr>
              <a:t>Ask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021696-C548-45CB-AAB0-A4EA37E6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62475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097E1A3-5438-4E5A-92E2-A3538091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33950"/>
            <a:ext cx="1000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D5B46A"/>
                </a:solidFill>
              </a:defRPr>
            </a:pPr>
            <a:r>
              <a:rPr sz="2550" b="1">
                <a:solidFill>
                  <a:srgbClr val="D5B46A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C040A6-D03C-4667-9D56-6165EFFA2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2143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F5F0E5"/>
                </a:solidFill>
              </a:defRPr>
            </a:pPr>
            <a:r>
              <a:rPr sz="1650" b="1">
                <a:solidFill>
                  <a:srgbClr val="F5F0E5"/>
                </a:solidFill>
              </a:rPr>
              <a:t>حسّن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6CAB17-6151-46F7-8166-4B1533C4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93395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D9E7E3"/>
                </a:solidFill>
              </a:defRPr>
            </a:pPr>
            <a:r>
              <a:rPr sz="1275" b="0">
                <a:solidFill>
                  <a:srgbClr val="D9E7E3"/>
                </a:solidFill>
              </a:rPr>
              <a:t>سجل ما نجح وطبقه بوعي أكبر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4F5C1D-DA90-47CE-91BA-34971FAD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33950"/>
            <a:ext cx="2714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AAC3BE"/>
                </a:solidFill>
              </a:defRPr>
            </a:pPr>
            <a:r>
              <a:rPr sz="1125" b="0">
                <a:solidFill>
                  <a:srgbClr val="AAC3BE"/>
                </a:solidFill>
              </a:rPr>
              <a:t>Improve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916020-720C-46C7-95E1-056EC547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9953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615E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081134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D35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40993dca54d4f"/>
          <a:stretch xmlns:a="http://schemas.openxmlformats.org/drawingml/2006/main"/>
        </p:blipFill>
        <p:spPr>
          <a:xfrm xmlns:a="http://schemas.openxmlformats.org/drawingml/2006/main">
            <a:off x="5191125" y="361950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859B83-9FFA-4FC5-BB67-352401EC7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812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5F0E5"/>
                </a:solidFill>
              </a:defRPr>
            </a:pPr>
            <a:r>
              <a:rPr sz="2850" b="1">
                <a:solidFill>
                  <a:srgbClr val="F5F0E5"/>
                </a:solidFill>
              </a:rPr>
              <a:t>لا تقلّد النزيل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CC30D-7BDF-4859-80DD-F8C92684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527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75" b="1">
                <a:solidFill>
                  <a:srgbClr val="D5B46A"/>
                </a:solidFill>
              </a:defRPr>
            </a:pPr>
            <a:r>
              <a:rPr sz="3075" b="1">
                <a:solidFill>
                  <a:srgbClr val="D5B46A"/>
                </a:solidFill>
              </a:rPr>
              <a:t>كيّف أسلوبك لراحته وفهمه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7871DB-680E-48F0-8440-14A75F7A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385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FA49A"/>
                </a:solidFill>
              </a:defRPr>
            </a:pPr>
            <a:r>
              <a:rPr sz="2100" b="1">
                <a:solidFill>
                  <a:srgbClr val="1FA49A"/>
                </a:solidFill>
              </a:rPr>
              <a:t>لاحظ  •  استمع  •  كيّف  •  تأكد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C6BA06-270A-4BCB-87C6-DB0A73B72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29125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B4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CAAE32-CB66-46DB-81E6-E8B835074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667250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F5F0E5"/>
                </a:solidFill>
              </a:defRPr>
            </a:pPr>
            <a:r>
              <a:rPr sz="2025" b="1">
                <a:solidFill>
                  <a:srgbClr val="F5F0E5"/>
                </a:solidFill>
              </a:rPr>
              <a:t>الاحتراف هو إيصال الرسالة بالطريقة الأنسب لكل نزيل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12FA90-25F5-445C-A937-05D13905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191125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D9E7E3"/>
                </a:solidFill>
              </a:defRPr>
            </a:pPr>
            <a:r>
              <a:rPr sz="1350" b="0">
                <a:solidFill>
                  <a:srgbClr val="D9E7E3"/>
                </a:solidFill>
              </a:rPr>
              <a:t>Adapt the delivery while keeping the message accurate and respectful.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3AE5B-8F72-44A5-8801-AAAEBECA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53125"/>
            <a:ext cx="7429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شكرًا لكم  —  هل لديكم أسئلة؟</a:t>
            </a:r>
          </a:p>
        </p:txBody>
      </p:sp>
    </p:spTree>
    <p:extLst>
      <p:ext uri="{BB962C8B-B14F-4D97-AF65-F5344CB8AC3E}">
        <p14:creationId xmlns:p14="http://schemas.microsoft.com/office/powerpoint/2010/main" val="14527997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2026-08-10T17:30:21.7260000Z</dcterms:created>
  <dcterms:modified xsi:type="dcterms:W3CDTF">2026-08-10T17:30:21.7260000Z</dcterms:modified>
</coreProperties>
</file>