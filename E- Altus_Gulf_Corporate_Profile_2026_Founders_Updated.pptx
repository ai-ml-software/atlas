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7562850" cy="10688638"/>
  <p:notesSz cx="10688638" cy="756285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850" y="-38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Visits (M)</c:v>
                </c:pt>
              </c:strCache>
            </c:strRef>
          </c:tx>
          <c:spPr>
            <a:solidFill>
              <a:srgbClr val="13273A"/>
            </a:solidFill>
            <a:effectLst/>
          </c:spPr>
          <c:invertIfNegative val="0"/>
          <c:dPt>
            <c:idx val="0"/>
            <c:invertIfNegative val="0"/>
            <c:bubble3D val="0"/>
            <c:extLst>
              <c:ext xmlns:c16="http://schemas.microsoft.com/office/drawing/2014/chart" uri="{C3380CC4-5D6E-409C-BE32-E72D297353CC}">
                <c16:uniqueId val="{00000001-EF4E-44E9-BCDF-572C5B9C6760}"/>
              </c:ext>
            </c:extLst>
          </c:dPt>
          <c:dPt>
            <c:idx val="1"/>
            <c:invertIfNegative val="0"/>
            <c:bubble3D val="0"/>
            <c:extLst>
              <c:ext xmlns:c16="http://schemas.microsoft.com/office/drawing/2014/chart" uri="{C3380CC4-5D6E-409C-BE32-E72D297353CC}">
                <c16:uniqueId val="{00000003-EF4E-44E9-BCDF-572C5B9C6760}"/>
              </c:ext>
            </c:extLst>
          </c:dPt>
          <c:dPt>
            <c:idx val="2"/>
            <c:invertIfNegative val="0"/>
            <c:bubble3D val="0"/>
            <c:extLst>
              <c:ext xmlns:c16="http://schemas.microsoft.com/office/drawing/2014/chart" uri="{C3380CC4-5D6E-409C-BE32-E72D297353CC}">
                <c16:uniqueId val="{00000005-EF4E-44E9-BCDF-572C5B9C6760}"/>
              </c:ext>
            </c:extLst>
          </c:dPt>
          <c:dPt>
            <c:idx val="3"/>
            <c:invertIfNegative val="0"/>
            <c:bubble3D val="0"/>
            <c:spPr>
              <a:solidFill>
                <a:srgbClr val="0F5C42"/>
              </a:solidFill>
              <a:effectLst/>
            </c:spPr>
            <c:extLst>
              <c:ext xmlns:c16="http://schemas.microsoft.com/office/drawing/2014/chart" uri="{C3380CC4-5D6E-409C-BE32-E72D297353CC}">
                <c16:uniqueId val="{00000007-EF4E-44E9-BCDF-572C5B9C6760}"/>
              </c:ext>
            </c:extLst>
          </c:dPt>
          <c:dPt>
            <c:idx val="4"/>
            <c:invertIfNegative val="0"/>
            <c:bubble3D val="0"/>
            <c:spPr>
              <a:solidFill>
                <a:srgbClr val="C9A15A"/>
              </a:solidFill>
              <a:effectLst/>
            </c:spPr>
            <c:extLst>
              <c:ext xmlns:c16="http://schemas.microsoft.com/office/drawing/2014/chart" uri="{C3380CC4-5D6E-409C-BE32-E72D297353CC}">
                <c16:uniqueId val="{00000009-EF4E-44E9-BCDF-572C5B9C6760}"/>
              </c:ext>
            </c:extLst>
          </c:dPt>
          <c:dLbls>
            <c:numFmt formatCode="#,##0" sourceLinked="0"/>
            <c:spPr>
              <a:noFill/>
              <a:ln>
                <a:noFill/>
              </a:ln>
              <a:effectLst/>
            </c:spPr>
            <c:txPr>
              <a:bodyPr/>
              <a:lstStyle/>
              <a:p>
                <a:pPr>
                  <a:defRPr sz="900" b="1" i="0" u="none" strike="noStrike">
                    <a:solidFill>
                      <a:srgbClr val="0B1B2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2022</c:v>
                </c:pt>
                <c:pt idx="1">
                  <c:v>2023</c:v>
                </c:pt>
                <c:pt idx="2">
                  <c:v>2024</c:v>
                </c:pt>
                <c:pt idx="3">
                  <c:v>2025</c:v>
                </c:pt>
                <c:pt idx="4">
                  <c:v>2030 Target</c:v>
                </c:pt>
              </c:strCache>
            </c:strRef>
          </c:cat>
          <c:val>
            <c:numRef>
              <c:f>Sheet1!$B$2:$B$6</c:f>
              <c:numCache>
                <c:formatCode>General</c:formatCode>
                <c:ptCount val="5"/>
                <c:pt idx="0">
                  <c:v>94</c:v>
                </c:pt>
                <c:pt idx="1">
                  <c:v>106</c:v>
                </c:pt>
                <c:pt idx="2">
                  <c:v>116</c:v>
                </c:pt>
                <c:pt idx="3">
                  <c:v>122</c:v>
                </c:pt>
                <c:pt idx="4">
                  <c:v>150</c:v>
                </c:pt>
              </c:numCache>
            </c:numRef>
          </c:val>
          <c:extLst>
            <c:ext xmlns:c16="http://schemas.microsoft.com/office/drawing/2014/chart" uri="{C3380CC4-5D6E-409C-BE32-E72D297353CC}">
              <c16:uniqueId val="{0000000A-EF4E-44E9-BCDF-572C5B9C6760}"/>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E4DDCB"/>
            </a:solidFill>
            <a:prstDash val="solid"/>
            <a:round/>
          </a:ln>
        </c:spPr>
        <c:txPr>
          <a:bodyPr/>
          <a:lstStyle/>
          <a:p>
            <a:pPr>
              <a:defRPr sz="900" b="0" i="0" u="none" strike="noStrike">
                <a:solidFill>
                  <a:srgbClr val="6B675F"/>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Keys (000s)</c:v>
                </c:pt>
              </c:strCache>
            </c:strRef>
          </c:tx>
          <c:spPr>
            <a:solidFill>
              <a:srgbClr val="13273A"/>
            </a:solidFill>
            <a:effectLst/>
          </c:spPr>
          <c:invertIfNegative val="0"/>
          <c:dPt>
            <c:idx val="0"/>
            <c:invertIfNegative val="0"/>
            <c:bubble3D val="0"/>
            <c:extLst>
              <c:ext xmlns:c16="http://schemas.microsoft.com/office/drawing/2014/chart" uri="{C3380CC4-5D6E-409C-BE32-E72D297353CC}">
                <c16:uniqueId val="{00000001-2B46-444D-BEC2-97A2FA965088}"/>
              </c:ext>
            </c:extLst>
          </c:dPt>
          <c:dPt>
            <c:idx val="1"/>
            <c:invertIfNegative val="0"/>
            <c:bubble3D val="0"/>
            <c:spPr>
              <a:solidFill>
                <a:srgbClr val="0F5C42"/>
              </a:solidFill>
              <a:effectLst/>
            </c:spPr>
            <c:extLst>
              <c:ext xmlns:c16="http://schemas.microsoft.com/office/drawing/2014/chart" uri="{C3380CC4-5D6E-409C-BE32-E72D297353CC}">
                <c16:uniqueId val="{00000003-2B46-444D-BEC2-97A2FA965088}"/>
              </c:ext>
            </c:extLst>
          </c:dPt>
          <c:dPt>
            <c:idx val="2"/>
            <c:invertIfNegative val="0"/>
            <c:bubble3D val="0"/>
            <c:spPr>
              <a:solidFill>
                <a:srgbClr val="C9A15A"/>
              </a:solidFill>
              <a:effectLst/>
            </c:spPr>
            <c:extLst>
              <c:ext xmlns:c16="http://schemas.microsoft.com/office/drawing/2014/chart" uri="{C3380CC4-5D6E-409C-BE32-E72D297353CC}">
                <c16:uniqueId val="{00000005-2B46-444D-BEC2-97A2FA965088}"/>
              </c:ext>
            </c:extLst>
          </c:dPt>
          <c:dLbls>
            <c:numFmt formatCode="#,##0" sourceLinked="0"/>
            <c:spPr>
              <a:noFill/>
              <a:ln>
                <a:noFill/>
              </a:ln>
              <a:effectLst/>
            </c:spPr>
            <c:txPr>
              <a:bodyPr/>
              <a:lstStyle/>
              <a:p>
                <a:pPr>
                  <a:defRPr sz="900" b="1" i="0" u="none" strike="noStrike">
                    <a:solidFill>
                      <a:srgbClr val="0B1B2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Existing stock (Q1 2025)</c:v>
                </c:pt>
                <c:pt idx="1">
                  <c:v>Under construction / planning</c:v>
                </c:pt>
                <c:pt idx="2">
                  <c:v>Projected total by 2030</c:v>
                </c:pt>
              </c:strCache>
            </c:strRef>
          </c:cat>
          <c:val>
            <c:numRef>
              <c:f>Sheet1!$B$2:$B$4</c:f>
              <c:numCache>
                <c:formatCode>General</c:formatCode>
                <c:ptCount val="3"/>
                <c:pt idx="0">
                  <c:v>168</c:v>
                </c:pt>
                <c:pt idx="1">
                  <c:v>100</c:v>
                </c:pt>
                <c:pt idx="2">
                  <c:v>362</c:v>
                </c:pt>
              </c:numCache>
            </c:numRef>
          </c:val>
          <c:extLst>
            <c:ext xmlns:c16="http://schemas.microsoft.com/office/drawing/2014/chart" uri="{C3380CC4-5D6E-409C-BE32-E72D297353CC}">
              <c16:uniqueId val="{00000006-2B46-444D-BEC2-97A2FA965088}"/>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E4DDCB"/>
            </a:solidFill>
            <a:prstDash val="solid"/>
            <a:round/>
          </a:ln>
        </c:spPr>
        <c:txPr>
          <a:bodyPr/>
          <a:lstStyle/>
          <a:p>
            <a:pPr>
              <a:defRPr sz="850" b="0" i="0" u="none" strike="noStrike">
                <a:solidFill>
                  <a:srgbClr val="6B675F"/>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2579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7.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2.png"/><Relationship Id="rId5" Type="http://schemas.openxmlformats.org/officeDocument/2006/relationships/image" Target="../media/image27.png"/><Relationship Id="rId10" Type="http://schemas.openxmlformats.org/officeDocument/2006/relationships/image" Target="../media/image31.png"/><Relationship Id="rId4" Type="http://schemas.openxmlformats.org/officeDocument/2006/relationships/image" Target="../media/image26.png"/><Relationship Id="rId9" Type="http://schemas.openxmlformats.org/officeDocument/2006/relationships/image" Target="../media/image30.png"/><Relationship Id="rId14" Type="http://schemas.openxmlformats.org/officeDocument/2006/relationships/image" Target="../media/image3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6.png"/><Relationship Id="rId10" Type="http://schemas.openxmlformats.org/officeDocument/2006/relationships/image" Target="../media/image38.png"/><Relationship Id="rId4" Type="http://schemas.openxmlformats.org/officeDocument/2006/relationships/image" Target="../media/image35.png"/><Relationship Id="rId9"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23.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3.jp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4.jp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11.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22.png"/><Relationship Id="rId7"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34.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14.png"/><Relationship Id="rId7"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17.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jpg"/><Relationship Id="rId10" Type="http://schemas.openxmlformats.org/officeDocument/2006/relationships/image" Target="../media/image52.png"/><Relationship Id="rId4" Type="http://schemas.openxmlformats.org/officeDocument/2006/relationships/image" Target="../media/image3.jpg"/><Relationship Id="rId9"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a:effectLst/>
      </p:bgPr>
    </p:bg>
    <p:spTree>
      <p:nvGrpSpPr>
        <p:cNvPr id="1" name=""/>
        <p:cNvGrpSpPr/>
        <p:nvPr/>
      </p:nvGrpSpPr>
      <p:grpSpPr>
        <a:xfrm>
          <a:off x="0" y="0"/>
          <a:ext cx="0" cy="0"/>
          <a:chOff x="0" y="0"/>
          <a:chExt cx="0" cy="0"/>
        </a:xfrm>
      </p:grpSpPr>
      <p:pic>
        <p:nvPicPr>
          <p:cNvPr id="2" name="Image 0" descr="/home/claude/assets/icons/compass.png"/>
          <p:cNvPicPr>
            <a:picLocks noChangeAspect="1"/>
          </p:cNvPicPr>
          <p:nvPr/>
        </p:nvPicPr>
        <p:blipFill>
          <a:blip r:embed="rId3"/>
          <a:stretch>
            <a:fillRect/>
          </a:stretch>
        </p:blipFill>
        <p:spPr>
          <a:xfrm>
            <a:off x="12134088" y="0"/>
            <a:ext cx="91440" cy="91440"/>
          </a:xfrm>
          <a:prstGeom prst="rect">
            <a:avLst/>
          </a:prstGeom>
        </p:spPr>
      </p:pic>
      <p:sp>
        <p:nvSpPr>
          <p:cNvPr id="3" name="Text 0"/>
          <p:cNvSpPr/>
          <p:nvPr/>
        </p:nvSpPr>
        <p:spPr>
          <a:xfrm>
            <a:off x="502920" y="1051560"/>
            <a:ext cx="6556248" cy="274320"/>
          </a:xfrm>
          <a:prstGeom prst="rect">
            <a:avLst/>
          </a:prstGeom>
          <a:noFill/>
          <a:ln/>
        </p:spPr>
        <p:txBody>
          <a:bodyPr wrap="square" rtlCol="0" anchor="ctr"/>
          <a:lstStyle/>
          <a:p>
            <a:pPr marL="0" indent="0" algn="ctr">
              <a:buNone/>
            </a:pPr>
            <a:r>
              <a:rPr lang="en-US" sz="1100" b="1" kern="0" spc="250" dirty="0">
                <a:solidFill>
                  <a:srgbClr val="C1501D"/>
                </a:solidFill>
                <a:latin typeface="Calibri" pitchFamily="34" charset="0"/>
                <a:ea typeface="Calibri" pitchFamily="34" charset="-122"/>
                <a:cs typeface="Calibri" pitchFamily="34" charset="-120"/>
              </a:rPr>
              <a:t>STRATEGIC ADVISORY &amp; BUSINESS CONSULTANCY</a:t>
            </a:r>
            <a:endParaRPr lang="en-US" sz="1100" dirty="0"/>
          </a:p>
        </p:txBody>
      </p:sp>
      <p:pic>
        <p:nvPicPr>
          <p:cNvPr id="4" name="Image 1" descr="/home/claude/assets/logo_transparent.png"/>
          <p:cNvPicPr>
            <a:picLocks noChangeAspect="1"/>
          </p:cNvPicPr>
          <p:nvPr/>
        </p:nvPicPr>
        <p:blipFill>
          <a:blip r:embed="rId4"/>
          <a:stretch>
            <a:fillRect/>
          </a:stretch>
        </p:blipFill>
        <p:spPr>
          <a:xfrm>
            <a:off x="2363724" y="1554480"/>
            <a:ext cx="2834640" cy="1889790"/>
          </a:xfrm>
          <a:prstGeom prst="rect">
            <a:avLst/>
          </a:prstGeom>
        </p:spPr>
      </p:pic>
      <p:sp>
        <p:nvSpPr>
          <p:cNvPr id="5" name="Shape 1"/>
          <p:cNvSpPr/>
          <p:nvPr/>
        </p:nvSpPr>
        <p:spPr>
          <a:xfrm>
            <a:off x="2775204" y="4160520"/>
            <a:ext cx="2011680" cy="0"/>
          </a:xfrm>
          <a:prstGeom prst="line">
            <a:avLst/>
          </a:prstGeom>
          <a:noFill/>
          <a:ln w="12700">
            <a:solidFill>
              <a:srgbClr val="C9A15A"/>
            </a:solidFill>
            <a:prstDash val="solid"/>
          </a:ln>
        </p:spPr>
      </p:sp>
      <p:sp>
        <p:nvSpPr>
          <p:cNvPr id="6" name="Shape 2"/>
          <p:cNvSpPr/>
          <p:nvPr/>
        </p:nvSpPr>
        <p:spPr>
          <a:xfrm>
            <a:off x="3749040" y="4128516"/>
            <a:ext cx="64008" cy="64008"/>
          </a:xfrm>
          <a:prstGeom prst="ellipse">
            <a:avLst/>
          </a:prstGeom>
          <a:solidFill>
            <a:srgbClr val="C1501D"/>
          </a:solidFill>
          <a:ln/>
        </p:spPr>
      </p:sp>
      <p:sp>
        <p:nvSpPr>
          <p:cNvPr id="7" name="Text 3"/>
          <p:cNvSpPr/>
          <p:nvPr/>
        </p:nvSpPr>
        <p:spPr>
          <a:xfrm>
            <a:off x="502920" y="4434840"/>
            <a:ext cx="6556248" cy="502920"/>
          </a:xfrm>
          <a:prstGeom prst="rect">
            <a:avLst/>
          </a:prstGeom>
          <a:noFill/>
          <a:ln/>
        </p:spPr>
        <p:txBody>
          <a:bodyPr wrap="square" rtlCol="0" anchor="ctr"/>
          <a:lstStyle/>
          <a:p>
            <a:pPr marL="0" indent="0" algn="ctr">
              <a:buNone/>
            </a:pPr>
            <a:r>
              <a:rPr lang="en-US" sz="3200" kern="0" spc="300" dirty="0">
                <a:solidFill>
                  <a:srgbClr val="FFFFFF"/>
                </a:solidFill>
                <a:latin typeface="Cambria" pitchFamily="34" charset="0"/>
                <a:ea typeface="Cambria" pitchFamily="34" charset="-122"/>
                <a:cs typeface="Cambria" pitchFamily="34" charset="-120"/>
              </a:rPr>
              <a:t>CORPORATE PROFILE</a:t>
            </a:r>
            <a:endParaRPr lang="en-US" sz="3200" dirty="0"/>
          </a:p>
        </p:txBody>
      </p:sp>
      <p:sp>
        <p:nvSpPr>
          <p:cNvPr id="8" name="Text 4"/>
          <p:cNvSpPr/>
          <p:nvPr/>
        </p:nvSpPr>
        <p:spPr>
          <a:xfrm>
            <a:off x="502920" y="4983480"/>
            <a:ext cx="6556248" cy="274320"/>
          </a:xfrm>
          <a:prstGeom prst="rect">
            <a:avLst/>
          </a:prstGeom>
          <a:noFill/>
          <a:ln/>
        </p:spPr>
        <p:txBody>
          <a:bodyPr wrap="square" rtlCol="0" anchor="ctr"/>
          <a:lstStyle/>
          <a:p>
            <a:pPr marL="0" indent="0" algn="ctr">
              <a:buNone/>
            </a:pPr>
            <a:r>
              <a:rPr lang="en-US" sz="1100" kern="0" spc="300" dirty="0">
                <a:solidFill>
                  <a:srgbClr val="B9C3CC"/>
                </a:solidFill>
                <a:latin typeface="Calibri" pitchFamily="34" charset="0"/>
                <a:ea typeface="Calibri" pitchFamily="34" charset="-122"/>
                <a:cs typeface="Calibri" pitchFamily="34" charset="-120"/>
              </a:rPr>
              <a:t>2026 EDITION</a:t>
            </a:r>
            <a:endParaRPr lang="en-US" sz="1100" dirty="0"/>
          </a:p>
        </p:txBody>
      </p:sp>
      <p:sp>
        <p:nvSpPr>
          <p:cNvPr id="9" name="Text 5"/>
          <p:cNvSpPr/>
          <p:nvPr/>
        </p:nvSpPr>
        <p:spPr>
          <a:xfrm>
            <a:off x="822960" y="5532120"/>
            <a:ext cx="5916168" cy="777240"/>
          </a:xfrm>
          <a:prstGeom prst="rect">
            <a:avLst/>
          </a:prstGeom>
          <a:noFill/>
          <a:ln/>
        </p:spPr>
        <p:txBody>
          <a:bodyPr wrap="square" rtlCol="0" anchor="ctr"/>
          <a:lstStyle/>
          <a:p>
            <a:pPr marL="0" indent="0" algn="ctr">
              <a:lnSpc>
                <a:spcPct val="130000"/>
              </a:lnSpc>
              <a:buNone/>
            </a:pPr>
            <a:r>
              <a:rPr lang="en-US" sz="1450" i="1" dirty="0">
                <a:solidFill>
                  <a:srgbClr val="E4C98A"/>
                </a:solidFill>
                <a:latin typeface="Cambria" pitchFamily="34" charset="0"/>
                <a:ea typeface="Cambria" pitchFamily="34" charset="-122"/>
                <a:cs typeface="Cambria" pitchFamily="34" charset="-120"/>
              </a:rPr>
              <a:t>“The future belongs to those who prepare for it.
We do not adapt to the market. We help shape it.”</a:t>
            </a:r>
            <a:endParaRPr lang="en-US" sz="1450" dirty="0"/>
          </a:p>
        </p:txBody>
      </p:sp>
      <p:sp>
        <p:nvSpPr>
          <p:cNvPr id="10" name="Text 6"/>
          <p:cNvSpPr/>
          <p:nvPr/>
        </p:nvSpPr>
        <p:spPr>
          <a:xfrm>
            <a:off x="914400" y="6537960"/>
            <a:ext cx="5733288" cy="548640"/>
          </a:xfrm>
          <a:prstGeom prst="rect">
            <a:avLst/>
          </a:prstGeom>
          <a:noFill/>
          <a:ln/>
        </p:spPr>
        <p:txBody>
          <a:bodyPr wrap="square" rtlCol="0" anchor="ctr"/>
          <a:lstStyle/>
          <a:p>
            <a:pPr marL="0" indent="0" algn="ctr">
              <a:lnSpc>
                <a:spcPct val="120000"/>
              </a:lnSpc>
              <a:buNone/>
            </a:pPr>
            <a:r>
              <a:rPr lang="en-US" sz="1100" dirty="0">
                <a:solidFill>
                  <a:srgbClr val="B9C3CC"/>
                </a:solidFill>
                <a:latin typeface="Calibri" pitchFamily="34" charset="0"/>
                <a:ea typeface="Calibri" pitchFamily="34" charset="-122"/>
                <a:cs typeface="Calibri" pitchFamily="34" charset="-120"/>
              </a:rPr>
              <a:t>A boutique strategy house operating at the intersection of hospitality operations and applied business intelligence, built for the Kingdom's next decade.</a:t>
            </a:r>
            <a:endParaRPr lang="en-US" sz="1100" dirty="0"/>
          </a:p>
        </p:txBody>
      </p:sp>
      <p:sp>
        <p:nvSpPr>
          <p:cNvPr id="11" name="Text 7"/>
          <p:cNvSpPr/>
          <p:nvPr/>
        </p:nvSpPr>
        <p:spPr>
          <a:xfrm>
            <a:off x="502920" y="7315200"/>
            <a:ext cx="1639062" cy="457200"/>
          </a:xfrm>
          <a:prstGeom prst="rect">
            <a:avLst/>
          </a:prstGeom>
          <a:noFill/>
          <a:ln/>
        </p:spPr>
        <p:txBody>
          <a:bodyPr wrap="square" rtlCol="0" anchor="ctr"/>
          <a:lstStyle/>
          <a:p>
            <a:pPr marL="0" indent="0" algn="ctr">
              <a:buNone/>
            </a:pPr>
            <a:r>
              <a:rPr lang="en-US" sz="2600" dirty="0">
                <a:solidFill>
                  <a:srgbClr val="E4C98A"/>
                </a:solidFill>
                <a:latin typeface="Cambria" pitchFamily="34" charset="0"/>
                <a:ea typeface="Cambria" pitchFamily="34" charset="-122"/>
                <a:cs typeface="Cambria" pitchFamily="34" charset="-120"/>
              </a:rPr>
              <a:t>60+</a:t>
            </a:r>
            <a:endParaRPr lang="en-US" sz="2600" dirty="0"/>
          </a:p>
        </p:txBody>
      </p:sp>
      <p:sp>
        <p:nvSpPr>
          <p:cNvPr id="12" name="Text 8"/>
          <p:cNvSpPr/>
          <p:nvPr/>
        </p:nvSpPr>
        <p:spPr>
          <a:xfrm>
            <a:off x="548640" y="7772400"/>
            <a:ext cx="1547622" cy="365760"/>
          </a:xfrm>
          <a:prstGeom prst="rect">
            <a:avLst/>
          </a:prstGeom>
          <a:noFill/>
          <a:ln/>
        </p:spPr>
        <p:txBody>
          <a:bodyPr wrap="square" rtlCol="0" anchor="ctr"/>
          <a:lstStyle/>
          <a:p>
            <a:pPr marL="0" indent="0" algn="ctr">
              <a:lnSpc>
                <a:spcPct val="105000"/>
              </a:lnSpc>
              <a:buNone/>
            </a:pPr>
            <a:r>
              <a:rPr lang="en-US" sz="850" dirty="0">
                <a:solidFill>
                  <a:srgbClr val="B9C3CC"/>
                </a:solidFill>
                <a:latin typeface="Calibri" pitchFamily="34" charset="0"/>
                <a:ea typeface="Calibri" pitchFamily="34" charset="-122"/>
                <a:cs typeface="Calibri" pitchFamily="34" charset="-120"/>
              </a:rPr>
              <a:t>Years Combined</a:t>
            </a:r>
            <a:endParaRPr lang="en-US" sz="850" dirty="0"/>
          </a:p>
          <a:p>
            <a:pPr marL="0" indent="0" algn="ctr">
              <a:lnSpc>
                <a:spcPct val="105000"/>
              </a:lnSpc>
              <a:buNone/>
            </a:pPr>
            <a:r>
              <a:rPr lang="en-US" sz="850" dirty="0">
                <a:solidFill>
                  <a:srgbClr val="B9C3CC"/>
                </a:solidFill>
                <a:latin typeface="Calibri" pitchFamily="34" charset="0"/>
                <a:ea typeface="Calibri" pitchFamily="34" charset="-122"/>
                <a:cs typeface="Calibri" pitchFamily="34" charset="-120"/>
              </a:rPr>
              <a:t>Leadership</a:t>
            </a:r>
            <a:endParaRPr lang="en-US" sz="850" dirty="0"/>
          </a:p>
        </p:txBody>
      </p:sp>
      <p:sp>
        <p:nvSpPr>
          <p:cNvPr id="13" name="Shape 9"/>
          <p:cNvSpPr/>
          <p:nvPr/>
        </p:nvSpPr>
        <p:spPr>
          <a:xfrm>
            <a:off x="2141982" y="7360920"/>
            <a:ext cx="0" cy="777240"/>
          </a:xfrm>
          <a:prstGeom prst="line">
            <a:avLst/>
          </a:prstGeom>
          <a:noFill/>
          <a:ln w="9525">
            <a:solidFill>
              <a:srgbClr val="2A3B4C"/>
            </a:solidFill>
            <a:prstDash val="solid"/>
          </a:ln>
        </p:spPr>
      </p:sp>
      <p:sp>
        <p:nvSpPr>
          <p:cNvPr id="14" name="Text 10"/>
          <p:cNvSpPr/>
          <p:nvPr/>
        </p:nvSpPr>
        <p:spPr>
          <a:xfrm>
            <a:off x="2141982" y="7315200"/>
            <a:ext cx="1639062" cy="457200"/>
          </a:xfrm>
          <a:prstGeom prst="rect">
            <a:avLst/>
          </a:prstGeom>
          <a:noFill/>
          <a:ln/>
        </p:spPr>
        <p:txBody>
          <a:bodyPr wrap="square" rtlCol="0" anchor="ctr"/>
          <a:lstStyle/>
          <a:p>
            <a:pPr marL="0" indent="0" algn="ctr">
              <a:buNone/>
            </a:pPr>
            <a:r>
              <a:rPr lang="en-US" sz="2600" dirty="0">
                <a:solidFill>
                  <a:srgbClr val="E4C98A"/>
                </a:solidFill>
                <a:latin typeface="Cambria" pitchFamily="34" charset="0"/>
                <a:ea typeface="Cambria" pitchFamily="34" charset="-122"/>
                <a:cs typeface="Cambria" pitchFamily="34" charset="-120"/>
              </a:rPr>
              <a:t>2</a:t>
            </a:r>
            <a:endParaRPr lang="en-US" sz="2600" dirty="0"/>
          </a:p>
        </p:txBody>
      </p:sp>
      <p:sp>
        <p:nvSpPr>
          <p:cNvPr id="15" name="Text 11"/>
          <p:cNvSpPr/>
          <p:nvPr/>
        </p:nvSpPr>
        <p:spPr>
          <a:xfrm>
            <a:off x="2187702" y="7772400"/>
            <a:ext cx="1547622" cy="365760"/>
          </a:xfrm>
          <a:prstGeom prst="rect">
            <a:avLst/>
          </a:prstGeom>
          <a:noFill/>
          <a:ln/>
        </p:spPr>
        <p:txBody>
          <a:bodyPr wrap="square" rtlCol="0" anchor="ctr"/>
          <a:lstStyle/>
          <a:p>
            <a:pPr marL="0" indent="0" algn="ctr">
              <a:lnSpc>
                <a:spcPct val="105000"/>
              </a:lnSpc>
              <a:buNone/>
            </a:pPr>
            <a:r>
              <a:rPr lang="en-US" sz="850" dirty="0">
                <a:solidFill>
                  <a:srgbClr val="B9C3CC"/>
                </a:solidFill>
                <a:latin typeface="Calibri" pitchFamily="34" charset="0"/>
                <a:ea typeface="Calibri" pitchFamily="34" charset="-122"/>
                <a:cs typeface="Calibri" pitchFamily="34" charset="-120"/>
              </a:rPr>
              <a:t>Integrated</a:t>
            </a:r>
            <a:endParaRPr lang="en-US" sz="850" dirty="0"/>
          </a:p>
          <a:p>
            <a:pPr marL="0" indent="0" algn="ctr">
              <a:lnSpc>
                <a:spcPct val="105000"/>
              </a:lnSpc>
              <a:buNone/>
            </a:pPr>
            <a:r>
              <a:rPr lang="en-US" sz="850" dirty="0">
                <a:solidFill>
                  <a:srgbClr val="B9C3CC"/>
                </a:solidFill>
                <a:latin typeface="Calibri" pitchFamily="34" charset="0"/>
                <a:ea typeface="Calibri" pitchFamily="34" charset="-122"/>
                <a:cs typeface="Calibri" pitchFamily="34" charset="-120"/>
              </a:rPr>
              <a:t>Divisions</a:t>
            </a:r>
            <a:endParaRPr lang="en-US" sz="850" dirty="0"/>
          </a:p>
        </p:txBody>
      </p:sp>
      <p:sp>
        <p:nvSpPr>
          <p:cNvPr id="16" name="Shape 12"/>
          <p:cNvSpPr/>
          <p:nvPr/>
        </p:nvSpPr>
        <p:spPr>
          <a:xfrm>
            <a:off x="3781044" y="7360920"/>
            <a:ext cx="0" cy="777240"/>
          </a:xfrm>
          <a:prstGeom prst="line">
            <a:avLst/>
          </a:prstGeom>
          <a:noFill/>
          <a:ln w="9525">
            <a:solidFill>
              <a:srgbClr val="2A3B4C"/>
            </a:solidFill>
            <a:prstDash val="solid"/>
          </a:ln>
        </p:spPr>
      </p:sp>
      <p:sp>
        <p:nvSpPr>
          <p:cNvPr id="17" name="Text 13"/>
          <p:cNvSpPr/>
          <p:nvPr/>
        </p:nvSpPr>
        <p:spPr>
          <a:xfrm>
            <a:off x="3781044" y="7315200"/>
            <a:ext cx="1639062" cy="457200"/>
          </a:xfrm>
          <a:prstGeom prst="rect">
            <a:avLst/>
          </a:prstGeom>
          <a:noFill/>
          <a:ln/>
        </p:spPr>
        <p:txBody>
          <a:bodyPr wrap="square" rtlCol="0" anchor="ctr"/>
          <a:lstStyle/>
          <a:p>
            <a:pPr marL="0" indent="0" algn="ctr">
              <a:buNone/>
            </a:pPr>
            <a:r>
              <a:rPr lang="en-US" sz="2600" dirty="0">
                <a:solidFill>
                  <a:srgbClr val="E4C98A"/>
                </a:solidFill>
                <a:latin typeface="Cambria" pitchFamily="34" charset="0"/>
                <a:ea typeface="Cambria" pitchFamily="34" charset="-122"/>
                <a:cs typeface="Cambria" pitchFamily="34" charset="-120"/>
              </a:rPr>
              <a:t>12</a:t>
            </a:r>
            <a:endParaRPr lang="en-US" sz="2600" dirty="0"/>
          </a:p>
        </p:txBody>
      </p:sp>
      <p:sp>
        <p:nvSpPr>
          <p:cNvPr id="18" name="Text 14"/>
          <p:cNvSpPr/>
          <p:nvPr/>
        </p:nvSpPr>
        <p:spPr>
          <a:xfrm>
            <a:off x="3826764" y="7772400"/>
            <a:ext cx="1547622" cy="365760"/>
          </a:xfrm>
          <a:prstGeom prst="rect">
            <a:avLst/>
          </a:prstGeom>
          <a:noFill/>
          <a:ln/>
        </p:spPr>
        <p:txBody>
          <a:bodyPr wrap="square" rtlCol="0" anchor="ctr"/>
          <a:lstStyle/>
          <a:p>
            <a:pPr marL="0" indent="0" algn="ctr">
              <a:lnSpc>
                <a:spcPct val="105000"/>
              </a:lnSpc>
              <a:buNone/>
            </a:pPr>
            <a:r>
              <a:rPr lang="en-US" sz="850" dirty="0">
                <a:solidFill>
                  <a:srgbClr val="B9C3CC"/>
                </a:solidFill>
                <a:latin typeface="Calibri" pitchFamily="34" charset="0"/>
                <a:ea typeface="Calibri" pitchFamily="34" charset="-122"/>
                <a:cs typeface="Calibri" pitchFamily="34" charset="-120"/>
              </a:rPr>
              <a:t>Sectors</a:t>
            </a:r>
            <a:endParaRPr lang="en-US" sz="850" dirty="0"/>
          </a:p>
          <a:p>
            <a:pPr marL="0" indent="0" algn="ctr">
              <a:lnSpc>
                <a:spcPct val="105000"/>
              </a:lnSpc>
              <a:buNone/>
            </a:pPr>
            <a:r>
              <a:rPr lang="en-US" sz="850" dirty="0">
                <a:solidFill>
                  <a:srgbClr val="B9C3CC"/>
                </a:solidFill>
                <a:latin typeface="Calibri" pitchFamily="34" charset="0"/>
                <a:ea typeface="Calibri" pitchFamily="34" charset="-122"/>
                <a:cs typeface="Calibri" pitchFamily="34" charset="-120"/>
              </a:rPr>
              <a:t>Served</a:t>
            </a:r>
            <a:endParaRPr lang="en-US" sz="850" dirty="0"/>
          </a:p>
        </p:txBody>
      </p:sp>
      <p:sp>
        <p:nvSpPr>
          <p:cNvPr id="19" name="Shape 15"/>
          <p:cNvSpPr/>
          <p:nvPr/>
        </p:nvSpPr>
        <p:spPr>
          <a:xfrm>
            <a:off x="5420106" y="7360920"/>
            <a:ext cx="0" cy="777240"/>
          </a:xfrm>
          <a:prstGeom prst="line">
            <a:avLst/>
          </a:prstGeom>
          <a:noFill/>
          <a:ln w="9525">
            <a:solidFill>
              <a:srgbClr val="2A3B4C"/>
            </a:solidFill>
            <a:prstDash val="solid"/>
          </a:ln>
        </p:spPr>
      </p:sp>
      <p:sp>
        <p:nvSpPr>
          <p:cNvPr id="20" name="Text 16"/>
          <p:cNvSpPr/>
          <p:nvPr/>
        </p:nvSpPr>
        <p:spPr>
          <a:xfrm>
            <a:off x="5420106" y="7315200"/>
            <a:ext cx="1639062" cy="457200"/>
          </a:xfrm>
          <a:prstGeom prst="rect">
            <a:avLst/>
          </a:prstGeom>
          <a:noFill/>
          <a:ln/>
        </p:spPr>
        <p:txBody>
          <a:bodyPr wrap="square" rtlCol="0" anchor="ctr"/>
          <a:lstStyle/>
          <a:p>
            <a:pPr marL="0" indent="0" algn="ctr">
              <a:buNone/>
            </a:pPr>
            <a:r>
              <a:rPr lang="en-US" sz="2600" dirty="0">
                <a:solidFill>
                  <a:srgbClr val="E4C98A"/>
                </a:solidFill>
                <a:latin typeface="Cambria" pitchFamily="34" charset="0"/>
                <a:ea typeface="Cambria" pitchFamily="34" charset="-122"/>
                <a:cs typeface="Cambria" pitchFamily="34" charset="-120"/>
              </a:rPr>
              <a:t>1</a:t>
            </a:r>
            <a:endParaRPr lang="en-US" sz="2600" dirty="0"/>
          </a:p>
        </p:txBody>
      </p:sp>
      <p:sp>
        <p:nvSpPr>
          <p:cNvPr id="21" name="Text 17"/>
          <p:cNvSpPr/>
          <p:nvPr/>
        </p:nvSpPr>
        <p:spPr>
          <a:xfrm>
            <a:off x="5465826" y="7772400"/>
            <a:ext cx="1547622" cy="365760"/>
          </a:xfrm>
          <a:prstGeom prst="rect">
            <a:avLst/>
          </a:prstGeom>
          <a:noFill/>
          <a:ln/>
        </p:spPr>
        <p:txBody>
          <a:bodyPr wrap="square" rtlCol="0" anchor="ctr"/>
          <a:lstStyle/>
          <a:p>
            <a:pPr marL="0" indent="0" algn="ctr">
              <a:lnSpc>
                <a:spcPct val="105000"/>
              </a:lnSpc>
              <a:buNone/>
            </a:pPr>
            <a:r>
              <a:rPr lang="en-US" sz="850" dirty="0">
                <a:solidFill>
                  <a:srgbClr val="B9C3CC"/>
                </a:solidFill>
                <a:latin typeface="Calibri" pitchFamily="34" charset="0"/>
                <a:ea typeface="Calibri" pitchFamily="34" charset="-122"/>
                <a:cs typeface="Calibri" pitchFamily="34" charset="-120"/>
              </a:rPr>
              <a:t>Proprietary</a:t>
            </a:r>
            <a:endParaRPr lang="en-US" sz="850" dirty="0"/>
          </a:p>
          <a:p>
            <a:pPr marL="0" indent="0" algn="ctr">
              <a:lnSpc>
                <a:spcPct val="105000"/>
              </a:lnSpc>
              <a:buNone/>
            </a:pPr>
            <a:r>
              <a:rPr lang="en-US" sz="850" dirty="0">
                <a:solidFill>
                  <a:srgbClr val="B9C3CC"/>
                </a:solidFill>
                <a:latin typeface="Calibri" pitchFamily="34" charset="0"/>
                <a:ea typeface="Calibri" pitchFamily="34" charset="-122"/>
                <a:cs typeface="Calibri" pitchFamily="34" charset="-120"/>
              </a:rPr>
              <a:t>Platform</a:t>
            </a:r>
            <a:endParaRPr lang="en-US" sz="850" dirty="0"/>
          </a:p>
        </p:txBody>
      </p:sp>
      <p:sp>
        <p:nvSpPr>
          <p:cNvPr id="22" name="Text 18"/>
          <p:cNvSpPr/>
          <p:nvPr/>
        </p:nvSpPr>
        <p:spPr>
          <a:xfrm>
            <a:off x="502920" y="8778240"/>
            <a:ext cx="6556248" cy="274320"/>
          </a:xfrm>
          <a:prstGeom prst="rect">
            <a:avLst/>
          </a:prstGeom>
          <a:noFill/>
          <a:ln/>
        </p:spPr>
        <p:txBody>
          <a:bodyPr wrap="square" rtlCol="0" anchor="ctr"/>
          <a:lstStyle/>
          <a:p>
            <a:pPr marL="0" indent="0" algn="ctr">
              <a:buNone/>
            </a:pPr>
            <a:r>
              <a:rPr lang="en-US" sz="1000" b="1" kern="0" spc="200" dirty="0">
                <a:solidFill>
                  <a:srgbClr val="C1501D"/>
                </a:solidFill>
                <a:latin typeface="Calibri" pitchFamily="34" charset="0"/>
                <a:ea typeface="Calibri" pitchFamily="34" charset="-122"/>
                <a:cs typeface="Calibri" pitchFamily="34" charset="-120"/>
              </a:rPr>
              <a:t>RIYADH  •  KINGDOM OF SAUDI ARABIA  •  GCC &amp; MENA</a:t>
            </a:r>
            <a:endParaRPr lang="en-US" sz="1000" dirty="0"/>
          </a:p>
        </p:txBody>
      </p:sp>
      <p:sp>
        <p:nvSpPr>
          <p:cNvPr id="23" name="Text 19"/>
          <p:cNvSpPr/>
          <p:nvPr/>
        </p:nvSpPr>
        <p:spPr>
          <a:xfrm>
            <a:off x="502920" y="9144000"/>
            <a:ext cx="6556248" cy="320040"/>
          </a:xfrm>
          <a:prstGeom prst="rect">
            <a:avLst/>
          </a:prstGeom>
          <a:noFill/>
          <a:ln/>
        </p:spPr>
        <p:txBody>
          <a:bodyPr wrap="square" rtlCol="0" anchor="ctr"/>
          <a:lstStyle/>
          <a:p>
            <a:pPr marL="0" indent="0" algn="ctr">
              <a:buNone/>
            </a:pPr>
            <a:r>
              <a:rPr lang="en-US" sz="1200" i="1" dirty="0">
                <a:solidFill>
                  <a:srgbClr val="B9C3CC"/>
                </a:solidFill>
                <a:latin typeface="Cambria" pitchFamily="34" charset="0"/>
                <a:ea typeface="Cambria" pitchFamily="34" charset="-122"/>
                <a:cs typeface="Cambria" pitchFamily="34" charset="-120"/>
              </a:rPr>
              <a:t>Elevating Hospitality &amp; Business Performance</a:t>
            </a:r>
            <a:endParaRPr lang="en-US" sz="1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C1501D"/>
                </a:solidFill>
                <a:latin typeface="Calibri" pitchFamily="34" charset="0"/>
                <a:ea typeface="Calibri" pitchFamily="34" charset="-122"/>
                <a:cs typeface="Calibri" pitchFamily="34" charset="-120"/>
              </a:rPr>
              <a:t>GUIDE TO THIS DOCUMENT</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a:solidFill>
                  <a:srgbClr val="0B1B2B"/>
                </a:solidFill>
                <a:latin typeface="Cambria" pitchFamily="34" charset="0"/>
                <a:ea typeface="Cambria" pitchFamily="34" charset="-122"/>
                <a:cs typeface="Cambria" pitchFamily="34" charset="-120"/>
              </a:rPr>
              <a:t>Contents</a:t>
            </a:r>
            <a:endParaRPr lang="en-US" sz="2700" dirty="0"/>
          </a:p>
        </p:txBody>
      </p:sp>
      <p:sp>
        <p:nvSpPr>
          <p:cNvPr id="4" name="Text 2"/>
          <p:cNvSpPr/>
          <p:nvPr/>
        </p:nvSpPr>
        <p:spPr>
          <a:xfrm>
            <a:off x="502920" y="1280160"/>
            <a:ext cx="6556248" cy="566928"/>
          </a:xfrm>
          <a:prstGeom prst="rect">
            <a:avLst/>
          </a:prstGeom>
          <a:noFill/>
          <a:ln/>
        </p:spPr>
        <p:txBody>
          <a:bodyPr wrap="square" rtlCol="0" anchor="t"/>
          <a:lstStyle/>
          <a:p>
            <a:pPr marL="0" indent="0" algn="l">
              <a:lnSpc>
                <a:spcPct val="118000"/>
              </a:lnSpc>
              <a:buNone/>
            </a:pPr>
            <a:r>
              <a:rPr lang="en-US" sz="1150" dirty="0">
                <a:solidFill>
                  <a:srgbClr val="6B675F"/>
                </a:solidFill>
                <a:latin typeface="Calibri" pitchFamily="34" charset="0"/>
                <a:ea typeface="Calibri" pitchFamily="34" charset="-122"/>
                <a:cs typeface="Calibri" pitchFamily="34" charset="-120"/>
              </a:rPr>
              <a:t>A guide to this document's twenty-five sections, from firm overview and service portfolio through to our proprietary digital platform, market data, and executive leadership.</a:t>
            </a:r>
            <a:endParaRPr lang="en-US" sz="1150" dirty="0"/>
          </a:p>
        </p:txBody>
      </p:sp>
      <p:sp>
        <p:nvSpPr>
          <p:cNvPr id="5" name="Text 3"/>
          <p:cNvSpPr/>
          <p:nvPr/>
        </p:nvSpPr>
        <p:spPr>
          <a:xfrm>
            <a:off x="502920" y="224028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01</a:t>
            </a:r>
            <a:endParaRPr lang="en-US" sz="1600" dirty="0"/>
          </a:p>
        </p:txBody>
      </p:sp>
      <p:sp>
        <p:nvSpPr>
          <p:cNvPr id="6" name="Text 4"/>
          <p:cNvSpPr/>
          <p:nvPr/>
        </p:nvSpPr>
        <p:spPr>
          <a:xfrm>
            <a:off x="960120" y="225856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A Message from the Founders</a:t>
            </a:r>
            <a:endParaRPr lang="en-US" sz="1030" dirty="0"/>
          </a:p>
        </p:txBody>
      </p:sp>
      <p:sp>
        <p:nvSpPr>
          <p:cNvPr id="7" name="Text 5"/>
          <p:cNvSpPr/>
          <p:nvPr/>
        </p:nvSpPr>
        <p:spPr>
          <a:xfrm>
            <a:off x="3383280" y="225856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03</a:t>
            </a:r>
            <a:endParaRPr lang="en-US" sz="1030" dirty="0"/>
          </a:p>
        </p:txBody>
      </p:sp>
      <p:sp>
        <p:nvSpPr>
          <p:cNvPr id="8" name="Shape 6"/>
          <p:cNvSpPr/>
          <p:nvPr/>
        </p:nvSpPr>
        <p:spPr>
          <a:xfrm>
            <a:off x="502920" y="2660904"/>
            <a:ext cx="3291840" cy="0"/>
          </a:xfrm>
          <a:prstGeom prst="line">
            <a:avLst/>
          </a:prstGeom>
          <a:noFill/>
          <a:ln w="6350">
            <a:solidFill>
              <a:srgbClr val="E4DDCB"/>
            </a:solidFill>
            <a:prstDash val="solid"/>
          </a:ln>
        </p:spPr>
      </p:sp>
      <p:sp>
        <p:nvSpPr>
          <p:cNvPr id="9" name="Text 7"/>
          <p:cNvSpPr/>
          <p:nvPr/>
        </p:nvSpPr>
        <p:spPr>
          <a:xfrm>
            <a:off x="502920" y="278892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02</a:t>
            </a:r>
            <a:endParaRPr lang="en-US" sz="1600" dirty="0"/>
          </a:p>
        </p:txBody>
      </p:sp>
      <p:sp>
        <p:nvSpPr>
          <p:cNvPr id="10" name="Text 8"/>
          <p:cNvSpPr/>
          <p:nvPr/>
        </p:nvSpPr>
        <p:spPr>
          <a:xfrm>
            <a:off x="960120" y="280720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Company Overview</a:t>
            </a:r>
            <a:endParaRPr lang="en-US" sz="1030" dirty="0"/>
          </a:p>
        </p:txBody>
      </p:sp>
      <p:sp>
        <p:nvSpPr>
          <p:cNvPr id="11" name="Text 9"/>
          <p:cNvSpPr/>
          <p:nvPr/>
        </p:nvSpPr>
        <p:spPr>
          <a:xfrm>
            <a:off x="3383280" y="280720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04</a:t>
            </a:r>
            <a:endParaRPr lang="en-US" sz="1030" dirty="0"/>
          </a:p>
        </p:txBody>
      </p:sp>
      <p:sp>
        <p:nvSpPr>
          <p:cNvPr id="12" name="Shape 10"/>
          <p:cNvSpPr/>
          <p:nvPr/>
        </p:nvSpPr>
        <p:spPr>
          <a:xfrm>
            <a:off x="502920" y="3209544"/>
            <a:ext cx="3291840" cy="0"/>
          </a:xfrm>
          <a:prstGeom prst="line">
            <a:avLst/>
          </a:prstGeom>
          <a:noFill/>
          <a:ln w="6350">
            <a:solidFill>
              <a:srgbClr val="E4DDCB"/>
            </a:solidFill>
            <a:prstDash val="solid"/>
          </a:ln>
        </p:spPr>
      </p:sp>
      <p:sp>
        <p:nvSpPr>
          <p:cNvPr id="13" name="Text 11"/>
          <p:cNvSpPr/>
          <p:nvPr/>
        </p:nvSpPr>
        <p:spPr>
          <a:xfrm>
            <a:off x="502920" y="333756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03</a:t>
            </a:r>
            <a:endParaRPr lang="en-US" sz="1600" dirty="0"/>
          </a:p>
        </p:txBody>
      </p:sp>
      <p:sp>
        <p:nvSpPr>
          <p:cNvPr id="14" name="Text 12"/>
          <p:cNvSpPr/>
          <p:nvPr/>
        </p:nvSpPr>
        <p:spPr>
          <a:xfrm>
            <a:off x="960120" y="335584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Why Altus Gulf</a:t>
            </a:r>
            <a:endParaRPr lang="en-US" sz="1030" dirty="0"/>
          </a:p>
        </p:txBody>
      </p:sp>
      <p:sp>
        <p:nvSpPr>
          <p:cNvPr id="15" name="Text 13"/>
          <p:cNvSpPr/>
          <p:nvPr/>
        </p:nvSpPr>
        <p:spPr>
          <a:xfrm>
            <a:off x="3383280" y="335584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05</a:t>
            </a:r>
            <a:endParaRPr lang="en-US" sz="1030" dirty="0"/>
          </a:p>
        </p:txBody>
      </p:sp>
      <p:sp>
        <p:nvSpPr>
          <p:cNvPr id="16" name="Shape 14"/>
          <p:cNvSpPr/>
          <p:nvPr/>
        </p:nvSpPr>
        <p:spPr>
          <a:xfrm>
            <a:off x="502920" y="3758184"/>
            <a:ext cx="3291840" cy="0"/>
          </a:xfrm>
          <a:prstGeom prst="line">
            <a:avLst/>
          </a:prstGeom>
          <a:noFill/>
          <a:ln w="6350">
            <a:solidFill>
              <a:srgbClr val="E4DDCB"/>
            </a:solidFill>
            <a:prstDash val="solid"/>
          </a:ln>
        </p:spPr>
      </p:sp>
      <p:sp>
        <p:nvSpPr>
          <p:cNvPr id="17" name="Text 15"/>
          <p:cNvSpPr/>
          <p:nvPr/>
        </p:nvSpPr>
        <p:spPr>
          <a:xfrm>
            <a:off x="502920" y="388620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04</a:t>
            </a:r>
            <a:endParaRPr lang="en-US" sz="1600" dirty="0"/>
          </a:p>
        </p:txBody>
      </p:sp>
      <p:sp>
        <p:nvSpPr>
          <p:cNvPr id="18" name="Text 16"/>
          <p:cNvSpPr/>
          <p:nvPr/>
        </p:nvSpPr>
        <p:spPr>
          <a:xfrm>
            <a:off x="960120" y="390448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Hospitality Solutions</a:t>
            </a:r>
            <a:endParaRPr lang="en-US" sz="1030" dirty="0"/>
          </a:p>
        </p:txBody>
      </p:sp>
      <p:sp>
        <p:nvSpPr>
          <p:cNvPr id="19" name="Text 17"/>
          <p:cNvSpPr/>
          <p:nvPr/>
        </p:nvSpPr>
        <p:spPr>
          <a:xfrm>
            <a:off x="3383280" y="390448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06</a:t>
            </a:r>
            <a:endParaRPr lang="en-US" sz="1030" dirty="0"/>
          </a:p>
        </p:txBody>
      </p:sp>
      <p:sp>
        <p:nvSpPr>
          <p:cNvPr id="20" name="Shape 18"/>
          <p:cNvSpPr/>
          <p:nvPr/>
        </p:nvSpPr>
        <p:spPr>
          <a:xfrm>
            <a:off x="502920" y="4306824"/>
            <a:ext cx="3291840" cy="0"/>
          </a:xfrm>
          <a:prstGeom prst="line">
            <a:avLst/>
          </a:prstGeom>
          <a:noFill/>
          <a:ln w="6350">
            <a:solidFill>
              <a:srgbClr val="E4DDCB"/>
            </a:solidFill>
            <a:prstDash val="solid"/>
          </a:ln>
        </p:spPr>
      </p:sp>
      <p:sp>
        <p:nvSpPr>
          <p:cNvPr id="21" name="Text 19"/>
          <p:cNvSpPr/>
          <p:nvPr/>
        </p:nvSpPr>
        <p:spPr>
          <a:xfrm>
            <a:off x="502920" y="443484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05</a:t>
            </a:r>
            <a:endParaRPr lang="en-US" sz="1600" dirty="0"/>
          </a:p>
        </p:txBody>
      </p:sp>
      <p:sp>
        <p:nvSpPr>
          <p:cNvPr id="22" name="Text 20"/>
          <p:cNvSpPr/>
          <p:nvPr/>
        </p:nvSpPr>
        <p:spPr>
          <a:xfrm>
            <a:off x="960120" y="445312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Business Growth Solutions</a:t>
            </a:r>
            <a:endParaRPr lang="en-US" sz="1030" dirty="0"/>
          </a:p>
        </p:txBody>
      </p:sp>
      <p:sp>
        <p:nvSpPr>
          <p:cNvPr id="23" name="Text 21"/>
          <p:cNvSpPr/>
          <p:nvPr/>
        </p:nvSpPr>
        <p:spPr>
          <a:xfrm>
            <a:off x="3383280" y="445312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07</a:t>
            </a:r>
            <a:endParaRPr lang="en-US" sz="1030" dirty="0"/>
          </a:p>
        </p:txBody>
      </p:sp>
      <p:sp>
        <p:nvSpPr>
          <p:cNvPr id="24" name="Shape 22"/>
          <p:cNvSpPr/>
          <p:nvPr/>
        </p:nvSpPr>
        <p:spPr>
          <a:xfrm>
            <a:off x="502920" y="4855464"/>
            <a:ext cx="3291840" cy="0"/>
          </a:xfrm>
          <a:prstGeom prst="line">
            <a:avLst/>
          </a:prstGeom>
          <a:noFill/>
          <a:ln w="6350">
            <a:solidFill>
              <a:srgbClr val="E4DDCB"/>
            </a:solidFill>
            <a:prstDash val="solid"/>
          </a:ln>
        </p:spPr>
      </p:sp>
      <p:sp>
        <p:nvSpPr>
          <p:cNvPr id="25" name="Text 23"/>
          <p:cNvSpPr/>
          <p:nvPr/>
        </p:nvSpPr>
        <p:spPr>
          <a:xfrm>
            <a:off x="502920" y="498348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06</a:t>
            </a:r>
            <a:endParaRPr lang="en-US" sz="1600" dirty="0"/>
          </a:p>
        </p:txBody>
      </p:sp>
      <p:sp>
        <p:nvSpPr>
          <p:cNvPr id="26" name="Text 24"/>
          <p:cNvSpPr/>
          <p:nvPr/>
        </p:nvSpPr>
        <p:spPr>
          <a:xfrm>
            <a:off x="960120" y="500176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Altus Gulf Hospitality Knowledge &amp; Performance</a:t>
            </a:r>
            <a:endParaRPr lang="en-US" sz="1030" dirty="0"/>
          </a:p>
        </p:txBody>
      </p:sp>
      <p:sp>
        <p:nvSpPr>
          <p:cNvPr id="27" name="Text 25"/>
          <p:cNvSpPr/>
          <p:nvPr/>
        </p:nvSpPr>
        <p:spPr>
          <a:xfrm>
            <a:off x="3383280" y="500176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08</a:t>
            </a:r>
            <a:endParaRPr lang="en-US" sz="1030" dirty="0"/>
          </a:p>
        </p:txBody>
      </p:sp>
      <p:sp>
        <p:nvSpPr>
          <p:cNvPr id="28" name="Shape 26"/>
          <p:cNvSpPr/>
          <p:nvPr/>
        </p:nvSpPr>
        <p:spPr>
          <a:xfrm>
            <a:off x="502920" y="5404104"/>
            <a:ext cx="3291840" cy="0"/>
          </a:xfrm>
          <a:prstGeom prst="line">
            <a:avLst/>
          </a:prstGeom>
          <a:noFill/>
          <a:ln w="6350">
            <a:solidFill>
              <a:srgbClr val="E4DDCB"/>
            </a:solidFill>
            <a:prstDash val="solid"/>
          </a:ln>
        </p:spPr>
      </p:sp>
      <p:sp>
        <p:nvSpPr>
          <p:cNvPr id="29" name="Text 27"/>
          <p:cNvSpPr/>
          <p:nvPr/>
        </p:nvSpPr>
        <p:spPr>
          <a:xfrm>
            <a:off x="502920" y="553212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07</a:t>
            </a:r>
            <a:endParaRPr lang="en-US" sz="1600" dirty="0"/>
          </a:p>
        </p:txBody>
      </p:sp>
      <p:sp>
        <p:nvSpPr>
          <p:cNvPr id="30" name="Text 28"/>
          <p:cNvSpPr/>
          <p:nvPr/>
        </p:nvSpPr>
        <p:spPr>
          <a:xfrm>
            <a:off x="960120" y="555040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How the Altus Gulf Model Differs</a:t>
            </a:r>
            <a:endParaRPr lang="en-US" sz="1030" dirty="0"/>
          </a:p>
        </p:txBody>
      </p:sp>
      <p:sp>
        <p:nvSpPr>
          <p:cNvPr id="31" name="Text 29"/>
          <p:cNvSpPr/>
          <p:nvPr/>
        </p:nvSpPr>
        <p:spPr>
          <a:xfrm>
            <a:off x="3383280" y="555040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09</a:t>
            </a:r>
            <a:endParaRPr lang="en-US" sz="1030" dirty="0"/>
          </a:p>
        </p:txBody>
      </p:sp>
      <p:sp>
        <p:nvSpPr>
          <p:cNvPr id="32" name="Shape 30"/>
          <p:cNvSpPr/>
          <p:nvPr/>
        </p:nvSpPr>
        <p:spPr>
          <a:xfrm>
            <a:off x="502920" y="5952744"/>
            <a:ext cx="3291840" cy="0"/>
          </a:xfrm>
          <a:prstGeom prst="line">
            <a:avLst/>
          </a:prstGeom>
          <a:noFill/>
          <a:ln w="6350">
            <a:solidFill>
              <a:srgbClr val="E4DDCB"/>
            </a:solidFill>
            <a:prstDash val="solid"/>
          </a:ln>
        </p:spPr>
      </p:sp>
      <p:sp>
        <p:nvSpPr>
          <p:cNvPr id="33" name="Text 31"/>
          <p:cNvSpPr/>
          <p:nvPr/>
        </p:nvSpPr>
        <p:spPr>
          <a:xfrm>
            <a:off x="502920" y="608076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08</a:t>
            </a:r>
            <a:endParaRPr lang="en-US" sz="1600" dirty="0"/>
          </a:p>
        </p:txBody>
      </p:sp>
      <p:sp>
        <p:nvSpPr>
          <p:cNvPr id="34" name="Text 32"/>
          <p:cNvSpPr/>
          <p:nvPr/>
        </p:nvSpPr>
        <p:spPr>
          <a:xfrm>
            <a:off x="960120" y="609904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Industries We Serve</a:t>
            </a:r>
            <a:endParaRPr lang="en-US" sz="1030" dirty="0"/>
          </a:p>
        </p:txBody>
      </p:sp>
      <p:sp>
        <p:nvSpPr>
          <p:cNvPr id="35" name="Text 33"/>
          <p:cNvSpPr/>
          <p:nvPr/>
        </p:nvSpPr>
        <p:spPr>
          <a:xfrm>
            <a:off x="3383280" y="609904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10</a:t>
            </a:r>
            <a:endParaRPr lang="en-US" sz="1030" dirty="0"/>
          </a:p>
        </p:txBody>
      </p:sp>
      <p:sp>
        <p:nvSpPr>
          <p:cNvPr id="36" name="Shape 34"/>
          <p:cNvSpPr/>
          <p:nvPr/>
        </p:nvSpPr>
        <p:spPr>
          <a:xfrm>
            <a:off x="502920" y="6501384"/>
            <a:ext cx="3291840" cy="0"/>
          </a:xfrm>
          <a:prstGeom prst="line">
            <a:avLst/>
          </a:prstGeom>
          <a:noFill/>
          <a:ln w="6350">
            <a:solidFill>
              <a:srgbClr val="E4DDCB"/>
            </a:solidFill>
            <a:prstDash val="solid"/>
          </a:ln>
        </p:spPr>
      </p:sp>
      <p:sp>
        <p:nvSpPr>
          <p:cNvPr id="37" name="Text 35"/>
          <p:cNvSpPr/>
          <p:nvPr/>
        </p:nvSpPr>
        <p:spPr>
          <a:xfrm>
            <a:off x="502920" y="662940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09</a:t>
            </a:r>
            <a:endParaRPr lang="en-US" sz="1600" dirty="0"/>
          </a:p>
        </p:txBody>
      </p:sp>
      <p:sp>
        <p:nvSpPr>
          <p:cNvPr id="38" name="Text 36"/>
          <p:cNvSpPr/>
          <p:nvPr/>
        </p:nvSpPr>
        <p:spPr>
          <a:xfrm>
            <a:off x="960120" y="664768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The Altus Ascent™ Framework</a:t>
            </a:r>
            <a:endParaRPr lang="en-US" sz="1030" dirty="0"/>
          </a:p>
        </p:txBody>
      </p:sp>
      <p:sp>
        <p:nvSpPr>
          <p:cNvPr id="39" name="Text 37"/>
          <p:cNvSpPr/>
          <p:nvPr/>
        </p:nvSpPr>
        <p:spPr>
          <a:xfrm>
            <a:off x="3383280" y="664768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11</a:t>
            </a:r>
            <a:endParaRPr lang="en-US" sz="1030" dirty="0"/>
          </a:p>
        </p:txBody>
      </p:sp>
      <p:sp>
        <p:nvSpPr>
          <p:cNvPr id="40" name="Shape 38"/>
          <p:cNvSpPr/>
          <p:nvPr/>
        </p:nvSpPr>
        <p:spPr>
          <a:xfrm>
            <a:off x="502920" y="7050024"/>
            <a:ext cx="3291840" cy="0"/>
          </a:xfrm>
          <a:prstGeom prst="line">
            <a:avLst/>
          </a:prstGeom>
          <a:noFill/>
          <a:ln w="6350">
            <a:solidFill>
              <a:srgbClr val="E4DDCB"/>
            </a:solidFill>
            <a:prstDash val="solid"/>
          </a:ln>
        </p:spPr>
      </p:sp>
      <p:sp>
        <p:nvSpPr>
          <p:cNvPr id="41" name="Text 39"/>
          <p:cNvSpPr/>
          <p:nvPr/>
        </p:nvSpPr>
        <p:spPr>
          <a:xfrm>
            <a:off x="502920" y="717804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10</a:t>
            </a:r>
            <a:endParaRPr lang="en-US" sz="1600" dirty="0"/>
          </a:p>
        </p:txBody>
      </p:sp>
      <p:sp>
        <p:nvSpPr>
          <p:cNvPr id="42" name="Text 40"/>
          <p:cNvSpPr/>
          <p:nvPr/>
        </p:nvSpPr>
        <p:spPr>
          <a:xfrm>
            <a:off x="960120" y="719632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Strategic Frameworks</a:t>
            </a:r>
            <a:endParaRPr lang="en-US" sz="1030" dirty="0"/>
          </a:p>
        </p:txBody>
      </p:sp>
      <p:sp>
        <p:nvSpPr>
          <p:cNvPr id="43" name="Text 41"/>
          <p:cNvSpPr/>
          <p:nvPr/>
        </p:nvSpPr>
        <p:spPr>
          <a:xfrm>
            <a:off x="3383280" y="719632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12</a:t>
            </a:r>
            <a:endParaRPr lang="en-US" sz="1030" dirty="0"/>
          </a:p>
        </p:txBody>
      </p:sp>
      <p:sp>
        <p:nvSpPr>
          <p:cNvPr id="44" name="Shape 42"/>
          <p:cNvSpPr/>
          <p:nvPr/>
        </p:nvSpPr>
        <p:spPr>
          <a:xfrm>
            <a:off x="502920" y="7598664"/>
            <a:ext cx="3291840" cy="0"/>
          </a:xfrm>
          <a:prstGeom prst="line">
            <a:avLst/>
          </a:prstGeom>
          <a:noFill/>
          <a:ln w="6350">
            <a:solidFill>
              <a:srgbClr val="E4DDCB"/>
            </a:solidFill>
            <a:prstDash val="solid"/>
          </a:ln>
        </p:spPr>
      </p:sp>
      <p:sp>
        <p:nvSpPr>
          <p:cNvPr id="45" name="Text 43"/>
          <p:cNvSpPr/>
          <p:nvPr/>
        </p:nvSpPr>
        <p:spPr>
          <a:xfrm>
            <a:off x="502920" y="772668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11</a:t>
            </a:r>
            <a:endParaRPr lang="en-US" sz="1600" dirty="0"/>
          </a:p>
        </p:txBody>
      </p:sp>
      <p:sp>
        <p:nvSpPr>
          <p:cNvPr id="46" name="Text 44"/>
          <p:cNvSpPr/>
          <p:nvPr/>
        </p:nvSpPr>
        <p:spPr>
          <a:xfrm>
            <a:off x="960120" y="774496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Institutional Capabilities</a:t>
            </a:r>
            <a:endParaRPr lang="en-US" sz="1030" dirty="0"/>
          </a:p>
        </p:txBody>
      </p:sp>
      <p:sp>
        <p:nvSpPr>
          <p:cNvPr id="47" name="Text 45"/>
          <p:cNvSpPr/>
          <p:nvPr/>
        </p:nvSpPr>
        <p:spPr>
          <a:xfrm>
            <a:off x="3383280" y="774496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13</a:t>
            </a:r>
            <a:endParaRPr lang="en-US" sz="1030" dirty="0"/>
          </a:p>
        </p:txBody>
      </p:sp>
      <p:sp>
        <p:nvSpPr>
          <p:cNvPr id="48" name="Shape 46"/>
          <p:cNvSpPr/>
          <p:nvPr/>
        </p:nvSpPr>
        <p:spPr>
          <a:xfrm>
            <a:off x="502920" y="8147304"/>
            <a:ext cx="3291840" cy="0"/>
          </a:xfrm>
          <a:prstGeom prst="line">
            <a:avLst/>
          </a:prstGeom>
          <a:noFill/>
          <a:ln w="6350">
            <a:solidFill>
              <a:srgbClr val="E4DDCB"/>
            </a:solidFill>
            <a:prstDash val="solid"/>
          </a:ln>
        </p:spPr>
      </p:sp>
      <p:sp>
        <p:nvSpPr>
          <p:cNvPr id="49" name="Text 47"/>
          <p:cNvSpPr/>
          <p:nvPr/>
        </p:nvSpPr>
        <p:spPr>
          <a:xfrm>
            <a:off x="502920" y="827532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12</a:t>
            </a:r>
            <a:endParaRPr lang="en-US" sz="1600" dirty="0"/>
          </a:p>
        </p:txBody>
      </p:sp>
      <p:sp>
        <p:nvSpPr>
          <p:cNvPr id="50" name="Text 48"/>
          <p:cNvSpPr/>
          <p:nvPr/>
        </p:nvSpPr>
        <p:spPr>
          <a:xfrm>
            <a:off x="960120" y="829360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Engineered for Saudi Vision 2030</a:t>
            </a:r>
            <a:endParaRPr lang="en-US" sz="1030" dirty="0"/>
          </a:p>
        </p:txBody>
      </p:sp>
      <p:sp>
        <p:nvSpPr>
          <p:cNvPr id="51" name="Text 49"/>
          <p:cNvSpPr/>
          <p:nvPr/>
        </p:nvSpPr>
        <p:spPr>
          <a:xfrm>
            <a:off x="3383280" y="829360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14</a:t>
            </a:r>
            <a:endParaRPr lang="en-US" sz="1030" dirty="0"/>
          </a:p>
        </p:txBody>
      </p:sp>
      <p:sp>
        <p:nvSpPr>
          <p:cNvPr id="52" name="Shape 50"/>
          <p:cNvSpPr/>
          <p:nvPr/>
        </p:nvSpPr>
        <p:spPr>
          <a:xfrm>
            <a:off x="502920" y="8695944"/>
            <a:ext cx="3291840" cy="0"/>
          </a:xfrm>
          <a:prstGeom prst="line">
            <a:avLst/>
          </a:prstGeom>
          <a:noFill/>
          <a:ln w="6350">
            <a:solidFill>
              <a:srgbClr val="E4DDCB"/>
            </a:solidFill>
            <a:prstDash val="solid"/>
          </a:ln>
        </p:spPr>
      </p:sp>
      <p:sp>
        <p:nvSpPr>
          <p:cNvPr id="53" name="Text 51"/>
          <p:cNvSpPr/>
          <p:nvPr/>
        </p:nvSpPr>
        <p:spPr>
          <a:xfrm>
            <a:off x="502920" y="882396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13</a:t>
            </a:r>
            <a:endParaRPr lang="en-US" sz="1600" dirty="0"/>
          </a:p>
        </p:txBody>
      </p:sp>
      <p:sp>
        <p:nvSpPr>
          <p:cNvPr id="54" name="Text 52"/>
          <p:cNvSpPr/>
          <p:nvPr/>
        </p:nvSpPr>
        <p:spPr>
          <a:xfrm>
            <a:off x="960120" y="884224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Market Opportunity</a:t>
            </a:r>
            <a:endParaRPr lang="en-US" sz="1030" dirty="0"/>
          </a:p>
        </p:txBody>
      </p:sp>
      <p:sp>
        <p:nvSpPr>
          <p:cNvPr id="55" name="Text 53"/>
          <p:cNvSpPr/>
          <p:nvPr/>
        </p:nvSpPr>
        <p:spPr>
          <a:xfrm>
            <a:off x="3383280" y="884224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15</a:t>
            </a:r>
            <a:endParaRPr lang="en-US" sz="1030" dirty="0"/>
          </a:p>
        </p:txBody>
      </p:sp>
      <p:sp>
        <p:nvSpPr>
          <p:cNvPr id="56" name="Shape 54"/>
          <p:cNvSpPr/>
          <p:nvPr/>
        </p:nvSpPr>
        <p:spPr>
          <a:xfrm>
            <a:off x="502920" y="9244584"/>
            <a:ext cx="3291840" cy="0"/>
          </a:xfrm>
          <a:prstGeom prst="line">
            <a:avLst/>
          </a:prstGeom>
          <a:noFill/>
          <a:ln w="6350">
            <a:solidFill>
              <a:srgbClr val="E4DDCB"/>
            </a:solidFill>
            <a:prstDash val="solid"/>
          </a:ln>
        </p:spPr>
      </p:sp>
      <p:sp>
        <p:nvSpPr>
          <p:cNvPr id="57" name="Text 55"/>
          <p:cNvSpPr/>
          <p:nvPr/>
        </p:nvSpPr>
        <p:spPr>
          <a:xfrm>
            <a:off x="4023360" y="224028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14</a:t>
            </a:r>
            <a:endParaRPr lang="en-US" sz="1600" dirty="0"/>
          </a:p>
        </p:txBody>
      </p:sp>
      <p:sp>
        <p:nvSpPr>
          <p:cNvPr id="58" name="Text 56"/>
          <p:cNvSpPr/>
          <p:nvPr/>
        </p:nvSpPr>
        <p:spPr>
          <a:xfrm>
            <a:off x="4480560" y="225856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Illustrative Case Studies — I</a:t>
            </a:r>
            <a:endParaRPr lang="en-US" sz="1030" dirty="0"/>
          </a:p>
        </p:txBody>
      </p:sp>
      <p:sp>
        <p:nvSpPr>
          <p:cNvPr id="59" name="Text 57"/>
          <p:cNvSpPr/>
          <p:nvPr/>
        </p:nvSpPr>
        <p:spPr>
          <a:xfrm>
            <a:off x="6903720" y="225856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16</a:t>
            </a:r>
            <a:endParaRPr lang="en-US" sz="1030" dirty="0"/>
          </a:p>
        </p:txBody>
      </p:sp>
      <p:sp>
        <p:nvSpPr>
          <p:cNvPr id="60" name="Shape 58"/>
          <p:cNvSpPr/>
          <p:nvPr/>
        </p:nvSpPr>
        <p:spPr>
          <a:xfrm>
            <a:off x="4023360" y="2660904"/>
            <a:ext cx="3291840" cy="0"/>
          </a:xfrm>
          <a:prstGeom prst="line">
            <a:avLst/>
          </a:prstGeom>
          <a:noFill/>
          <a:ln w="6350">
            <a:solidFill>
              <a:srgbClr val="E4DDCB"/>
            </a:solidFill>
            <a:prstDash val="solid"/>
          </a:ln>
        </p:spPr>
      </p:sp>
      <p:sp>
        <p:nvSpPr>
          <p:cNvPr id="61" name="Text 59"/>
          <p:cNvSpPr/>
          <p:nvPr/>
        </p:nvSpPr>
        <p:spPr>
          <a:xfrm>
            <a:off x="4023360" y="278892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15</a:t>
            </a:r>
            <a:endParaRPr lang="en-US" sz="1600" dirty="0"/>
          </a:p>
        </p:txBody>
      </p:sp>
      <p:sp>
        <p:nvSpPr>
          <p:cNvPr id="62" name="Text 60"/>
          <p:cNvSpPr/>
          <p:nvPr/>
        </p:nvSpPr>
        <p:spPr>
          <a:xfrm>
            <a:off x="4480560" y="280720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Illustrative Case Studies — II</a:t>
            </a:r>
            <a:endParaRPr lang="en-US" sz="1030" dirty="0"/>
          </a:p>
        </p:txBody>
      </p:sp>
      <p:sp>
        <p:nvSpPr>
          <p:cNvPr id="63" name="Text 61"/>
          <p:cNvSpPr/>
          <p:nvPr/>
        </p:nvSpPr>
        <p:spPr>
          <a:xfrm>
            <a:off x="6903720" y="280720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17</a:t>
            </a:r>
            <a:endParaRPr lang="en-US" sz="1030" dirty="0"/>
          </a:p>
        </p:txBody>
      </p:sp>
      <p:sp>
        <p:nvSpPr>
          <p:cNvPr id="64" name="Shape 62"/>
          <p:cNvSpPr/>
          <p:nvPr/>
        </p:nvSpPr>
        <p:spPr>
          <a:xfrm>
            <a:off x="4023360" y="3209544"/>
            <a:ext cx="3291840" cy="0"/>
          </a:xfrm>
          <a:prstGeom prst="line">
            <a:avLst/>
          </a:prstGeom>
          <a:noFill/>
          <a:ln w="6350">
            <a:solidFill>
              <a:srgbClr val="E4DDCB"/>
            </a:solidFill>
            <a:prstDash val="solid"/>
          </a:ln>
        </p:spPr>
      </p:sp>
      <p:sp>
        <p:nvSpPr>
          <p:cNvPr id="65" name="Text 63"/>
          <p:cNvSpPr/>
          <p:nvPr/>
        </p:nvSpPr>
        <p:spPr>
          <a:xfrm>
            <a:off x="4023360" y="333756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16</a:t>
            </a:r>
            <a:endParaRPr lang="en-US" sz="1600" dirty="0"/>
          </a:p>
        </p:txBody>
      </p:sp>
      <p:sp>
        <p:nvSpPr>
          <p:cNvPr id="66" name="Text 64"/>
          <p:cNvSpPr/>
          <p:nvPr/>
        </p:nvSpPr>
        <p:spPr>
          <a:xfrm>
            <a:off x="4480560" y="335584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Islam Mahrous, Co-Founder</a:t>
            </a:r>
            <a:endParaRPr lang="en-US" sz="1030" dirty="0"/>
          </a:p>
        </p:txBody>
      </p:sp>
      <p:sp>
        <p:nvSpPr>
          <p:cNvPr id="67" name="Text 65"/>
          <p:cNvSpPr/>
          <p:nvPr/>
        </p:nvSpPr>
        <p:spPr>
          <a:xfrm>
            <a:off x="6903720" y="335584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18</a:t>
            </a:r>
            <a:endParaRPr lang="en-US" sz="1030" dirty="0"/>
          </a:p>
        </p:txBody>
      </p:sp>
      <p:sp>
        <p:nvSpPr>
          <p:cNvPr id="68" name="Shape 66"/>
          <p:cNvSpPr/>
          <p:nvPr/>
        </p:nvSpPr>
        <p:spPr>
          <a:xfrm>
            <a:off x="4023360" y="3758184"/>
            <a:ext cx="3291840" cy="0"/>
          </a:xfrm>
          <a:prstGeom prst="line">
            <a:avLst/>
          </a:prstGeom>
          <a:noFill/>
          <a:ln w="6350">
            <a:solidFill>
              <a:srgbClr val="E4DDCB"/>
            </a:solidFill>
            <a:prstDash val="solid"/>
          </a:ln>
        </p:spPr>
      </p:sp>
      <p:sp>
        <p:nvSpPr>
          <p:cNvPr id="69" name="Text 67"/>
          <p:cNvSpPr/>
          <p:nvPr/>
        </p:nvSpPr>
        <p:spPr>
          <a:xfrm>
            <a:off x="4023360" y="388620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17</a:t>
            </a:r>
            <a:endParaRPr lang="en-US" sz="1600" dirty="0"/>
          </a:p>
        </p:txBody>
      </p:sp>
      <p:sp>
        <p:nvSpPr>
          <p:cNvPr id="70" name="Text 68"/>
          <p:cNvSpPr/>
          <p:nvPr/>
        </p:nvSpPr>
        <p:spPr>
          <a:xfrm>
            <a:off x="4480560" y="3904488"/>
            <a:ext cx="2514600" cy="384048"/>
          </a:xfrm>
          <a:prstGeom prst="rect">
            <a:avLst/>
          </a:prstGeom>
          <a:noFill/>
          <a:ln/>
        </p:spPr>
        <p:txBody>
          <a:bodyPr wrap="square" rtlCol="0" anchor="t"/>
          <a:lstStyle/>
          <a:p>
            <a:pPr marL="0" indent="0">
              <a:lnSpc>
                <a:spcPct val="105000"/>
              </a:lnSpc>
              <a:buNone/>
            </a:pPr>
            <a:r>
              <a:rPr lang="en-US" sz="1030" dirty="0" err="1" smtClean="0">
                <a:solidFill>
                  <a:srgbClr val="0B1B2B"/>
                </a:solidFill>
                <a:latin typeface="Calibri" pitchFamily="34" charset="0"/>
                <a:ea typeface="Calibri" pitchFamily="34" charset="-122"/>
                <a:cs typeface="Calibri" pitchFamily="34" charset="-120"/>
              </a:rPr>
              <a:t>HussamSmadi</a:t>
            </a:r>
            <a:r>
              <a:rPr lang="en-US" sz="1030" dirty="0">
                <a:solidFill>
                  <a:srgbClr val="0B1B2B"/>
                </a:solidFill>
                <a:latin typeface="Calibri" pitchFamily="34" charset="0"/>
                <a:ea typeface="Calibri" pitchFamily="34" charset="-122"/>
                <a:cs typeface="Calibri" pitchFamily="34" charset="-120"/>
              </a:rPr>
              <a:t>, Co-Founder</a:t>
            </a:r>
            <a:endParaRPr lang="en-US" sz="1030" dirty="0"/>
          </a:p>
        </p:txBody>
      </p:sp>
      <p:sp>
        <p:nvSpPr>
          <p:cNvPr id="71" name="Text 69"/>
          <p:cNvSpPr/>
          <p:nvPr/>
        </p:nvSpPr>
        <p:spPr>
          <a:xfrm>
            <a:off x="6903720" y="390448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19</a:t>
            </a:r>
            <a:endParaRPr lang="en-US" sz="1030" dirty="0"/>
          </a:p>
        </p:txBody>
      </p:sp>
      <p:sp>
        <p:nvSpPr>
          <p:cNvPr id="72" name="Shape 70"/>
          <p:cNvSpPr/>
          <p:nvPr/>
        </p:nvSpPr>
        <p:spPr>
          <a:xfrm>
            <a:off x="4023360" y="4306824"/>
            <a:ext cx="3291840" cy="0"/>
          </a:xfrm>
          <a:prstGeom prst="line">
            <a:avLst/>
          </a:prstGeom>
          <a:noFill/>
          <a:ln w="6350">
            <a:solidFill>
              <a:srgbClr val="E4DDCB"/>
            </a:solidFill>
            <a:prstDash val="solid"/>
          </a:ln>
        </p:spPr>
      </p:sp>
      <p:sp>
        <p:nvSpPr>
          <p:cNvPr id="73" name="Text 71"/>
          <p:cNvSpPr/>
          <p:nvPr/>
        </p:nvSpPr>
        <p:spPr>
          <a:xfrm>
            <a:off x="4023360" y="443484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18</a:t>
            </a:r>
            <a:endParaRPr lang="en-US" sz="1600" dirty="0"/>
          </a:p>
        </p:txBody>
      </p:sp>
      <p:sp>
        <p:nvSpPr>
          <p:cNvPr id="74" name="Text 72"/>
          <p:cNvSpPr/>
          <p:nvPr/>
        </p:nvSpPr>
        <p:spPr>
          <a:xfrm>
            <a:off x="4480560" y="445312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Strategic Partnerships</a:t>
            </a:r>
            <a:endParaRPr lang="en-US" sz="1030" dirty="0"/>
          </a:p>
        </p:txBody>
      </p:sp>
      <p:sp>
        <p:nvSpPr>
          <p:cNvPr id="75" name="Text 73"/>
          <p:cNvSpPr/>
          <p:nvPr/>
        </p:nvSpPr>
        <p:spPr>
          <a:xfrm>
            <a:off x="6903720" y="445312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20</a:t>
            </a:r>
            <a:endParaRPr lang="en-US" sz="1030" dirty="0"/>
          </a:p>
        </p:txBody>
      </p:sp>
      <p:sp>
        <p:nvSpPr>
          <p:cNvPr id="76" name="Shape 74"/>
          <p:cNvSpPr/>
          <p:nvPr/>
        </p:nvSpPr>
        <p:spPr>
          <a:xfrm>
            <a:off x="4023360" y="4855464"/>
            <a:ext cx="3291840" cy="0"/>
          </a:xfrm>
          <a:prstGeom prst="line">
            <a:avLst/>
          </a:prstGeom>
          <a:noFill/>
          <a:ln w="6350">
            <a:solidFill>
              <a:srgbClr val="E4DDCB"/>
            </a:solidFill>
            <a:prstDash val="solid"/>
          </a:ln>
        </p:spPr>
      </p:sp>
      <p:sp>
        <p:nvSpPr>
          <p:cNvPr id="77" name="Text 75"/>
          <p:cNvSpPr/>
          <p:nvPr/>
        </p:nvSpPr>
        <p:spPr>
          <a:xfrm>
            <a:off x="4023360" y="498348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19</a:t>
            </a:r>
            <a:endParaRPr lang="en-US" sz="1600" dirty="0"/>
          </a:p>
        </p:txBody>
      </p:sp>
      <p:sp>
        <p:nvSpPr>
          <p:cNvPr id="78" name="Text 76"/>
          <p:cNvSpPr/>
          <p:nvPr/>
        </p:nvSpPr>
        <p:spPr>
          <a:xfrm>
            <a:off x="4480560" y="500176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Our Values</a:t>
            </a:r>
            <a:endParaRPr lang="en-US" sz="1030" dirty="0"/>
          </a:p>
        </p:txBody>
      </p:sp>
      <p:sp>
        <p:nvSpPr>
          <p:cNvPr id="79" name="Text 77"/>
          <p:cNvSpPr/>
          <p:nvPr/>
        </p:nvSpPr>
        <p:spPr>
          <a:xfrm>
            <a:off x="6903720" y="500176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21</a:t>
            </a:r>
            <a:endParaRPr lang="en-US" sz="1030" dirty="0"/>
          </a:p>
        </p:txBody>
      </p:sp>
      <p:sp>
        <p:nvSpPr>
          <p:cNvPr id="80" name="Shape 78"/>
          <p:cNvSpPr/>
          <p:nvPr/>
        </p:nvSpPr>
        <p:spPr>
          <a:xfrm>
            <a:off x="4023360" y="5404104"/>
            <a:ext cx="3291840" cy="0"/>
          </a:xfrm>
          <a:prstGeom prst="line">
            <a:avLst/>
          </a:prstGeom>
          <a:noFill/>
          <a:ln w="6350">
            <a:solidFill>
              <a:srgbClr val="E4DDCB"/>
            </a:solidFill>
            <a:prstDash val="solid"/>
          </a:ln>
        </p:spPr>
      </p:sp>
      <p:sp>
        <p:nvSpPr>
          <p:cNvPr id="81" name="Text 79"/>
          <p:cNvSpPr/>
          <p:nvPr/>
        </p:nvSpPr>
        <p:spPr>
          <a:xfrm>
            <a:off x="4023360" y="553212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20</a:t>
            </a:r>
            <a:endParaRPr lang="en-US" sz="1600" dirty="0"/>
          </a:p>
        </p:txBody>
      </p:sp>
      <p:sp>
        <p:nvSpPr>
          <p:cNvPr id="82" name="Text 80"/>
          <p:cNvSpPr/>
          <p:nvPr/>
        </p:nvSpPr>
        <p:spPr>
          <a:xfrm>
            <a:off x="4480560" y="555040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ESG &amp; Sustainability</a:t>
            </a:r>
            <a:endParaRPr lang="en-US" sz="1030" dirty="0"/>
          </a:p>
        </p:txBody>
      </p:sp>
      <p:sp>
        <p:nvSpPr>
          <p:cNvPr id="83" name="Text 81"/>
          <p:cNvSpPr/>
          <p:nvPr/>
        </p:nvSpPr>
        <p:spPr>
          <a:xfrm>
            <a:off x="6903720" y="555040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22</a:t>
            </a:r>
            <a:endParaRPr lang="en-US" sz="1030" dirty="0"/>
          </a:p>
        </p:txBody>
      </p:sp>
      <p:sp>
        <p:nvSpPr>
          <p:cNvPr id="84" name="Shape 82"/>
          <p:cNvSpPr/>
          <p:nvPr/>
        </p:nvSpPr>
        <p:spPr>
          <a:xfrm>
            <a:off x="4023360" y="5952744"/>
            <a:ext cx="3291840" cy="0"/>
          </a:xfrm>
          <a:prstGeom prst="line">
            <a:avLst/>
          </a:prstGeom>
          <a:noFill/>
          <a:ln w="6350">
            <a:solidFill>
              <a:srgbClr val="E4DDCB"/>
            </a:solidFill>
            <a:prstDash val="solid"/>
          </a:ln>
        </p:spPr>
      </p:sp>
      <p:sp>
        <p:nvSpPr>
          <p:cNvPr id="85" name="Text 83"/>
          <p:cNvSpPr/>
          <p:nvPr/>
        </p:nvSpPr>
        <p:spPr>
          <a:xfrm>
            <a:off x="4023360" y="608076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21</a:t>
            </a:r>
            <a:endParaRPr lang="en-US" sz="1600" dirty="0"/>
          </a:p>
        </p:txBody>
      </p:sp>
      <p:sp>
        <p:nvSpPr>
          <p:cNvPr id="86" name="Text 84"/>
          <p:cNvSpPr/>
          <p:nvPr/>
        </p:nvSpPr>
        <p:spPr>
          <a:xfrm>
            <a:off x="4480560" y="609904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Digital &amp; AI</a:t>
            </a:r>
            <a:endParaRPr lang="en-US" sz="1030" dirty="0"/>
          </a:p>
        </p:txBody>
      </p:sp>
      <p:sp>
        <p:nvSpPr>
          <p:cNvPr id="87" name="Text 85"/>
          <p:cNvSpPr/>
          <p:nvPr/>
        </p:nvSpPr>
        <p:spPr>
          <a:xfrm>
            <a:off x="6903720" y="609904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23</a:t>
            </a:r>
            <a:endParaRPr lang="en-US" sz="1030" dirty="0"/>
          </a:p>
        </p:txBody>
      </p:sp>
      <p:sp>
        <p:nvSpPr>
          <p:cNvPr id="88" name="Shape 86"/>
          <p:cNvSpPr/>
          <p:nvPr/>
        </p:nvSpPr>
        <p:spPr>
          <a:xfrm>
            <a:off x="4023360" y="6501384"/>
            <a:ext cx="3291840" cy="0"/>
          </a:xfrm>
          <a:prstGeom prst="line">
            <a:avLst/>
          </a:prstGeom>
          <a:noFill/>
          <a:ln w="6350">
            <a:solidFill>
              <a:srgbClr val="E4DDCB"/>
            </a:solidFill>
            <a:prstDash val="solid"/>
          </a:ln>
        </p:spPr>
      </p:sp>
      <p:sp>
        <p:nvSpPr>
          <p:cNvPr id="89" name="Text 87"/>
          <p:cNvSpPr/>
          <p:nvPr/>
        </p:nvSpPr>
        <p:spPr>
          <a:xfrm>
            <a:off x="4023360" y="662940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22</a:t>
            </a:r>
            <a:endParaRPr lang="en-US" sz="1600" dirty="0"/>
          </a:p>
        </p:txBody>
      </p:sp>
      <p:sp>
        <p:nvSpPr>
          <p:cNvPr id="90" name="Text 88"/>
          <p:cNvSpPr/>
          <p:nvPr/>
        </p:nvSpPr>
        <p:spPr>
          <a:xfrm>
            <a:off x="4480560" y="664768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Why Clients Choose Altus Gulf</a:t>
            </a:r>
            <a:endParaRPr lang="en-US" sz="1030" dirty="0"/>
          </a:p>
        </p:txBody>
      </p:sp>
      <p:sp>
        <p:nvSpPr>
          <p:cNvPr id="91" name="Text 89"/>
          <p:cNvSpPr/>
          <p:nvPr/>
        </p:nvSpPr>
        <p:spPr>
          <a:xfrm>
            <a:off x="6903720" y="664768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24</a:t>
            </a:r>
            <a:endParaRPr lang="en-US" sz="1030" dirty="0"/>
          </a:p>
        </p:txBody>
      </p:sp>
      <p:sp>
        <p:nvSpPr>
          <p:cNvPr id="92" name="Shape 90"/>
          <p:cNvSpPr/>
          <p:nvPr/>
        </p:nvSpPr>
        <p:spPr>
          <a:xfrm>
            <a:off x="4023360" y="7050024"/>
            <a:ext cx="3291840" cy="0"/>
          </a:xfrm>
          <a:prstGeom prst="line">
            <a:avLst/>
          </a:prstGeom>
          <a:noFill/>
          <a:ln w="6350">
            <a:solidFill>
              <a:srgbClr val="E4DDCB"/>
            </a:solidFill>
            <a:prstDash val="solid"/>
          </a:ln>
        </p:spPr>
      </p:sp>
      <p:sp>
        <p:nvSpPr>
          <p:cNvPr id="93" name="Text 91"/>
          <p:cNvSpPr/>
          <p:nvPr/>
        </p:nvSpPr>
        <p:spPr>
          <a:xfrm>
            <a:off x="4023360" y="7178040"/>
            <a:ext cx="411480" cy="384048"/>
          </a:xfrm>
          <a:prstGeom prst="rect">
            <a:avLst/>
          </a:prstGeom>
          <a:noFill/>
          <a:ln/>
        </p:spPr>
        <p:txBody>
          <a:bodyPr wrap="square" rtlCol="0" anchor="t"/>
          <a:lstStyle/>
          <a:p>
            <a:pPr marL="0" indent="0" algn="l">
              <a:buNone/>
            </a:pPr>
            <a:r>
              <a:rPr lang="en-US" sz="1600" dirty="0">
                <a:solidFill>
                  <a:srgbClr val="C1501D"/>
                </a:solidFill>
                <a:latin typeface="Cambria" pitchFamily="34" charset="0"/>
                <a:ea typeface="Cambria" pitchFamily="34" charset="-122"/>
                <a:cs typeface="Cambria" pitchFamily="34" charset="-120"/>
              </a:rPr>
              <a:t>23</a:t>
            </a:r>
            <a:endParaRPr lang="en-US" sz="1600" dirty="0"/>
          </a:p>
        </p:txBody>
      </p:sp>
      <p:sp>
        <p:nvSpPr>
          <p:cNvPr id="94" name="Text 92"/>
          <p:cNvSpPr/>
          <p:nvPr/>
        </p:nvSpPr>
        <p:spPr>
          <a:xfrm>
            <a:off x="4480560" y="7196328"/>
            <a:ext cx="2514600" cy="384048"/>
          </a:xfrm>
          <a:prstGeom prst="rect">
            <a:avLst/>
          </a:prstGeom>
          <a:noFill/>
          <a:ln/>
        </p:spPr>
        <p:txBody>
          <a:bodyPr wrap="square" rtlCol="0" anchor="t"/>
          <a:lstStyle/>
          <a:p>
            <a:pPr marL="0" indent="0">
              <a:lnSpc>
                <a:spcPct val="105000"/>
              </a:lnSpc>
              <a:buNone/>
            </a:pPr>
            <a:r>
              <a:rPr lang="en-US" sz="1030" dirty="0">
                <a:solidFill>
                  <a:srgbClr val="0B1B2B"/>
                </a:solidFill>
                <a:latin typeface="Calibri" pitchFamily="34" charset="0"/>
                <a:ea typeface="Calibri" pitchFamily="34" charset="-122"/>
                <a:cs typeface="Calibri" pitchFamily="34" charset="-120"/>
              </a:rPr>
              <a:t>Closing &amp; Contact</a:t>
            </a:r>
            <a:endParaRPr lang="en-US" sz="1030" dirty="0"/>
          </a:p>
        </p:txBody>
      </p:sp>
      <p:sp>
        <p:nvSpPr>
          <p:cNvPr id="95" name="Text 93"/>
          <p:cNvSpPr/>
          <p:nvPr/>
        </p:nvSpPr>
        <p:spPr>
          <a:xfrm>
            <a:off x="6903720" y="7196328"/>
            <a:ext cx="411480" cy="274320"/>
          </a:xfrm>
          <a:prstGeom prst="rect">
            <a:avLst/>
          </a:prstGeom>
          <a:noFill/>
          <a:ln/>
        </p:spPr>
        <p:txBody>
          <a:bodyPr wrap="square" rtlCol="0" anchor="ctr"/>
          <a:lstStyle/>
          <a:p>
            <a:pPr marL="0" indent="0" algn="r">
              <a:buNone/>
            </a:pPr>
            <a:r>
              <a:rPr lang="en-US" sz="1030" dirty="0">
                <a:solidFill>
                  <a:srgbClr val="6B675F"/>
                </a:solidFill>
                <a:latin typeface="Calibri" pitchFamily="34" charset="0"/>
                <a:ea typeface="Calibri" pitchFamily="34" charset="-122"/>
                <a:cs typeface="Calibri" pitchFamily="34" charset="-120"/>
              </a:rPr>
              <a:t>25</a:t>
            </a:r>
            <a:endParaRPr lang="en-US" sz="1030" dirty="0"/>
          </a:p>
        </p:txBody>
      </p:sp>
      <p:sp>
        <p:nvSpPr>
          <p:cNvPr id="96" name="Shape 94"/>
          <p:cNvSpPr/>
          <p:nvPr/>
        </p:nvSpPr>
        <p:spPr>
          <a:xfrm>
            <a:off x="4023360" y="7598664"/>
            <a:ext cx="3291840" cy="0"/>
          </a:xfrm>
          <a:prstGeom prst="line">
            <a:avLst/>
          </a:prstGeom>
          <a:noFill/>
          <a:ln w="6350">
            <a:solidFill>
              <a:srgbClr val="E4DDCB"/>
            </a:solidFill>
            <a:prstDash val="solid"/>
          </a:ln>
        </p:spPr>
      </p:sp>
      <p:sp>
        <p:nvSpPr>
          <p:cNvPr id="97" name="Shape 95"/>
          <p:cNvSpPr/>
          <p:nvPr/>
        </p:nvSpPr>
        <p:spPr>
          <a:xfrm>
            <a:off x="502920" y="10186416"/>
            <a:ext cx="6556248" cy="0"/>
          </a:xfrm>
          <a:prstGeom prst="line">
            <a:avLst/>
          </a:prstGeom>
          <a:noFill/>
          <a:ln w="9525">
            <a:solidFill>
              <a:srgbClr val="E4DDCB"/>
            </a:solidFill>
            <a:prstDash val="solid"/>
          </a:ln>
        </p:spPr>
      </p:sp>
      <p:sp>
        <p:nvSpPr>
          <p:cNvPr id="98" name="Text 96"/>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6B675F"/>
                </a:solidFill>
                <a:latin typeface="Calibri" pitchFamily="34" charset="0"/>
                <a:ea typeface="Calibri" pitchFamily="34" charset="-122"/>
                <a:cs typeface="Calibri" pitchFamily="34" charset="-120"/>
              </a:rPr>
              <a:t>ALTUS GULF</a:t>
            </a:r>
            <a:endParaRPr lang="en-US" sz="850" dirty="0"/>
          </a:p>
        </p:txBody>
      </p:sp>
      <p:sp>
        <p:nvSpPr>
          <p:cNvPr id="99" name="Text 97"/>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6B675F"/>
                </a:solidFill>
                <a:latin typeface="Calibri" pitchFamily="34" charset="0"/>
                <a:ea typeface="Calibri" pitchFamily="34" charset="-122"/>
                <a:cs typeface="Calibri" pitchFamily="34" charset="-120"/>
              </a:rPr>
              <a:t>CORPORATE PROFILE  •  02</a:t>
            </a:r>
            <a:endParaRPr lang="en-US" sz="8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C1501D"/>
                </a:solidFill>
                <a:latin typeface="Calibri" pitchFamily="34" charset="0"/>
                <a:ea typeface="Calibri" pitchFamily="34" charset="-122"/>
                <a:cs typeface="Calibri" pitchFamily="34" charset="-120"/>
              </a:rPr>
              <a:t>01  •  LEADERSHIP PERSPECTIVE</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a:solidFill>
                  <a:srgbClr val="0B1B2B"/>
                </a:solidFill>
                <a:latin typeface="Cambria" pitchFamily="34" charset="0"/>
                <a:ea typeface="Cambria" pitchFamily="34" charset="-122"/>
                <a:cs typeface="Cambria" pitchFamily="34" charset="-120"/>
              </a:rPr>
              <a:t>A Message from the Founders</a:t>
            </a:r>
            <a:endParaRPr lang="en-US" sz="2700" dirty="0"/>
          </a:p>
        </p:txBody>
      </p:sp>
      <p:sp>
        <p:nvSpPr>
          <p:cNvPr id="4" name="Text 2"/>
          <p:cNvSpPr/>
          <p:nvPr/>
        </p:nvSpPr>
        <p:spPr>
          <a:xfrm>
            <a:off x="502920" y="1554480"/>
            <a:ext cx="4160520" cy="914400"/>
          </a:xfrm>
          <a:prstGeom prst="rect">
            <a:avLst/>
          </a:prstGeom>
          <a:noFill/>
          <a:ln/>
        </p:spPr>
        <p:txBody>
          <a:bodyPr wrap="square" rtlCol="0" anchor="t"/>
          <a:lstStyle/>
          <a:p>
            <a:pPr marL="0" indent="0">
              <a:lnSpc>
                <a:spcPct val="130000"/>
              </a:lnSpc>
              <a:buNone/>
            </a:pPr>
            <a:r>
              <a:rPr lang="en-US" sz="1100" dirty="0">
                <a:solidFill>
                  <a:srgbClr val="2B2A27"/>
                </a:solidFill>
                <a:latin typeface="Calibri" pitchFamily="34" charset="0"/>
                <a:ea typeface="Calibri" pitchFamily="34" charset="-122"/>
                <a:cs typeface="Calibri" pitchFamily="34" charset="-120"/>
              </a:rPr>
              <a:t>Global commerce is evolving at an unprecedented pace, and legacy operating frameworks are no longer sufficient on their own to secure market leadership. As the future architecture of business takes shape, one truth stands out: genuine excellence comes from the close integration of human capital and technological innovation.</a:t>
            </a:r>
            <a:endParaRPr lang="en-US" sz="1100" dirty="0"/>
          </a:p>
        </p:txBody>
      </p:sp>
      <p:sp>
        <p:nvSpPr>
          <p:cNvPr id="5" name="Text 3"/>
          <p:cNvSpPr/>
          <p:nvPr/>
        </p:nvSpPr>
        <p:spPr>
          <a:xfrm>
            <a:off x="502920" y="2670048"/>
            <a:ext cx="4160520" cy="914400"/>
          </a:xfrm>
          <a:prstGeom prst="rect">
            <a:avLst/>
          </a:prstGeom>
          <a:noFill/>
          <a:ln/>
        </p:spPr>
        <p:txBody>
          <a:bodyPr wrap="square" rtlCol="0" anchor="t"/>
          <a:lstStyle/>
          <a:p>
            <a:pPr marL="0" indent="0">
              <a:lnSpc>
                <a:spcPct val="130000"/>
              </a:lnSpc>
              <a:buNone/>
            </a:pPr>
            <a:r>
              <a:rPr lang="en-US" sz="1100" dirty="0">
                <a:solidFill>
                  <a:srgbClr val="2B2A27"/>
                </a:solidFill>
                <a:latin typeface="Calibri" pitchFamily="34" charset="0"/>
                <a:ea typeface="Calibri" pitchFamily="34" charset="-122"/>
                <a:cs typeface="Calibri" pitchFamily="34" charset="-120"/>
              </a:rPr>
              <a:t>We founded Altus Gulf to close a structural gap in the market. Asset owners and senior leadership teams are too often asked to choose between conventional hospitality operators' consultants and standalone digital agencies. Altus Gulf occupies the precise, multidisciplinary intersection of the two.</a:t>
            </a:r>
            <a:endParaRPr lang="en-US" sz="1100" dirty="0"/>
          </a:p>
        </p:txBody>
      </p:sp>
      <p:sp>
        <p:nvSpPr>
          <p:cNvPr id="6" name="Text 4"/>
          <p:cNvSpPr/>
          <p:nvPr/>
        </p:nvSpPr>
        <p:spPr>
          <a:xfrm>
            <a:off x="502920" y="3785616"/>
            <a:ext cx="4160520" cy="1120140"/>
          </a:xfrm>
          <a:prstGeom prst="rect">
            <a:avLst/>
          </a:prstGeom>
          <a:noFill/>
          <a:ln/>
        </p:spPr>
        <p:txBody>
          <a:bodyPr wrap="square" rtlCol="0" anchor="t"/>
          <a:lstStyle/>
          <a:p>
            <a:pPr marL="0" indent="0">
              <a:lnSpc>
                <a:spcPct val="130000"/>
              </a:lnSpc>
              <a:buNone/>
            </a:pPr>
            <a:r>
              <a:rPr lang="en-US" sz="1100" dirty="0">
                <a:solidFill>
                  <a:srgbClr val="2B2A27"/>
                </a:solidFill>
                <a:latin typeface="Calibri" pitchFamily="34" charset="0"/>
                <a:ea typeface="Calibri" pitchFamily="34" charset="-122"/>
                <a:cs typeface="Calibri" pitchFamily="34" charset="-120"/>
              </a:rPr>
              <a:t>We favour evidence over instinct. We work from advanced empirical analytics, help engineer measurable growth, and support the conversion of physical assets into high-performing, digital-first institutions. That conviction now extends into product: our proprietary Altus Gulf Hospitality Knowledge &amp; Performance platform institutionalises the very expertise we advise with.</a:t>
            </a:r>
            <a:endParaRPr lang="en-US" sz="1100" dirty="0"/>
          </a:p>
        </p:txBody>
      </p:sp>
      <p:sp>
        <p:nvSpPr>
          <p:cNvPr id="7" name="Text 5"/>
          <p:cNvSpPr/>
          <p:nvPr/>
        </p:nvSpPr>
        <p:spPr>
          <a:xfrm>
            <a:off x="502920" y="5106924"/>
            <a:ext cx="4160520" cy="914400"/>
          </a:xfrm>
          <a:prstGeom prst="rect">
            <a:avLst/>
          </a:prstGeom>
          <a:noFill/>
          <a:ln/>
        </p:spPr>
        <p:txBody>
          <a:bodyPr wrap="square" rtlCol="0" anchor="t"/>
          <a:lstStyle/>
          <a:p>
            <a:pPr marL="0" indent="0">
              <a:lnSpc>
                <a:spcPct val="130000"/>
              </a:lnSpc>
              <a:buNone/>
            </a:pPr>
            <a:r>
              <a:rPr lang="en-US" sz="1100" dirty="0">
                <a:solidFill>
                  <a:srgbClr val="2B2A27"/>
                </a:solidFill>
                <a:latin typeface="Calibri" pitchFamily="34" charset="0"/>
                <a:ea typeface="Calibri" pitchFamily="34" charset="-122"/>
                <a:cs typeface="Calibri" pitchFamily="34" charset="-120"/>
              </a:rPr>
              <a:t>Our approach is straightforward. We stand beside you, shoulder to shoulder, from the first blueprint through sustained execution, and beyond it, until your organisation reaches greater operational consistency, stability, and confidence. The engagement may end; the alliance does not.</a:t>
            </a:r>
            <a:endParaRPr lang="en-US" sz="1100" dirty="0"/>
          </a:p>
        </p:txBody>
      </p:sp>
      <p:sp>
        <p:nvSpPr>
          <p:cNvPr id="8" name="Shape 6"/>
          <p:cNvSpPr/>
          <p:nvPr/>
        </p:nvSpPr>
        <p:spPr>
          <a:xfrm>
            <a:off x="502920" y="6423660"/>
            <a:ext cx="4160520" cy="1051560"/>
          </a:xfrm>
          <a:prstGeom prst="roundRect">
            <a:avLst>
              <a:gd name="adj" fmla="val 3478"/>
            </a:avLst>
          </a:prstGeom>
          <a:solidFill>
            <a:srgbClr val="0B1B2B"/>
          </a:solidFill>
          <a:ln/>
        </p:spPr>
      </p:sp>
      <p:sp>
        <p:nvSpPr>
          <p:cNvPr id="9" name="Text 7"/>
          <p:cNvSpPr/>
          <p:nvPr/>
        </p:nvSpPr>
        <p:spPr>
          <a:xfrm>
            <a:off x="640080" y="6377940"/>
            <a:ext cx="457200" cy="548640"/>
          </a:xfrm>
          <a:prstGeom prst="rect">
            <a:avLst/>
          </a:prstGeom>
          <a:noFill/>
          <a:ln/>
        </p:spPr>
        <p:txBody>
          <a:bodyPr wrap="square" rtlCol="0" anchor="ctr"/>
          <a:lstStyle/>
          <a:p>
            <a:pPr marL="0" indent="0">
              <a:buNone/>
            </a:pPr>
            <a:r>
              <a:rPr lang="en-US" sz="4000" b="1" dirty="0">
                <a:solidFill>
                  <a:srgbClr val="C9A15A"/>
                </a:solidFill>
                <a:latin typeface="Cambria" pitchFamily="34" charset="0"/>
                <a:ea typeface="Cambria" pitchFamily="34" charset="-122"/>
                <a:cs typeface="Cambria" pitchFamily="34" charset="-120"/>
              </a:rPr>
              <a:t>"</a:t>
            </a:r>
            <a:endParaRPr lang="en-US" sz="4000" dirty="0"/>
          </a:p>
        </p:txBody>
      </p:sp>
      <p:sp>
        <p:nvSpPr>
          <p:cNvPr id="10" name="Text 8"/>
          <p:cNvSpPr/>
          <p:nvPr/>
        </p:nvSpPr>
        <p:spPr>
          <a:xfrm>
            <a:off x="777240" y="6551676"/>
            <a:ext cx="3657600" cy="621792"/>
          </a:xfrm>
          <a:prstGeom prst="rect">
            <a:avLst/>
          </a:prstGeom>
          <a:noFill/>
          <a:ln/>
        </p:spPr>
        <p:txBody>
          <a:bodyPr wrap="square" rtlCol="0" anchor="t"/>
          <a:lstStyle/>
          <a:p>
            <a:pPr marL="0" indent="0">
              <a:lnSpc>
                <a:spcPct val="122000"/>
              </a:lnSpc>
              <a:buNone/>
            </a:pPr>
            <a:r>
              <a:rPr lang="en-US" sz="1080" i="1" dirty="0">
                <a:solidFill>
                  <a:srgbClr val="FFFFFF"/>
                </a:solidFill>
                <a:latin typeface="Cambria" pitchFamily="34" charset="0"/>
                <a:ea typeface="Cambria" pitchFamily="34" charset="-122"/>
                <a:cs typeface="Cambria" pitchFamily="34" charset="-120"/>
              </a:rPr>
              <a:t>Commercial considerations are a reality of business, but for us they come second. What comes first is helping you build a genuine success story.</a:t>
            </a:r>
            <a:endParaRPr lang="en-US" sz="1080" dirty="0"/>
          </a:p>
        </p:txBody>
      </p:sp>
      <p:sp>
        <p:nvSpPr>
          <p:cNvPr id="11" name="Text 9"/>
          <p:cNvSpPr/>
          <p:nvPr/>
        </p:nvSpPr>
        <p:spPr>
          <a:xfrm>
            <a:off x="777240" y="7210044"/>
            <a:ext cx="3657600" cy="228600"/>
          </a:xfrm>
          <a:prstGeom prst="rect">
            <a:avLst/>
          </a:prstGeom>
          <a:noFill/>
          <a:ln/>
        </p:spPr>
        <p:txBody>
          <a:bodyPr wrap="square" rtlCol="0" anchor="ctr"/>
          <a:lstStyle/>
          <a:p>
            <a:pPr marL="0" indent="0">
              <a:buNone/>
            </a:pPr>
            <a:r>
              <a:rPr lang="en-US" sz="830" b="1" dirty="0">
                <a:solidFill>
                  <a:srgbClr val="E4C98A"/>
                </a:solidFill>
                <a:latin typeface="Calibri" pitchFamily="34" charset="0"/>
                <a:ea typeface="Calibri" pitchFamily="34" charset="-122"/>
                <a:cs typeface="Calibri" pitchFamily="34" charset="-120"/>
              </a:rPr>
              <a:t>Islam Mahrous  •  </a:t>
            </a:r>
            <a:r>
              <a:rPr lang="en-US" sz="830" b="1" dirty="0" err="1" smtClean="0">
                <a:solidFill>
                  <a:srgbClr val="E4C98A"/>
                </a:solidFill>
                <a:latin typeface="Calibri" pitchFamily="34" charset="0"/>
                <a:ea typeface="Calibri" pitchFamily="34" charset="-122"/>
                <a:cs typeface="Calibri" pitchFamily="34" charset="-120"/>
              </a:rPr>
              <a:t>HussamSmadi</a:t>
            </a:r>
            <a:r>
              <a:rPr lang="en-US" sz="830" b="1" dirty="0" smtClean="0">
                <a:solidFill>
                  <a:srgbClr val="E4C98A"/>
                </a:solidFill>
                <a:latin typeface="Calibri" pitchFamily="34" charset="0"/>
                <a:ea typeface="Calibri" pitchFamily="34" charset="-122"/>
                <a:cs typeface="Calibri" pitchFamily="34" charset="-120"/>
              </a:rPr>
              <a:t> </a:t>
            </a:r>
            <a:r>
              <a:rPr lang="en-US" sz="830" b="1" dirty="0">
                <a:solidFill>
                  <a:srgbClr val="E4C98A"/>
                </a:solidFill>
                <a:latin typeface="Calibri" pitchFamily="34" charset="0"/>
                <a:ea typeface="Calibri" pitchFamily="34" charset="-122"/>
                <a:cs typeface="Calibri" pitchFamily="34" charset="-120"/>
              </a:rPr>
              <a:t>— Co-Founders, Altus Gulf</a:t>
            </a:r>
            <a:endParaRPr lang="en-US" sz="830" dirty="0"/>
          </a:p>
        </p:txBody>
      </p:sp>
      <p:sp>
        <p:nvSpPr>
          <p:cNvPr id="12" name="Shape 10"/>
          <p:cNvSpPr/>
          <p:nvPr/>
        </p:nvSpPr>
        <p:spPr>
          <a:xfrm>
            <a:off x="4937760" y="1554480"/>
            <a:ext cx="2121408" cy="2331720"/>
          </a:xfrm>
          <a:prstGeom prst="roundRect">
            <a:avLst>
              <a:gd name="adj" fmla="val 2155"/>
            </a:avLst>
          </a:prstGeom>
          <a:solidFill>
            <a:srgbClr val="FFFFFF"/>
          </a:solidFill>
          <a:ln w="9525">
            <a:solidFill>
              <a:srgbClr val="E4DDCB"/>
            </a:solidFill>
            <a:prstDash val="solid"/>
          </a:ln>
        </p:spPr>
      </p:sp>
      <p:sp>
        <p:nvSpPr>
          <p:cNvPr id="13" name="Shape 11"/>
          <p:cNvSpPr/>
          <p:nvPr/>
        </p:nvSpPr>
        <p:spPr>
          <a:xfrm>
            <a:off x="5312664" y="1755648"/>
            <a:ext cx="1371600" cy="1371600"/>
          </a:xfrm>
          <a:prstGeom prst="ellipse">
            <a:avLst/>
          </a:prstGeom>
          <a:solidFill>
            <a:srgbClr val="F3EEE4"/>
          </a:solidFill>
          <a:ln w="19050">
            <a:solidFill>
              <a:srgbClr val="C9A15A"/>
            </a:solidFill>
            <a:prstDash val="solid"/>
          </a:ln>
        </p:spPr>
      </p:sp>
      <p:pic>
        <p:nvPicPr>
          <p:cNvPr id="14" name="Image 0" descr="/home/claude/assets/founder_islam.jpg"/>
          <p:cNvPicPr>
            <a:picLocks noChangeAspect="1"/>
          </p:cNvPicPr>
          <p:nvPr/>
        </p:nvPicPr>
        <p:blipFill>
          <a:blip r:embed="rId3"/>
          <a:stretch>
            <a:fillRect/>
          </a:stretch>
        </p:blipFill>
        <p:spPr>
          <a:xfrm>
            <a:off x="5385816" y="1828800"/>
            <a:ext cx="1225296" cy="1225296"/>
          </a:xfrm>
          <a:prstGeom prst="ellipse">
            <a:avLst/>
          </a:prstGeom>
        </p:spPr>
      </p:pic>
      <p:sp>
        <p:nvSpPr>
          <p:cNvPr id="15" name="Text 12"/>
          <p:cNvSpPr/>
          <p:nvPr/>
        </p:nvSpPr>
        <p:spPr>
          <a:xfrm>
            <a:off x="5029200" y="3246120"/>
            <a:ext cx="1938528" cy="274320"/>
          </a:xfrm>
          <a:prstGeom prst="rect">
            <a:avLst/>
          </a:prstGeom>
          <a:noFill/>
          <a:ln/>
        </p:spPr>
        <p:txBody>
          <a:bodyPr wrap="square" rtlCol="0" anchor="ctr"/>
          <a:lstStyle/>
          <a:p>
            <a:pPr marL="0" indent="0" algn="ctr">
              <a:buNone/>
            </a:pPr>
            <a:r>
              <a:rPr lang="en-US" sz="1400" b="1" dirty="0">
                <a:solidFill>
                  <a:srgbClr val="0B1B2B"/>
                </a:solidFill>
                <a:latin typeface="Cambria" pitchFamily="34" charset="0"/>
                <a:ea typeface="Cambria" pitchFamily="34" charset="-122"/>
                <a:cs typeface="Cambria" pitchFamily="34" charset="-120"/>
              </a:rPr>
              <a:t>Islam Mahrous</a:t>
            </a:r>
            <a:endParaRPr lang="en-US" sz="1400" dirty="0"/>
          </a:p>
        </p:txBody>
      </p:sp>
      <p:sp>
        <p:nvSpPr>
          <p:cNvPr id="16" name="Text 13"/>
          <p:cNvSpPr/>
          <p:nvPr/>
        </p:nvSpPr>
        <p:spPr>
          <a:xfrm>
            <a:off x="5074920" y="3511296"/>
            <a:ext cx="1847088" cy="347472"/>
          </a:xfrm>
          <a:prstGeom prst="rect">
            <a:avLst/>
          </a:prstGeom>
          <a:noFill/>
          <a:ln/>
        </p:spPr>
        <p:txBody>
          <a:bodyPr wrap="square" rtlCol="0" anchor="ctr"/>
          <a:lstStyle/>
          <a:p>
            <a:pPr marL="0" indent="0" algn="ctr">
              <a:lnSpc>
                <a:spcPct val="110000"/>
              </a:lnSpc>
              <a:buNone/>
            </a:pPr>
            <a:r>
              <a:rPr lang="en-US" sz="830" dirty="0">
                <a:solidFill>
                  <a:srgbClr val="6B675F"/>
                </a:solidFill>
                <a:latin typeface="Calibri" pitchFamily="34" charset="0"/>
                <a:ea typeface="Calibri" pitchFamily="34" charset="-122"/>
                <a:cs typeface="Calibri" pitchFamily="34" charset="-120"/>
              </a:rPr>
              <a:t>Co-Founder — Brand, Commercial Strategy &amp; AI-Driven Digital Transformation</a:t>
            </a:r>
            <a:endParaRPr lang="en-US" sz="830" dirty="0"/>
          </a:p>
        </p:txBody>
      </p:sp>
      <p:sp>
        <p:nvSpPr>
          <p:cNvPr id="17" name="Shape 14"/>
          <p:cNvSpPr/>
          <p:nvPr/>
        </p:nvSpPr>
        <p:spPr>
          <a:xfrm>
            <a:off x="4937760" y="4114800"/>
            <a:ext cx="2121408" cy="2331720"/>
          </a:xfrm>
          <a:prstGeom prst="roundRect">
            <a:avLst>
              <a:gd name="adj" fmla="val 2155"/>
            </a:avLst>
          </a:prstGeom>
          <a:solidFill>
            <a:srgbClr val="FFFFFF"/>
          </a:solidFill>
          <a:ln w="9525">
            <a:solidFill>
              <a:srgbClr val="E4DDCB"/>
            </a:solidFill>
            <a:prstDash val="solid"/>
          </a:ln>
        </p:spPr>
      </p:sp>
      <p:sp>
        <p:nvSpPr>
          <p:cNvPr id="18" name="Shape 15"/>
          <p:cNvSpPr/>
          <p:nvPr/>
        </p:nvSpPr>
        <p:spPr>
          <a:xfrm>
            <a:off x="5312664" y="4315968"/>
            <a:ext cx="1371600" cy="1371600"/>
          </a:xfrm>
          <a:prstGeom prst="ellipse">
            <a:avLst/>
          </a:prstGeom>
          <a:solidFill>
            <a:srgbClr val="F3EEE4"/>
          </a:solidFill>
          <a:ln w="19050">
            <a:solidFill>
              <a:srgbClr val="C9A15A"/>
            </a:solidFill>
            <a:prstDash val="solid"/>
          </a:ln>
        </p:spPr>
      </p:sp>
      <p:pic>
        <p:nvPicPr>
          <p:cNvPr id="19" name="Image 1" descr="/home/claude/assets/founder_hossam.jpg"/>
          <p:cNvPicPr>
            <a:picLocks noChangeAspect="1"/>
          </p:cNvPicPr>
          <p:nvPr/>
        </p:nvPicPr>
        <p:blipFill>
          <a:blip r:embed="rId4"/>
          <a:stretch>
            <a:fillRect/>
          </a:stretch>
        </p:blipFill>
        <p:spPr>
          <a:xfrm>
            <a:off x="5385816" y="4389120"/>
            <a:ext cx="1225296" cy="1225296"/>
          </a:xfrm>
          <a:prstGeom prst="ellipse">
            <a:avLst/>
          </a:prstGeom>
        </p:spPr>
      </p:pic>
      <p:sp>
        <p:nvSpPr>
          <p:cNvPr id="20" name="Text 16"/>
          <p:cNvSpPr/>
          <p:nvPr/>
        </p:nvSpPr>
        <p:spPr>
          <a:xfrm>
            <a:off x="5029200" y="5806440"/>
            <a:ext cx="1938528" cy="274320"/>
          </a:xfrm>
          <a:prstGeom prst="rect">
            <a:avLst/>
          </a:prstGeom>
          <a:noFill/>
          <a:ln/>
        </p:spPr>
        <p:txBody>
          <a:bodyPr wrap="square" rtlCol="0" anchor="ctr"/>
          <a:lstStyle/>
          <a:p>
            <a:pPr marL="0" indent="0" algn="ctr">
              <a:buNone/>
            </a:pPr>
            <a:r>
              <a:rPr lang="en-US" sz="1400" b="1" dirty="0" err="1" smtClean="0">
                <a:solidFill>
                  <a:srgbClr val="0B1B2B"/>
                </a:solidFill>
                <a:latin typeface="Cambria" pitchFamily="34" charset="0"/>
                <a:ea typeface="Cambria" pitchFamily="34" charset="-122"/>
                <a:cs typeface="Cambria" pitchFamily="34" charset="-120"/>
              </a:rPr>
              <a:t>HussamSmadi</a:t>
            </a:r>
            <a:endParaRPr lang="en-US" sz="1400" dirty="0"/>
          </a:p>
        </p:txBody>
      </p:sp>
      <p:sp>
        <p:nvSpPr>
          <p:cNvPr id="21" name="Text 17"/>
          <p:cNvSpPr/>
          <p:nvPr/>
        </p:nvSpPr>
        <p:spPr>
          <a:xfrm>
            <a:off x="5074920" y="6071616"/>
            <a:ext cx="1847088" cy="347472"/>
          </a:xfrm>
          <a:prstGeom prst="rect">
            <a:avLst/>
          </a:prstGeom>
          <a:noFill/>
          <a:ln/>
        </p:spPr>
        <p:txBody>
          <a:bodyPr wrap="square" rtlCol="0" anchor="ctr"/>
          <a:lstStyle/>
          <a:p>
            <a:pPr marL="0" indent="0" algn="ctr">
              <a:lnSpc>
                <a:spcPct val="110000"/>
              </a:lnSpc>
              <a:buNone/>
            </a:pPr>
            <a:r>
              <a:rPr lang="en-US" sz="830" dirty="0">
                <a:solidFill>
                  <a:srgbClr val="6B675F"/>
                </a:solidFill>
                <a:latin typeface="Calibri" pitchFamily="34" charset="0"/>
                <a:ea typeface="Calibri" pitchFamily="34" charset="-122"/>
                <a:cs typeface="Calibri" pitchFamily="34" charset="-120"/>
              </a:rPr>
              <a:t>Co-Founder — Hospitality Operations &amp; Asset Management</a:t>
            </a:r>
            <a:endParaRPr lang="en-US" sz="830" dirty="0"/>
          </a:p>
        </p:txBody>
      </p:sp>
      <p:sp>
        <p:nvSpPr>
          <p:cNvPr id="22" name="Text 18"/>
          <p:cNvSpPr/>
          <p:nvPr/>
        </p:nvSpPr>
        <p:spPr>
          <a:xfrm>
            <a:off x="4937760" y="6675120"/>
            <a:ext cx="707136" cy="365760"/>
          </a:xfrm>
          <a:prstGeom prst="rect">
            <a:avLst/>
          </a:prstGeom>
          <a:noFill/>
          <a:ln/>
        </p:spPr>
        <p:txBody>
          <a:bodyPr wrap="square" rtlCol="0" anchor="ctr"/>
          <a:lstStyle/>
          <a:p>
            <a:pPr marL="0" indent="0" algn="ctr">
              <a:buNone/>
            </a:pPr>
            <a:r>
              <a:rPr lang="en-US" sz="2000" dirty="0">
                <a:solidFill>
                  <a:srgbClr val="C1501D"/>
                </a:solidFill>
                <a:latin typeface="Cambria" pitchFamily="34" charset="0"/>
                <a:ea typeface="Cambria" pitchFamily="34" charset="-122"/>
                <a:cs typeface="Cambria" pitchFamily="34" charset="-120"/>
              </a:rPr>
              <a:t>60+</a:t>
            </a:r>
            <a:endParaRPr lang="en-US" sz="2000" dirty="0"/>
          </a:p>
        </p:txBody>
      </p:sp>
      <p:sp>
        <p:nvSpPr>
          <p:cNvPr id="23" name="Text 19"/>
          <p:cNvSpPr/>
          <p:nvPr/>
        </p:nvSpPr>
        <p:spPr>
          <a:xfrm>
            <a:off x="4965192" y="7059168"/>
            <a:ext cx="652272" cy="457200"/>
          </a:xfrm>
          <a:prstGeom prst="rect">
            <a:avLst/>
          </a:prstGeom>
          <a:noFill/>
          <a:ln/>
        </p:spPr>
        <p:txBody>
          <a:bodyPr wrap="square" rtlCol="0" anchor="ctr"/>
          <a:lstStyle/>
          <a:p>
            <a:pPr marL="0" indent="0" algn="ctr">
              <a:lnSpc>
                <a:spcPct val="105000"/>
              </a:lnSpc>
              <a:buNone/>
            </a:pPr>
            <a:r>
              <a:rPr lang="en-US" sz="760" dirty="0">
                <a:solidFill>
                  <a:srgbClr val="6B675F"/>
                </a:solidFill>
                <a:latin typeface="Calibri" pitchFamily="34" charset="0"/>
                <a:ea typeface="Calibri" pitchFamily="34" charset="-122"/>
                <a:cs typeface="Calibri" pitchFamily="34" charset="-120"/>
              </a:rPr>
              <a:t>Combined years</a:t>
            </a:r>
            <a:endParaRPr lang="en-US" sz="760" dirty="0"/>
          </a:p>
          <a:p>
            <a:pPr marL="0" indent="0" algn="ctr">
              <a:lnSpc>
                <a:spcPct val="105000"/>
              </a:lnSpc>
              <a:buNone/>
            </a:pPr>
            <a:r>
              <a:rPr lang="en-US" sz="760" dirty="0">
                <a:solidFill>
                  <a:srgbClr val="6B675F"/>
                </a:solidFill>
                <a:latin typeface="Calibri" pitchFamily="34" charset="0"/>
                <a:ea typeface="Calibri" pitchFamily="34" charset="-122"/>
                <a:cs typeface="Calibri" pitchFamily="34" charset="-120"/>
              </a:rPr>
              <a:t>of leadership</a:t>
            </a:r>
            <a:endParaRPr lang="en-US" sz="760" dirty="0"/>
          </a:p>
        </p:txBody>
      </p:sp>
      <p:sp>
        <p:nvSpPr>
          <p:cNvPr id="24" name="Text 20"/>
          <p:cNvSpPr/>
          <p:nvPr/>
        </p:nvSpPr>
        <p:spPr>
          <a:xfrm>
            <a:off x="5644896" y="6675120"/>
            <a:ext cx="707136" cy="365760"/>
          </a:xfrm>
          <a:prstGeom prst="rect">
            <a:avLst/>
          </a:prstGeom>
          <a:noFill/>
          <a:ln/>
        </p:spPr>
        <p:txBody>
          <a:bodyPr wrap="square" rtlCol="0" anchor="ctr"/>
          <a:lstStyle/>
          <a:p>
            <a:pPr marL="0" indent="0" algn="ctr">
              <a:buNone/>
            </a:pPr>
            <a:r>
              <a:rPr lang="en-US" sz="2000" dirty="0">
                <a:solidFill>
                  <a:srgbClr val="C1501D"/>
                </a:solidFill>
                <a:latin typeface="Cambria" pitchFamily="34" charset="0"/>
                <a:ea typeface="Cambria" pitchFamily="34" charset="-122"/>
                <a:cs typeface="Cambria" pitchFamily="34" charset="-120"/>
              </a:rPr>
              <a:t>4</a:t>
            </a:r>
            <a:endParaRPr lang="en-US" sz="2000" dirty="0"/>
          </a:p>
        </p:txBody>
      </p:sp>
      <p:sp>
        <p:nvSpPr>
          <p:cNvPr id="25" name="Text 21"/>
          <p:cNvSpPr/>
          <p:nvPr/>
        </p:nvSpPr>
        <p:spPr>
          <a:xfrm>
            <a:off x="5672328" y="7059168"/>
            <a:ext cx="652272" cy="457200"/>
          </a:xfrm>
          <a:prstGeom prst="rect">
            <a:avLst/>
          </a:prstGeom>
          <a:noFill/>
          <a:ln/>
        </p:spPr>
        <p:txBody>
          <a:bodyPr wrap="square" rtlCol="0" anchor="ctr"/>
          <a:lstStyle/>
          <a:p>
            <a:pPr marL="0" indent="0" algn="ctr">
              <a:lnSpc>
                <a:spcPct val="105000"/>
              </a:lnSpc>
              <a:buNone/>
            </a:pPr>
            <a:r>
              <a:rPr lang="en-US" sz="760" dirty="0">
                <a:solidFill>
                  <a:srgbClr val="6B675F"/>
                </a:solidFill>
                <a:latin typeface="Calibri" pitchFamily="34" charset="0"/>
                <a:ea typeface="Calibri" pitchFamily="34" charset="-122"/>
                <a:cs typeface="Calibri" pitchFamily="34" charset="-120"/>
              </a:rPr>
              <a:t>Global brand</a:t>
            </a:r>
            <a:endParaRPr lang="en-US" sz="760" dirty="0"/>
          </a:p>
          <a:p>
            <a:pPr marL="0" indent="0" algn="ctr">
              <a:lnSpc>
                <a:spcPct val="105000"/>
              </a:lnSpc>
              <a:buNone/>
            </a:pPr>
            <a:r>
              <a:rPr lang="en-US" sz="760" dirty="0">
                <a:solidFill>
                  <a:srgbClr val="6B675F"/>
                </a:solidFill>
                <a:latin typeface="Calibri" pitchFamily="34" charset="0"/>
                <a:ea typeface="Calibri" pitchFamily="34" charset="-122"/>
                <a:cs typeface="Calibri" pitchFamily="34" charset="-120"/>
              </a:rPr>
              <a:t>systems</a:t>
            </a:r>
            <a:endParaRPr lang="en-US" sz="760" dirty="0"/>
          </a:p>
        </p:txBody>
      </p:sp>
      <p:sp>
        <p:nvSpPr>
          <p:cNvPr id="26" name="Text 22"/>
          <p:cNvSpPr/>
          <p:nvPr/>
        </p:nvSpPr>
        <p:spPr>
          <a:xfrm>
            <a:off x="6352032" y="6675120"/>
            <a:ext cx="707136" cy="365760"/>
          </a:xfrm>
          <a:prstGeom prst="rect">
            <a:avLst/>
          </a:prstGeom>
          <a:noFill/>
          <a:ln/>
        </p:spPr>
        <p:txBody>
          <a:bodyPr wrap="square" rtlCol="0" anchor="ctr"/>
          <a:lstStyle/>
          <a:p>
            <a:pPr marL="0" indent="0" algn="ctr">
              <a:buNone/>
            </a:pPr>
            <a:r>
              <a:rPr lang="en-US" sz="2000" dirty="0">
                <a:solidFill>
                  <a:srgbClr val="C1501D"/>
                </a:solidFill>
                <a:latin typeface="Cambria" pitchFamily="34" charset="0"/>
                <a:ea typeface="Cambria" pitchFamily="34" charset="-122"/>
                <a:cs typeface="Cambria" pitchFamily="34" charset="-120"/>
              </a:rPr>
              <a:t>3</a:t>
            </a:r>
            <a:endParaRPr lang="en-US" sz="2000" dirty="0"/>
          </a:p>
        </p:txBody>
      </p:sp>
      <p:sp>
        <p:nvSpPr>
          <p:cNvPr id="27" name="Text 23"/>
          <p:cNvSpPr/>
          <p:nvPr/>
        </p:nvSpPr>
        <p:spPr>
          <a:xfrm>
            <a:off x="6379464" y="7059168"/>
            <a:ext cx="652272" cy="457200"/>
          </a:xfrm>
          <a:prstGeom prst="rect">
            <a:avLst/>
          </a:prstGeom>
          <a:noFill/>
          <a:ln/>
        </p:spPr>
        <p:txBody>
          <a:bodyPr wrap="square" rtlCol="0" anchor="ctr"/>
          <a:lstStyle/>
          <a:p>
            <a:pPr marL="0" indent="0" algn="ctr">
              <a:lnSpc>
                <a:spcPct val="105000"/>
              </a:lnSpc>
              <a:buNone/>
            </a:pPr>
            <a:r>
              <a:rPr lang="en-US" sz="760" dirty="0">
                <a:solidFill>
                  <a:srgbClr val="6B675F"/>
                </a:solidFill>
                <a:latin typeface="Calibri" pitchFamily="34" charset="0"/>
                <a:ea typeface="Calibri" pitchFamily="34" charset="-122"/>
                <a:cs typeface="Calibri" pitchFamily="34" charset="-120"/>
              </a:rPr>
              <a:t>Regions: GCC,</a:t>
            </a:r>
            <a:endParaRPr lang="en-US" sz="760" dirty="0"/>
          </a:p>
          <a:p>
            <a:pPr marL="0" indent="0" algn="ctr">
              <a:lnSpc>
                <a:spcPct val="105000"/>
              </a:lnSpc>
              <a:buNone/>
            </a:pPr>
            <a:r>
              <a:rPr lang="en-US" sz="760" dirty="0">
                <a:solidFill>
                  <a:srgbClr val="6B675F"/>
                </a:solidFill>
                <a:latin typeface="Calibri" pitchFamily="34" charset="0"/>
                <a:ea typeface="Calibri" pitchFamily="34" charset="-122"/>
                <a:cs typeface="Calibri" pitchFamily="34" charset="-120"/>
              </a:rPr>
              <a:t>Egypt, N. Africa</a:t>
            </a:r>
            <a:endParaRPr lang="en-US" sz="760" dirty="0"/>
          </a:p>
        </p:txBody>
      </p:sp>
      <p:pic>
        <p:nvPicPr>
          <p:cNvPr id="28" name="Image 2" descr="/home/claude/assets/monogram.png"/>
          <p:cNvPicPr>
            <a:picLocks noChangeAspect="1"/>
          </p:cNvPicPr>
          <p:nvPr/>
        </p:nvPicPr>
        <p:blipFill>
          <a:blip r:embed="rId5">
            <a:alphaModFix amt="22000"/>
          </a:blip>
          <a:stretch>
            <a:fillRect/>
          </a:stretch>
        </p:blipFill>
        <p:spPr>
          <a:xfrm>
            <a:off x="3278124" y="9189720"/>
            <a:ext cx="1005840" cy="859536"/>
          </a:xfrm>
          <a:prstGeom prst="rect">
            <a:avLst/>
          </a:prstGeom>
        </p:spPr>
      </p:pic>
      <p:sp>
        <p:nvSpPr>
          <p:cNvPr id="29" name="Shape 24"/>
          <p:cNvSpPr/>
          <p:nvPr/>
        </p:nvSpPr>
        <p:spPr>
          <a:xfrm>
            <a:off x="502920" y="10186416"/>
            <a:ext cx="6556248" cy="0"/>
          </a:xfrm>
          <a:prstGeom prst="line">
            <a:avLst/>
          </a:prstGeom>
          <a:noFill/>
          <a:ln w="9525">
            <a:solidFill>
              <a:srgbClr val="E4DDCB"/>
            </a:solidFill>
            <a:prstDash val="solid"/>
          </a:ln>
        </p:spPr>
      </p:sp>
      <p:sp>
        <p:nvSpPr>
          <p:cNvPr id="30" name="Text 25"/>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6B675F"/>
                </a:solidFill>
                <a:latin typeface="Calibri" pitchFamily="34" charset="0"/>
                <a:ea typeface="Calibri" pitchFamily="34" charset="-122"/>
                <a:cs typeface="Calibri" pitchFamily="34" charset="-120"/>
              </a:rPr>
              <a:t>ALTUS GULF</a:t>
            </a:r>
            <a:endParaRPr lang="en-US" sz="850" dirty="0"/>
          </a:p>
        </p:txBody>
      </p:sp>
      <p:sp>
        <p:nvSpPr>
          <p:cNvPr id="31" name="Text 26"/>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6B675F"/>
                </a:solidFill>
                <a:latin typeface="Calibri" pitchFamily="34" charset="0"/>
                <a:ea typeface="Calibri" pitchFamily="34" charset="-122"/>
                <a:cs typeface="Calibri" pitchFamily="34" charset="-120"/>
              </a:rPr>
              <a:t>CORPORATE PROFILE  •  03</a:t>
            </a:r>
            <a:endParaRPr lang="en-US" sz="85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C1501D"/>
                </a:solidFill>
                <a:latin typeface="Calibri" pitchFamily="34" charset="0"/>
                <a:ea typeface="Calibri" pitchFamily="34" charset="-122"/>
                <a:cs typeface="Calibri" pitchFamily="34" charset="-120"/>
              </a:rPr>
              <a:t>02  •  WHO WE ARE</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a:solidFill>
                  <a:srgbClr val="0B1B2B"/>
                </a:solidFill>
                <a:latin typeface="Cambria" pitchFamily="34" charset="0"/>
                <a:ea typeface="Cambria" pitchFamily="34" charset="-122"/>
                <a:cs typeface="Cambria" pitchFamily="34" charset="-120"/>
              </a:rPr>
              <a:t>Company Overview</a:t>
            </a:r>
            <a:endParaRPr lang="en-US" sz="2700" dirty="0"/>
          </a:p>
        </p:txBody>
      </p:sp>
      <p:sp>
        <p:nvSpPr>
          <p:cNvPr id="4" name="Text 2"/>
          <p:cNvSpPr/>
          <p:nvPr/>
        </p:nvSpPr>
        <p:spPr>
          <a:xfrm>
            <a:off x="502920" y="1280160"/>
            <a:ext cx="6556248" cy="566928"/>
          </a:xfrm>
          <a:prstGeom prst="rect">
            <a:avLst/>
          </a:prstGeom>
          <a:noFill/>
          <a:ln/>
        </p:spPr>
        <p:txBody>
          <a:bodyPr wrap="square" rtlCol="0" anchor="t"/>
          <a:lstStyle/>
          <a:p>
            <a:pPr marL="0" indent="0" algn="l">
              <a:lnSpc>
                <a:spcPct val="118000"/>
              </a:lnSpc>
              <a:buNone/>
            </a:pPr>
            <a:r>
              <a:rPr lang="en-US" sz="1150" dirty="0">
                <a:solidFill>
                  <a:srgbClr val="6B675F"/>
                </a:solidFill>
                <a:latin typeface="Calibri" pitchFamily="34" charset="0"/>
                <a:ea typeface="Calibri" pitchFamily="34" charset="-122"/>
                <a:cs typeface="Calibri" pitchFamily="34" charset="-120"/>
              </a:rPr>
              <a:t>Altus Gulf is a specialised strategy and advisory consultancy built on rigorous international standards. We work where hospitality operations meet applied business intelligence, serving asset owners, investors, and ambitious enterprises across Saudi Arabia, the GCC, and global markets.</a:t>
            </a:r>
            <a:endParaRPr lang="en-US" sz="1150" dirty="0"/>
          </a:p>
        </p:txBody>
      </p:sp>
      <p:sp>
        <p:nvSpPr>
          <p:cNvPr id="5" name="Shape 3"/>
          <p:cNvSpPr/>
          <p:nvPr/>
        </p:nvSpPr>
        <p:spPr>
          <a:xfrm>
            <a:off x="502920" y="1938528"/>
            <a:ext cx="3140964" cy="1691640"/>
          </a:xfrm>
          <a:prstGeom prst="roundRect">
            <a:avLst>
              <a:gd name="adj" fmla="val 2703"/>
            </a:avLst>
          </a:prstGeom>
          <a:solidFill>
            <a:srgbClr val="0B1B2B"/>
          </a:solidFill>
          <a:ln/>
        </p:spPr>
      </p:sp>
      <p:sp>
        <p:nvSpPr>
          <p:cNvPr id="6" name="Text 4"/>
          <p:cNvSpPr/>
          <p:nvPr/>
        </p:nvSpPr>
        <p:spPr>
          <a:xfrm>
            <a:off x="722376" y="2121408"/>
            <a:ext cx="2702052" cy="228600"/>
          </a:xfrm>
          <a:prstGeom prst="rect">
            <a:avLst/>
          </a:prstGeom>
          <a:noFill/>
          <a:ln/>
        </p:spPr>
        <p:txBody>
          <a:bodyPr wrap="square" rtlCol="0" anchor="ctr"/>
          <a:lstStyle/>
          <a:p>
            <a:pPr marL="0" indent="0">
              <a:buNone/>
            </a:pPr>
            <a:r>
              <a:rPr lang="en-US" sz="1000" b="1" kern="0" spc="150" dirty="0">
                <a:solidFill>
                  <a:srgbClr val="E4C98A"/>
                </a:solidFill>
                <a:latin typeface="Calibri" pitchFamily="34" charset="0"/>
                <a:ea typeface="Calibri" pitchFamily="34" charset="-122"/>
                <a:cs typeface="Calibri" pitchFamily="34" charset="-120"/>
              </a:rPr>
              <a:t>OUR VISION</a:t>
            </a:r>
            <a:endParaRPr lang="en-US" sz="1000" dirty="0"/>
          </a:p>
        </p:txBody>
      </p:sp>
      <p:sp>
        <p:nvSpPr>
          <p:cNvPr id="7" name="Text 5"/>
          <p:cNvSpPr/>
          <p:nvPr/>
        </p:nvSpPr>
        <p:spPr>
          <a:xfrm>
            <a:off x="722376" y="2432304"/>
            <a:ext cx="2702052" cy="1097280"/>
          </a:xfrm>
          <a:prstGeom prst="rect">
            <a:avLst/>
          </a:prstGeom>
          <a:noFill/>
          <a:ln/>
        </p:spPr>
        <p:txBody>
          <a:bodyPr wrap="square" rtlCol="0" anchor="t"/>
          <a:lstStyle/>
          <a:p>
            <a:pPr marL="0" indent="0">
              <a:lnSpc>
                <a:spcPct val="128000"/>
              </a:lnSpc>
              <a:buNone/>
            </a:pPr>
            <a:r>
              <a:rPr lang="en-US" sz="1050" dirty="0">
                <a:solidFill>
                  <a:srgbClr val="B9C3CC"/>
                </a:solidFill>
                <a:latin typeface="Calibri" pitchFamily="34" charset="0"/>
                <a:ea typeface="Calibri" pitchFamily="34" charset="-122"/>
                <a:cs typeface="Calibri" pitchFamily="34" charset="-120"/>
              </a:rPr>
              <a:t>To be a leading strategic catalyst for hospitality excellence and enterprise transformation: championing bold founders, scaling enterprises, and visionary owners as they define the future of business performance.</a:t>
            </a:r>
            <a:endParaRPr lang="en-US" sz="1050" dirty="0"/>
          </a:p>
        </p:txBody>
      </p:sp>
      <p:sp>
        <p:nvSpPr>
          <p:cNvPr id="8" name="Shape 6"/>
          <p:cNvSpPr/>
          <p:nvPr/>
        </p:nvSpPr>
        <p:spPr>
          <a:xfrm>
            <a:off x="3918204" y="1938528"/>
            <a:ext cx="3140964" cy="1691640"/>
          </a:xfrm>
          <a:prstGeom prst="roundRect">
            <a:avLst>
              <a:gd name="adj" fmla="val 2703"/>
            </a:avLst>
          </a:prstGeom>
          <a:solidFill>
            <a:srgbClr val="FFFFFF"/>
          </a:solidFill>
          <a:ln w="9525">
            <a:solidFill>
              <a:srgbClr val="E4DDCB"/>
            </a:solidFill>
            <a:prstDash val="solid"/>
          </a:ln>
        </p:spPr>
      </p:sp>
      <p:sp>
        <p:nvSpPr>
          <p:cNvPr id="9" name="Text 7"/>
          <p:cNvSpPr/>
          <p:nvPr/>
        </p:nvSpPr>
        <p:spPr>
          <a:xfrm>
            <a:off x="4137660" y="2121408"/>
            <a:ext cx="2702052" cy="228600"/>
          </a:xfrm>
          <a:prstGeom prst="rect">
            <a:avLst/>
          </a:prstGeom>
          <a:noFill/>
          <a:ln/>
        </p:spPr>
        <p:txBody>
          <a:bodyPr wrap="square" rtlCol="0" anchor="ctr"/>
          <a:lstStyle/>
          <a:p>
            <a:pPr marL="0" indent="0">
              <a:buNone/>
            </a:pPr>
            <a:r>
              <a:rPr lang="en-US" sz="1000" b="1" kern="0" spc="150" dirty="0">
                <a:solidFill>
                  <a:srgbClr val="C1501D"/>
                </a:solidFill>
                <a:latin typeface="Calibri" pitchFamily="34" charset="0"/>
                <a:ea typeface="Calibri" pitchFamily="34" charset="-122"/>
                <a:cs typeface="Calibri" pitchFamily="34" charset="-120"/>
              </a:rPr>
              <a:t>OUR MISSION</a:t>
            </a:r>
            <a:endParaRPr lang="en-US" sz="1000" dirty="0"/>
          </a:p>
        </p:txBody>
      </p:sp>
      <p:sp>
        <p:nvSpPr>
          <p:cNvPr id="10" name="Text 8"/>
          <p:cNvSpPr/>
          <p:nvPr/>
        </p:nvSpPr>
        <p:spPr>
          <a:xfrm>
            <a:off x="4137660" y="2432304"/>
            <a:ext cx="2702052" cy="1097280"/>
          </a:xfrm>
          <a:prstGeom prst="rect">
            <a:avLst/>
          </a:prstGeom>
          <a:noFill/>
          <a:ln/>
        </p:spPr>
        <p:txBody>
          <a:bodyPr wrap="square" rtlCol="0" anchor="t"/>
          <a:lstStyle/>
          <a:p>
            <a:pPr marL="0" indent="0">
              <a:lnSpc>
                <a:spcPct val="128000"/>
              </a:lnSpc>
              <a:buNone/>
            </a:pPr>
            <a:r>
              <a:rPr lang="en-US" sz="1050" dirty="0">
                <a:solidFill>
                  <a:srgbClr val="2B2A27"/>
                </a:solidFill>
                <a:latin typeface="Calibri" pitchFamily="34" charset="0"/>
                <a:ea typeface="Calibri" pitchFamily="34" charset="-122"/>
                <a:cs typeface="Calibri" pitchFamily="34" charset="-120"/>
              </a:rPr>
              <a:t>To empower asset owners, investors, and business leaders with executable strategy, applied technology infrastructure, and human-capital frameworks: supporting sustainable revenue growth, operational independence, and consistently strong experiences across every physical and digital touchpoint.</a:t>
            </a:r>
            <a:endParaRPr lang="en-US" sz="1050" dirty="0"/>
          </a:p>
        </p:txBody>
      </p:sp>
      <p:sp>
        <p:nvSpPr>
          <p:cNvPr id="11" name="Text 9"/>
          <p:cNvSpPr/>
          <p:nvPr/>
        </p:nvSpPr>
        <p:spPr>
          <a:xfrm>
            <a:off x="502920" y="3858768"/>
            <a:ext cx="6556248" cy="219456"/>
          </a:xfrm>
          <a:prstGeom prst="rect">
            <a:avLst/>
          </a:prstGeom>
          <a:noFill/>
          <a:ln/>
        </p:spPr>
        <p:txBody>
          <a:bodyPr wrap="square" rtlCol="0" anchor="ctr"/>
          <a:lstStyle/>
          <a:p>
            <a:pPr marL="0" indent="0">
              <a:buNone/>
            </a:pPr>
            <a:r>
              <a:rPr lang="en-US" sz="950" b="1" kern="0" spc="150" dirty="0">
                <a:solidFill>
                  <a:srgbClr val="C1501D"/>
                </a:solidFill>
                <a:latin typeface="Calibri" pitchFamily="34" charset="0"/>
                <a:ea typeface="Calibri" pitchFamily="34" charset="-122"/>
                <a:cs typeface="Calibri" pitchFamily="34" charset="-120"/>
              </a:rPr>
              <a:t>OUR PURPOSE</a:t>
            </a:r>
            <a:endParaRPr lang="en-US" sz="950" dirty="0"/>
          </a:p>
        </p:txBody>
      </p:sp>
      <p:sp>
        <p:nvSpPr>
          <p:cNvPr id="12" name="Text 10"/>
          <p:cNvSpPr/>
          <p:nvPr/>
        </p:nvSpPr>
        <p:spPr>
          <a:xfrm>
            <a:off x="502920" y="4114800"/>
            <a:ext cx="6556248" cy="685800"/>
          </a:xfrm>
          <a:prstGeom prst="rect">
            <a:avLst/>
          </a:prstGeom>
          <a:noFill/>
          <a:ln/>
        </p:spPr>
        <p:txBody>
          <a:bodyPr wrap="square" rtlCol="0" anchor="t"/>
          <a:lstStyle/>
          <a:p>
            <a:pPr marL="0" indent="0">
              <a:lnSpc>
                <a:spcPct val="132000"/>
              </a:lnSpc>
              <a:buNone/>
            </a:pPr>
            <a:r>
              <a:rPr lang="en-US" sz="1300" i="1" dirty="0">
                <a:solidFill>
                  <a:srgbClr val="0B1B2B"/>
                </a:solidFill>
                <a:latin typeface="Cambria" pitchFamily="34" charset="0"/>
                <a:ea typeface="Cambria" pitchFamily="34" charset="-122"/>
                <a:cs typeface="Cambria" pitchFamily="34" charset="-120"/>
              </a:rPr>
              <a:t>The beating heart of our mission is to champion start-ups, scaling enterprises, and every investor or entrepreneur with a bold ambition — acting as a trusted strategic partner that helps turn ambition into practical, high-value results across the GCC and beyond.</a:t>
            </a:r>
            <a:endParaRPr lang="en-US" sz="1300" dirty="0"/>
          </a:p>
        </p:txBody>
      </p:sp>
      <p:sp>
        <p:nvSpPr>
          <p:cNvPr id="13" name="Text 11"/>
          <p:cNvSpPr/>
          <p:nvPr/>
        </p:nvSpPr>
        <p:spPr>
          <a:xfrm>
            <a:off x="502920" y="5065776"/>
            <a:ext cx="6556248" cy="219456"/>
          </a:xfrm>
          <a:prstGeom prst="rect">
            <a:avLst/>
          </a:prstGeom>
          <a:noFill/>
          <a:ln/>
        </p:spPr>
        <p:txBody>
          <a:bodyPr wrap="square" rtlCol="0" anchor="ctr"/>
          <a:lstStyle/>
          <a:p>
            <a:pPr marL="0" indent="0">
              <a:buNone/>
            </a:pPr>
            <a:r>
              <a:rPr lang="en-US" sz="950" b="1" kern="0" spc="150" dirty="0">
                <a:solidFill>
                  <a:srgbClr val="C1501D"/>
                </a:solidFill>
                <a:latin typeface="Calibri" pitchFamily="34" charset="0"/>
                <a:ea typeface="Calibri" pitchFamily="34" charset="-122"/>
                <a:cs typeface="Calibri" pitchFamily="34" charset="-120"/>
              </a:rPr>
              <a:t>CORE PHILOSOPHY</a:t>
            </a:r>
            <a:endParaRPr lang="en-US" sz="950" dirty="0"/>
          </a:p>
        </p:txBody>
      </p:sp>
      <p:sp>
        <p:nvSpPr>
          <p:cNvPr id="14" name="Shape 12"/>
          <p:cNvSpPr/>
          <p:nvPr/>
        </p:nvSpPr>
        <p:spPr>
          <a:xfrm>
            <a:off x="502920" y="5376672"/>
            <a:ext cx="2063496" cy="1874520"/>
          </a:xfrm>
          <a:prstGeom prst="roundRect">
            <a:avLst>
              <a:gd name="adj" fmla="val 2927"/>
            </a:avLst>
          </a:prstGeom>
          <a:solidFill>
            <a:srgbClr val="FFFFFF"/>
          </a:solidFill>
          <a:ln w="9525">
            <a:solidFill>
              <a:srgbClr val="E4DDCB"/>
            </a:solidFill>
            <a:prstDash val="solid"/>
          </a:ln>
        </p:spPr>
      </p:sp>
      <p:sp>
        <p:nvSpPr>
          <p:cNvPr id="15" name="Shape 13"/>
          <p:cNvSpPr/>
          <p:nvPr/>
        </p:nvSpPr>
        <p:spPr>
          <a:xfrm>
            <a:off x="704088" y="5577840"/>
            <a:ext cx="402336" cy="402336"/>
          </a:xfrm>
          <a:prstGeom prst="ellipse">
            <a:avLst/>
          </a:prstGeom>
          <a:solidFill>
            <a:srgbClr val="0F5C42"/>
          </a:solidFill>
          <a:ln/>
        </p:spPr>
      </p:sp>
      <p:pic>
        <p:nvPicPr>
          <p:cNvPr id="16" name="Image 0" descr="/home/claude/assets/icons/compass.png"/>
          <p:cNvPicPr>
            <a:picLocks noChangeAspect="1"/>
          </p:cNvPicPr>
          <p:nvPr/>
        </p:nvPicPr>
        <p:blipFill>
          <a:blip r:embed="rId3"/>
          <a:stretch>
            <a:fillRect/>
          </a:stretch>
        </p:blipFill>
        <p:spPr>
          <a:xfrm>
            <a:off x="800649" y="5674401"/>
            <a:ext cx="209215" cy="209215"/>
          </a:xfrm>
          <a:prstGeom prst="rect">
            <a:avLst/>
          </a:prstGeom>
        </p:spPr>
      </p:pic>
      <p:sp>
        <p:nvSpPr>
          <p:cNvPr id="17" name="Text 14"/>
          <p:cNvSpPr/>
          <p:nvPr/>
        </p:nvSpPr>
        <p:spPr>
          <a:xfrm>
            <a:off x="1271016" y="5559552"/>
            <a:ext cx="1094232" cy="47548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Owner-Side Discipline</a:t>
            </a:r>
            <a:endParaRPr lang="en-US" sz="1250" dirty="0"/>
          </a:p>
        </p:txBody>
      </p:sp>
      <p:sp>
        <p:nvSpPr>
          <p:cNvPr id="18" name="Text 15"/>
          <p:cNvSpPr/>
          <p:nvPr/>
        </p:nvSpPr>
        <p:spPr>
          <a:xfrm>
            <a:off x="704088" y="6144768"/>
            <a:ext cx="1661160" cy="1069848"/>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We sit on the owner's side of the table: independent, closely engaged, and measured against your returns, not our billable hours.</a:t>
            </a:r>
            <a:endParaRPr lang="en-US" sz="970" dirty="0"/>
          </a:p>
        </p:txBody>
      </p:sp>
      <p:sp>
        <p:nvSpPr>
          <p:cNvPr id="19" name="Shape 16"/>
          <p:cNvSpPr/>
          <p:nvPr/>
        </p:nvSpPr>
        <p:spPr>
          <a:xfrm>
            <a:off x="2749296" y="5376672"/>
            <a:ext cx="2063496" cy="1874520"/>
          </a:xfrm>
          <a:prstGeom prst="roundRect">
            <a:avLst>
              <a:gd name="adj" fmla="val 2927"/>
            </a:avLst>
          </a:prstGeom>
          <a:solidFill>
            <a:srgbClr val="FFFFFF"/>
          </a:solidFill>
          <a:ln w="9525">
            <a:solidFill>
              <a:srgbClr val="E4DDCB"/>
            </a:solidFill>
            <a:prstDash val="solid"/>
          </a:ln>
        </p:spPr>
      </p:sp>
      <p:sp>
        <p:nvSpPr>
          <p:cNvPr id="20" name="Shape 17"/>
          <p:cNvSpPr/>
          <p:nvPr/>
        </p:nvSpPr>
        <p:spPr>
          <a:xfrm>
            <a:off x="2950464" y="5577840"/>
            <a:ext cx="402336" cy="402336"/>
          </a:xfrm>
          <a:prstGeom prst="ellipse">
            <a:avLst/>
          </a:prstGeom>
          <a:solidFill>
            <a:srgbClr val="0F5C42"/>
          </a:solidFill>
          <a:ln/>
        </p:spPr>
      </p:sp>
      <p:pic>
        <p:nvPicPr>
          <p:cNvPr id="21" name="Image 1" descr="/home/claude/assets/icons/chartline.png"/>
          <p:cNvPicPr>
            <a:picLocks noChangeAspect="1"/>
          </p:cNvPicPr>
          <p:nvPr/>
        </p:nvPicPr>
        <p:blipFill>
          <a:blip r:embed="rId4"/>
          <a:stretch>
            <a:fillRect/>
          </a:stretch>
        </p:blipFill>
        <p:spPr>
          <a:xfrm>
            <a:off x="3047025" y="5674401"/>
            <a:ext cx="209215" cy="209215"/>
          </a:xfrm>
          <a:prstGeom prst="rect">
            <a:avLst/>
          </a:prstGeom>
        </p:spPr>
      </p:pic>
      <p:sp>
        <p:nvSpPr>
          <p:cNvPr id="22" name="Text 18"/>
          <p:cNvSpPr/>
          <p:nvPr/>
        </p:nvSpPr>
        <p:spPr>
          <a:xfrm>
            <a:off x="3517392" y="5559552"/>
            <a:ext cx="1094232" cy="47548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Evidence over Intuition</a:t>
            </a:r>
            <a:endParaRPr lang="en-US" sz="1250" dirty="0"/>
          </a:p>
        </p:txBody>
      </p:sp>
      <p:sp>
        <p:nvSpPr>
          <p:cNvPr id="23" name="Text 19"/>
          <p:cNvSpPr/>
          <p:nvPr/>
        </p:nvSpPr>
        <p:spPr>
          <a:xfrm>
            <a:off x="2950464" y="6144768"/>
            <a:ext cx="1661160" cy="1069848"/>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Every recommendation is grounded in empirical analytics, financial modelling, and field-tested operating discipline.</a:t>
            </a:r>
            <a:endParaRPr lang="en-US" sz="970" dirty="0"/>
          </a:p>
        </p:txBody>
      </p:sp>
      <p:sp>
        <p:nvSpPr>
          <p:cNvPr id="24" name="Shape 20"/>
          <p:cNvSpPr/>
          <p:nvPr/>
        </p:nvSpPr>
        <p:spPr>
          <a:xfrm>
            <a:off x="4995672" y="5376672"/>
            <a:ext cx="2063496" cy="1874520"/>
          </a:xfrm>
          <a:prstGeom prst="roundRect">
            <a:avLst>
              <a:gd name="adj" fmla="val 2927"/>
            </a:avLst>
          </a:prstGeom>
          <a:solidFill>
            <a:srgbClr val="FFFFFF"/>
          </a:solidFill>
          <a:ln w="9525">
            <a:solidFill>
              <a:srgbClr val="E4DDCB"/>
            </a:solidFill>
            <a:prstDash val="solid"/>
          </a:ln>
        </p:spPr>
      </p:sp>
      <p:sp>
        <p:nvSpPr>
          <p:cNvPr id="25" name="Shape 21"/>
          <p:cNvSpPr/>
          <p:nvPr/>
        </p:nvSpPr>
        <p:spPr>
          <a:xfrm>
            <a:off x="5196840" y="5577840"/>
            <a:ext cx="402336" cy="402336"/>
          </a:xfrm>
          <a:prstGeom prst="ellipse">
            <a:avLst/>
          </a:prstGeom>
          <a:solidFill>
            <a:srgbClr val="0F5C42"/>
          </a:solidFill>
          <a:ln/>
        </p:spPr>
      </p:sp>
      <p:pic>
        <p:nvPicPr>
          <p:cNvPr id="26" name="Image 2" descr="/home/claude/assets/icons/handshake.png"/>
          <p:cNvPicPr>
            <a:picLocks noChangeAspect="1"/>
          </p:cNvPicPr>
          <p:nvPr/>
        </p:nvPicPr>
        <p:blipFill>
          <a:blip r:embed="rId5"/>
          <a:stretch>
            <a:fillRect/>
          </a:stretch>
        </p:blipFill>
        <p:spPr>
          <a:xfrm>
            <a:off x="5293401" y="5674401"/>
            <a:ext cx="209215" cy="209215"/>
          </a:xfrm>
          <a:prstGeom prst="rect">
            <a:avLst/>
          </a:prstGeom>
        </p:spPr>
      </p:pic>
      <p:sp>
        <p:nvSpPr>
          <p:cNvPr id="27" name="Text 22"/>
          <p:cNvSpPr/>
          <p:nvPr/>
        </p:nvSpPr>
        <p:spPr>
          <a:xfrm>
            <a:off x="5763768" y="5559552"/>
            <a:ext cx="1094232" cy="713232"/>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Partnership beyond the Mandate</a:t>
            </a:r>
            <a:endParaRPr lang="en-US" sz="1250" dirty="0"/>
          </a:p>
        </p:txBody>
      </p:sp>
      <p:sp>
        <p:nvSpPr>
          <p:cNvPr id="28" name="Text 23"/>
          <p:cNvSpPr/>
          <p:nvPr/>
        </p:nvSpPr>
        <p:spPr>
          <a:xfrm>
            <a:off x="5196840" y="6382512"/>
            <a:ext cx="1661160" cy="832104"/>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Engagements evolve into enduring alliances. We remain invested in our clients' trajectory long after delivery.</a:t>
            </a:r>
            <a:endParaRPr lang="en-US" sz="970" dirty="0"/>
          </a:p>
        </p:txBody>
      </p:sp>
      <p:sp>
        <p:nvSpPr>
          <p:cNvPr id="29" name="Shape 24"/>
          <p:cNvSpPr/>
          <p:nvPr/>
        </p:nvSpPr>
        <p:spPr>
          <a:xfrm>
            <a:off x="502920" y="7479792"/>
            <a:ext cx="6556248" cy="621792"/>
          </a:xfrm>
          <a:prstGeom prst="roundRect">
            <a:avLst>
              <a:gd name="adj" fmla="val 7353"/>
            </a:avLst>
          </a:prstGeom>
          <a:solidFill>
            <a:srgbClr val="F3EEE4"/>
          </a:solidFill>
          <a:ln w="9525">
            <a:solidFill>
              <a:srgbClr val="E4DDCB"/>
            </a:solidFill>
            <a:prstDash val="solid"/>
          </a:ln>
        </p:spPr>
      </p:sp>
      <p:sp>
        <p:nvSpPr>
          <p:cNvPr id="30" name="Text 25"/>
          <p:cNvSpPr/>
          <p:nvPr/>
        </p:nvSpPr>
        <p:spPr>
          <a:xfrm>
            <a:off x="731520" y="7543800"/>
            <a:ext cx="6099048" cy="493776"/>
          </a:xfrm>
          <a:prstGeom prst="rect">
            <a:avLst/>
          </a:prstGeom>
          <a:noFill/>
          <a:ln/>
        </p:spPr>
        <p:txBody>
          <a:bodyPr wrap="square" rtlCol="0" anchor="ctr"/>
          <a:lstStyle/>
          <a:p>
            <a:pPr marL="0" indent="0" algn="ctr">
              <a:lnSpc>
                <a:spcPct val="115000"/>
              </a:lnSpc>
              <a:buNone/>
            </a:pPr>
            <a:r>
              <a:rPr lang="en-US" sz="1080" dirty="0">
                <a:solidFill>
                  <a:srgbClr val="2B2A27"/>
                </a:solidFill>
                <a:latin typeface="Calibri" pitchFamily="34" charset="0"/>
                <a:ea typeface="Calibri" pitchFamily="34" charset="-122"/>
                <a:cs typeface="Calibri" pitchFamily="34" charset="-120"/>
              </a:rPr>
              <a:t>Two synergistic practices, one integrated house: </a:t>
            </a:r>
            <a:r>
              <a:rPr lang="en-US" sz="1080" b="1" dirty="0">
                <a:solidFill>
                  <a:srgbClr val="0F5C42"/>
                </a:solidFill>
                <a:latin typeface="Calibri" pitchFamily="34" charset="0"/>
                <a:ea typeface="Calibri" pitchFamily="34" charset="-122"/>
                <a:cs typeface="Calibri" pitchFamily="34" charset="-120"/>
              </a:rPr>
              <a:t>Hospitality Solutions</a:t>
            </a:r>
            <a:r>
              <a:rPr lang="en-US" sz="1080" dirty="0">
                <a:solidFill>
                  <a:srgbClr val="2B2A27"/>
                </a:solidFill>
                <a:latin typeface="Calibri" pitchFamily="34" charset="0"/>
                <a:ea typeface="Calibri" pitchFamily="34" charset="-122"/>
                <a:cs typeface="Calibri" pitchFamily="34" charset="-120"/>
              </a:rPr>
              <a:t> and </a:t>
            </a:r>
            <a:r>
              <a:rPr lang="en-US" sz="1080" b="1" dirty="0">
                <a:solidFill>
                  <a:srgbClr val="0F5C42"/>
                </a:solidFill>
                <a:latin typeface="Calibri" pitchFamily="34" charset="0"/>
                <a:ea typeface="Calibri" pitchFamily="34" charset="-122"/>
                <a:cs typeface="Calibri" pitchFamily="34" charset="-120"/>
              </a:rPr>
              <a:t>Business Growth Solutions</a:t>
            </a:r>
            <a:r>
              <a:rPr lang="en-US" sz="1080" dirty="0">
                <a:solidFill>
                  <a:srgbClr val="2B2A27"/>
                </a:solidFill>
                <a:latin typeface="Calibri" pitchFamily="34" charset="0"/>
                <a:ea typeface="Calibri" pitchFamily="34" charset="-122"/>
                <a:cs typeface="Calibri" pitchFamily="34" charset="-120"/>
              </a:rPr>
              <a:t>, cross-pollinating operational mastery with digital sophistication.</a:t>
            </a:r>
            <a:endParaRPr lang="en-US" sz="1080" dirty="0"/>
          </a:p>
        </p:txBody>
      </p:sp>
      <p:sp>
        <p:nvSpPr>
          <p:cNvPr id="31" name="Shape 26"/>
          <p:cNvSpPr/>
          <p:nvPr/>
        </p:nvSpPr>
        <p:spPr>
          <a:xfrm>
            <a:off x="502920" y="10186416"/>
            <a:ext cx="6556248" cy="0"/>
          </a:xfrm>
          <a:prstGeom prst="line">
            <a:avLst/>
          </a:prstGeom>
          <a:noFill/>
          <a:ln w="9525">
            <a:solidFill>
              <a:srgbClr val="E4DDCB"/>
            </a:solidFill>
            <a:prstDash val="solid"/>
          </a:ln>
        </p:spPr>
      </p:sp>
      <p:sp>
        <p:nvSpPr>
          <p:cNvPr id="32" name="Text 27"/>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6B675F"/>
                </a:solidFill>
                <a:latin typeface="Calibri" pitchFamily="34" charset="0"/>
                <a:ea typeface="Calibri" pitchFamily="34" charset="-122"/>
                <a:cs typeface="Calibri" pitchFamily="34" charset="-120"/>
              </a:rPr>
              <a:t>ALTUS GULF</a:t>
            </a:r>
            <a:endParaRPr lang="en-US" sz="850" dirty="0"/>
          </a:p>
        </p:txBody>
      </p:sp>
      <p:sp>
        <p:nvSpPr>
          <p:cNvPr id="33" name="Text 28"/>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6B675F"/>
                </a:solidFill>
                <a:latin typeface="Calibri" pitchFamily="34" charset="0"/>
                <a:ea typeface="Calibri" pitchFamily="34" charset="-122"/>
                <a:cs typeface="Calibri" pitchFamily="34" charset="-120"/>
              </a:rPr>
              <a:t>CORPORATE PROFILE  •  04</a:t>
            </a:r>
            <a:endParaRPr lang="en-US" sz="85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C1501D"/>
                </a:solidFill>
                <a:latin typeface="Calibri" pitchFamily="34" charset="0"/>
                <a:ea typeface="Calibri" pitchFamily="34" charset="-122"/>
                <a:cs typeface="Calibri" pitchFamily="34" charset="-120"/>
              </a:rPr>
              <a:t>03  •  THE ALTUS GULF EDGE</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a:solidFill>
                  <a:srgbClr val="0B1B2B"/>
                </a:solidFill>
                <a:latin typeface="Cambria" pitchFamily="34" charset="0"/>
                <a:ea typeface="Cambria" pitchFamily="34" charset="-122"/>
                <a:cs typeface="Cambria" pitchFamily="34" charset="-120"/>
              </a:rPr>
              <a:t>Why Altus Gulf</a:t>
            </a:r>
            <a:endParaRPr lang="en-US" sz="2700" dirty="0"/>
          </a:p>
        </p:txBody>
      </p:sp>
      <p:sp>
        <p:nvSpPr>
          <p:cNvPr id="4" name="Text 2"/>
          <p:cNvSpPr/>
          <p:nvPr/>
        </p:nvSpPr>
        <p:spPr>
          <a:xfrm>
            <a:off x="502920" y="1280160"/>
            <a:ext cx="6556248" cy="566928"/>
          </a:xfrm>
          <a:prstGeom prst="rect">
            <a:avLst/>
          </a:prstGeom>
          <a:noFill/>
          <a:ln/>
        </p:spPr>
        <p:txBody>
          <a:bodyPr wrap="square" rtlCol="0" anchor="t"/>
          <a:lstStyle/>
          <a:p>
            <a:pPr marL="0" indent="0" algn="l">
              <a:lnSpc>
                <a:spcPct val="118000"/>
              </a:lnSpc>
              <a:buNone/>
            </a:pPr>
            <a:r>
              <a:rPr lang="en-US" sz="1150" dirty="0">
                <a:solidFill>
                  <a:srgbClr val="6B675F"/>
                </a:solidFill>
                <a:latin typeface="Calibri" pitchFamily="34" charset="0"/>
                <a:ea typeface="Calibri" pitchFamily="34" charset="-122"/>
                <a:cs typeface="Calibri" pitchFamily="34" charset="-120"/>
              </a:rPr>
              <a:t>The consulting landscape too often operates in silos: traditional operations on one side, digital transformation on the other. Altus Gulf was built to close that structural gap with a single, integrated mandate.</a:t>
            </a:r>
            <a:endParaRPr lang="en-US" sz="1150" dirty="0"/>
          </a:p>
        </p:txBody>
      </p:sp>
      <p:sp>
        <p:nvSpPr>
          <p:cNvPr id="5" name="Shape 3"/>
          <p:cNvSpPr/>
          <p:nvPr/>
        </p:nvSpPr>
        <p:spPr>
          <a:xfrm>
            <a:off x="502920" y="1938528"/>
            <a:ext cx="3163824" cy="1508760"/>
          </a:xfrm>
          <a:prstGeom prst="roundRect">
            <a:avLst>
              <a:gd name="adj" fmla="val 3636"/>
            </a:avLst>
          </a:prstGeom>
          <a:solidFill>
            <a:srgbClr val="FFFFFF"/>
          </a:solidFill>
          <a:ln w="9525">
            <a:solidFill>
              <a:srgbClr val="E4DDCB"/>
            </a:solidFill>
            <a:prstDash val="solid"/>
          </a:ln>
        </p:spPr>
      </p:sp>
      <p:sp>
        <p:nvSpPr>
          <p:cNvPr id="6" name="Shape 4"/>
          <p:cNvSpPr/>
          <p:nvPr/>
        </p:nvSpPr>
        <p:spPr>
          <a:xfrm>
            <a:off x="704088" y="2139696"/>
            <a:ext cx="402336" cy="402336"/>
          </a:xfrm>
          <a:prstGeom prst="ellipse">
            <a:avLst/>
          </a:prstGeom>
          <a:solidFill>
            <a:srgbClr val="0F5C42"/>
          </a:solidFill>
          <a:ln/>
        </p:spPr>
      </p:sp>
      <p:pic>
        <p:nvPicPr>
          <p:cNvPr id="7" name="Image 0" descr="/home/claude/assets/icons/compass.png"/>
          <p:cNvPicPr>
            <a:picLocks noChangeAspect="1"/>
          </p:cNvPicPr>
          <p:nvPr/>
        </p:nvPicPr>
        <p:blipFill>
          <a:blip r:embed="rId3"/>
          <a:stretch>
            <a:fillRect/>
          </a:stretch>
        </p:blipFill>
        <p:spPr>
          <a:xfrm>
            <a:off x="800649" y="2236257"/>
            <a:ext cx="209215" cy="209215"/>
          </a:xfrm>
          <a:prstGeom prst="rect">
            <a:avLst/>
          </a:prstGeom>
        </p:spPr>
      </p:pic>
      <p:sp>
        <p:nvSpPr>
          <p:cNvPr id="8" name="Text 5"/>
          <p:cNvSpPr/>
          <p:nvPr/>
        </p:nvSpPr>
        <p:spPr>
          <a:xfrm>
            <a:off x="1271016" y="2121408"/>
            <a:ext cx="2194560" cy="29260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Owner-Side Advisory</a:t>
            </a:r>
            <a:endParaRPr lang="en-US" sz="1250" dirty="0"/>
          </a:p>
        </p:txBody>
      </p:sp>
      <p:sp>
        <p:nvSpPr>
          <p:cNvPr id="9" name="Text 6"/>
          <p:cNvSpPr/>
          <p:nvPr/>
        </p:nvSpPr>
        <p:spPr>
          <a:xfrm>
            <a:off x="704088" y="2523744"/>
            <a:ext cx="2761488" cy="886968"/>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Independent, client-side oversight across the full asset lifecycle: helping protect budgets, govern HMAs, and manage operator and contractor risk on the owner's behalf.</a:t>
            </a:r>
            <a:endParaRPr lang="en-US" sz="970" dirty="0"/>
          </a:p>
        </p:txBody>
      </p:sp>
      <p:sp>
        <p:nvSpPr>
          <p:cNvPr id="10" name="Shape 7"/>
          <p:cNvSpPr/>
          <p:nvPr/>
        </p:nvSpPr>
        <p:spPr>
          <a:xfrm>
            <a:off x="3895344" y="1938528"/>
            <a:ext cx="3163824" cy="1508760"/>
          </a:xfrm>
          <a:prstGeom prst="roundRect">
            <a:avLst>
              <a:gd name="adj" fmla="val 3636"/>
            </a:avLst>
          </a:prstGeom>
          <a:solidFill>
            <a:srgbClr val="FFFFFF"/>
          </a:solidFill>
          <a:ln w="9525">
            <a:solidFill>
              <a:srgbClr val="E4DDCB"/>
            </a:solidFill>
            <a:prstDash val="solid"/>
          </a:ln>
        </p:spPr>
      </p:sp>
      <p:sp>
        <p:nvSpPr>
          <p:cNvPr id="11" name="Shape 8"/>
          <p:cNvSpPr/>
          <p:nvPr/>
        </p:nvSpPr>
        <p:spPr>
          <a:xfrm>
            <a:off x="4096512" y="2139696"/>
            <a:ext cx="402336" cy="402336"/>
          </a:xfrm>
          <a:prstGeom prst="ellipse">
            <a:avLst/>
          </a:prstGeom>
          <a:solidFill>
            <a:srgbClr val="0F5C42"/>
          </a:solidFill>
          <a:ln/>
        </p:spPr>
      </p:sp>
      <p:pic>
        <p:nvPicPr>
          <p:cNvPr id="12" name="Image 1" descr="/home/claude/assets/icons/cogs.png"/>
          <p:cNvPicPr>
            <a:picLocks noChangeAspect="1"/>
          </p:cNvPicPr>
          <p:nvPr/>
        </p:nvPicPr>
        <p:blipFill>
          <a:blip r:embed="rId4"/>
          <a:stretch>
            <a:fillRect/>
          </a:stretch>
        </p:blipFill>
        <p:spPr>
          <a:xfrm>
            <a:off x="4193073" y="2236257"/>
            <a:ext cx="209215" cy="209215"/>
          </a:xfrm>
          <a:prstGeom prst="rect">
            <a:avLst/>
          </a:prstGeom>
        </p:spPr>
      </p:pic>
      <p:sp>
        <p:nvSpPr>
          <p:cNvPr id="13" name="Text 9"/>
          <p:cNvSpPr/>
          <p:nvPr/>
        </p:nvSpPr>
        <p:spPr>
          <a:xfrm>
            <a:off x="4663440" y="2121408"/>
            <a:ext cx="2194560" cy="29260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Operator-Grade Depth</a:t>
            </a:r>
            <a:endParaRPr lang="en-US" sz="1250" dirty="0"/>
          </a:p>
        </p:txBody>
      </p:sp>
      <p:sp>
        <p:nvSpPr>
          <p:cNvPr id="14" name="Text 10"/>
          <p:cNvSpPr/>
          <p:nvPr/>
        </p:nvSpPr>
        <p:spPr>
          <a:xfrm>
            <a:off x="4096512" y="2523744"/>
            <a:ext cx="2761488" cy="886968"/>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Leadership formed inside Marriott, IHG, Starwood, and Accor systems. 60+ combined years of P&amp;L experience, not theoretical frameworks.</a:t>
            </a:r>
            <a:endParaRPr lang="en-US" sz="970" dirty="0"/>
          </a:p>
        </p:txBody>
      </p:sp>
      <p:sp>
        <p:nvSpPr>
          <p:cNvPr id="15" name="Shape 11"/>
          <p:cNvSpPr/>
          <p:nvPr/>
        </p:nvSpPr>
        <p:spPr>
          <a:xfrm>
            <a:off x="502920" y="3593592"/>
            <a:ext cx="3163824" cy="1508760"/>
          </a:xfrm>
          <a:prstGeom prst="roundRect">
            <a:avLst>
              <a:gd name="adj" fmla="val 3636"/>
            </a:avLst>
          </a:prstGeom>
          <a:solidFill>
            <a:srgbClr val="FFFFFF"/>
          </a:solidFill>
          <a:ln w="9525">
            <a:solidFill>
              <a:srgbClr val="E4DDCB"/>
            </a:solidFill>
            <a:prstDash val="solid"/>
          </a:ln>
        </p:spPr>
      </p:sp>
      <p:sp>
        <p:nvSpPr>
          <p:cNvPr id="16" name="Shape 12"/>
          <p:cNvSpPr/>
          <p:nvPr/>
        </p:nvSpPr>
        <p:spPr>
          <a:xfrm>
            <a:off x="704088" y="3794760"/>
            <a:ext cx="402336" cy="402336"/>
          </a:xfrm>
          <a:prstGeom prst="ellipse">
            <a:avLst/>
          </a:prstGeom>
          <a:solidFill>
            <a:srgbClr val="0F5C42"/>
          </a:solidFill>
          <a:ln/>
        </p:spPr>
      </p:sp>
      <p:pic>
        <p:nvPicPr>
          <p:cNvPr id="17" name="Image 2" descr="/home/claude/assets/icons/layers.png"/>
          <p:cNvPicPr>
            <a:picLocks noChangeAspect="1"/>
          </p:cNvPicPr>
          <p:nvPr/>
        </p:nvPicPr>
        <p:blipFill>
          <a:blip r:embed="rId5"/>
          <a:stretch>
            <a:fillRect/>
          </a:stretch>
        </p:blipFill>
        <p:spPr>
          <a:xfrm>
            <a:off x="800649" y="3891321"/>
            <a:ext cx="209215" cy="209215"/>
          </a:xfrm>
          <a:prstGeom prst="rect">
            <a:avLst/>
          </a:prstGeom>
        </p:spPr>
      </p:pic>
      <p:sp>
        <p:nvSpPr>
          <p:cNvPr id="18" name="Text 13"/>
          <p:cNvSpPr/>
          <p:nvPr/>
        </p:nvSpPr>
        <p:spPr>
          <a:xfrm>
            <a:off x="1271016" y="3776472"/>
            <a:ext cx="2194560" cy="29260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A Dual-Discipline Model</a:t>
            </a:r>
            <a:endParaRPr lang="en-US" sz="1250" dirty="0"/>
          </a:p>
        </p:txBody>
      </p:sp>
      <p:sp>
        <p:nvSpPr>
          <p:cNvPr id="19" name="Text 14"/>
          <p:cNvSpPr/>
          <p:nvPr/>
        </p:nvSpPr>
        <p:spPr>
          <a:xfrm>
            <a:off x="704088" y="4178808"/>
            <a:ext cx="2761488" cy="886968"/>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Hospitality operations fused with AI-enabled commercial intelligence, engineering growth across both domains at the same time.</a:t>
            </a:r>
            <a:endParaRPr lang="en-US" sz="970" dirty="0"/>
          </a:p>
        </p:txBody>
      </p:sp>
      <p:sp>
        <p:nvSpPr>
          <p:cNvPr id="20" name="Shape 15"/>
          <p:cNvSpPr/>
          <p:nvPr/>
        </p:nvSpPr>
        <p:spPr>
          <a:xfrm>
            <a:off x="3895344" y="3593592"/>
            <a:ext cx="3163824" cy="1508760"/>
          </a:xfrm>
          <a:prstGeom prst="roundRect">
            <a:avLst>
              <a:gd name="adj" fmla="val 3636"/>
            </a:avLst>
          </a:prstGeom>
          <a:solidFill>
            <a:srgbClr val="FFFFFF"/>
          </a:solidFill>
          <a:ln w="9525">
            <a:solidFill>
              <a:srgbClr val="E4DDCB"/>
            </a:solidFill>
            <a:prstDash val="solid"/>
          </a:ln>
        </p:spPr>
      </p:sp>
      <p:sp>
        <p:nvSpPr>
          <p:cNvPr id="21" name="Shape 16"/>
          <p:cNvSpPr/>
          <p:nvPr/>
        </p:nvSpPr>
        <p:spPr>
          <a:xfrm>
            <a:off x="4096512" y="3794760"/>
            <a:ext cx="402336" cy="402336"/>
          </a:xfrm>
          <a:prstGeom prst="ellipse">
            <a:avLst/>
          </a:prstGeom>
          <a:solidFill>
            <a:srgbClr val="0F5C42"/>
          </a:solidFill>
          <a:ln/>
        </p:spPr>
      </p:sp>
      <p:pic>
        <p:nvPicPr>
          <p:cNvPr id="22" name="Image 3" descr="/home/claude/assets/icons/globe.png"/>
          <p:cNvPicPr>
            <a:picLocks noChangeAspect="1"/>
          </p:cNvPicPr>
          <p:nvPr/>
        </p:nvPicPr>
        <p:blipFill>
          <a:blip r:embed="rId6"/>
          <a:stretch>
            <a:fillRect/>
          </a:stretch>
        </p:blipFill>
        <p:spPr>
          <a:xfrm>
            <a:off x="4193073" y="3891321"/>
            <a:ext cx="209215" cy="209215"/>
          </a:xfrm>
          <a:prstGeom prst="rect">
            <a:avLst/>
          </a:prstGeom>
        </p:spPr>
      </p:pic>
      <p:sp>
        <p:nvSpPr>
          <p:cNvPr id="23" name="Text 17"/>
          <p:cNvSpPr/>
          <p:nvPr/>
        </p:nvSpPr>
        <p:spPr>
          <a:xfrm>
            <a:off x="4663440" y="3776472"/>
            <a:ext cx="2194560" cy="47548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Regional Fluency, Global Standards</a:t>
            </a:r>
            <a:endParaRPr lang="en-US" sz="1250" dirty="0"/>
          </a:p>
        </p:txBody>
      </p:sp>
      <p:sp>
        <p:nvSpPr>
          <p:cNvPr id="24" name="Text 18"/>
          <p:cNvSpPr/>
          <p:nvPr/>
        </p:nvSpPr>
        <p:spPr>
          <a:xfrm>
            <a:off x="4096512" y="4361688"/>
            <a:ext cx="2761488" cy="704088"/>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Deep-rooted Saudi and GCC market knowledge, bilingual delivery, and Tier-1 international benchmarks applied without dilution.</a:t>
            </a:r>
            <a:endParaRPr lang="en-US" sz="970" dirty="0"/>
          </a:p>
        </p:txBody>
      </p:sp>
      <p:sp>
        <p:nvSpPr>
          <p:cNvPr id="25" name="Shape 19"/>
          <p:cNvSpPr/>
          <p:nvPr/>
        </p:nvSpPr>
        <p:spPr>
          <a:xfrm>
            <a:off x="502920" y="5248656"/>
            <a:ext cx="3163824" cy="1508760"/>
          </a:xfrm>
          <a:prstGeom prst="roundRect">
            <a:avLst>
              <a:gd name="adj" fmla="val 3636"/>
            </a:avLst>
          </a:prstGeom>
          <a:solidFill>
            <a:srgbClr val="FFFFFF"/>
          </a:solidFill>
          <a:ln w="9525">
            <a:solidFill>
              <a:srgbClr val="E4DDCB"/>
            </a:solidFill>
            <a:prstDash val="solid"/>
          </a:ln>
        </p:spPr>
      </p:sp>
      <p:sp>
        <p:nvSpPr>
          <p:cNvPr id="26" name="Shape 20"/>
          <p:cNvSpPr/>
          <p:nvPr/>
        </p:nvSpPr>
        <p:spPr>
          <a:xfrm>
            <a:off x="704088" y="5449824"/>
            <a:ext cx="402336" cy="402336"/>
          </a:xfrm>
          <a:prstGeom prst="ellipse">
            <a:avLst/>
          </a:prstGeom>
          <a:solidFill>
            <a:srgbClr val="0F5C42"/>
          </a:solidFill>
          <a:ln/>
        </p:spPr>
      </p:sp>
      <p:pic>
        <p:nvPicPr>
          <p:cNvPr id="27" name="Image 4" descr="/home/claude/assets/icons/chartline.png"/>
          <p:cNvPicPr>
            <a:picLocks noChangeAspect="1"/>
          </p:cNvPicPr>
          <p:nvPr/>
        </p:nvPicPr>
        <p:blipFill>
          <a:blip r:embed="rId7"/>
          <a:stretch>
            <a:fillRect/>
          </a:stretch>
        </p:blipFill>
        <p:spPr>
          <a:xfrm>
            <a:off x="800649" y="5546385"/>
            <a:ext cx="209215" cy="209215"/>
          </a:xfrm>
          <a:prstGeom prst="rect">
            <a:avLst/>
          </a:prstGeom>
        </p:spPr>
      </p:pic>
      <p:sp>
        <p:nvSpPr>
          <p:cNvPr id="28" name="Text 21"/>
          <p:cNvSpPr/>
          <p:nvPr/>
        </p:nvSpPr>
        <p:spPr>
          <a:xfrm>
            <a:off x="1271016" y="5431536"/>
            <a:ext cx="2194560" cy="29260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Evidence over Intuition</a:t>
            </a:r>
            <a:endParaRPr lang="en-US" sz="1250" dirty="0"/>
          </a:p>
        </p:txBody>
      </p:sp>
      <p:sp>
        <p:nvSpPr>
          <p:cNvPr id="29" name="Text 22"/>
          <p:cNvSpPr/>
          <p:nvPr/>
        </p:nvSpPr>
        <p:spPr>
          <a:xfrm>
            <a:off x="704088" y="5833872"/>
            <a:ext cx="2761488" cy="886968"/>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Empirical analytics, financial modelling, and Six Sigma discipline replace opinion. Every recommendation is measurable and auditable.</a:t>
            </a:r>
            <a:endParaRPr lang="en-US" sz="970" dirty="0"/>
          </a:p>
        </p:txBody>
      </p:sp>
      <p:sp>
        <p:nvSpPr>
          <p:cNvPr id="30" name="Shape 23"/>
          <p:cNvSpPr/>
          <p:nvPr/>
        </p:nvSpPr>
        <p:spPr>
          <a:xfrm>
            <a:off x="3895344" y="5248656"/>
            <a:ext cx="3163824" cy="1508760"/>
          </a:xfrm>
          <a:prstGeom prst="roundRect">
            <a:avLst>
              <a:gd name="adj" fmla="val 3636"/>
            </a:avLst>
          </a:prstGeom>
          <a:solidFill>
            <a:srgbClr val="FFFFFF"/>
          </a:solidFill>
          <a:ln w="9525">
            <a:solidFill>
              <a:srgbClr val="E4DDCB"/>
            </a:solidFill>
            <a:prstDash val="solid"/>
          </a:ln>
        </p:spPr>
      </p:sp>
      <p:sp>
        <p:nvSpPr>
          <p:cNvPr id="31" name="Shape 24"/>
          <p:cNvSpPr/>
          <p:nvPr/>
        </p:nvSpPr>
        <p:spPr>
          <a:xfrm>
            <a:off x="4096512" y="5449824"/>
            <a:ext cx="402336" cy="402336"/>
          </a:xfrm>
          <a:prstGeom prst="ellipse">
            <a:avLst/>
          </a:prstGeom>
          <a:solidFill>
            <a:srgbClr val="0F5C42"/>
          </a:solidFill>
          <a:ln/>
        </p:spPr>
      </p:sp>
      <p:pic>
        <p:nvPicPr>
          <p:cNvPr id="32" name="Image 5" descr="/home/claude/assets/icons/handshake.png"/>
          <p:cNvPicPr>
            <a:picLocks noChangeAspect="1"/>
          </p:cNvPicPr>
          <p:nvPr/>
        </p:nvPicPr>
        <p:blipFill>
          <a:blip r:embed="rId8"/>
          <a:stretch>
            <a:fillRect/>
          </a:stretch>
        </p:blipFill>
        <p:spPr>
          <a:xfrm>
            <a:off x="4193073" y="5546385"/>
            <a:ext cx="209215" cy="209215"/>
          </a:xfrm>
          <a:prstGeom prst="rect">
            <a:avLst/>
          </a:prstGeom>
        </p:spPr>
      </p:pic>
      <p:sp>
        <p:nvSpPr>
          <p:cNvPr id="33" name="Text 25"/>
          <p:cNvSpPr/>
          <p:nvPr/>
        </p:nvSpPr>
        <p:spPr>
          <a:xfrm>
            <a:off x="4663440" y="5431536"/>
            <a:ext cx="2194560" cy="29260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An Enduring Partnership</a:t>
            </a:r>
            <a:endParaRPr lang="en-US" sz="1250" dirty="0"/>
          </a:p>
        </p:txBody>
      </p:sp>
      <p:sp>
        <p:nvSpPr>
          <p:cNvPr id="34" name="Text 26"/>
          <p:cNvSpPr/>
          <p:nvPr/>
        </p:nvSpPr>
        <p:spPr>
          <a:xfrm>
            <a:off x="4096512" y="5833872"/>
            <a:ext cx="2761488" cy="886968"/>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Hands-on guidance from first blueprint to sustained execution: a relationship designed to outlast the engagement itself.</a:t>
            </a:r>
            <a:endParaRPr lang="en-US" sz="970" dirty="0"/>
          </a:p>
        </p:txBody>
      </p:sp>
      <p:sp>
        <p:nvSpPr>
          <p:cNvPr id="35" name="Shape 27"/>
          <p:cNvSpPr/>
          <p:nvPr/>
        </p:nvSpPr>
        <p:spPr>
          <a:xfrm>
            <a:off x="502920" y="6976872"/>
            <a:ext cx="6556248" cy="1097280"/>
          </a:xfrm>
          <a:prstGeom prst="roundRect">
            <a:avLst>
              <a:gd name="adj" fmla="val 4167"/>
            </a:avLst>
          </a:prstGeom>
          <a:solidFill>
            <a:srgbClr val="F3EEE4"/>
          </a:solidFill>
          <a:ln w="12700">
            <a:solidFill>
              <a:srgbClr val="C9A15A"/>
            </a:solidFill>
            <a:prstDash val="solid"/>
          </a:ln>
        </p:spPr>
      </p:sp>
      <p:sp>
        <p:nvSpPr>
          <p:cNvPr id="36" name="Shape 28"/>
          <p:cNvSpPr/>
          <p:nvPr/>
        </p:nvSpPr>
        <p:spPr>
          <a:xfrm>
            <a:off x="658368" y="7296912"/>
            <a:ext cx="457200" cy="457200"/>
          </a:xfrm>
          <a:prstGeom prst="ellipse">
            <a:avLst/>
          </a:prstGeom>
          <a:solidFill>
            <a:srgbClr val="0F5C42"/>
          </a:solidFill>
          <a:ln/>
        </p:spPr>
      </p:sp>
      <p:pic>
        <p:nvPicPr>
          <p:cNvPr id="37" name="Image 6" descr="/home/claude/assets/icons/microchip.png"/>
          <p:cNvPicPr>
            <a:picLocks noChangeAspect="1"/>
          </p:cNvPicPr>
          <p:nvPr/>
        </p:nvPicPr>
        <p:blipFill>
          <a:blip r:embed="rId9"/>
          <a:stretch>
            <a:fillRect/>
          </a:stretch>
        </p:blipFill>
        <p:spPr>
          <a:xfrm>
            <a:off x="768096" y="7406640"/>
            <a:ext cx="237744" cy="237744"/>
          </a:xfrm>
          <a:prstGeom prst="rect">
            <a:avLst/>
          </a:prstGeom>
        </p:spPr>
      </p:pic>
      <p:sp>
        <p:nvSpPr>
          <p:cNvPr id="38" name="Text 29"/>
          <p:cNvSpPr/>
          <p:nvPr/>
        </p:nvSpPr>
        <p:spPr>
          <a:xfrm>
            <a:off x="1234440" y="7068312"/>
            <a:ext cx="5641848" cy="201168"/>
          </a:xfrm>
          <a:prstGeom prst="rect">
            <a:avLst/>
          </a:prstGeom>
          <a:noFill/>
          <a:ln/>
        </p:spPr>
        <p:txBody>
          <a:bodyPr wrap="square" rtlCol="0" anchor="ctr"/>
          <a:lstStyle/>
          <a:p>
            <a:pPr marL="0" indent="0">
              <a:buNone/>
            </a:pPr>
            <a:r>
              <a:rPr lang="en-US" sz="850" b="1" kern="0" spc="120" dirty="0">
                <a:solidFill>
                  <a:srgbClr val="C1501D"/>
                </a:solidFill>
                <a:latin typeface="Calibri" pitchFamily="34" charset="0"/>
                <a:ea typeface="Calibri" pitchFamily="34" charset="-122"/>
                <a:cs typeface="Calibri" pitchFamily="34" charset="-120"/>
              </a:rPr>
              <a:t>PROPRIETARY PLATFORM  •  NEW</a:t>
            </a:r>
            <a:endParaRPr lang="en-US" sz="850" dirty="0"/>
          </a:p>
        </p:txBody>
      </p:sp>
      <p:sp>
        <p:nvSpPr>
          <p:cNvPr id="39" name="Text 30"/>
          <p:cNvSpPr/>
          <p:nvPr/>
        </p:nvSpPr>
        <p:spPr>
          <a:xfrm>
            <a:off x="1234440" y="7251192"/>
            <a:ext cx="5641848" cy="228600"/>
          </a:xfrm>
          <a:prstGeom prst="rect">
            <a:avLst/>
          </a:prstGeom>
          <a:noFill/>
          <a:ln/>
        </p:spPr>
        <p:txBody>
          <a:bodyPr wrap="square" rtlCol="0" anchor="ctr"/>
          <a:lstStyle/>
          <a:p>
            <a:pPr marL="0" indent="0">
              <a:buNone/>
            </a:pPr>
            <a:r>
              <a:rPr lang="en-US" sz="1250" i="1" dirty="0">
                <a:solidFill>
                  <a:srgbClr val="0B1B2B"/>
                </a:solidFill>
                <a:latin typeface="Cambria" pitchFamily="34" charset="0"/>
                <a:ea typeface="Cambria" pitchFamily="34" charset="-122"/>
                <a:cs typeface="Cambria" pitchFamily="34" charset="-120"/>
              </a:rPr>
              <a:t>Altus Gulf Hospitality Knowledge &amp; Performance</a:t>
            </a:r>
            <a:endParaRPr lang="en-US" sz="1250" dirty="0"/>
          </a:p>
        </p:txBody>
      </p:sp>
      <p:sp>
        <p:nvSpPr>
          <p:cNvPr id="40" name="Text 31"/>
          <p:cNvSpPr/>
          <p:nvPr/>
        </p:nvSpPr>
        <p:spPr>
          <a:xfrm>
            <a:off x="1234440" y="7507224"/>
            <a:ext cx="5641848" cy="530352"/>
          </a:xfrm>
          <a:prstGeom prst="rect">
            <a:avLst/>
          </a:prstGeom>
          <a:noFill/>
          <a:ln/>
        </p:spPr>
        <p:txBody>
          <a:bodyPr wrap="square" rtlCol="0" anchor="t"/>
          <a:lstStyle/>
          <a:p>
            <a:pPr marL="0" indent="0">
              <a:lnSpc>
                <a:spcPct val="112000"/>
              </a:lnSpc>
              <a:buNone/>
            </a:pPr>
            <a:r>
              <a:rPr lang="en-US" sz="900" dirty="0">
                <a:solidFill>
                  <a:srgbClr val="2B2A27"/>
                </a:solidFill>
                <a:latin typeface="Calibri" pitchFamily="34" charset="0"/>
                <a:ea typeface="Calibri" pitchFamily="34" charset="-122"/>
                <a:cs typeface="Calibri" pitchFamily="34" charset="-120"/>
              </a:rPr>
              <a:t>The differentiator few conventional consultancies carry: a white-label digital platform that converts our operating standards into structured learning, knowledge management, and measurable performance for every client property. See pages 08 and 09.</a:t>
            </a:r>
            <a:endParaRPr lang="en-US" sz="900" dirty="0"/>
          </a:p>
        </p:txBody>
      </p:sp>
      <p:sp>
        <p:nvSpPr>
          <p:cNvPr id="41" name="Shape 32"/>
          <p:cNvSpPr/>
          <p:nvPr/>
        </p:nvSpPr>
        <p:spPr>
          <a:xfrm>
            <a:off x="502920" y="8257032"/>
            <a:ext cx="6556248" cy="914400"/>
          </a:xfrm>
          <a:prstGeom prst="roundRect">
            <a:avLst>
              <a:gd name="adj" fmla="val 5000"/>
            </a:avLst>
          </a:prstGeom>
          <a:solidFill>
            <a:srgbClr val="0B1B2B"/>
          </a:solidFill>
          <a:ln/>
        </p:spPr>
      </p:sp>
      <p:sp>
        <p:nvSpPr>
          <p:cNvPr id="42" name="Text 33"/>
          <p:cNvSpPr/>
          <p:nvPr/>
        </p:nvSpPr>
        <p:spPr>
          <a:xfrm>
            <a:off x="731520" y="8366760"/>
            <a:ext cx="6099048" cy="201168"/>
          </a:xfrm>
          <a:prstGeom prst="rect">
            <a:avLst/>
          </a:prstGeom>
          <a:noFill/>
          <a:ln/>
        </p:spPr>
        <p:txBody>
          <a:bodyPr wrap="square" rtlCol="0" anchor="ctr"/>
          <a:lstStyle/>
          <a:p>
            <a:pPr marL="0" indent="0">
              <a:buNone/>
            </a:pPr>
            <a:r>
              <a:rPr lang="en-US" sz="850" b="1" kern="0" spc="120" dirty="0">
                <a:solidFill>
                  <a:srgbClr val="E4C98A"/>
                </a:solidFill>
                <a:latin typeface="Calibri" pitchFamily="34" charset="0"/>
                <a:ea typeface="Calibri" pitchFamily="34" charset="-122"/>
                <a:cs typeface="Calibri" pitchFamily="34" charset="-120"/>
              </a:rPr>
              <a:t>UNIQUE VALUE PROPOSITION</a:t>
            </a:r>
            <a:endParaRPr lang="en-US" sz="850" dirty="0"/>
          </a:p>
        </p:txBody>
      </p:sp>
      <p:sp>
        <p:nvSpPr>
          <p:cNvPr id="43" name="Text 34"/>
          <p:cNvSpPr/>
          <p:nvPr/>
        </p:nvSpPr>
        <p:spPr>
          <a:xfrm>
            <a:off x="731520" y="8567928"/>
            <a:ext cx="6099048" cy="548640"/>
          </a:xfrm>
          <a:prstGeom prst="rect">
            <a:avLst/>
          </a:prstGeom>
          <a:noFill/>
          <a:ln/>
        </p:spPr>
        <p:txBody>
          <a:bodyPr wrap="square" rtlCol="0" anchor="t"/>
          <a:lstStyle/>
          <a:p>
            <a:pPr marL="0" indent="0">
              <a:lnSpc>
                <a:spcPct val="120000"/>
              </a:lnSpc>
              <a:buNone/>
            </a:pPr>
            <a:r>
              <a:rPr lang="en-US" sz="1100" i="1" dirty="0">
                <a:solidFill>
                  <a:srgbClr val="FFFFFF"/>
                </a:solidFill>
                <a:latin typeface="Cambria" pitchFamily="34" charset="0"/>
                <a:ea typeface="Cambria" pitchFamily="34" charset="-122"/>
                <a:cs typeface="Cambria" pitchFamily="34" charset="-120"/>
              </a:rPr>
              <a:t>Hospitality operational excellence, integrated with AI-driven revenue intelligence: supporting measurable impact through strategic clarity, operational rigour, and continuous digital innovation.</a:t>
            </a:r>
            <a:endParaRPr lang="en-US" sz="1100" dirty="0"/>
          </a:p>
        </p:txBody>
      </p:sp>
      <p:sp>
        <p:nvSpPr>
          <p:cNvPr id="44" name="Shape 35"/>
          <p:cNvSpPr/>
          <p:nvPr/>
        </p:nvSpPr>
        <p:spPr>
          <a:xfrm>
            <a:off x="502920" y="10186416"/>
            <a:ext cx="6556248" cy="0"/>
          </a:xfrm>
          <a:prstGeom prst="line">
            <a:avLst/>
          </a:prstGeom>
          <a:noFill/>
          <a:ln w="9525">
            <a:solidFill>
              <a:srgbClr val="E4DDCB"/>
            </a:solidFill>
            <a:prstDash val="solid"/>
          </a:ln>
        </p:spPr>
      </p:sp>
      <p:sp>
        <p:nvSpPr>
          <p:cNvPr id="45" name="Text 36"/>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6B675F"/>
                </a:solidFill>
                <a:latin typeface="Calibri" pitchFamily="34" charset="0"/>
                <a:ea typeface="Calibri" pitchFamily="34" charset="-122"/>
                <a:cs typeface="Calibri" pitchFamily="34" charset="-120"/>
              </a:rPr>
              <a:t>ALTUS GULF</a:t>
            </a:r>
            <a:endParaRPr lang="en-US" sz="850" dirty="0"/>
          </a:p>
        </p:txBody>
      </p:sp>
      <p:sp>
        <p:nvSpPr>
          <p:cNvPr id="46" name="Text 37"/>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6B675F"/>
                </a:solidFill>
                <a:latin typeface="Calibri" pitchFamily="34" charset="0"/>
                <a:ea typeface="Calibri" pitchFamily="34" charset="-122"/>
                <a:cs typeface="Calibri" pitchFamily="34" charset="-120"/>
              </a:rPr>
              <a:t>CORPORATE PROFILE  •  05</a:t>
            </a:r>
            <a:endParaRPr lang="en-US" sz="85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C1501D"/>
                </a:solidFill>
                <a:latin typeface="Calibri" pitchFamily="34" charset="0"/>
                <a:ea typeface="Calibri" pitchFamily="34" charset="-122"/>
                <a:cs typeface="Calibri" pitchFamily="34" charset="-120"/>
              </a:rPr>
              <a:t>04  •  SERVICE PORTFOLIO • DIVISION I</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a:solidFill>
                  <a:srgbClr val="0B1B2B"/>
                </a:solidFill>
                <a:latin typeface="Cambria" pitchFamily="34" charset="0"/>
                <a:ea typeface="Cambria" pitchFamily="34" charset="-122"/>
                <a:cs typeface="Cambria" pitchFamily="34" charset="-120"/>
              </a:rPr>
              <a:t>Hospitality Solutions</a:t>
            </a:r>
            <a:endParaRPr lang="en-US" sz="2700" dirty="0"/>
          </a:p>
        </p:txBody>
      </p:sp>
      <p:sp>
        <p:nvSpPr>
          <p:cNvPr id="4" name="Text 2"/>
          <p:cNvSpPr/>
          <p:nvPr/>
        </p:nvSpPr>
        <p:spPr>
          <a:xfrm>
            <a:off x="502920" y="1280160"/>
            <a:ext cx="6556248" cy="566928"/>
          </a:xfrm>
          <a:prstGeom prst="rect">
            <a:avLst/>
          </a:prstGeom>
          <a:noFill/>
          <a:ln/>
        </p:spPr>
        <p:txBody>
          <a:bodyPr wrap="square" rtlCol="0" anchor="t"/>
          <a:lstStyle/>
          <a:p>
            <a:pPr marL="0" indent="0" algn="l">
              <a:lnSpc>
                <a:spcPct val="118000"/>
              </a:lnSpc>
              <a:buNone/>
            </a:pPr>
            <a:r>
              <a:rPr lang="en-US" sz="1150" dirty="0">
                <a:solidFill>
                  <a:srgbClr val="6B675F"/>
                </a:solidFill>
                <a:latin typeface="Calibri" pitchFamily="34" charset="0"/>
                <a:ea typeface="Calibri" pitchFamily="34" charset="-122"/>
                <a:cs typeface="Calibri" pitchFamily="34" charset="-120"/>
              </a:rPr>
              <a:t>Dedicated to the physical asset, the guest experience, and the operating engine of hospitality enterprises: structural, hands-on intervention that supports stronger returns.</a:t>
            </a:r>
            <a:endParaRPr lang="en-US" sz="1150" dirty="0"/>
          </a:p>
        </p:txBody>
      </p:sp>
      <p:sp>
        <p:nvSpPr>
          <p:cNvPr id="5" name="Shape 3"/>
          <p:cNvSpPr/>
          <p:nvPr/>
        </p:nvSpPr>
        <p:spPr>
          <a:xfrm>
            <a:off x="502920" y="1938528"/>
            <a:ext cx="6556248" cy="1225296"/>
          </a:xfrm>
          <a:prstGeom prst="roundRect">
            <a:avLst>
              <a:gd name="adj" fmla="val 3731"/>
            </a:avLst>
          </a:prstGeom>
          <a:solidFill>
            <a:srgbClr val="FFFFFF"/>
          </a:solidFill>
          <a:ln w="9525">
            <a:solidFill>
              <a:srgbClr val="E4DDCB"/>
            </a:solidFill>
            <a:prstDash val="solid"/>
          </a:ln>
        </p:spPr>
      </p:sp>
      <p:sp>
        <p:nvSpPr>
          <p:cNvPr id="6" name="Shape 4"/>
          <p:cNvSpPr/>
          <p:nvPr/>
        </p:nvSpPr>
        <p:spPr>
          <a:xfrm>
            <a:off x="658368" y="2322576"/>
            <a:ext cx="457200" cy="457200"/>
          </a:xfrm>
          <a:prstGeom prst="ellipse">
            <a:avLst/>
          </a:prstGeom>
          <a:solidFill>
            <a:srgbClr val="0F5C42"/>
          </a:solidFill>
          <a:ln/>
        </p:spPr>
      </p:sp>
      <p:pic>
        <p:nvPicPr>
          <p:cNvPr id="7" name="Image 0" descr="/home/claude/assets/icons/concierge.png"/>
          <p:cNvPicPr>
            <a:picLocks noChangeAspect="1"/>
          </p:cNvPicPr>
          <p:nvPr/>
        </p:nvPicPr>
        <p:blipFill>
          <a:blip r:embed="rId3"/>
          <a:stretch>
            <a:fillRect/>
          </a:stretch>
        </p:blipFill>
        <p:spPr>
          <a:xfrm>
            <a:off x="768096" y="2432304"/>
            <a:ext cx="237744" cy="237744"/>
          </a:xfrm>
          <a:prstGeom prst="rect">
            <a:avLst/>
          </a:prstGeom>
        </p:spPr>
      </p:pic>
      <p:sp>
        <p:nvSpPr>
          <p:cNvPr id="8" name="Text 5"/>
          <p:cNvSpPr/>
          <p:nvPr/>
        </p:nvSpPr>
        <p:spPr>
          <a:xfrm>
            <a:off x="1234440" y="2057400"/>
            <a:ext cx="5596128" cy="274320"/>
          </a:xfrm>
          <a:prstGeom prst="rect">
            <a:avLst/>
          </a:prstGeom>
          <a:noFill/>
          <a:ln/>
        </p:spPr>
        <p:txBody>
          <a:bodyPr wrap="square" rtlCol="0" anchor="ctr"/>
          <a:lstStyle/>
          <a:p>
            <a:pPr marL="0" indent="0">
              <a:buNone/>
            </a:pPr>
            <a:r>
              <a:rPr lang="en-US" sz="1200" b="1" dirty="0">
                <a:solidFill>
                  <a:srgbClr val="0B1B2B"/>
                </a:solidFill>
                <a:latin typeface="Calibri" pitchFamily="34" charset="0"/>
                <a:ea typeface="Calibri" pitchFamily="34" charset="-122"/>
                <a:cs typeface="Calibri" pitchFamily="34" charset="-120"/>
              </a:rPr>
              <a:t>Hotel Development &amp; Owner Representation</a:t>
            </a:r>
            <a:endParaRPr lang="en-US" sz="1200" dirty="0"/>
          </a:p>
        </p:txBody>
      </p:sp>
      <p:sp>
        <p:nvSpPr>
          <p:cNvPr id="9" name="Text 6"/>
          <p:cNvSpPr/>
          <p:nvPr/>
        </p:nvSpPr>
        <p:spPr>
          <a:xfrm>
            <a:off x="1234440" y="2359152"/>
            <a:ext cx="5596128" cy="768096"/>
          </a:xfrm>
          <a:prstGeom prst="rect">
            <a:avLst/>
          </a:prstGeom>
          <a:noFill/>
          <a:ln/>
        </p:spPr>
        <p:txBody>
          <a:bodyPr wrap="square" rtlCol="0" anchor="t"/>
          <a:lstStyle/>
          <a:p>
            <a:pPr marL="0" indent="0">
              <a:lnSpc>
                <a:spcPct val="116000"/>
              </a:lnSpc>
              <a:buNone/>
            </a:pPr>
            <a:r>
              <a:rPr lang="en-US" sz="940" dirty="0">
                <a:solidFill>
                  <a:srgbClr val="2B2A27"/>
                </a:solidFill>
                <a:latin typeface="Calibri" pitchFamily="34" charset="0"/>
                <a:ea typeface="Calibri" pitchFamily="34" charset="-122"/>
                <a:cs typeface="Calibri" pitchFamily="34" charset="-120"/>
              </a:rPr>
              <a:t>Independent client-side oversight across the project lifecycle. We act as the link between investors and contractors: helping protect budgets, reduce design deficiencies, govern HMAs, and manage contractor claims through handover.</a:t>
            </a:r>
            <a:endParaRPr lang="en-US" sz="940" dirty="0"/>
          </a:p>
        </p:txBody>
      </p:sp>
      <p:sp>
        <p:nvSpPr>
          <p:cNvPr id="10" name="Shape 7"/>
          <p:cNvSpPr/>
          <p:nvPr/>
        </p:nvSpPr>
        <p:spPr>
          <a:xfrm>
            <a:off x="502920" y="3291840"/>
            <a:ext cx="6556248" cy="1225296"/>
          </a:xfrm>
          <a:prstGeom prst="roundRect">
            <a:avLst>
              <a:gd name="adj" fmla="val 3731"/>
            </a:avLst>
          </a:prstGeom>
          <a:solidFill>
            <a:srgbClr val="FFFFFF"/>
          </a:solidFill>
          <a:ln w="9525">
            <a:solidFill>
              <a:srgbClr val="E4DDCB"/>
            </a:solidFill>
            <a:prstDash val="solid"/>
          </a:ln>
        </p:spPr>
      </p:sp>
      <p:sp>
        <p:nvSpPr>
          <p:cNvPr id="11" name="Shape 8"/>
          <p:cNvSpPr/>
          <p:nvPr/>
        </p:nvSpPr>
        <p:spPr>
          <a:xfrm>
            <a:off x="658368" y="3675888"/>
            <a:ext cx="457200" cy="457200"/>
          </a:xfrm>
          <a:prstGeom prst="ellipse">
            <a:avLst/>
          </a:prstGeom>
          <a:solidFill>
            <a:srgbClr val="0F5C42"/>
          </a:solidFill>
          <a:ln/>
        </p:spPr>
      </p:sp>
      <p:pic>
        <p:nvPicPr>
          <p:cNvPr id="12" name="Image 1" descr="/home/claude/assets/icons/clipboard.png"/>
          <p:cNvPicPr>
            <a:picLocks noChangeAspect="1"/>
          </p:cNvPicPr>
          <p:nvPr/>
        </p:nvPicPr>
        <p:blipFill>
          <a:blip r:embed="rId4"/>
          <a:stretch>
            <a:fillRect/>
          </a:stretch>
        </p:blipFill>
        <p:spPr>
          <a:xfrm>
            <a:off x="768096" y="3785616"/>
            <a:ext cx="237744" cy="237744"/>
          </a:xfrm>
          <a:prstGeom prst="rect">
            <a:avLst/>
          </a:prstGeom>
        </p:spPr>
      </p:pic>
      <p:sp>
        <p:nvSpPr>
          <p:cNvPr id="13" name="Text 9"/>
          <p:cNvSpPr/>
          <p:nvPr/>
        </p:nvSpPr>
        <p:spPr>
          <a:xfrm>
            <a:off x="1234440" y="3410712"/>
            <a:ext cx="5596128" cy="274320"/>
          </a:xfrm>
          <a:prstGeom prst="rect">
            <a:avLst/>
          </a:prstGeom>
          <a:noFill/>
          <a:ln/>
        </p:spPr>
        <p:txBody>
          <a:bodyPr wrap="square" rtlCol="0" anchor="ctr"/>
          <a:lstStyle/>
          <a:p>
            <a:pPr marL="0" indent="0">
              <a:buNone/>
            </a:pPr>
            <a:r>
              <a:rPr lang="en-US" sz="1200" b="1" dirty="0">
                <a:solidFill>
                  <a:srgbClr val="0B1B2B"/>
                </a:solidFill>
                <a:latin typeface="Calibri" pitchFamily="34" charset="0"/>
                <a:ea typeface="Calibri" pitchFamily="34" charset="-122"/>
                <a:cs typeface="Calibri" pitchFamily="34" charset="-120"/>
              </a:rPr>
              <a:t>Operations Optimisation &amp; Pre-Opening Support</a:t>
            </a:r>
            <a:endParaRPr lang="en-US" sz="1200" dirty="0"/>
          </a:p>
        </p:txBody>
      </p:sp>
      <p:sp>
        <p:nvSpPr>
          <p:cNvPr id="14" name="Text 10"/>
          <p:cNvSpPr/>
          <p:nvPr/>
        </p:nvSpPr>
        <p:spPr>
          <a:xfrm>
            <a:off x="1234440" y="3712464"/>
            <a:ext cx="5596128" cy="768096"/>
          </a:xfrm>
          <a:prstGeom prst="rect">
            <a:avLst/>
          </a:prstGeom>
          <a:noFill/>
          <a:ln/>
        </p:spPr>
        <p:txBody>
          <a:bodyPr wrap="square" rtlCol="0" anchor="t"/>
          <a:lstStyle/>
          <a:p>
            <a:pPr marL="0" indent="0">
              <a:lnSpc>
                <a:spcPct val="116000"/>
              </a:lnSpc>
              <a:buNone/>
            </a:pPr>
            <a:r>
              <a:rPr lang="en-US" sz="940" dirty="0">
                <a:solidFill>
                  <a:srgbClr val="2B2A27"/>
                </a:solidFill>
                <a:latin typeface="Calibri" pitchFamily="34" charset="0"/>
                <a:ea typeface="Calibri" pitchFamily="34" charset="-122"/>
                <a:cs typeface="Calibri" pitchFamily="34" charset="-120"/>
              </a:rPr>
              <a:t>Deep diagnostic assessments and restructuring of day-to-day operations. Structured project-management frameworks support smooth commercial launches, help manage delays, and support revenue generation from day one.</a:t>
            </a:r>
            <a:endParaRPr lang="en-US" sz="940" dirty="0"/>
          </a:p>
        </p:txBody>
      </p:sp>
      <p:sp>
        <p:nvSpPr>
          <p:cNvPr id="15" name="Shape 11"/>
          <p:cNvSpPr/>
          <p:nvPr/>
        </p:nvSpPr>
        <p:spPr>
          <a:xfrm>
            <a:off x="502920" y="4645152"/>
            <a:ext cx="6556248" cy="1225296"/>
          </a:xfrm>
          <a:prstGeom prst="roundRect">
            <a:avLst>
              <a:gd name="adj" fmla="val 3731"/>
            </a:avLst>
          </a:prstGeom>
          <a:solidFill>
            <a:srgbClr val="FFFFFF"/>
          </a:solidFill>
          <a:ln w="9525">
            <a:solidFill>
              <a:srgbClr val="E4DDCB"/>
            </a:solidFill>
            <a:prstDash val="solid"/>
          </a:ln>
        </p:spPr>
      </p:sp>
      <p:sp>
        <p:nvSpPr>
          <p:cNvPr id="16" name="Shape 12"/>
          <p:cNvSpPr/>
          <p:nvPr/>
        </p:nvSpPr>
        <p:spPr>
          <a:xfrm>
            <a:off x="658368" y="5029200"/>
            <a:ext cx="457200" cy="457200"/>
          </a:xfrm>
          <a:prstGeom prst="ellipse">
            <a:avLst/>
          </a:prstGeom>
          <a:solidFill>
            <a:srgbClr val="0F5C42"/>
          </a:solidFill>
          <a:ln/>
        </p:spPr>
      </p:sp>
      <p:pic>
        <p:nvPicPr>
          <p:cNvPr id="17" name="Image 2" descr="/home/claude/assets/icons/chartbar.png"/>
          <p:cNvPicPr>
            <a:picLocks noChangeAspect="1"/>
          </p:cNvPicPr>
          <p:nvPr/>
        </p:nvPicPr>
        <p:blipFill>
          <a:blip r:embed="rId5"/>
          <a:stretch>
            <a:fillRect/>
          </a:stretch>
        </p:blipFill>
        <p:spPr>
          <a:xfrm>
            <a:off x="768096" y="5138928"/>
            <a:ext cx="237744" cy="237744"/>
          </a:xfrm>
          <a:prstGeom prst="rect">
            <a:avLst/>
          </a:prstGeom>
        </p:spPr>
      </p:pic>
      <p:sp>
        <p:nvSpPr>
          <p:cNvPr id="18" name="Text 13"/>
          <p:cNvSpPr/>
          <p:nvPr/>
        </p:nvSpPr>
        <p:spPr>
          <a:xfrm>
            <a:off x="1234440" y="4764024"/>
            <a:ext cx="5596128" cy="274320"/>
          </a:xfrm>
          <a:prstGeom prst="rect">
            <a:avLst/>
          </a:prstGeom>
          <a:noFill/>
          <a:ln/>
        </p:spPr>
        <p:txBody>
          <a:bodyPr wrap="square" rtlCol="0" anchor="ctr"/>
          <a:lstStyle/>
          <a:p>
            <a:pPr marL="0" indent="0">
              <a:buNone/>
            </a:pPr>
            <a:r>
              <a:rPr lang="en-US" sz="1200" b="1" dirty="0">
                <a:solidFill>
                  <a:srgbClr val="0B1B2B"/>
                </a:solidFill>
                <a:latin typeface="Calibri" pitchFamily="34" charset="0"/>
                <a:ea typeface="Calibri" pitchFamily="34" charset="-122"/>
                <a:cs typeface="Calibri" pitchFamily="34" charset="-120"/>
              </a:rPr>
              <a:t>Feasibility Studies &amp; Investment Validation</a:t>
            </a:r>
            <a:endParaRPr lang="en-US" sz="1200" dirty="0"/>
          </a:p>
        </p:txBody>
      </p:sp>
      <p:sp>
        <p:nvSpPr>
          <p:cNvPr id="19" name="Text 14"/>
          <p:cNvSpPr/>
          <p:nvPr/>
        </p:nvSpPr>
        <p:spPr>
          <a:xfrm>
            <a:off x="1234440" y="5065776"/>
            <a:ext cx="5596128" cy="768096"/>
          </a:xfrm>
          <a:prstGeom prst="rect">
            <a:avLst/>
          </a:prstGeom>
          <a:noFill/>
          <a:ln/>
        </p:spPr>
        <p:txBody>
          <a:bodyPr wrap="square" rtlCol="0" anchor="t"/>
          <a:lstStyle/>
          <a:p>
            <a:pPr marL="0" indent="0">
              <a:lnSpc>
                <a:spcPct val="116000"/>
              </a:lnSpc>
              <a:buNone/>
            </a:pPr>
            <a:r>
              <a:rPr lang="en-US" sz="940" dirty="0">
                <a:solidFill>
                  <a:srgbClr val="2B2A27"/>
                </a:solidFill>
                <a:latin typeface="Calibri" pitchFamily="34" charset="0"/>
                <a:ea typeface="Calibri" pitchFamily="34" charset="-122"/>
                <a:cs typeface="Calibri" pitchFamily="34" charset="-120"/>
              </a:rPr>
              <a:t>Rigorous financial modelling, macro supply-and-demand analysis, and empirical ROI forecasting: giving institutional investors greater confidence that capital allocated to new hospitality assets is well supported by evidence.</a:t>
            </a:r>
            <a:endParaRPr lang="en-US" sz="940" dirty="0"/>
          </a:p>
        </p:txBody>
      </p:sp>
      <p:sp>
        <p:nvSpPr>
          <p:cNvPr id="20" name="Shape 15"/>
          <p:cNvSpPr/>
          <p:nvPr/>
        </p:nvSpPr>
        <p:spPr>
          <a:xfrm>
            <a:off x="502920" y="5998464"/>
            <a:ext cx="6556248" cy="1225296"/>
          </a:xfrm>
          <a:prstGeom prst="roundRect">
            <a:avLst>
              <a:gd name="adj" fmla="val 3731"/>
            </a:avLst>
          </a:prstGeom>
          <a:solidFill>
            <a:srgbClr val="FFFFFF"/>
          </a:solidFill>
          <a:ln w="9525">
            <a:solidFill>
              <a:srgbClr val="E4DDCB"/>
            </a:solidFill>
            <a:prstDash val="solid"/>
          </a:ln>
        </p:spPr>
      </p:sp>
      <p:sp>
        <p:nvSpPr>
          <p:cNvPr id="21" name="Shape 16"/>
          <p:cNvSpPr/>
          <p:nvPr/>
        </p:nvSpPr>
        <p:spPr>
          <a:xfrm>
            <a:off x="658368" y="6382512"/>
            <a:ext cx="457200" cy="457200"/>
          </a:xfrm>
          <a:prstGeom prst="ellipse">
            <a:avLst/>
          </a:prstGeom>
          <a:solidFill>
            <a:srgbClr val="0F5C42"/>
          </a:solidFill>
          <a:ln/>
        </p:spPr>
      </p:sp>
      <p:pic>
        <p:nvPicPr>
          <p:cNvPr id="22" name="Image 3" descr="/home/claude/assets/icons/award.png"/>
          <p:cNvPicPr>
            <a:picLocks noChangeAspect="1"/>
          </p:cNvPicPr>
          <p:nvPr/>
        </p:nvPicPr>
        <p:blipFill>
          <a:blip r:embed="rId6"/>
          <a:stretch>
            <a:fillRect/>
          </a:stretch>
        </p:blipFill>
        <p:spPr>
          <a:xfrm>
            <a:off x="768096" y="6492240"/>
            <a:ext cx="237744" cy="237744"/>
          </a:xfrm>
          <a:prstGeom prst="rect">
            <a:avLst/>
          </a:prstGeom>
        </p:spPr>
      </p:pic>
      <p:sp>
        <p:nvSpPr>
          <p:cNvPr id="23" name="Text 17"/>
          <p:cNvSpPr/>
          <p:nvPr/>
        </p:nvSpPr>
        <p:spPr>
          <a:xfrm>
            <a:off x="1234440" y="6117336"/>
            <a:ext cx="5596128" cy="274320"/>
          </a:xfrm>
          <a:prstGeom prst="rect">
            <a:avLst/>
          </a:prstGeom>
          <a:noFill/>
          <a:ln/>
        </p:spPr>
        <p:txBody>
          <a:bodyPr wrap="square" rtlCol="0" anchor="ctr"/>
          <a:lstStyle/>
          <a:p>
            <a:pPr marL="0" indent="0">
              <a:buNone/>
            </a:pPr>
            <a:r>
              <a:rPr lang="en-US" sz="1200" b="1" dirty="0">
                <a:solidFill>
                  <a:srgbClr val="0B1B2B"/>
                </a:solidFill>
                <a:latin typeface="Calibri" pitchFamily="34" charset="0"/>
                <a:ea typeface="Calibri" pitchFamily="34" charset="-122"/>
                <a:cs typeface="Calibri" pitchFamily="34" charset="-120"/>
              </a:rPr>
              <a:t>Guest Experience Enhancement &amp; Quality Audits</a:t>
            </a:r>
            <a:endParaRPr lang="en-US" sz="1200" dirty="0"/>
          </a:p>
        </p:txBody>
      </p:sp>
      <p:sp>
        <p:nvSpPr>
          <p:cNvPr id="24" name="Text 18"/>
          <p:cNvSpPr/>
          <p:nvPr/>
        </p:nvSpPr>
        <p:spPr>
          <a:xfrm>
            <a:off x="1234440" y="6419088"/>
            <a:ext cx="5596128" cy="768096"/>
          </a:xfrm>
          <a:prstGeom prst="rect">
            <a:avLst/>
          </a:prstGeom>
          <a:noFill/>
          <a:ln/>
        </p:spPr>
        <p:txBody>
          <a:bodyPr wrap="square" rtlCol="0" anchor="t"/>
          <a:lstStyle/>
          <a:p>
            <a:pPr marL="0" indent="0">
              <a:lnSpc>
                <a:spcPct val="116000"/>
              </a:lnSpc>
              <a:buNone/>
            </a:pPr>
            <a:r>
              <a:rPr lang="en-US" sz="940" dirty="0">
                <a:solidFill>
                  <a:srgbClr val="2B2A27"/>
                </a:solidFill>
                <a:latin typeface="Calibri" pitchFamily="34" charset="0"/>
                <a:ea typeface="Calibri" pitchFamily="34" charset="-122"/>
                <a:cs typeface="Calibri" pitchFamily="34" charset="-120"/>
              </a:rPr>
              <a:t>Systematic elevation of physical and digital touchpoints to global standards: rigorous brand-compliance audits, safety-procedure remediation, and mystery-guest programmes.</a:t>
            </a:r>
            <a:endParaRPr lang="en-US" sz="940" dirty="0"/>
          </a:p>
        </p:txBody>
      </p:sp>
      <p:sp>
        <p:nvSpPr>
          <p:cNvPr id="25" name="Shape 19"/>
          <p:cNvSpPr/>
          <p:nvPr/>
        </p:nvSpPr>
        <p:spPr>
          <a:xfrm>
            <a:off x="502920" y="7351776"/>
            <a:ext cx="6556248" cy="1225296"/>
          </a:xfrm>
          <a:prstGeom prst="roundRect">
            <a:avLst>
              <a:gd name="adj" fmla="val 3731"/>
            </a:avLst>
          </a:prstGeom>
          <a:solidFill>
            <a:srgbClr val="FFFFFF"/>
          </a:solidFill>
          <a:ln w="9525">
            <a:solidFill>
              <a:srgbClr val="E4DDCB"/>
            </a:solidFill>
            <a:prstDash val="solid"/>
          </a:ln>
        </p:spPr>
      </p:sp>
      <p:sp>
        <p:nvSpPr>
          <p:cNvPr id="26" name="Shape 20"/>
          <p:cNvSpPr/>
          <p:nvPr/>
        </p:nvSpPr>
        <p:spPr>
          <a:xfrm>
            <a:off x="658368" y="7735824"/>
            <a:ext cx="457200" cy="457200"/>
          </a:xfrm>
          <a:prstGeom prst="ellipse">
            <a:avLst/>
          </a:prstGeom>
          <a:solidFill>
            <a:srgbClr val="0F5C42"/>
          </a:solidFill>
          <a:ln/>
        </p:spPr>
      </p:sp>
      <p:pic>
        <p:nvPicPr>
          <p:cNvPr id="27" name="Image 4" descr="/home/claude/assets/icons/chartline.png"/>
          <p:cNvPicPr>
            <a:picLocks noChangeAspect="1"/>
          </p:cNvPicPr>
          <p:nvPr/>
        </p:nvPicPr>
        <p:blipFill>
          <a:blip r:embed="rId7"/>
          <a:stretch>
            <a:fillRect/>
          </a:stretch>
        </p:blipFill>
        <p:spPr>
          <a:xfrm>
            <a:off x="768096" y="7845552"/>
            <a:ext cx="237744" cy="237744"/>
          </a:xfrm>
          <a:prstGeom prst="rect">
            <a:avLst/>
          </a:prstGeom>
        </p:spPr>
      </p:pic>
      <p:sp>
        <p:nvSpPr>
          <p:cNvPr id="28" name="Text 21"/>
          <p:cNvSpPr/>
          <p:nvPr/>
        </p:nvSpPr>
        <p:spPr>
          <a:xfrm>
            <a:off x="1234440" y="7470648"/>
            <a:ext cx="5596128" cy="274320"/>
          </a:xfrm>
          <a:prstGeom prst="rect">
            <a:avLst/>
          </a:prstGeom>
          <a:noFill/>
          <a:ln/>
        </p:spPr>
        <p:txBody>
          <a:bodyPr wrap="square" rtlCol="0" anchor="ctr"/>
          <a:lstStyle/>
          <a:p>
            <a:pPr marL="0" indent="0">
              <a:buNone/>
            </a:pPr>
            <a:r>
              <a:rPr lang="en-US" sz="1200" b="1" dirty="0">
                <a:solidFill>
                  <a:srgbClr val="0B1B2B"/>
                </a:solidFill>
                <a:latin typeface="Calibri" pitchFamily="34" charset="0"/>
                <a:ea typeface="Calibri" pitchFamily="34" charset="-122"/>
                <a:cs typeface="Calibri" pitchFamily="34" charset="-120"/>
              </a:rPr>
              <a:t>Commercial Performance Improvement</a:t>
            </a:r>
            <a:endParaRPr lang="en-US" sz="1200" dirty="0"/>
          </a:p>
        </p:txBody>
      </p:sp>
      <p:sp>
        <p:nvSpPr>
          <p:cNvPr id="29" name="Text 22"/>
          <p:cNvSpPr/>
          <p:nvPr/>
        </p:nvSpPr>
        <p:spPr>
          <a:xfrm>
            <a:off x="1234440" y="7772400"/>
            <a:ext cx="5596128" cy="768096"/>
          </a:xfrm>
          <a:prstGeom prst="rect">
            <a:avLst/>
          </a:prstGeom>
          <a:noFill/>
          <a:ln/>
        </p:spPr>
        <p:txBody>
          <a:bodyPr wrap="square" rtlCol="0" anchor="t"/>
          <a:lstStyle/>
          <a:p>
            <a:pPr marL="0" indent="0">
              <a:lnSpc>
                <a:spcPct val="116000"/>
              </a:lnSpc>
              <a:buNone/>
            </a:pPr>
            <a:r>
              <a:rPr lang="en-US" sz="940" dirty="0">
                <a:solidFill>
                  <a:srgbClr val="2B2A27"/>
                </a:solidFill>
                <a:latin typeface="Calibri" pitchFamily="34" charset="0"/>
                <a:ea typeface="Calibri" pitchFamily="34" charset="-122"/>
                <a:cs typeface="Calibri" pitchFamily="34" charset="-120"/>
              </a:rPr>
              <a:t>Holistic alignment of commercial sales, digital marketing, and internal operations. Disciplined cost-containment frameworks and distribution-channel analytics support stronger GOPPAR across the asset.</a:t>
            </a:r>
            <a:endParaRPr lang="en-US" sz="940" dirty="0"/>
          </a:p>
        </p:txBody>
      </p:sp>
      <p:sp>
        <p:nvSpPr>
          <p:cNvPr id="30" name="Text 23"/>
          <p:cNvSpPr/>
          <p:nvPr/>
        </p:nvSpPr>
        <p:spPr>
          <a:xfrm>
            <a:off x="502920" y="8750808"/>
            <a:ext cx="6556248" cy="365760"/>
          </a:xfrm>
          <a:prstGeom prst="rect">
            <a:avLst/>
          </a:prstGeom>
          <a:noFill/>
          <a:ln/>
        </p:spPr>
        <p:txBody>
          <a:bodyPr wrap="square" rtlCol="0" anchor="ctr"/>
          <a:lstStyle/>
          <a:p>
            <a:pPr marL="0" indent="0" algn="ctr">
              <a:buNone/>
            </a:pPr>
            <a:r>
              <a:rPr lang="en-US" sz="1300" i="1" dirty="0">
                <a:solidFill>
                  <a:srgbClr val="C1501D"/>
                </a:solidFill>
                <a:latin typeface="Cambria" pitchFamily="34" charset="0"/>
                <a:ea typeface="Cambria" pitchFamily="34" charset="-122"/>
                <a:cs typeface="Cambria" pitchFamily="34" charset="-120"/>
              </a:rPr>
              <a:t>Engineering excellence. Supporting growth, from blueprint to full operational maturity.</a:t>
            </a:r>
            <a:endParaRPr lang="en-US" sz="1300" dirty="0"/>
          </a:p>
        </p:txBody>
      </p:sp>
      <p:sp>
        <p:nvSpPr>
          <p:cNvPr id="31" name="Shape 24"/>
          <p:cNvSpPr/>
          <p:nvPr/>
        </p:nvSpPr>
        <p:spPr>
          <a:xfrm>
            <a:off x="502920" y="10186416"/>
            <a:ext cx="6556248" cy="0"/>
          </a:xfrm>
          <a:prstGeom prst="line">
            <a:avLst/>
          </a:prstGeom>
          <a:noFill/>
          <a:ln w="9525">
            <a:solidFill>
              <a:srgbClr val="E4DDCB"/>
            </a:solidFill>
            <a:prstDash val="solid"/>
          </a:ln>
        </p:spPr>
      </p:sp>
      <p:sp>
        <p:nvSpPr>
          <p:cNvPr id="32" name="Text 25"/>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6B675F"/>
                </a:solidFill>
                <a:latin typeface="Calibri" pitchFamily="34" charset="0"/>
                <a:ea typeface="Calibri" pitchFamily="34" charset="-122"/>
                <a:cs typeface="Calibri" pitchFamily="34" charset="-120"/>
              </a:rPr>
              <a:t>ALTUS GULF</a:t>
            </a:r>
            <a:endParaRPr lang="en-US" sz="850" dirty="0"/>
          </a:p>
        </p:txBody>
      </p:sp>
      <p:sp>
        <p:nvSpPr>
          <p:cNvPr id="33" name="Text 26"/>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6B675F"/>
                </a:solidFill>
                <a:latin typeface="Calibri" pitchFamily="34" charset="0"/>
                <a:ea typeface="Calibri" pitchFamily="34" charset="-122"/>
                <a:cs typeface="Calibri" pitchFamily="34" charset="-120"/>
              </a:rPr>
              <a:t>CORPORATE PROFILE  •  06</a:t>
            </a:r>
            <a:endParaRPr lang="en-US" sz="85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C1501D"/>
                </a:solidFill>
                <a:latin typeface="Calibri" pitchFamily="34" charset="0"/>
                <a:ea typeface="Calibri" pitchFamily="34" charset="-122"/>
                <a:cs typeface="Calibri" pitchFamily="34" charset="-120"/>
              </a:rPr>
              <a:t>05  •  SERVICE PORTFOLIO • DIVISION II</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a:solidFill>
                  <a:srgbClr val="0B1B2B"/>
                </a:solidFill>
                <a:latin typeface="Cambria" pitchFamily="34" charset="0"/>
                <a:ea typeface="Cambria" pitchFamily="34" charset="-122"/>
                <a:cs typeface="Cambria" pitchFamily="34" charset="-120"/>
              </a:rPr>
              <a:t>Business Growth Solutions</a:t>
            </a:r>
            <a:endParaRPr lang="en-US" sz="2700" dirty="0"/>
          </a:p>
        </p:txBody>
      </p:sp>
      <p:sp>
        <p:nvSpPr>
          <p:cNvPr id="4" name="Text 2"/>
          <p:cNvSpPr/>
          <p:nvPr/>
        </p:nvSpPr>
        <p:spPr>
          <a:xfrm>
            <a:off x="502920" y="1280160"/>
            <a:ext cx="6556248" cy="566928"/>
          </a:xfrm>
          <a:prstGeom prst="rect">
            <a:avLst/>
          </a:prstGeom>
          <a:noFill/>
          <a:ln/>
        </p:spPr>
        <p:txBody>
          <a:bodyPr wrap="square" rtlCol="0" anchor="t"/>
          <a:lstStyle/>
          <a:p>
            <a:pPr marL="0" indent="0" algn="l">
              <a:lnSpc>
                <a:spcPct val="118000"/>
              </a:lnSpc>
              <a:buNone/>
            </a:pPr>
            <a:r>
              <a:rPr lang="en-US" sz="1150" dirty="0">
                <a:solidFill>
                  <a:srgbClr val="6B675F"/>
                </a:solidFill>
                <a:latin typeface="Calibri" pitchFamily="34" charset="0"/>
                <a:ea typeface="Calibri" pitchFamily="34" charset="-122"/>
                <a:cs typeface="Calibri" pitchFamily="34" charset="-120"/>
              </a:rPr>
              <a:t>The client-focused rigour of luxury hospitality, applied to the wider corporate landscape, for enterprises scaling regionally and globally.</a:t>
            </a:r>
            <a:endParaRPr lang="en-US" sz="1150" dirty="0"/>
          </a:p>
        </p:txBody>
      </p:sp>
      <p:sp>
        <p:nvSpPr>
          <p:cNvPr id="5" name="Shape 3"/>
          <p:cNvSpPr/>
          <p:nvPr/>
        </p:nvSpPr>
        <p:spPr>
          <a:xfrm>
            <a:off x="502920" y="1938528"/>
            <a:ext cx="6556248" cy="1225296"/>
          </a:xfrm>
          <a:prstGeom prst="roundRect">
            <a:avLst>
              <a:gd name="adj" fmla="val 3731"/>
            </a:avLst>
          </a:prstGeom>
          <a:solidFill>
            <a:srgbClr val="FFFFFF"/>
          </a:solidFill>
          <a:ln w="9525">
            <a:solidFill>
              <a:srgbClr val="E4DDCB"/>
            </a:solidFill>
            <a:prstDash val="solid"/>
          </a:ln>
        </p:spPr>
      </p:sp>
      <p:sp>
        <p:nvSpPr>
          <p:cNvPr id="6" name="Shape 4"/>
          <p:cNvSpPr/>
          <p:nvPr/>
        </p:nvSpPr>
        <p:spPr>
          <a:xfrm>
            <a:off x="658368" y="2322576"/>
            <a:ext cx="457200" cy="457200"/>
          </a:xfrm>
          <a:prstGeom prst="ellipse">
            <a:avLst/>
          </a:prstGeom>
          <a:solidFill>
            <a:srgbClr val="0F5C42"/>
          </a:solidFill>
          <a:ln/>
        </p:spPr>
      </p:sp>
      <p:pic>
        <p:nvPicPr>
          <p:cNvPr id="7" name="Image 0" descr="/home/claude/assets/icons/sitemap.png"/>
          <p:cNvPicPr>
            <a:picLocks noChangeAspect="1"/>
          </p:cNvPicPr>
          <p:nvPr/>
        </p:nvPicPr>
        <p:blipFill>
          <a:blip r:embed="rId3"/>
          <a:stretch>
            <a:fillRect/>
          </a:stretch>
        </p:blipFill>
        <p:spPr>
          <a:xfrm>
            <a:off x="768096" y="2432304"/>
            <a:ext cx="237744" cy="237744"/>
          </a:xfrm>
          <a:prstGeom prst="rect">
            <a:avLst/>
          </a:prstGeom>
        </p:spPr>
      </p:pic>
      <p:sp>
        <p:nvSpPr>
          <p:cNvPr id="8" name="Text 5"/>
          <p:cNvSpPr/>
          <p:nvPr/>
        </p:nvSpPr>
        <p:spPr>
          <a:xfrm>
            <a:off x="1234440" y="2057400"/>
            <a:ext cx="5596128" cy="274320"/>
          </a:xfrm>
          <a:prstGeom prst="rect">
            <a:avLst/>
          </a:prstGeom>
          <a:noFill/>
          <a:ln/>
        </p:spPr>
        <p:txBody>
          <a:bodyPr wrap="square" rtlCol="0" anchor="ctr"/>
          <a:lstStyle/>
          <a:p>
            <a:pPr marL="0" indent="0">
              <a:buNone/>
            </a:pPr>
            <a:r>
              <a:rPr lang="en-US" sz="1200" b="1" dirty="0">
                <a:solidFill>
                  <a:srgbClr val="0B1B2B"/>
                </a:solidFill>
                <a:latin typeface="Calibri" pitchFamily="34" charset="0"/>
                <a:ea typeface="Calibri" pitchFamily="34" charset="-122"/>
                <a:cs typeface="Calibri" pitchFamily="34" charset="-120"/>
              </a:rPr>
              <a:t>Strategic Planning &amp; Organisational Restructuring</a:t>
            </a:r>
            <a:endParaRPr lang="en-US" sz="1200" dirty="0"/>
          </a:p>
        </p:txBody>
      </p:sp>
      <p:sp>
        <p:nvSpPr>
          <p:cNvPr id="9" name="Text 6"/>
          <p:cNvSpPr/>
          <p:nvPr/>
        </p:nvSpPr>
        <p:spPr>
          <a:xfrm>
            <a:off x="1234440" y="2359152"/>
            <a:ext cx="5596128" cy="768096"/>
          </a:xfrm>
          <a:prstGeom prst="rect">
            <a:avLst/>
          </a:prstGeom>
          <a:noFill/>
          <a:ln/>
        </p:spPr>
        <p:txBody>
          <a:bodyPr wrap="square" rtlCol="0" anchor="t"/>
          <a:lstStyle/>
          <a:p>
            <a:pPr marL="0" indent="0">
              <a:lnSpc>
                <a:spcPct val="116000"/>
              </a:lnSpc>
              <a:buNone/>
            </a:pPr>
            <a:r>
              <a:rPr lang="en-US" sz="940" dirty="0">
                <a:solidFill>
                  <a:srgbClr val="2B2A27"/>
                </a:solidFill>
                <a:latin typeface="Calibri" pitchFamily="34" charset="0"/>
                <a:ea typeface="Calibri" pitchFamily="34" charset="-122"/>
                <a:cs typeface="Calibri" pitchFamily="34" charset="-120"/>
              </a:rPr>
              <a:t>Three-to-five-year strategic roadmaps and redefined corporate hierarchies: reducing administrative drag, increasing agility, and embedding change-management protocols aligned with labour regulation.</a:t>
            </a:r>
            <a:endParaRPr lang="en-US" sz="940" dirty="0"/>
          </a:p>
        </p:txBody>
      </p:sp>
      <p:sp>
        <p:nvSpPr>
          <p:cNvPr id="10" name="Shape 7"/>
          <p:cNvSpPr/>
          <p:nvPr/>
        </p:nvSpPr>
        <p:spPr>
          <a:xfrm>
            <a:off x="502920" y="3291840"/>
            <a:ext cx="6556248" cy="1225296"/>
          </a:xfrm>
          <a:prstGeom prst="roundRect">
            <a:avLst>
              <a:gd name="adj" fmla="val 3731"/>
            </a:avLst>
          </a:prstGeom>
          <a:solidFill>
            <a:srgbClr val="FFFFFF"/>
          </a:solidFill>
          <a:ln w="9525">
            <a:solidFill>
              <a:srgbClr val="E4DDCB"/>
            </a:solidFill>
            <a:prstDash val="solid"/>
          </a:ln>
        </p:spPr>
      </p:sp>
      <p:sp>
        <p:nvSpPr>
          <p:cNvPr id="11" name="Shape 8"/>
          <p:cNvSpPr/>
          <p:nvPr/>
        </p:nvSpPr>
        <p:spPr>
          <a:xfrm>
            <a:off x="658368" y="3675888"/>
            <a:ext cx="457200" cy="457200"/>
          </a:xfrm>
          <a:prstGeom prst="ellipse">
            <a:avLst/>
          </a:prstGeom>
          <a:solidFill>
            <a:srgbClr val="0F5C42"/>
          </a:solidFill>
          <a:ln/>
        </p:spPr>
      </p:sp>
      <p:pic>
        <p:nvPicPr>
          <p:cNvPr id="12" name="Image 1" descr="/home/claude/assets/icons/robot.png"/>
          <p:cNvPicPr>
            <a:picLocks noChangeAspect="1"/>
          </p:cNvPicPr>
          <p:nvPr/>
        </p:nvPicPr>
        <p:blipFill>
          <a:blip r:embed="rId4"/>
          <a:stretch>
            <a:fillRect/>
          </a:stretch>
        </p:blipFill>
        <p:spPr>
          <a:xfrm>
            <a:off x="768096" y="3785616"/>
            <a:ext cx="237744" cy="237744"/>
          </a:xfrm>
          <a:prstGeom prst="rect">
            <a:avLst/>
          </a:prstGeom>
        </p:spPr>
      </p:pic>
      <p:sp>
        <p:nvSpPr>
          <p:cNvPr id="13" name="Text 9"/>
          <p:cNvSpPr/>
          <p:nvPr/>
        </p:nvSpPr>
        <p:spPr>
          <a:xfrm>
            <a:off x="1234440" y="3410712"/>
            <a:ext cx="5596128" cy="274320"/>
          </a:xfrm>
          <a:prstGeom prst="rect">
            <a:avLst/>
          </a:prstGeom>
          <a:noFill/>
          <a:ln/>
        </p:spPr>
        <p:txBody>
          <a:bodyPr wrap="square" rtlCol="0" anchor="ctr"/>
          <a:lstStyle/>
          <a:p>
            <a:pPr marL="0" indent="0">
              <a:buNone/>
            </a:pPr>
            <a:r>
              <a:rPr lang="en-US" sz="1200" b="1" dirty="0">
                <a:solidFill>
                  <a:srgbClr val="0B1B2B"/>
                </a:solidFill>
                <a:latin typeface="Calibri" pitchFamily="34" charset="0"/>
                <a:ea typeface="Calibri" pitchFamily="34" charset="-122"/>
                <a:cs typeface="Calibri" pitchFamily="34" charset="-120"/>
              </a:rPr>
              <a:t>Revenue Optimisation &amp; Applied AI</a:t>
            </a:r>
            <a:endParaRPr lang="en-US" sz="1200" dirty="0"/>
          </a:p>
        </p:txBody>
      </p:sp>
      <p:sp>
        <p:nvSpPr>
          <p:cNvPr id="14" name="Text 10"/>
          <p:cNvSpPr/>
          <p:nvPr/>
        </p:nvSpPr>
        <p:spPr>
          <a:xfrm>
            <a:off x="1234440" y="3712464"/>
            <a:ext cx="5596128" cy="768096"/>
          </a:xfrm>
          <a:prstGeom prst="rect">
            <a:avLst/>
          </a:prstGeom>
          <a:noFill/>
          <a:ln/>
        </p:spPr>
        <p:txBody>
          <a:bodyPr wrap="square" rtlCol="0" anchor="t"/>
          <a:lstStyle/>
          <a:p>
            <a:pPr marL="0" indent="0">
              <a:lnSpc>
                <a:spcPct val="116000"/>
              </a:lnSpc>
              <a:buNone/>
            </a:pPr>
            <a:r>
              <a:rPr lang="en-US" sz="940" dirty="0">
                <a:solidFill>
                  <a:srgbClr val="2B2A27"/>
                </a:solidFill>
                <a:latin typeface="Calibri" pitchFamily="34" charset="0"/>
                <a:ea typeface="Calibri" pitchFamily="34" charset="-122"/>
                <a:cs typeface="Calibri" pitchFamily="34" charset="-120"/>
              </a:rPr>
              <a:t>Dynamic pricing matrices, predictive yield management, and total revenue-capture systems, alongside enterprise AI-readiness assessments and phased technology deployment roadmaps.</a:t>
            </a:r>
            <a:endParaRPr lang="en-US" sz="940" dirty="0"/>
          </a:p>
        </p:txBody>
      </p:sp>
      <p:sp>
        <p:nvSpPr>
          <p:cNvPr id="15" name="Shape 11"/>
          <p:cNvSpPr/>
          <p:nvPr/>
        </p:nvSpPr>
        <p:spPr>
          <a:xfrm>
            <a:off x="502920" y="4645152"/>
            <a:ext cx="6556248" cy="1225296"/>
          </a:xfrm>
          <a:prstGeom prst="roundRect">
            <a:avLst>
              <a:gd name="adj" fmla="val 3731"/>
            </a:avLst>
          </a:prstGeom>
          <a:solidFill>
            <a:srgbClr val="FFFFFF"/>
          </a:solidFill>
          <a:ln w="9525">
            <a:solidFill>
              <a:srgbClr val="E4DDCB"/>
            </a:solidFill>
            <a:prstDash val="solid"/>
          </a:ln>
        </p:spPr>
      </p:sp>
      <p:sp>
        <p:nvSpPr>
          <p:cNvPr id="16" name="Shape 12"/>
          <p:cNvSpPr/>
          <p:nvPr/>
        </p:nvSpPr>
        <p:spPr>
          <a:xfrm>
            <a:off x="658368" y="5029200"/>
            <a:ext cx="457200" cy="457200"/>
          </a:xfrm>
          <a:prstGeom prst="ellipse">
            <a:avLst/>
          </a:prstGeom>
          <a:solidFill>
            <a:srgbClr val="0F5C42"/>
          </a:solidFill>
          <a:ln/>
        </p:spPr>
      </p:sp>
      <p:pic>
        <p:nvPicPr>
          <p:cNvPr id="17" name="Image 2" descr="/home/claude/assets/icons/cloud.png"/>
          <p:cNvPicPr>
            <a:picLocks noChangeAspect="1"/>
          </p:cNvPicPr>
          <p:nvPr/>
        </p:nvPicPr>
        <p:blipFill>
          <a:blip r:embed="rId5"/>
          <a:stretch>
            <a:fillRect/>
          </a:stretch>
        </p:blipFill>
        <p:spPr>
          <a:xfrm>
            <a:off x="768096" y="5138928"/>
            <a:ext cx="237744" cy="237744"/>
          </a:xfrm>
          <a:prstGeom prst="rect">
            <a:avLst/>
          </a:prstGeom>
        </p:spPr>
      </p:pic>
      <p:sp>
        <p:nvSpPr>
          <p:cNvPr id="18" name="Text 13"/>
          <p:cNvSpPr/>
          <p:nvPr/>
        </p:nvSpPr>
        <p:spPr>
          <a:xfrm>
            <a:off x="1234440" y="4764024"/>
            <a:ext cx="5596128" cy="274320"/>
          </a:xfrm>
          <a:prstGeom prst="rect">
            <a:avLst/>
          </a:prstGeom>
          <a:noFill/>
          <a:ln/>
        </p:spPr>
        <p:txBody>
          <a:bodyPr wrap="square" rtlCol="0" anchor="ctr"/>
          <a:lstStyle/>
          <a:p>
            <a:pPr marL="0" indent="0">
              <a:buNone/>
            </a:pPr>
            <a:r>
              <a:rPr lang="en-US" sz="1200" b="1" dirty="0">
                <a:solidFill>
                  <a:srgbClr val="0B1B2B"/>
                </a:solidFill>
                <a:latin typeface="Calibri" pitchFamily="34" charset="0"/>
                <a:ea typeface="Calibri" pitchFamily="34" charset="-122"/>
                <a:cs typeface="Calibri" pitchFamily="34" charset="-120"/>
              </a:rPr>
              <a:t>Digital Transformation</a:t>
            </a:r>
            <a:endParaRPr lang="en-US" sz="1200" dirty="0"/>
          </a:p>
        </p:txBody>
      </p:sp>
      <p:sp>
        <p:nvSpPr>
          <p:cNvPr id="19" name="Text 14"/>
          <p:cNvSpPr/>
          <p:nvPr/>
        </p:nvSpPr>
        <p:spPr>
          <a:xfrm>
            <a:off x="1234440" y="5065776"/>
            <a:ext cx="5596128" cy="768096"/>
          </a:xfrm>
          <a:prstGeom prst="rect">
            <a:avLst/>
          </a:prstGeom>
          <a:noFill/>
          <a:ln/>
        </p:spPr>
        <p:txBody>
          <a:bodyPr wrap="square" rtlCol="0" anchor="t"/>
          <a:lstStyle/>
          <a:p>
            <a:pPr marL="0" indent="0">
              <a:lnSpc>
                <a:spcPct val="116000"/>
              </a:lnSpc>
              <a:buNone/>
            </a:pPr>
            <a:r>
              <a:rPr lang="en-US" sz="940" dirty="0">
                <a:solidFill>
                  <a:srgbClr val="2B2A27"/>
                </a:solidFill>
                <a:latin typeface="Calibri" pitchFamily="34" charset="0"/>
                <a:ea typeface="Calibri" pitchFamily="34" charset="-122"/>
                <a:cs typeface="Calibri" pitchFamily="34" charset="-120"/>
              </a:rPr>
              <a:t>End-to-end modernisation of internal technology stacks, CRM architecture, cloud-migration strategy, and integrated software blueprints: designed to lower long-run IT overheads and strengthen data security.</a:t>
            </a:r>
            <a:endParaRPr lang="en-US" sz="940" dirty="0"/>
          </a:p>
        </p:txBody>
      </p:sp>
      <p:sp>
        <p:nvSpPr>
          <p:cNvPr id="20" name="Shape 15"/>
          <p:cNvSpPr/>
          <p:nvPr/>
        </p:nvSpPr>
        <p:spPr>
          <a:xfrm>
            <a:off x="502920" y="5998464"/>
            <a:ext cx="6556248" cy="1225296"/>
          </a:xfrm>
          <a:prstGeom prst="roundRect">
            <a:avLst>
              <a:gd name="adj" fmla="val 3731"/>
            </a:avLst>
          </a:prstGeom>
          <a:solidFill>
            <a:srgbClr val="FFFFFF"/>
          </a:solidFill>
          <a:ln w="9525">
            <a:solidFill>
              <a:srgbClr val="E4DDCB"/>
            </a:solidFill>
            <a:prstDash val="solid"/>
          </a:ln>
        </p:spPr>
      </p:sp>
      <p:sp>
        <p:nvSpPr>
          <p:cNvPr id="21" name="Shape 16"/>
          <p:cNvSpPr/>
          <p:nvPr/>
        </p:nvSpPr>
        <p:spPr>
          <a:xfrm>
            <a:off x="658368" y="6382512"/>
            <a:ext cx="457200" cy="457200"/>
          </a:xfrm>
          <a:prstGeom prst="ellipse">
            <a:avLst/>
          </a:prstGeom>
          <a:solidFill>
            <a:srgbClr val="0F5C42"/>
          </a:solidFill>
          <a:ln/>
        </p:spPr>
      </p:sp>
      <p:pic>
        <p:nvPicPr>
          <p:cNvPr id="22" name="Image 3" descr="/home/claude/assets/icons/usertie.png"/>
          <p:cNvPicPr>
            <a:picLocks noChangeAspect="1"/>
          </p:cNvPicPr>
          <p:nvPr/>
        </p:nvPicPr>
        <p:blipFill>
          <a:blip r:embed="rId6"/>
          <a:stretch>
            <a:fillRect/>
          </a:stretch>
        </p:blipFill>
        <p:spPr>
          <a:xfrm>
            <a:off x="768096" y="6492240"/>
            <a:ext cx="237744" cy="237744"/>
          </a:xfrm>
          <a:prstGeom prst="rect">
            <a:avLst/>
          </a:prstGeom>
        </p:spPr>
      </p:pic>
      <p:sp>
        <p:nvSpPr>
          <p:cNvPr id="23" name="Text 17"/>
          <p:cNvSpPr/>
          <p:nvPr/>
        </p:nvSpPr>
        <p:spPr>
          <a:xfrm>
            <a:off x="1234440" y="6117336"/>
            <a:ext cx="5596128" cy="274320"/>
          </a:xfrm>
          <a:prstGeom prst="rect">
            <a:avLst/>
          </a:prstGeom>
          <a:noFill/>
          <a:ln/>
        </p:spPr>
        <p:txBody>
          <a:bodyPr wrap="square" rtlCol="0" anchor="ctr"/>
          <a:lstStyle/>
          <a:p>
            <a:pPr marL="0" indent="0">
              <a:buNone/>
            </a:pPr>
            <a:r>
              <a:rPr lang="en-US" sz="1200" b="1" dirty="0">
                <a:solidFill>
                  <a:srgbClr val="0B1B2B"/>
                </a:solidFill>
                <a:latin typeface="Calibri" pitchFamily="34" charset="0"/>
                <a:ea typeface="Calibri" pitchFamily="34" charset="-122"/>
                <a:cs typeface="Calibri" pitchFamily="34" charset="-120"/>
              </a:rPr>
              <a:t>Leadership &amp; Capability Development</a:t>
            </a:r>
            <a:endParaRPr lang="en-US" sz="1200" dirty="0"/>
          </a:p>
        </p:txBody>
      </p:sp>
      <p:sp>
        <p:nvSpPr>
          <p:cNvPr id="24" name="Text 18"/>
          <p:cNvSpPr/>
          <p:nvPr/>
        </p:nvSpPr>
        <p:spPr>
          <a:xfrm>
            <a:off x="1234440" y="6419088"/>
            <a:ext cx="5596128" cy="768096"/>
          </a:xfrm>
          <a:prstGeom prst="rect">
            <a:avLst/>
          </a:prstGeom>
          <a:noFill/>
          <a:ln/>
        </p:spPr>
        <p:txBody>
          <a:bodyPr wrap="square" rtlCol="0" anchor="t"/>
          <a:lstStyle/>
          <a:p>
            <a:pPr marL="0" indent="0">
              <a:lnSpc>
                <a:spcPct val="116000"/>
              </a:lnSpc>
              <a:buNone/>
            </a:pPr>
            <a:r>
              <a:rPr lang="en-US" sz="940" dirty="0">
                <a:solidFill>
                  <a:srgbClr val="2B2A27"/>
                </a:solidFill>
                <a:latin typeface="Calibri" pitchFamily="34" charset="0"/>
                <a:ea typeface="Calibri" pitchFamily="34" charset="-122"/>
                <a:cs typeface="Calibri" pitchFamily="34" charset="-120"/>
              </a:rPr>
              <a:t>Bespoke one-to-one executive coaching, leadership-competency frameworks, and corporate succession planning: building resilient executive layers capable of navigating complex transformation.</a:t>
            </a:r>
            <a:endParaRPr lang="en-US" sz="940" dirty="0"/>
          </a:p>
        </p:txBody>
      </p:sp>
      <p:sp>
        <p:nvSpPr>
          <p:cNvPr id="25" name="Shape 19"/>
          <p:cNvSpPr/>
          <p:nvPr/>
        </p:nvSpPr>
        <p:spPr>
          <a:xfrm>
            <a:off x="502920" y="7351776"/>
            <a:ext cx="6556248" cy="1225296"/>
          </a:xfrm>
          <a:prstGeom prst="roundRect">
            <a:avLst>
              <a:gd name="adj" fmla="val 3731"/>
            </a:avLst>
          </a:prstGeom>
          <a:solidFill>
            <a:srgbClr val="FFFFFF"/>
          </a:solidFill>
          <a:ln w="9525">
            <a:solidFill>
              <a:srgbClr val="E4DDCB"/>
            </a:solidFill>
            <a:prstDash val="solid"/>
          </a:ln>
        </p:spPr>
      </p:sp>
      <p:sp>
        <p:nvSpPr>
          <p:cNvPr id="26" name="Shape 20"/>
          <p:cNvSpPr/>
          <p:nvPr/>
        </p:nvSpPr>
        <p:spPr>
          <a:xfrm>
            <a:off x="658368" y="7735824"/>
            <a:ext cx="457200" cy="457200"/>
          </a:xfrm>
          <a:prstGeom prst="ellipse">
            <a:avLst/>
          </a:prstGeom>
          <a:solidFill>
            <a:srgbClr val="0F5C42"/>
          </a:solidFill>
          <a:ln/>
        </p:spPr>
      </p:sp>
      <p:pic>
        <p:nvPicPr>
          <p:cNvPr id="27" name="Image 4" descr="/home/claude/assets/icons/balance.png"/>
          <p:cNvPicPr>
            <a:picLocks noChangeAspect="1"/>
          </p:cNvPicPr>
          <p:nvPr/>
        </p:nvPicPr>
        <p:blipFill>
          <a:blip r:embed="rId7"/>
          <a:stretch>
            <a:fillRect/>
          </a:stretch>
        </p:blipFill>
        <p:spPr>
          <a:xfrm>
            <a:off x="768096" y="7845552"/>
            <a:ext cx="237744" cy="237744"/>
          </a:xfrm>
          <a:prstGeom prst="rect">
            <a:avLst/>
          </a:prstGeom>
        </p:spPr>
      </p:pic>
      <p:sp>
        <p:nvSpPr>
          <p:cNvPr id="28" name="Text 21"/>
          <p:cNvSpPr/>
          <p:nvPr/>
        </p:nvSpPr>
        <p:spPr>
          <a:xfrm>
            <a:off x="1234440" y="7470648"/>
            <a:ext cx="5596128" cy="274320"/>
          </a:xfrm>
          <a:prstGeom prst="rect">
            <a:avLst/>
          </a:prstGeom>
          <a:noFill/>
          <a:ln/>
        </p:spPr>
        <p:txBody>
          <a:bodyPr wrap="square" rtlCol="0" anchor="ctr"/>
          <a:lstStyle/>
          <a:p>
            <a:pPr marL="0" indent="0">
              <a:buNone/>
            </a:pPr>
            <a:r>
              <a:rPr lang="en-US" sz="1200" b="1" dirty="0">
                <a:solidFill>
                  <a:srgbClr val="0B1B2B"/>
                </a:solidFill>
                <a:latin typeface="Calibri" pitchFamily="34" charset="0"/>
                <a:ea typeface="Calibri" pitchFamily="34" charset="-122"/>
                <a:cs typeface="Calibri" pitchFamily="34" charset="-120"/>
              </a:rPr>
              <a:t>Investment Appraisal &amp; M&amp;A Due Diligence</a:t>
            </a:r>
            <a:endParaRPr lang="en-US" sz="1200" dirty="0"/>
          </a:p>
        </p:txBody>
      </p:sp>
      <p:sp>
        <p:nvSpPr>
          <p:cNvPr id="29" name="Text 22"/>
          <p:cNvSpPr/>
          <p:nvPr/>
        </p:nvSpPr>
        <p:spPr>
          <a:xfrm>
            <a:off x="1234440" y="7772400"/>
            <a:ext cx="5596128" cy="768096"/>
          </a:xfrm>
          <a:prstGeom prst="rect">
            <a:avLst/>
          </a:prstGeom>
          <a:noFill/>
          <a:ln/>
        </p:spPr>
        <p:txBody>
          <a:bodyPr wrap="square" rtlCol="0" anchor="t"/>
          <a:lstStyle/>
          <a:p>
            <a:pPr marL="0" indent="0">
              <a:lnSpc>
                <a:spcPct val="116000"/>
              </a:lnSpc>
              <a:buNone/>
            </a:pPr>
            <a:r>
              <a:rPr lang="en-US" sz="940" dirty="0">
                <a:solidFill>
                  <a:srgbClr val="2B2A27"/>
                </a:solidFill>
                <a:latin typeface="Calibri" pitchFamily="34" charset="0"/>
                <a:ea typeface="Calibri" pitchFamily="34" charset="-122"/>
                <a:cs typeface="Calibri" pitchFamily="34" charset="-120"/>
              </a:rPr>
              <a:t>Rigorous commercial due diligence for asset acquisitions, pre-acquisition valuation reporting, operational-synergy modelling, and post-merger integration plans that support capital discipline throughout the transaction.</a:t>
            </a:r>
            <a:endParaRPr lang="en-US" sz="940" dirty="0"/>
          </a:p>
        </p:txBody>
      </p:sp>
      <p:sp>
        <p:nvSpPr>
          <p:cNvPr id="30" name="Text 23"/>
          <p:cNvSpPr/>
          <p:nvPr/>
        </p:nvSpPr>
        <p:spPr>
          <a:xfrm>
            <a:off x="502920" y="8750808"/>
            <a:ext cx="6556248" cy="365760"/>
          </a:xfrm>
          <a:prstGeom prst="rect">
            <a:avLst/>
          </a:prstGeom>
          <a:noFill/>
          <a:ln/>
        </p:spPr>
        <p:txBody>
          <a:bodyPr wrap="square" rtlCol="0" anchor="ctr"/>
          <a:lstStyle/>
          <a:p>
            <a:pPr marL="0" indent="0" algn="ctr">
              <a:buNone/>
            </a:pPr>
            <a:r>
              <a:rPr lang="en-US" sz="1300" i="1" dirty="0">
                <a:solidFill>
                  <a:srgbClr val="C1501D"/>
                </a:solidFill>
                <a:latin typeface="Cambria" pitchFamily="34" charset="0"/>
                <a:ea typeface="Cambria" pitchFamily="34" charset="-122"/>
                <a:cs typeface="Cambria" pitchFamily="34" charset="-120"/>
              </a:rPr>
              <a:t>Where hospitality meets intelligence: data-driven strategy, human-centred execution.</a:t>
            </a:r>
            <a:endParaRPr lang="en-US" sz="1300" dirty="0"/>
          </a:p>
        </p:txBody>
      </p:sp>
      <p:sp>
        <p:nvSpPr>
          <p:cNvPr id="31" name="Shape 24"/>
          <p:cNvSpPr/>
          <p:nvPr/>
        </p:nvSpPr>
        <p:spPr>
          <a:xfrm>
            <a:off x="502920" y="10186416"/>
            <a:ext cx="6556248" cy="0"/>
          </a:xfrm>
          <a:prstGeom prst="line">
            <a:avLst/>
          </a:prstGeom>
          <a:noFill/>
          <a:ln w="9525">
            <a:solidFill>
              <a:srgbClr val="E4DDCB"/>
            </a:solidFill>
            <a:prstDash val="solid"/>
          </a:ln>
        </p:spPr>
      </p:sp>
      <p:sp>
        <p:nvSpPr>
          <p:cNvPr id="32" name="Text 25"/>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6B675F"/>
                </a:solidFill>
                <a:latin typeface="Calibri" pitchFamily="34" charset="0"/>
                <a:ea typeface="Calibri" pitchFamily="34" charset="-122"/>
                <a:cs typeface="Calibri" pitchFamily="34" charset="-120"/>
              </a:rPr>
              <a:t>ALTUS GULF</a:t>
            </a:r>
            <a:endParaRPr lang="en-US" sz="850" dirty="0"/>
          </a:p>
        </p:txBody>
      </p:sp>
      <p:sp>
        <p:nvSpPr>
          <p:cNvPr id="33" name="Text 26"/>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6B675F"/>
                </a:solidFill>
                <a:latin typeface="Calibri" pitchFamily="34" charset="0"/>
                <a:ea typeface="Calibri" pitchFamily="34" charset="-122"/>
                <a:cs typeface="Calibri" pitchFamily="34" charset="-120"/>
              </a:rPr>
              <a:t>CORPORATE PROFILE  •  07</a:t>
            </a:r>
            <a:endParaRPr lang="en-US" sz="85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buNone/>
            </a:pPr>
            <a:r>
              <a:rPr lang="en-US" sz="1050" b="1" kern="0" spc="200" dirty="0">
                <a:solidFill>
                  <a:srgbClr val="E4C98A"/>
                </a:solidFill>
                <a:latin typeface="Calibri" pitchFamily="34" charset="0"/>
                <a:ea typeface="Calibri" pitchFamily="34" charset="-122"/>
                <a:cs typeface="Calibri" pitchFamily="34" charset="-120"/>
              </a:rPr>
              <a:t>06  •  PROPRIETARY DIGITAL PLATFORM</a:t>
            </a:r>
            <a:endParaRPr lang="en-US" sz="1050" dirty="0"/>
          </a:p>
        </p:txBody>
      </p:sp>
      <p:sp>
        <p:nvSpPr>
          <p:cNvPr id="3" name="Text 1"/>
          <p:cNvSpPr/>
          <p:nvPr/>
        </p:nvSpPr>
        <p:spPr>
          <a:xfrm>
            <a:off x="502920" y="749808"/>
            <a:ext cx="6556248" cy="914400"/>
          </a:xfrm>
          <a:prstGeom prst="rect">
            <a:avLst/>
          </a:prstGeom>
          <a:noFill/>
          <a:ln/>
        </p:spPr>
        <p:txBody>
          <a:bodyPr wrap="square" rtlCol="0" anchor="ctr"/>
          <a:lstStyle/>
          <a:p>
            <a:pPr marL="0" indent="0">
              <a:lnSpc>
                <a:spcPct val="108000"/>
              </a:lnSpc>
              <a:buNone/>
            </a:pPr>
            <a:r>
              <a:rPr lang="en-US" sz="2500" dirty="0">
                <a:solidFill>
                  <a:srgbClr val="FFFFFF"/>
                </a:solidFill>
                <a:latin typeface="Cambria" pitchFamily="34" charset="0"/>
                <a:ea typeface="Cambria" pitchFamily="34" charset="-122"/>
                <a:cs typeface="Cambria" pitchFamily="34" charset="-120"/>
              </a:rPr>
              <a:t>Altus Gulf Hospitality</a:t>
            </a:r>
            <a:endParaRPr lang="en-US" sz="2500" dirty="0"/>
          </a:p>
          <a:p>
            <a:pPr marL="0" indent="0">
              <a:lnSpc>
                <a:spcPct val="108000"/>
              </a:lnSpc>
              <a:buNone/>
            </a:pPr>
            <a:r>
              <a:rPr lang="en-US" sz="2500" dirty="0">
                <a:solidFill>
                  <a:srgbClr val="FFFFFF"/>
                </a:solidFill>
                <a:latin typeface="Cambria" pitchFamily="34" charset="0"/>
                <a:ea typeface="Cambria" pitchFamily="34" charset="-122"/>
                <a:cs typeface="Cambria" pitchFamily="34" charset="-120"/>
              </a:rPr>
              <a:t>Knowledge &amp; Performance</a:t>
            </a:r>
            <a:endParaRPr lang="en-US" sz="2500" dirty="0"/>
          </a:p>
        </p:txBody>
      </p:sp>
      <p:sp>
        <p:nvSpPr>
          <p:cNvPr id="4" name="Text 2"/>
          <p:cNvSpPr/>
          <p:nvPr/>
        </p:nvSpPr>
        <p:spPr>
          <a:xfrm>
            <a:off x="502920" y="1700784"/>
            <a:ext cx="6556248" cy="685800"/>
          </a:xfrm>
          <a:prstGeom prst="rect">
            <a:avLst/>
          </a:prstGeom>
          <a:noFill/>
          <a:ln/>
        </p:spPr>
        <p:txBody>
          <a:bodyPr wrap="square" rtlCol="0" anchor="t"/>
          <a:lstStyle/>
          <a:p>
            <a:pPr marL="0" indent="0">
              <a:lnSpc>
                <a:spcPct val="120000"/>
              </a:lnSpc>
              <a:buNone/>
            </a:pPr>
            <a:r>
              <a:rPr lang="en-US" sz="1100" dirty="0">
                <a:solidFill>
                  <a:srgbClr val="B9C3CC"/>
                </a:solidFill>
                <a:latin typeface="Calibri" pitchFamily="34" charset="0"/>
                <a:ea typeface="Calibri" pitchFamily="34" charset="-122"/>
                <a:cs typeface="Calibri" pitchFamily="34" charset="-120"/>
              </a:rPr>
              <a:t>A platform that converts three decades of hotel expertise and operating standards into a structured digital system for learning, knowledge management, and performance measurement. Built for independent hotels, serviced apartments, and SME establishments across Saudi Arabia and the wider region that need practical, standards-based training without the cost and complexity of global-chain systems.</a:t>
            </a:r>
            <a:endParaRPr lang="en-US" sz="1100" dirty="0"/>
          </a:p>
        </p:txBody>
      </p:sp>
      <p:sp>
        <p:nvSpPr>
          <p:cNvPr id="5" name="Shape 3"/>
          <p:cNvSpPr/>
          <p:nvPr/>
        </p:nvSpPr>
        <p:spPr>
          <a:xfrm>
            <a:off x="502920" y="2606040"/>
            <a:ext cx="6556248" cy="594360"/>
          </a:xfrm>
          <a:prstGeom prst="roundRect">
            <a:avLst>
              <a:gd name="adj" fmla="val 6154"/>
            </a:avLst>
          </a:prstGeom>
          <a:ln w="12700">
            <a:solidFill>
              <a:srgbClr val="C1501D"/>
            </a:solidFill>
            <a:prstDash val="solid"/>
          </a:ln>
        </p:spPr>
      </p:sp>
      <p:sp>
        <p:nvSpPr>
          <p:cNvPr id="6" name="Text 4"/>
          <p:cNvSpPr/>
          <p:nvPr/>
        </p:nvSpPr>
        <p:spPr>
          <a:xfrm>
            <a:off x="685800" y="2679192"/>
            <a:ext cx="1463040" cy="457200"/>
          </a:xfrm>
          <a:prstGeom prst="rect">
            <a:avLst/>
          </a:prstGeom>
          <a:noFill/>
          <a:ln/>
        </p:spPr>
        <p:txBody>
          <a:bodyPr wrap="square" rtlCol="0" anchor="ctr"/>
          <a:lstStyle/>
          <a:p>
            <a:pPr marL="0" indent="0">
              <a:buNone/>
            </a:pPr>
            <a:r>
              <a:rPr lang="en-US" sz="800" b="1" kern="0" spc="100" dirty="0">
                <a:solidFill>
                  <a:srgbClr val="E4C98A"/>
                </a:solidFill>
                <a:latin typeface="Calibri" pitchFamily="34" charset="0"/>
                <a:ea typeface="Calibri" pitchFamily="34" charset="-122"/>
                <a:cs typeface="Calibri" pitchFamily="34" charset="-120"/>
              </a:rPr>
              <a:t>THE PRODUCT VISION</a:t>
            </a:r>
            <a:endParaRPr lang="en-US" sz="800" dirty="0"/>
          </a:p>
        </p:txBody>
      </p:sp>
      <p:sp>
        <p:nvSpPr>
          <p:cNvPr id="7" name="Text 5"/>
          <p:cNvSpPr/>
          <p:nvPr/>
        </p:nvSpPr>
        <p:spPr>
          <a:xfrm>
            <a:off x="2240280" y="2660904"/>
            <a:ext cx="4636008" cy="502920"/>
          </a:xfrm>
          <a:prstGeom prst="rect">
            <a:avLst/>
          </a:prstGeom>
          <a:noFill/>
          <a:ln/>
        </p:spPr>
        <p:txBody>
          <a:bodyPr wrap="square" rtlCol="0" anchor="ctr"/>
          <a:lstStyle/>
          <a:p>
            <a:pPr marL="0" indent="0">
              <a:lnSpc>
                <a:spcPct val="115000"/>
              </a:lnSpc>
              <a:buNone/>
            </a:pPr>
            <a:r>
              <a:rPr lang="en-US" sz="1100" i="1" dirty="0">
                <a:solidFill>
                  <a:srgbClr val="FFFFFF"/>
                </a:solidFill>
                <a:latin typeface="Cambria" pitchFamily="34" charset="0"/>
                <a:ea typeface="Cambria" pitchFamily="34" charset="-122"/>
                <a:cs typeface="Cambria" pitchFamily="34" charset="-120"/>
              </a:rPr>
              <a:t>"The right knowledge, to the right person, at the right time, with clear evidence of learning and improvement."</a:t>
            </a:r>
            <a:endParaRPr lang="en-US" sz="1100" dirty="0"/>
          </a:p>
        </p:txBody>
      </p:sp>
      <p:sp>
        <p:nvSpPr>
          <p:cNvPr id="8" name="Text 6"/>
          <p:cNvSpPr/>
          <p:nvPr/>
        </p:nvSpPr>
        <p:spPr>
          <a:xfrm>
            <a:off x="502920" y="3383280"/>
            <a:ext cx="6556248" cy="219456"/>
          </a:xfrm>
          <a:prstGeom prst="rect">
            <a:avLst/>
          </a:prstGeom>
          <a:noFill/>
          <a:ln/>
        </p:spPr>
        <p:txBody>
          <a:bodyPr wrap="square" rtlCol="0" anchor="ctr"/>
          <a:lstStyle/>
          <a:p>
            <a:pPr marL="0" indent="0">
              <a:buNone/>
            </a:pPr>
            <a:r>
              <a:rPr lang="en-US" sz="900" b="1" kern="0" spc="100" dirty="0">
                <a:solidFill>
                  <a:srgbClr val="E4C98A"/>
                </a:solidFill>
                <a:latin typeface="Calibri" pitchFamily="34" charset="0"/>
                <a:ea typeface="Calibri" pitchFamily="34" charset="-122"/>
                <a:cs typeface="Calibri" pitchFamily="34" charset="-120"/>
              </a:rPr>
              <a:t>UNIFIED PLATFORM ARCHITECTURE • FIVE INTEGRATED LAYERS</a:t>
            </a:r>
            <a:endParaRPr lang="en-US" sz="900" dirty="0"/>
          </a:p>
        </p:txBody>
      </p:sp>
      <p:sp>
        <p:nvSpPr>
          <p:cNvPr id="9" name="Shape 7"/>
          <p:cNvSpPr/>
          <p:nvPr/>
        </p:nvSpPr>
        <p:spPr>
          <a:xfrm>
            <a:off x="502920" y="3657600"/>
            <a:ext cx="6556248" cy="493776"/>
          </a:xfrm>
          <a:prstGeom prst="roundRect">
            <a:avLst>
              <a:gd name="adj" fmla="val 9259"/>
            </a:avLst>
          </a:prstGeom>
          <a:solidFill>
            <a:srgbClr val="13273A"/>
          </a:solidFill>
          <a:ln/>
        </p:spPr>
      </p:sp>
      <p:sp>
        <p:nvSpPr>
          <p:cNvPr id="10" name="Shape 8"/>
          <p:cNvSpPr/>
          <p:nvPr/>
        </p:nvSpPr>
        <p:spPr>
          <a:xfrm>
            <a:off x="667512" y="3730752"/>
            <a:ext cx="347472" cy="347472"/>
          </a:xfrm>
          <a:prstGeom prst="ellipse">
            <a:avLst/>
          </a:prstGeom>
          <a:solidFill>
            <a:srgbClr val="C1501D"/>
          </a:solidFill>
          <a:ln/>
        </p:spPr>
      </p:sp>
      <p:sp>
        <p:nvSpPr>
          <p:cNvPr id="11" name="Text 9"/>
          <p:cNvSpPr/>
          <p:nvPr/>
        </p:nvSpPr>
        <p:spPr>
          <a:xfrm>
            <a:off x="667512" y="3730752"/>
            <a:ext cx="347472" cy="347472"/>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12" name="Text 10"/>
          <p:cNvSpPr/>
          <p:nvPr/>
        </p:nvSpPr>
        <p:spPr>
          <a:xfrm>
            <a:off x="1161288" y="3721608"/>
            <a:ext cx="5715000" cy="219456"/>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Product &amp; Experience</a:t>
            </a:r>
            <a:endParaRPr lang="en-US" sz="1150" dirty="0"/>
          </a:p>
        </p:txBody>
      </p:sp>
      <p:sp>
        <p:nvSpPr>
          <p:cNvPr id="13" name="Text 11"/>
          <p:cNvSpPr/>
          <p:nvPr/>
        </p:nvSpPr>
        <p:spPr>
          <a:xfrm>
            <a:off x="1161288" y="3941064"/>
            <a:ext cx="5715000" cy="201168"/>
          </a:xfrm>
          <a:prstGeom prst="rect">
            <a:avLst/>
          </a:prstGeom>
          <a:noFill/>
          <a:ln/>
        </p:spPr>
        <p:txBody>
          <a:bodyPr wrap="square" rtlCol="0" anchor="ctr"/>
          <a:lstStyle/>
          <a:p>
            <a:pPr marL="0" indent="0">
              <a:buNone/>
            </a:pPr>
            <a:r>
              <a:rPr lang="en-US" sz="900" dirty="0">
                <a:solidFill>
                  <a:srgbClr val="B9C3CC"/>
                </a:solidFill>
                <a:latin typeface="Calibri" pitchFamily="34" charset="0"/>
                <a:ea typeface="Calibri" pitchFamily="34" charset="-122"/>
                <a:cs typeface="Calibri" pitchFamily="34" charset="-120"/>
              </a:rPr>
              <a:t>Clear scope and a consistent experience across information architecture and UX.</a:t>
            </a:r>
            <a:endParaRPr lang="en-US" sz="900" dirty="0"/>
          </a:p>
        </p:txBody>
      </p:sp>
      <p:sp>
        <p:nvSpPr>
          <p:cNvPr id="14" name="Shape 12"/>
          <p:cNvSpPr/>
          <p:nvPr/>
        </p:nvSpPr>
        <p:spPr>
          <a:xfrm>
            <a:off x="502920" y="4242816"/>
            <a:ext cx="6556248" cy="493776"/>
          </a:xfrm>
          <a:prstGeom prst="roundRect">
            <a:avLst>
              <a:gd name="adj" fmla="val 9259"/>
            </a:avLst>
          </a:prstGeom>
          <a:solidFill>
            <a:srgbClr val="13273A"/>
          </a:solidFill>
          <a:ln/>
        </p:spPr>
      </p:sp>
      <p:sp>
        <p:nvSpPr>
          <p:cNvPr id="15" name="Shape 13"/>
          <p:cNvSpPr/>
          <p:nvPr/>
        </p:nvSpPr>
        <p:spPr>
          <a:xfrm>
            <a:off x="667512" y="4315968"/>
            <a:ext cx="347472" cy="347472"/>
          </a:xfrm>
          <a:prstGeom prst="ellipse">
            <a:avLst/>
          </a:prstGeom>
          <a:solidFill>
            <a:srgbClr val="C1501D"/>
          </a:solidFill>
          <a:ln/>
        </p:spPr>
      </p:sp>
      <p:sp>
        <p:nvSpPr>
          <p:cNvPr id="16" name="Text 14"/>
          <p:cNvSpPr/>
          <p:nvPr/>
        </p:nvSpPr>
        <p:spPr>
          <a:xfrm>
            <a:off x="667512" y="4315968"/>
            <a:ext cx="347472" cy="347472"/>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7" name="Text 15"/>
          <p:cNvSpPr/>
          <p:nvPr/>
        </p:nvSpPr>
        <p:spPr>
          <a:xfrm>
            <a:off x="1161288" y="4306824"/>
            <a:ext cx="5715000" cy="219456"/>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Knowledge &amp; Learning</a:t>
            </a:r>
            <a:endParaRPr lang="en-US" sz="1150" dirty="0"/>
          </a:p>
        </p:txBody>
      </p:sp>
      <p:sp>
        <p:nvSpPr>
          <p:cNvPr id="18" name="Text 16"/>
          <p:cNvSpPr/>
          <p:nvPr/>
        </p:nvSpPr>
        <p:spPr>
          <a:xfrm>
            <a:off x="1161288" y="4526280"/>
            <a:ext cx="5715000" cy="201168"/>
          </a:xfrm>
          <a:prstGeom prst="rect">
            <a:avLst/>
          </a:prstGeom>
          <a:noFill/>
          <a:ln/>
        </p:spPr>
        <p:txBody>
          <a:bodyPr wrap="square" rtlCol="0" anchor="ctr"/>
          <a:lstStyle/>
          <a:p>
            <a:pPr marL="0" indent="0">
              <a:buNone/>
            </a:pPr>
            <a:r>
              <a:rPr lang="en-US" sz="900" dirty="0">
                <a:solidFill>
                  <a:srgbClr val="B9C3CC"/>
                </a:solidFill>
                <a:latin typeface="Calibri" pitchFamily="34" charset="0"/>
                <a:ea typeface="Calibri" pitchFamily="34" charset="-122"/>
                <a:cs typeface="Calibri" pitchFamily="34" charset="-120"/>
              </a:rPr>
              <a:t>Knowledge architecture, master curriculum, learning engine, assessment and certification.</a:t>
            </a:r>
            <a:endParaRPr lang="en-US" sz="900" dirty="0"/>
          </a:p>
        </p:txBody>
      </p:sp>
      <p:sp>
        <p:nvSpPr>
          <p:cNvPr id="19" name="Shape 17"/>
          <p:cNvSpPr/>
          <p:nvPr/>
        </p:nvSpPr>
        <p:spPr>
          <a:xfrm>
            <a:off x="502920" y="4828032"/>
            <a:ext cx="6556248" cy="493776"/>
          </a:xfrm>
          <a:prstGeom prst="roundRect">
            <a:avLst>
              <a:gd name="adj" fmla="val 9259"/>
            </a:avLst>
          </a:prstGeom>
          <a:solidFill>
            <a:srgbClr val="13273A"/>
          </a:solidFill>
          <a:ln/>
        </p:spPr>
      </p:sp>
      <p:sp>
        <p:nvSpPr>
          <p:cNvPr id="20" name="Shape 18"/>
          <p:cNvSpPr/>
          <p:nvPr/>
        </p:nvSpPr>
        <p:spPr>
          <a:xfrm>
            <a:off x="667512" y="4901184"/>
            <a:ext cx="347472" cy="347472"/>
          </a:xfrm>
          <a:prstGeom prst="ellipse">
            <a:avLst/>
          </a:prstGeom>
          <a:solidFill>
            <a:srgbClr val="C1501D"/>
          </a:solidFill>
          <a:ln/>
        </p:spPr>
      </p:sp>
      <p:sp>
        <p:nvSpPr>
          <p:cNvPr id="21" name="Text 19"/>
          <p:cNvSpPr/>
          <p:nvPr/>
        </p:nvSpPr>
        <p:spPr>
          <a:xfrm>
            <a:off x="667512" y="4901184"/>
            <a:ext cx="347472" cy="347472"/>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22" name="Text 20"/>
          <p:cNvSpPr/>
          <p:nvPr/>
        </p:nvSpPr>
        <p:spPr>
          <a:xfrm>
            <a:off x="1161288" y="4892040"/>
            <a:ext cx="5715000" cy="219456"/>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Intelligence &amp; Performance</a:t>
            </a:r>
            <a:endParaRPr lang="en-US" sz="1150" dirty="0"/>
          </a:p>
        </p:txBody>
      </p:sp>
      <p:sp>
        <p:nvSpPr>
          <p:cNvPr id="23" name="Text 21"/>
          <p:cNvSpPr/>
          <p:nvPr/>
        </p:nvSpPr>
        <p:spPr>
          <a:xfrm>
            <a:off x="1161288" y="5111496"/>
            <a:ext cx="5715000" cy="201168"/>
          </a:xfrm>
          <a:prstGeom prst="rect">
            <a:avLst/>
          </a:prstGeom>
          <a:noFill/>
          <a:ln/>
        </p:spPr>
        <p:txBody>
          <a:bodyPr wrap="square" rtlCol="0" anchor="ctr"/>
          <a:lstStyle/>
          <a:p>
            <a:pPr marL="0" indent="0">
              <a:buNone/>
            </a:pPr>
            <a:r>
              <a:rPr lang="en-US" sz="900" dirty="0">
                <a:solidFill>
                  <a:srgbClr val="B9C3CC"/>
                </a:solidFill>
                <a:latin typeface="Calibri" pitchFamily="34" charset="0"/>
                <a:ea typeface="Calibri" pitchFamily="34" charset="-122"/>
                <a:cs typeface="Calibri" pitchFamily="34" charset="-120"/>
              </a:rPr>
              <a:t>Knowledge engine, smart search, governed AI assistant, and live performance indicators.</a:t>
            </a:r>
            <a:endParaRPr lang="en-US" sz="900" dirty="0"/>
          </a:p>
        </p:txBody>
      </p:sp>
      <p:sp>
        <p:nvSpPr>
          <p:cNvPr id="24" name="Shape 22"/>
          <p:cNvSpPr/>
          <p:nvPr/>
        </p:nvSpPr>
        <p:spPr>
          <a:xfrm>
            <a:off x="502920" y="5413248"/>
            <a:ext cx="6556248" cy="493776"/>
          </a:xfrm>
          <a:prstGeom prst="roundRect">
            <a:avLst>
              <a:gd name="adj" fmla="val 9259"/>
            </a:avLst>
          </a:prstGeom>
          <a:solidFill>
            <a:srgbClr val="13273A"/>
          </a:solidFill>
          <a:ln/>
        </p:spPr>
      </p:sp>
      <p:sp>
        <p:nvSpPr>
          <p:cNvPr id="25" name="Shape 23"/>
          <p:cNvSpPr/>
          <p:nvPr/>
        </p:nvSpPr>
        <p:spPr>
          <a:xfrm>
            <a:off x="667512" y="5486400"/>
            <a:ext cx="347472" cy="347472"/>
          </a:xfrm>
          <a:prstGeom prst="ellipse">
            <a:avLst/>
          </a:prstGeom>
          <a:solidFill>
            <a:srgbClr val="C1501D"/>
          </a:solidFill>
          <a:ln/>
        </p:spPr>
      </p:sp>
      <p:sp>
        <p:nvSpPr>
          <p:cNvPr id="26" name="Text 24"/>
          <p:cNvSpPr/>
          <p:nvPr/>
        </p:nvSpPr>
        <p:spPr>
          <a:xfrm>
            <a:off x="667512" y="5486400"/>
            <a:ext cx="347472" cy="347472"/>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4</a:t>
            </a:r>
            <a:endParaRPr lang="en-US" sz="1350" dirty="0"/>
          </a:p>
        </p:txBody>
      </p:sp>
      <p:sp>
        <p:nvSpPr>
          <p:cNvPr id="27" name="Text 25"/>
          <p:cNvSpPr/>
          <p:nvPr/>
        </p:nvSpPr>
        <p:spPr>
          <a:xfrm>
            <a:off x="1161288" y="5477256"/>
            <a:ext cx="5715000" cy="219456"/>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Technical Operations</a:t>
            </a:r>
            <a:endParaRPr lang="en-US" sz="1150" dirty="0"/>
          </a:p>
        </p:txBody>
      </p:sp>
      <p:sp>
        <p:nvSpPr>
          <p:cNvPr id="28" name="Text 26"/>
          <p:cNvSpPr/>
          <p:nvPr/>
        </p:nvSpPr>
        <p:spPr>
          <a:xfrm>
            <a:off x="1161288" y="5696712"/>
            <a:ext cx="5715000" cy="201168"/>
          </a:xfrm>
          <a:prstGeom prst="rect">
            <a:avLst/>
          </a:prstGeom>
          <a:noFill/>
          <a:ln/>
        </p:spPr>
        <p:txBody>
          <a:bodyPr wrap="square" rtlCol="0" anchor="ctr"/>
          <a:lstStyle/>
          <a:p>
            <a:pPr marL="0" indent="0">
              <a:buNone/>
            </a:pPr>
            <a:r>
              <a:rPr lang="en-US" sz="900" dirty="0">
                <a:solidFill>
                  <a:srgbClr val="B9C3CC"/>
                </a:solidFill>
                <a:latin typeface="Calibri" pitchFamily="34" charset="0"/>
                <a:ea typeface="Calibri" pitchFamily="34" charset="-122"/>
                <a:cs typeface="Calibri" pitchFamily="34" charset="-120"/>
              </a:rPr>
              <a:t>Database, identity and permissions, per-property customisation, admin and reporting.</a:t>
            </a:r>
            <a:endParaRPr lang="en-US" sz="900" dirty="0"/>
          </a:p>
        </p:txBody>
      </p:sp>
      <p:sp>
        <p:nvSpPr>
          <p:cNvPr id="29" name="Shape 27"/>
          <p:cNvSpPr/>
          <p:nvPr/>
        </p:nvSpPr>
        <p:spPr>
          <a:xfrm>
            <a:off x="502920" y="5998464"/>
            <a:ext cx="6556248" cy="493776"/>
          </a:xfrm>
          <a:prstGeom prst="roundRect">
            <a:avLst>
              <a:gd name="adj" fmla="val 9259"/>
            </a:avLst>
          </a:prstGeom>
          <a:solidFill>
            <a:srgbClr val="13273A"/>
          </a:solidFill>
          <a:ln/>
        </p:spPr>
      </p:sp>
      <p:sp>
        <p:nvSpPr>
          <p:cNvPr id="30" name="Shape 28"/>
          <p:cNvSpPr/>
          <p:nvPr/>
        </p:nvSpPr>
        <p:spPr>
          <a:xfrm>
            <a:off x="667512" y="6071616"/>
            <a:ext cx="347472" cy="347472"/>
          </a:xfrm>
          <a:prstGeom prst="ellipse">
            <a:avLst/>
          </a:prstGeom>
          <a:solidFill>
            <a:srgbClr val="C1501D"/>
          </a:solidFill>
          <a:ln/>
        </p:spPr>
      </p:sp>
      <p:sp>
        <p:nvSpPr>
          <p:cNvPr id="31" name="Text 29"/>
          <p:cNvSpPr/>
          <p:nvPr/>
        </p:nvSpPr>
        <p:spPr>
          <a:xfrm>
            <a:off x="667512" y="6071616"/>
            <a:ext cx="347472" cy="347472"/>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5</a:t>
            </a:r>
            <a:endParaRPr lang="en-US" sz="1350" dirty="0"/>
          </a:p>
        </p:txBody>
      </p:sp>
      <p:sp>
        <p:nvSpPr>
          <p:cNvPr id="32" name="Text 30"/>
          <p:cNvSpPr/>
          <p:nvPr/>
        </p:nvSpPr>
        <p:spPr>
          <a:xfrm>
            <a:off x="1161288" y="6062472"/>
            <a:ext cx="5715000" cy="219456"/>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Governance &amp; Growth</a:t>
            </a:r>
            <a:endParaRPr lang="en-US" sz="1150" dirty="0"/>
          </a:p>
        </p:txBody>
      </p:sp>
      <p:sp>
        <p:nvSpPr>
          <p:cNvPr id="33" name="Text 31"/>
          <p:cNvSpPr/>
          <p:nvPr/>
        </p:nvSpPr>
        <p:spPr>
          <a:xfrm>
            <a:off x="1161288" y="6281928"/>
            <a:ext cx="5715000" cy="201168"/>
          </a:xfrm>
          <a:prstGeom prst="rect">
            <a:avLst/>
          </a:prstGeom>
          <a:noFill/>
          <a:ln/>
        </p:spPr>
        <p:txBody>
          <a:bodyPr wrap="square" rtlCol="0" anchor="ctr"/>
          <a:lstStyle/>
          <a:p>
            <a:pPr marL="0" indent="0">
              <a:buNone/>
            </a:pPr>
            <a:r>
              <a:rPr lang="en-US" sz="900" dirty="0">
                <a:solidFill>
                  <a:srgbClr val="B9C3CC"/>
                </a:solidFill>
                <a:latin typeface="Calibri" pitchFamily="34" charset="0"/>
                <a:ea typeface="Calibri" pitchFamily="34" charset="-122"/>
                <a:cs typeface="Calibri" pitchFamily="34" charset="-120"/>
              </a:rPr>
              <a:t>Security and privacy, version control, product roadmap, web and mobile channels.</a:t>
            </a:r>
            <a:endParaRPr lang="en-US" sz="900" dirty="0"/>
          </a:p>
        </p:txBody>
      </p:sp>
      <p:sp>
        <p:nvSpPr>
          <p:cNvPr id="34" name="Text 32"/>
          <p:cNvSpPr/>
          <p:nvPr/>
        </p:nvSpPr>
        <p:spPr>
          <a:xfrm>
            <a:off x="502920" y="6693408"/>
            <a:ext cx="6556248" cy="201168"/>
          </a:xfrm>
          <a:prstGeom prst="rect">
            <a:avLst/>
          </a:prstGeom>
          <a:noFill/>
          <a:ln/>
        </p:spPr>
        <p:txBody>
          <a:bodyPr wrap="square" rtlCol="0" anchor="ctr"/>
          <a:lstStyle/>
          <a:p>
            <a:pPr marL="0" indent="0">
              <a:buNone/>
            </a:pPr>
            <a:r>
              <a:rPr lang="en-US" sz="950" b="1" kern="0" spc="100" dirty="0">
                <a:solidFill>
                  <a:srgbClr val="E4C98A"/>
                </a:solidFill>
                <a:latin typeface="Calibri" pitchFamily="34" charset="0"/>
                <a:ea typeface="Calibri" pitchFamily="34" charset="-122"/>
                <a:cs typeface="Calibri" pitchFamily="34" charset="-120"/>
              </a:rPr>
              <a:t>MASTER CURRICULUM • TEN PROFESSIONAL DOMAINS</a:t>
            </a:r>
            <a:endParaRPr lang="en-US" sz="950" dirty="0"/>
          </a:p>
        </p:txBody>
      </p:sp>
      <p:sp>
        <p:nvSpPr>
          <p:cNvPr id="35" name="Shape 33"/>
          <p:cNvSpPr/>
          <p:nvPr/>
        </p:nvSpPr>
        <p:spPr>
          <a:xfrm>
            <a:off x="502920" y="6986016"/>
            <a:ext cx="1223467" cy="365760"/>
          </a:xfrm>
          <a:prstGeom prst="roundRect">
            <a:avLst>
              <a:gd name="adj" fmla="val 45000"/>
            </a:avLst>
          </a:prstGeom>
          <a:solidFill>
            <a:srgbClr val="13273A"/>
          </a:solidFill>
          <a:ln w="6350">
            <a:solidFill>
              <a:srgbClr val="C9A15A"/>
            </a:solidFill>
            <a:prstDash val="solid"/>
          </a:ln>
        </p:spPr>
      </p:sp>
      <p:sp>
        <p:nvSpPr>
          <p:cNvPr id="36" name="Text 34"/>
          <p:cNvSpPr/>
          <p:nvPr/>
        </p:nvSpPr>
        <p:spPr>
          <a:xfrm>
            <a:off x="548640" y="6986016"/>
            <a:ext cx="1132027" cy="365760"/>
          </a:xfrm>
          <a:prstGeom prst="rect">
            <a:avLst/>
          </a:prstGeom>
          <a:noFill/>
          <a:ln/>
        </p:spPr>
        <p:txBody>
          <a:bodyPr wrap="square" rtlCol="0" anchor="ctr"/>
          <a:lstStyle/>
          <a:p>
            <a:pPr marL="0" indent="0" algn="ctr">
              <a:buNone/>
            </a:pPr>
            <a:r>
              <a:rPr lang="en-US" sz="820" dirty="0">
                <a:solidFill>
                  <a:srgbClr val="FFFFFF"/>
                </a:solidFill>
                <a:latin typeface="Calibri" pitchFamily="34" charset="0"/>
                <a:ea typeface="Calibri" pitchFamily="34" charset="-122"/>
                <a:cs typeface="Calibri" pitchFamily="34" charset="-120"/>
              </a:rPr>
              <a:t>Hotel Fundamentals</a:t>
            </a:r>
            <a:endParaRPr lang="en-US" sz="820" dirty="0"/>
          </a:p>
        </p:txBody>
      </p:sp>
      <p:sp>
        <p:nvSpPr>
          <p:cNvPr id="37" name="Shape 35"/>
          <p:cNvSpPr/>
          <p:nvPr/>
        </p:nvSpPr>
        <p:spPr>
          <a:xfrm>
            <a:off x="1836115" y="6986016"/>
            <a:ext cx="1223467" cy="365760"/>
          </a:xfrm>
          <a:prstGeom prst="roundRect">
            <a:avLst>
              <a:gd name="adj" fmla="val 45000"/>
            </a:avLst>
          </a:prstGeom>
          <a:solidFill>
            <a:srgbClr val="13273A"/>
          </a:solidFill>
          <a:ln w="6350">
            <a:solidFill>
              <a:srgbClr val="C9A15A"/>
            </a:solidFill>
            <a:prstDash val="solid"/>
          </a:ln>
        </p:spPr>
      </p:sp>
      <p:sp>
        <p:nvSpPr>
          <p:cNvPr id="38" name="Text 36"/>
          <p:cNvSpPr/>
          <p:nvPr/>
        </p:nvSpPr>
        <p:spPr>
          <a:xfrm>
            <a:off x="1881835" y="6986016"/>
            <a:ext cx="1132027" cy="365760"/>
          </a:xfrm>
          <a:prstGeom prst="rect">
            <a:avLst/>
          </a:prstGeom>
          <a:noFill/>
          <a:ln/>
        </p:spPr>
        <p:txBody>
          <a:bodyPr wrap="square" rtlCol="0" anchor="ctr"/>
          <a:lstStyle/>
          <a:p>
            <a:pPr marL="0" indent="0" algn="ctr">
              <a:buNone/>
            </a:pPr>
            <a:r>
              <a:rPr lang="en-US" sz="820" dirty="0">
                <a:solidFill>
                  <a:srgbClr val="FFFFFF"/>
                </a:solidFill>
                <a:latin typeface="Calibri" pitchFamily="34" charset="0"/>
                <a:ea typeface="Calibri" pitchFamily="34" charset="-122"/>
                <a:cs typeface="Calibri" pitchFamily="34" charset="-120"/>
              </a:rPr>
              <a:t>Front Office</a:t>
            </a:r>
            <a:endParaRPr lang="en-US" sz="820" dirty="0"/>
          </a:p>
        </p:txBody>
      </p:sp>
      <p:sp>
        <p:nvSpPr>
          <p:cNvPr id="39" name="Shape 37"/>
          <p:cNvSpPr/>
          <p:nvPr/>
        </p:nvSpPr>
        <p:spPr>
          <a:xfrm>
            <a:off x="3169310" y="6986016"/>
            <a:ext cx="1223467" cy="365760"/>
          </a:xfrm>
          <a:prstGeom prst="roundRect">
            <a:avLst>
              <a:gd name="adj" fmla="val 45000"/>
            </a:avLst>
          </a:prstGeom>
          <a:solidFill>
            <a:srgbClr val="13273A"/>
          </a:solidFill>
          <a:ln w="6350">
            <a:solidFill>
              <a:srgbClr val="C9A15A"/>
            </a:solidFill>
            <a:prstDash val="solid"/>
          </a:ln>
        </p:spPr>
      </p:sp>
      <p:sp>
        <p:nvSpPr>
          <p:cNvPr id="40" name="Text 38"/>
          <p:cNvSpPr/>
          <p:nvPr/>
        </p:nvSpPr>
        <p:spPr>
          <a:xfrm>
            <a:off x="3215030" y="6986016"/>
            <a:ext cx="1132027" cy="365760"/>
          </a:xfrm>
          <a:prstGeom prst="rect">
            <a:avLst/>
          </a:prstGeom>
          <a:noFill/>
          <a:ln/>
        </p:spPr>
        <p:txBody>
          <a:bodyPr wrap="square" rtlCol="0" anchor="ctr"/>
          <a:lstStyle/>
          <a:p>
            <a:pPr marL="0" indent="0" algn="ctr">
              <a:buNone/>
            </a:pPr>
            <a:r>
              <a:rPr lang="en-US" sz="820" dirty="0">
                <a:solidFill>
                  <a:srgbClr val="FFFFFF"/>
                </a:solidFill>
                <a:latin typeface="Calibri" pitchFamily="34" charset="0"/>
                <a:ea typeface="Calibri" pitchFamily="34" charset="-122"/>
                <a:cs typeface="Calibri" pitchFamily="34" charset="-120"/>
              </a:rPr>
              <a:t>Housekeeping</a:t>
            </a:r>
            <a:endParaRPr lang="en-US" sz="820" dirty="0"/>
          </a:p>
        </p:txBody>
      </p:sp>
      <p:sp>
        <p:nvSpPr>
          <p:cNvPr id="41" name="Shape 39"/>
          <p:cNvSpPr/>
          <p:nvPr/>
        </p:nvSpPr>
        <p:spPr>
          <a:xfrm>
            <a:off x="4502506" y="6986016"/>
            <a:ext cx="1223467" cy="365760"/>
          </a:xfrm>
          <a:prstGeom prst="roundRect">
            <a:avLst>
              <a:gd name="adj" fmla="val 45000"/>
            </a:avLst>
          </a:prstGeom>
          <a:solidFill>
            <a:srgbClr val="13273A"/>
          </a:solidFill>
          <a:ln w="6350">
            <a:solidFill>
              <a:srgbClr val="C9A15A"/>
            </a:solidFill>
            <a:prstDash val="solid"/>
          </a:ln>
        </p:spPr>
      </p:sp>
      <p:sp>
        <p:nvSpPr>
          <p:cNvPr id="42" name="Text 40"/>
          <p:cNvSpPr/>
          <p:nvPr/>
        </p:nvSpPr>
        <p:spPr>
          <a:xfrm>
            <a:off x="4548226" y="6986016"/>
            <a:ext cx="1132027" cy="365760"/>
          </a:xfrm>
          <a:prstGeom prst="rect">
            <a:avLst/>
          </a:prstGeom>
          <a:noFill/>
          <a:ln/>
        </p:spPr>
        <p:txBody>
          <a:bodyPr wrap="square" rtlCol="0" anchor="ctr"/>
          <a:lstStyle/>
          <a:p>
            <a:pPr marL="0" indent="0" algn="ctr">
              <a:buNone/>
            </a:pPr>
            <a:r>
              <a:rPr lang="en-US" sz="820" dirty="0">
                <a:solidFill>
                  <a:srgbClr val="FFFFFF"/>
                </a:solidFill>
                <a:latin typeface="Calibri" pitchFamily="34" charset="0"/>
                <a:ea typeface="Calibri" pitchFamily="34" charset="-122"/>
                <a:cs typeface="Calibri" pitchFamily="34" charset="-120"/>
              </a:rPr>
              <a:t>Food &amp; Beverage</a:t>
            </a:r>
            <a:endParaRPr lang="en-US" sz="820" dirty="0"/>
          </a:p>
        </p:txBody>
      </p:sp>
      <p:sp>
        <p:nvSpPr>
          <p:cNvPr id="43" name="Shape 41"/>
          <p:cNvSpPr/>
          <p:nvPr/>
        </p:nvSpPr>
        <p:spPr>
          <a:xfrm>
            <a:off x="5835701" y="6986016"/>
            <a:ext cx="1223467" cy="365760"/>
          </a:xfrm>
          <a:prstGeom prst="roundRect">
            <a:avLst>
              <a:gd name="adj" fmla="val 45000"/>
            </a:avLst>
          </a:prstGeom>
          <a:solidFill>
            <a:srgbClr val="13273A"/>
          </a:solidFill>
          <a:ln w="6350">
            <a:solidFill>
              <a:srgbClr val="C9A15A"/>
            </a:solidFill>
            <a:prstDash val="solid"/>
          </a:ln>
        </p:spPr>
      </p:sp>
      <p:sp>
        <p:nvSpPr>
          <p:cNvPr id="44" name="Text 42"/>
          <p:cNvSpPr/>
          <p:nvPr/>
        </p:nvSpPr>
        <p:spPr>
          <a:xfrm>
            <a:off x="5881421" y="6986016"/>
            <a:ext cx="1132027" cy="365760"/>
          </a:xfrm>
          <a:prstGeom prst="rect">
            <a:avLst/>
          </a:prstGeom>
          <a:noFill/>
          <a:ln/>
        </p:spPr>
        <p:txBody>
          <a:bodyPr wrap="square" rtlCol="0" anchor="ctr"/>
          <a:lstStyle/>
          <a:p>
            <a:pPr marL="0" indent="0" algn="ctr">
              <a:buNone/>
            </a:pPr>
            <a:r>
              <a:rPr lang="en-US" sz="820" dirty="0">
                <a:solidFill>
                  <a:srgbClr val="FFFFFF"/>
                </a:solidFill>
                <a:latin typeface="Calibri" pitchFamily="34" charset="0"/>
                <a:ea typeface="Calibri" pitchFamily="34" charset="-122"/>
                <a:cs typeface="Calibri" pitchFamily="34" charset="-120"/>
              </a:rPr>
              <a:t>Kitchen</a:t>
            </a:r>
            <a:endParaRPr lang="en-US" sz="820" dirty="0"/>
          </a:p>
        </p:txBody>
      </p:sp>
      <p:sp>
        <p:nvSpPr>
          <p:cNvPr id="45" name="Shape 43"/>
          <p:cNvSpPr/>
          <p:nvPr/>
        </p:nvSpPr>
        <p:spPr>
          <a:xfrm>
            <a:off x="502920" y="7443216"/>
            <a:ext cx="1223467" cy="365760"/>
          </a:xfrm>
          <a:prstGeom prst="roundRect">
            <a:avLst>
              <a:gd name="adj" fmla="val 45000"/>
            </a:avLst>
          </a:prstGeom>
          <a:solidFill>
            <a:srgbClr val="13273A"/>
          </a:solidFill>
          <a:ln w="6350">
            <a:solidFill>
              <a:srgbClr val="C9A15A"/>
            </a:solidFill>
            <a:prstDash val="solid"/>
          </a:ln>
        </p:spPr>
      </p:sp>
      <p:sp>
        <p:nvSpPr>
          <p:cNvPr id="46" name="Text 44"/>
          <p:cNvSpPr/>
          <p:nvPr/>
        </p:nvSpPr>
        <p:spPr>
          <a:xfrm>
            <a:off x="548640" y="7443216"/>
            <a:ext cx="1132027" cy="365760"/>
          </a:xfrm>
          <a:prstGeom prst="rect">
            <a:avLst/>
          </a:prstGeom>
          <a:noFill/>
          <a:ln/>
        </p:spPr>
        <p:txBody>
          <a:bodyPr wrap="square" rtlCol="0" anchor="ctr"/>
          <a:lstStyle/>
          <a:p>
            <a:pPr marL="0" indent="0" algn="ctr">
              <a:buNone/>
            </a:pPr>
            <a:r>
              <a:rPr lang="en-US" sz="820" dirty="0">
                <a:solidFill>
                  <a:srgbClr val="FFFFFF"/>
                </a:solidFill>
                <a:latin typeface="Calibri" pitchFamily="34" charset="0"/>
                <a:ea typeface="Calibri" pitchFamily="34" charset="-122"/>
                <a:cs typeface="Calibri" pitchFamily="34" charset="-120"/>
              </a:rPr>
              <a:t>Sales &amp; Marketing</a:t>
            </a:r>
            <a:endParaRPr lang="en-US" sz="820" dirty="0"/>
          </a:p>
        </p:txBody>
      </p:sp>
      <p:sp>
        <p:nvSpPr>
          <p:cNvPr id="47" name="Shape 45"/>
          <p:cNvSpPr/>
          <p:nvPr/>
        </p:nvSpPr>
        <p:spPr>
          <a:xfrm>
            <a:off x="1836115" y="7443216"/>
            <a:ext cx="1223467" cy="365760"/>
          </a:xfrm>
          <a:prstGeom prst="roundRect">
            <a:avLst>
              <a:gd name="adj" fmla="val 45000"/>
            </a:avLst>
          </a:prstGeom>
          <a:solidFill>
            <a:srgbClr val="13273A"/>
          </a:solidFill>
          <a:ln w="6350">
            <a:solidFill>
              <a:srgbClr val="C9A15A"/>
            </a:solidFill>
            <a:prstDash val="solid"/>
          </a:ln>
        </p:spPr>
      </p:sp>
      <p:sp>
        <p:nvSpPr>
          <p:cNvPr id="48" name="Text 46"/>
          <p:cNvSpPr/>
          <p:nvPr/>
        </p:nvSpPr>
        <p:spPr>
          <a:xfrm>
            <a:off x="1881835" y="7443216"/>
            <a:ext cx="1132027" cy="365760"/>
          </a:xfrm>
          <a:prstGeom prst="rect">
            <a:avLst/>
          </a:prstGeom>
          <a:noFill/>
          <a:ln/>
        </p:spPr>
        <p:txBody>
          <a:bodyPr wrap="square" rtlCol="0" anchor="ctr"/>
          <a:lstStyle/>
          <a:p>
            <a:pPr marL="0" indent="0" algn="ctr">
              <a:buNone/>
            </a:pPr>
            <a:r>
              <a:rPr lang="en-US" sz="820" dirty="0">
                <a:solidFill>
                  <a:srgbClr val="FFFFFF"/>
                </a:solidFill>
                <a:latin typeface="Calibri" pitchFamily="34" charset="0"/>
                <a:ea typeface="Calibri" pitchFamily="34" charset="-122"/>
                <a:cs typeface="Calibri" pitchFamily="34" charset="-120"/>
              </a:rPr>
              <a:t>Revenue &amp; Reservations</a:t>
            </a:r>
            <a:endParaRPr lang="en-US" sz="820" dirty="0"/>
          </a:p>
        </p:txBody>
      </p:sp>
      <p:sp>
        <p:nvSpPr>
          <p:cNvPr id="49" name="Shape 47"/>
          <p:cNvSpPr/>
          <p:nvPr/>
        </p:nvSpPr>
        <p:spPr>
          <a:xfrm>
            <a:off x="3169310" y="7443216"/>
            <a:ext cx="1223467" cy="365760"/>
          </a:xfrm>
          <a:prstGeom prst="roundRect">
            <a:avLst>
              <a:gd name="adj" fmla="val 45000"/>
            </a:avLst>
          </a:prstGeom>
          <a:solidFill>
            <a:srgbClr val="13273A"/>
          </a:solidFill>
          <a:ln w="6350">
            <a:solidFill>
              <a:srgbClr val="C9A15A"/>
            </a:solidFill>
            <a:prstDash val="solid"/>
          </a:ln>
        </p:spPr>
      </p:sp>
      <p:sp>
        <p:nvSpPr>
          <p:cNvPr id="50" name="Text 48"/>
          <p:cNvSpPr/>
          <p:nvPr/>
        </p:nvSpPr>
        <p:spPr>
          <a:xfrm>
            <a:off x="3215030" y="7443216"/>
            <a:ext cx="1132027" cy="365760"/>
          </a:xfrm>
          <a:prstGeom prst="rect">
            <a:avLst/>
          </a:prstGeom>
          <a:noFill/>
          <a:ln/>
        </p:spPr>
        <p:txBody>
          <a:bodyPr wrap="square" rtlCol="0" anchor="ctr"/>
          <a:lstStyle/>
          <a:p>
            <a:pPr marL="0" indent="0" algn="ctr">
              <a:buNone/>
            </a:pPr>
            <a:r>
              <a:rPr lang="en-US" sz="820" dirty="0">
                <a:solidFill>
                  <a:srgbClr val="FFFFFF"/>
                </a:solidFill>
                <a:latin typeface="Calibri" pitchFamily="34" charset="0"/>
                <a:ea typeface="Calibri" pitchFamily="34" charset="-122"/>
                <a:cs typeface="Calibri" pitchFamily="34" charset="-120"/>
              </a:rPr>
              <a:t>Guest Experience</a:t>
            </a:r>
            <a:endParaRPr lang="en-US" sz="820" dirty="0"/>
          </a:p>
        </p:txBody>
      </p:sp>
      <p:sp>
        <p:nvSpPr>
          <p:cNvPr id="51" name="Shape 49"/>
          <p:cNvSpPr/>
          <p:nvPr/>
        </p:nvSpPr>
        <p:spPr>
          <a:xfrm>
            <a:off x="4502506" y="7443216"/>
            <a:ext cx="1223467" cy="365760"/>
          </a:xfrm>
          <a:prstGeom prst="roundRect">
            <a:avLst>
              <a:gd name="adj" fmla="val 45000"/>
            </a:avLst>
          </a:prstGeom>
          <a:solidFill>
            <a:srgbClr val="13273A"/>
          </a:solidFill>
          <a:ln w="6350">
            <a:solidFill>
              <a:srgbClr val="C9A15A"/>
            </a:solidFill>
            <a:prstDash val="solid"/>
          </a:ln>
        </p:spPr>
      </p:sp>
      <p:sp>
        <p:nvSpPr>
          <p:cNvPr id="52" name="Text 50"/>
          <p:cNvSpPr/>
          <p:nvPr/>
        </p:nvSpPr>
        <p:spPr>
          <a:xfrm>
            <a:off x="4548226" y="7443216"/>
            <a:ext cx="1132027" cy="365760"/>
          </a:xfrm>
          <a:prstGeom prst="rect">
            <a:avLst/>
          </a:prstGeom>
          <a:noFill/>
          <a:ln/>
        </p:spPr>
        <p:txBody>
          <a:bodyPr wrap="square" rtlCol="0" anchor="ctr"/>
          <a:lstStyle/>
          <a:p>
            <a:pPr marL="0" indent="0" algn="ctr">
              <a:buNone/>
            </a:pPr>
            <a:r>
              <a:rPr lang="en-US" sz="820" dirty="0">
                <a:solidFill>
                  <a:srgbClr val="FFFFFF"/>
                </a:solidFill>
                <a:latin typeface="Calibri" pitchFamily="34" charset="0"/>
                <a:ea typeface="Calibri" pitchFamily="34" charset="-122"/>
                <a:cs typeface="Calibri" pitchFamily="34" charset="-120"/>
              </a:rPr>
              <a:t>Quality &amp; Audit</a:t>
            </a:r>
            <a:endParaRPr lang="en-US" sz="820" dirty="0"/>
          </a:p>
        </p:txBody>
      </p:sp>
      <p:sp>
        <p:nvSpPr>
          <p:cNvPr id="53" name="Shape 51"/>
          <p:cNvSpPr/>
          <p:nvPr/>
        </p:nvSpPr>
        <p:spPr>
          <a:xfrm>
            <a:off x="5835701" y="7443216"/>
            <a:ext cx="1223467" cy="365760"/>
          </a:xfrm>
          <a:prstGeom prst="roundRect">
            <a:avLst>
              <a:gd name="adj" fmla="val 45000"/>
            </a:avLst>
          </a:prstGeom>
          <a:solidFill>
            <a:srgbClr val="13273A"/>
          </a:solidFill>
          <a:ln w="6350">
            <a:solidFill>
              <a:srgbClr val="C9A15A"/>
            </a:solidFill>
            <a:prstDash val="solid"/>
          </a:ln>
        </p:spPr>
      </p:sp>
      <p:sp>
        <p:nvSpPr>
          <p:cNvPr id="54" name="Text 52"/>
          <p:cNvSpPr/>
          <p:nvPr/>
        </p:nvSpPr>
        <p:spPr>
          <a:xfrm>
            <a:off x="5881421" y="7443216"/>
            <a:ext cx="1132027" cy="365760"/>
          </a:xfrm>
          <a:prstGeom prst="rect">
            <a:avLst/>
          </a:prstGeom>
          <a:noFill/>
          <a:ln/>
        </p:spPr>
        <p:txBody>
          <a:bodyPr wrap="square" rtlCol="0" anchor="ctr"/>
          <a:lstStyle/>
          <a:p>
            <a:pPr marL="0" indent="0" algn="ctr">
              <a:buNone/>
            </a:pPr>
            <a:r>
              <a:rPr lang="en-US" sz="820" dirty="0">
                <a:solidFill>
                  <a:srgbClr val="FFFFFF"/>
                </a:solidFill>
                <a:latin typeface="Calibri" pitchFamily="34" charset="0"/>
                <a:ea typeface="Calibri" pitchFamily="34" charset="-122"/>
                <a:cs typeface="Calibri" pitchFamily="34" charset="-120"/>
              </a:rPr>
              <a:t>Security &amp; Safety</a:t>
            </a:r>
            <a:endParaRPr lang="en-US" sz="820" dirty="0"/>
          </a:p>
        </p:txBody>
      </p:sp>
      <p:sp>
        <p:nvSpPr>
          <p:cNvPr id="55" name="Shape 53"/>
          <p:cNvSpPr/>
          <p:nvPr/>
        </p:nvSpPr>
        <p:spPr>
          <a:xfrm>
            <a:off x="502920" y="7991856"/>
            <a:ext cx="1570482" cy="1280160"/>
          </a:xfrm>
          <a:prstGeom prst="roundRect">
            <a:avLst>
              <a:gd name="adj" fmla="val 4286"/>
            </a:avLst>
          </a:prstGeom>
          <a:solidFill>
            <a:srgbClr val="13273A"/>
          </a:solidFill>
          <a:ln/>
        </p:spPr>
      </p:sp>
      <p:sp>
        <p:nvSpPr>
          <p:cNvPr id="56" name="Shape 54"/>
          <p:cNvSpPr/>
          <p:nvPr/>
        </p:nvSpPr>
        <p:spPr>
          <a:xfrm>
            <a:off x="1032129" y="8138160"/>
            <a:ext cx="512064" cy="512064"/>
          </a:xfrm>
          <a:prstGeom prst="ellipse">
            <a:avLst/>
          </a:prstGeom>
          <a:solidFill>
            <a:srgbClr val="C9A15A"/>
          </a:solidFill>
          <a:ln/>
        </p:spPr>
      </p:sp>
      <p:pic>
        <p:nvPicPr>
          <p:cNvPr id="57" name="Image 0" descr="/home/claude/assets/icons/language.png"/>
          <p:cNvPicPr>
            <a:picLocks noChangeAspect="1"/>
          </p:cNvPicPr>
          <p:nvPr/>
        </p:nvPicPr>
        <p:blipFill>
          <a:blip r:embed="rId3"/>
          <a:stretch>
            <a:fillRect/>
          </a:stretch>
        </p:blipFill>
        <p:spPr>
          <a:xfrm>
            <a:off x="1155024" y="8261055"/>
            <a:ext cx="266273" cy="266273"/>
          </a:xfrm>
          <a:prstGeom prst="rect">
            <a:avLst/>
          </a:prstGeom>
        </p:spPr>
      </p:pic>
      <p:sp>
        <p:nvSpPr>
          <p:cNvPr id="58" name="Text 55"/>
          <p:cNvSpPr/>
          <p:nvPr/>
        </p:nvSpPr>
        <p:spPr>
          <a:xfrm>
            <a:off x="576072" y="8705088"/>
            <a:ext cx="1424178" cy="274320"/>
          </a:xfrm>
          <a:prstGeom prst="rect">
            <a:avLst/>
          </a:prstGeom>
          <a:noFill/>
          <a:ln/>
        </p:spPr>
        <p:txBody>
          <a:bodyPr wrap="square" rtlCol="0" anchor="ctr"/>
          <a:lstStyle/>
          <a:p>
            <a:pPr marL="0" indent="0" algn="ctr">
              <a:buNone/>
            </a:pPr>
            <a:r>
              <a:rPr lang="en-US" sz="930" b="1" dirty="0">
                <a:solidFill>
                  <a:srgbClr val="FFFFFF"/>
                </a:solidFill>
                <a:latin typeface="Calibri" pitchFamily="34" charset="0"/>
                <a:ea typeface="Calibri" pitchFamily="34" charset="-122"/>
                <a:cs typeface="Calibri" pitchFamily="34" charset="-120"/>
              </a:rPr>
              <a:t>Bilingual by design</a:t>
            </a:r>
            <a:endParaRPr lang="en-US" sz="930" dirty="0"/>
          </a:p>
        </p:txBody>
      </p:sp>
      <p:sp>
        <p:nvSpPr>
          <p:cNvPr id="59" name="Text 56"/>
          <p:cNvSpPr/>
          <p:nvPr/>
        </p:nvSpPr>
        <p:spPr>
          <a:xfrm>
            <a:off x="576072" y="8961120"/>
            <a:ext cx="1424178" cy="274320"/>
          </a:xfrm>
          <a:prstGeom prst="rect">
            <a:avLst/>
          </a:prstGeom>
          <a:noFill/>
          <a:ln/>
        </p:spPr>
        <p:txBody>
          <a:bodyPr wrap="square" rtlCol="0" anchor="ctr"/>
          <a:lstStyle/>
          <a:p>
            <a:pPr marL="0" indent="0" algn="ctr">
              <a:buNone/>
            </a:pPr>
            <a:r>
              <a:rPr lang="en-US" sz="780" dirty="0">
                <a:solidFill>
                  <a:srgbClr val="B9C3CC"/>
                </a:solidFill>
                <a:latin typeface="Calibri" pitchFamily="34" charset="0"/>
                <a:ea typeface="Calibri" pitchFamily="34" charset="-122"/>
                <a:cs typeface="Calibri" pitchFamily="34" charset="-120"/>
              </a:rPr>
              <a:t>Arabic and English, one experience</a:t>
            </a:r>
            <a:endParaRPr lang="en-US" sz="780" dirty="0"/>
          </a:p>
        </p:txBody>
      </p:sp>
      <p:sp>
        <p:nvSpPr>
          <p:cNvPr id="60" name="Shape 57"/>
          <p:cNvSpPr/>
          <p:nvPr/>
        </p:nvSpPr>
        <p:spPr>
          <a:xfrm>
            <a:off x="2164842" y="7991856"/>
            <a:ext cx="1570482" cy="1280160"/>
          </a:xfrm>
          <a:prstGeom prst="roundRect">
            <a:avLst>
              <a:gd name="adj" fmla="val 4286"/>
            </a:avLst>
          </a:prstGeom>
          <a:solidFill>
            <a:srgbClr val="13273A"/>
          </a:solidFill>
          <a:ln/>
        </p:spPr>
      </p:sp>
      <p:sp>
        <p:nvSpPr>
          <p:cNvPr id="61" name="Shape 58"/>
          <p:cNvSpPr/>
          <p:nvPr/>
        </p:nvSpPr>
        <p:spPr>
          <a:xfrm>
            <a:off x="2694051" y="8138160"/>
            <a:ext cx="512064" cy="512064"/>
          </a:xfrm>
          <a:prstGeom prst="ellipse">
            <a:avLst/>
          </a:prstGeom>
          <a:solidFill>
            <a:srgbClr val="C9A15A"/>
          </a:solidFill>
          <a:ln/>
        </p:spPr>
      </p:sp>
      <p:pic>
        <p:nvPicPr>
          <p:cNvPr id="62" name="Image 1" descr="/home/claude/assets/icons/shield.png"/>
          <p:cNvPicPr>
            <a:picLocks noChangeAspect="1"/>
          </p:cNvPicPr>
          <p:nvPr/>
        </p:nvPicPr>
        <p:blipFill>
          <a:blip r:embed="rId4"/>
          <a:stretch>
            <a:fillRect/>
          </a:stretch>
        </p:blipFill>
        <p:spPr>
          <a:xfrm>
            <a:off x="2816946" y="8261055"/>
            <a:ext cx="266273" cy="266273"/>
          </a:xfrm>
          <a:prstGeom prst="rect">
            <a:avLst/>
          </a:prstGeom>
        </p:spPr>
      </p:pic>
      <p:sp>
        <p:nvSpPr>
          <p:cNvPr id="63" name="Text 59"/>
          <p:cNvSpPr/>
          <p:nvPr/>
        </p:nvSpPr>
        <p:spPr>
          <a:xfrm>
            <a:off x="2237994" y="8705088"/>
            <a:ext cx="1424178" cy="274320"/>
          </a:xfrm>
          <a:prstGeom prst="rect">
            <a:avLst/>
          </a:prstGeom>
          <a:noFill/>
          <a:ln/>
        </p:spPr>
        <p:txBody>
          <a:bodyPr wrap="square" rtlCol="0" anchor="ctr"/>
          <a:lstStyle/>
          <a:p>
            <a:pPr marL="0" indent="0" algn="ctr">
              <a:buNone/>
            </a:pPr>
            <a:r>
              <a:rPr lang="en-US" sz="930" b="1" dirty="0">
                <a:solidFill>
                  <a:srgbClr val="FFFFFF"/>
                </a:solidFill>
                <a:latin typeface="Calibri" pitchFamily="34" charset="0"/>
                <a:ea typeface="Calibri" pitchFamily="34" charset="-122"/>
                <a:cs typeface="Calibri" pitchFamily="34" charset="-120"/>
              </a:rPr>
              <a:t>White-label per property</a:t>
            </a:r>
            <a:endParaRPr lang="en-US" sz="930" dirty="0"/>
          </a:p>
        </p:txBody>
      </p:sp>
      <p:sp>
        <p:nvSpPr>
          <p:cNvPr id="64" name="Text 60"/>
          <p:cNvSpPr/>
          <p:nvPr/>
        </p:nvSpPr>
        <p:spPr>
          <a:xfrm>
            <a:off x="2237994" y="8961120"/>
            <a:ext cx="1424178" cy="274320"/>
          </a:xfrm>
          <a:prstGeom prst="rect">
            <a:avLst/>
          </a:prstGeom>
          <a:noFill/>
          <a:ln/>
        </p:spPr>
        <p:txBody>
          <a:bodyPr wrap="square" rtlCol="0" anchor="ctr"/>
          <a:lstStyle/>
          <a:p>
            <a:pPr marL="0" indent="0" algn="ctr">
              <a:buNone/>
            </a:pPr>
            <a:r>
              <a:rPr lang="en-US" sz="780" dirty="0">
                <a:solidFill>
                  <a:srgbClr val="B9C3CC"/>
                </a:solidFill>
                <a:latin typeface="Calibri" pitchFamily="34" charset="0"/>
                <a:ea typeface="Calibri" pitchFamily="34" charset="-122"/>
                <a:cs typeface="Calibri" pitchFamily="34" charset="-120"/>
              </a:rPr>
              <a:t>Each establishment's own brand</a:t>
            </a:r>
            <a:endParaRPr lang="en-US" sz="780" dirty="0"/>
          </a:p>
        </p:txBody>
      </p:sp>
      <p:sp>
        <p:nvSpPr>
          <p:cNvPr id="65" name="Shape 61"/>
          <p:cNvSpPr/>
          <p:nvPr/>
        </p:nvSpPr>
        <p:spPr>
          <a:xfrm>
            <a:off x="3826764" y="7991856"/>
            <a:ext cx="1570482" cy="1280160"/>
          </a:xfrm>
          <a:prstGeom prst="roundRect">
            <a:avLst>
              <a:gd name="adj" fmla="val 4286"/>
            </a:avLst>
          </a:prstGeom>
          <a:solidFill>
            <a:srgbClr val="13273A"/>
          </a:solidFill>
          <a:ln/>
        </p:spPr>
      </p:sp>
      <p:sp>
        <p:nvSpPr>
          <p:cNvPr id="66" name="Shape 62"/>
          <p:cNvSpPr/>
          <p:nvPr/>
        </p:nvSpPr>
        <p:spPr>
          <a:xfrm>
            <a:off x="4355973" y="8138160"/>
            <a:ext cx="512064" cy="512064"/>
          </a:xfrm>
          <a:prstGeom prst="ellipse">
            <a:avLst/>
          </a:prstGeom>
          <a:solidFill>
            <a:srgbClr val="C9A15A"/>
          </a:solidFill>
          <a:ln/>
        </p:spPr>
      </p:sp>
      <p:pic>
        <p:nvPicPr>
          <p:cNvPr id="67" name="Image 2" descr="/home/claude/assets/icons/robot.png"/>
          <p:cNvPicPr>
            <a:picLocks noChangeAspect="1"/>
          </p:cNvPicPr>
          <p:nvPr/>
        </p:nvPicPr>
        <p:blipFill>
          <a:blip r:embed="rId5"/>
          <a:stretch>
            <a:fillRect/>
          </a:stretch>
        </p:blipFill>
        <p:spPr>
          <a:xfrm>
            <a:off x="4478868" y="8261055"/>
            <a:ext cx="266273" cy="266273"/>
          </a:xfrm>
          <a:prstGeom prst="rect">
            <a:avLst/>
          </a:prstGeom>
        </p:spPr>
      </p:pic>
      <p:sp>
        <p:nvSpPr>
          <p:cNvPr id="68" name="Text 63"/>
          <p:cNvSpPr/>
          <p:nvPr/>
        </p:nvSpPr>
        <p:spPr>
          <a:xfrm>
            <a:off x="3899916" y="8705088"/>
            <a:ext cx="1424178" cy="274320"/>
          </a:xfrm>
          <a:prstGeom prst="rect">
            <a:avLst/>
          </a:prstGeom>
          <a:noFill/>
          <a:ln/>
        </p:spPr>
        <p:txBody>
          <a:bodyPr wrap="square" rtlCol="0" anchor="ctr"/>
          <a:lstStyle/>
          <a:p>
            <a:pPr marL="0" indent="0" algn="ctr">
              <a:buNone/>
            </a:pPr>
            <a:r>
              <a:rPr lang="en-US" sz="930" b="1" dirty="0">
                <a:solidFill>
                  <a:srgbClr val="FFFFFF"/>
                </a:solidFill>
                <a:latin typeface="Calibri" pitchFamily="34" charset="0"/>
                <a:ea typeface="Calibri" pitchFamily="34" charset="-122"/>
                <a:cs typeface="Calibri" pitchFamily="34" charset="-120"/>
              </a:rPr>
              <a:t>Governed AI assistant</a:t>
            </a:r>
            <a:endParaRPr lang="en-US" sz="930" dirty="0"/>
          </a:p>
        </p:txBody>
      </p:sp>
      <p:sp>
        <p:nvSpPr>
          <p:cNvPr id="69" name="Text 64"/>
          <p:cNvSpPr/>
          <p:nvPr/>
        </p:nvSpPr>
        <p:spPr>
          <a:xfrm>
            <a:off x="3899916" y="8961120"/>
            <a:ext cx="1424178" cy="274320"/>
          </a:xfrm>
          <a:prstGeom prst="rect">
            <a:avLst/>
          </a:prstGeom>
          <a:noFill/>
          <a:ln/>
        </p:spPr>
        <p:txBody>
          <a:bodyPr wrap="square" rtlCol="0" anchor="ctr"/>
          <a:lstStyle/>
          <a:p>
            <a:pPr marL="0" indent="0" algn="ctr">
              <a:buNone/>
            </a:pPr>
            <a:r>
              <a:rPr lang="en-US" sz="780" dirty="0">
                <a:solidFill>
                  <a:srgbClr val="B9C3CC"/>
                </a:solidFill>
                <a:latin typeface="Calibri" pitchFamily="34" charset="0"/>
                <a:ea typeface="Calibri" pitchFamily="34" charset="-122"/>
                <a:cs typeface="Calibri" pitchFamily="34" charset="-120"/>
              </a:rPr>
              <a:t>Answers only from approved content</a:t>
            </a:r>
            <a:endParaRPr lang="en-US" sz="780" dirty="0"/>
          </a:p>
        </p:txBody>
      </p:sp>
      <p:sp>
        <p:nvSpPr>
          <p:cNvPr id="70" name="Shape 65"/>
          <p:cNvSpPr/>
          <p:nvPr/>
        </p:nvSpPr>
        <p:spPr>
          <a:xfrm>
            <a:off x="5488686" y="7991856"/>
            <a:ext cx="1570482" cy="1280160"/>
          </a:xfrm>
          <a:prstGeom prst="roundRect">
            <a:avLst>
              <a:gd name="adj" fmla="val 4286"/>
            </a:avLst>
          </a:prstGeom>
          <a:solidFill>
            <a:srgbClr val="13273A"/>
          </a:solidFill>
          <a:ln/>
        </p:spPr>
      </p:sp>
      <p:sp>
        <p:nvSpPr>
          <p:cNvPr id="71" name="Shape 66"/>
          <p:cNvSpPr/>
          <p:nvPr/>
        </p:nvSpPr>
        <p:spPr>
          <a:xfrm>
            <a:off x="6017895" y="8138160"/>
            <a:ext cx="512064" cy="512064"/>
          </a:xfrm>
          <a:prstGeom prst="ellipse">
            <a:avLst/>
          </a:prstGeom>
          <a:solidFill>
            <a:srgbClr val="C9A15A"/>
          </a:solidFill>
          <a:ln/>
        </p:spPr>
      </p:sp>
      <p:pic>
        <p:nvPicPr>
          <p:cNvPr id="72" name="Image 3" descr="/home/claude/assets/icons/chartline.png"/>
          <p:cNvPicPr>
            <a:picLocks noChangeAspect="1"/>
          </p:cNvPicPr>
          <p:nvPr/>
        </p:nvPicPr>
        <p:blipFill>
          <a:blip r:embed="rId6"/>
          <a:stretch>
            <a:fillRect/>
          </a:stretch>
        </p:blipFill>
        <p:spPr>
          <a:xfrm>
            <a:off x="6140790" y="8261055"/>
            <a:ext cx="266273" cy="266273"/>
          </a:xfrm>
          <a:prstGeom prst="rect">
            <a:avLst/>
          </a:prstGeom>
        </p:spPr>
      </p:pic>
      <p:sp>
        <p:nvSpPr>
          <p:cNvPr id="73" name="Text 67"/>
          <p:cNvSpPr/>
          <p:nvPr/>
        </p:nvSpPr>
        <p:spPr>
          <a:xfrm>
            <a:off x="5561838" y="8705088"/>
            <a:ext cx="1424178" cy="274320"/>
          </a:xfrm>
          <a:prstGeom prst="rect">
            <a:avLst/>
          </a:prstGeom>
          <a:noFill/>
          <a:ln/>
        </p:spPr>
        <p:txBody>
          <a:bodyPr wrap="square" rtlCol="0" anchor="ctr"/>
          <a:lstStyle/>
          <a:p>
            <a:pPr marL="0" indent="0" algn="ctr">
              <a:buNone/>
            </a:pPr>
            <a:r>
              <a:rPr lang="en-US" sz="930" b="1" dirty="0">
                <a:solidFill>
                  <a:srgbClr val="FFFFFF"/>
                </a:solidFill>
                <a:latin typeface="Calibri" pitchFamily="34" charset="0"/>
                <a:ea typeface="Calibri" pitchFamily="34" charset="-122"/>
                <a:cs typeface="Calibri" pitchFamily="34" charset="-120"/>
              </a:rPr>
              <a:t>Evidence of progress</a:t>
            </a:r>
            <a:endParaRPr lang="en-US" sz="930" dirty="0"/>
          </a:p>
        </p:txBody>
      </p:sp>
      <p:sp>
        <p:nvSpPr>
          <p:cNvPr id="74" name="Text 68"/>
          <p:cNvSpPr/>
          <p:nvPr/>
        </p:nvSpPr>
        <p:spPr>
          <a:xfrm>
            <a:off x="5561838" y="8961120"/>
            <a:ext cx="1424178" cy="274320"/>
          </a:xfrm>
          <a:prstGeom prst="rect">
            <a:avLst/>
          </a:prstGeom>
          <a:noFill/>
          <a:ln/>
        </p:spPr>
        <p:txBody>
          <a:bodyPr wrap="square" rtlCol="0" anchor="ctr"/>
          <a:lstStyle/>
          <a:p>
            <a:pPr marL="0" indent="0" algn="ctr">
              <a:buNone/>
            </a:pPr>
            <a:r>
              <a:rPr lang="en-US" sz="780" dirty="0">
                <a:solidFill>
                  <a:srgbClr val="B9C3CC"/>
                </a:solidFill>
                <a:latin typeface="Calibri" pitchFamily="34" charset="0"/>
                <a:ea typeface="Calibri" pitchFamily="34" charset="-122"/>
                <a:cs typeface="Calibri" pitchFamily="34" charset="-120"/>
              </a:rPr>
              <a:t>Dashboards, reports, certification</a:t>
            </a:r>
            <a:endParaRPr lang="en-US" sz="780" dirty="0"/>
          </a:p>
        </p:txBody>
      </p:sp>
      <p:sp>
        <p:nvSpPr>
          <p:cNvPr id="75" name="Text 69"/>
          <p:cNvSpPr/>
          <p:nvPr/>
        </p:nvSpPr>
        <p:spPr>
          <a:xfrm>
            <a:off x="502920" y="9500616"/>
            <a:ext cx="6556248" cy="365760"/>
          </a:xfrm>
          <a:prstGeom prst="rect">
            <a:avLst/>
          </a:prstGeom>
          <a:noFill/>
          <a:ln/>
        </p:spPr>
        <p:txBody>
          <a:bodyPr wrap="square" rtlCol="0" anchor="ctr"/>
          <a:lstStyle/>
          <a:p>
            <a:pPr marL="0" indent="0" algn="ctr">
              <a:buNone/>
            </a:pPr>
            <a:r>
              <a:rPr lang="en-US" sz="1300" i="1" dirty="0">
                <a:solidFill>
                  <a:srgbClr val="E4C98A"/>
                </a:solidFill>
                <a:latin typeface="Cambria" pitchFamily="34" charset="0"/>
                <a:ea typeface="Cambria" pitchFamily="34" charset="-122"/>
                <a:cs typeface="Cambria" pitchFamily="34" charset="-120"/>
              </a:rPr>
              <a:t>One platform. One standard. Measurable performance at every property.</a:t>
            </a:r>
            <a:endParaRPr lang="en-US" sz="1300" dirty="0"/>
          </a:p>
        </p:txBody>
      </p:sp>
      <p:sp>
        <p:nvSpPr>
          <p:cNvPr id="76" name="Shape 70"/>
          <p:cNvSpPr/>
          <p:nvPr/>
        </p:nvSpPr>
        <p:spPr>
          <a:xfrm>
            <a:off x="502920" y="10186416"/>
            <a:ext cx="6556248" cy="0"/>
          </a:xfrm>
          <a:prstGeom prst="line">
            <a:avLst/>
          </a:prstGeom>
          <a:noFill/>
          <a:ln w="9525">
            <a:solidFill>
              <a:srgbClr val="2A3B4C"/>
            </a:solidFill>
            <a:prstDash val="solid"/>
          </a:ln>
        </p:spPr>
      </p:sp>
      <p:sp>
        <p:nvSpPr>
          <p:cNvPr id="77" name="Text 71"/>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B9C3CC"/>
                </a:solidFill>
                <a:latin typeface="Calibri" pitchFamily="34" charset="0"/>
                <a:ea typeface="Calibri" pitchFamily="34" charset="-122"/>
                <a:cs typeface="Calibri" pitchFamily="34" charset="-120"/>
              </a:rPr>
              <a:t>ALTUS GULF</a:t>
            </a:r>
            <a:endParaRPr lang="en-US" sz="850" dirty="0"/>
          </a:p>
        </p:txBody>
      </p:sp>
      <p:sp>
        <p:nvSpPr>
          <p:cNvPr id="78" name="Text 72"/>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B9C3CC"/>
                </a:solidFill>
                <a:latin typeface="Calibri" pitchFamily="34" charset="0"/>
                <a:ea typeface="Calibri" pitchFamily="34" charset="-122"/>
                <a:cs typeface="Calibri" pitchFamily="34" charset="-120"/>
              </a:rPr>
              <a:t>CORPORATE PROFILE  •  08</a:t>
            </a:r>
            <a:endParaRPr lang="en-US" sz="85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C1501D"/>
                </a:solidFill>
                <a:latin typeface="Calibri" pitchFamily="34" charset="0"/>
                <a:ea typeface="Calibri" pitchFamily="34" charset="-122"/>
                <a:cs typeface="Calibri" pitchFamily="34" charset="-120"/>
              </a:rPr>
              <a:t>07  •  PROPRIETARY DIGITAL PLATFORM • THE COMPETITIVE EDGE</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a:solidFill>
                  <a:srgbClr val="0B1B2B"/>
                </a:solidFill>
                <a:latin typeface="Cambria" pitchFamily="34" charset="0"/>
                <a:ea typeface="Cambria" pitchFamily="34" charset="-122"/>
                <a:cs typeface="Cambria" pitchFamily="34" charset="-120"/>
              </a:rPr>
              <a:t>How the Altus Gulf Model Differs</a:t>
            </a:r>
            <a:endParaRPr lang="en-US" sz="2700" dirty="0"/>
          </a:p>
        </p:txBody>
      </p:sp>
      <p:sp>
        <p:nvSpPr>
          <p:cNvPr id="4" name="Text 2"/>
          <p:cNvSpPr/>
          <p:nvPr/>
        </p:nvSpPr>
        <p:spPr>
          <a:xfrm>
            <a:off x="502920" y="1280160"/>
            <a:ext cx="6556248" cy="566928"/>
          </a:xfrm>
          <a:prstGeom prst="rect">
            <a:avLst/>
          </a:prstGeom>
          <a:noFill/>
          <a:ln/>
        </p:spPr>
        <p:txBody>
          <a:bodyPr wrap="square" rtlCol="0" anchor="t"/>
          <a:lstStyle/>
          <a:p>
            <a:pPr marL="0" indent="0" algn="l">
              <a:lnSpc>
                <a:spcPct val="118000"/>
              </a:lnSpc>
              <a:buNone/>
            </a:pPr>
            <a:r>
              <a:rPr lang="en-US" sz="1150" dirty="0">
                <a:solidFill>
                  <a:srgbClr val="6B675F"/>
                </a:solidFill>
                <a:latin typeface="Calibri" pitchFamily="34" charset="0"/>
                <a:ea typeface="Calibri" pitchFamily="34" charset="-122"/>
                <a:cs typeface="Calibri" pitchFamily="34" charset="-120"/>
              </a:rPr>
              <a:t>Consultancies typically hand over reports. Software vendors hand over tools. Altus Gulf Hospitality Knowledge &amp; Performance brings the two together: our consulting know-how, institutionalised inside a living platform that keeps building value long after the mandate.</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938528"/>
          <a:ext cx="6556248" cy="2331720"/>
        </p:xfrm>
        <a:graphic>
          <a:graphicData uri="http://schemas.openxmlformats.org/drawingml/2006/table">
            <a:tbl>
              <a:tblPr/>
              <a:tblGrid>
                <a:gridCol w="105156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gridCol w="2029968">
                  <a:extLst>
                    <a:ext uri="{9D8B030D-6E8A-4147-A177-3AD203B41FA5}">
                      <a16:colId xmlns:a16="http://schemas.microsoft.com/office/drawing/2014/main" val="20003"/>
                    </a:ext>
                  </a:extLst>
                </a:gridCol>
              </a:tblGrid>
              <a:tr h="388620">
                <a:tc>
                  <a:txBody>
                    <a:bodyPr/>
                    <a:lstStyle/>
                    <a:p>
                      <a:pPr marL="0" indent="0">
                        <a:buNone/>
                      </a:pPr>
                      <a:r>
                        <a:rPr lang="en-US" sz="850" b="1" dirty="0">
                          <a:solidFill>
                            <a:srgbClr val="FFFFFF"/>
                          </a:solidFill>
                        </a:rPr>
                        <a:t>DIMENSION</a:t>
                      </a:r>
                      <a:endParaRPr lang="en-US" sz="85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0B1B2B"/>
                    </a:solidFill>
                  </a:tcPr>
                </a:tc>
                <a:tc>
                  <a:txBody>
                    <a:bodyPr/>
                    <a:lstStyle/>
                    <a:p>
                      <a:pPr marL="0" indent="0">
                        <a:buNone/>
                      </a:pPr>
                      <a:r>
                        <a:rPr lang="en-US" sz="850" b="1" dirty="0">
                          <a:solidFill>
                            <a:srgbClr val="FFFFFF"/>
                          </a:solidFill>
                        </a:rPr>
                        <a:t>TYPICAL CONSULTANCY</a:t>
                      </a:r>
                      <a:endParaRPr lang="en-US" sz="85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0B1B2B"/>
                    </a:solidFill>
                  </a:tcPr>
                </a:tc>
                <a:tc>
                  <a:txBody>
                    <a:bodyPr/>
                    <a:lstStyle/>
                    <a:p>
                      <a:pPr marL="0" indent="0">
                        <a:buNone/>
                      </a:pPr>
                      <a:r>
                        <a:rPr lang="en-US" sz="850" b="1" dirty="0">
                          <a:solidFill>
                            <a:srgbClr val="FFFFFF"/>
                          </a:solidFill>
                        </a:rPr>
                        <a:t>GENERIC LMS / TRAINING VENDOR</a:t>
                      </a:r>
                      <a:endParaRPr lang="en-US" sz="85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0B1B2B"/>
                    </a:solidFill>
                  </a:tcPr>
                </a:tc>
                <a:tc>
                  <a:txBody>
                    <a:bodyPr/>
                    <a:lstStyle/>
                    <a:p>
                      <a:pPr marL="0" indent="0">
                        <a:buNone/>
                      </a:pPr>
                      <a:r>
                        <a:rPr lang="en-US" sz="850" b="1" dirty="0">
                          <a:solidFill>
                            <a:srgbClr val="FFFFFF"/>
                          </a:solidFill>
                        </a:rPr>
                        <a:t>ALTUS GULF HK&amp;P</a:t>
                      </a:r>
                      <a:endParaRPr lang="en-US" sz="85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0F5C42"/>
                    </a:solidFill>
                  </a:tcPr>
                </a:tc>
                <a:extLst>
                  <a:ext uri="{0D108BD9-81ED-4DB2-BD59-A6C34878D82A}">
                    <a16:rowId xmlns:a16="http://schemas.microsoft.com/office/drawing/2014/main" val="10000"/>
                  </a:ext>
                </a:extLst>
              </a:tr>
              <a:tr h="388620">
                <a:tc>
                  <a:txBody>
                    <a:bodyPr/>
                    <a:lstStyle/>
                    <a:p>
                      <a:pPr marL="0" indent="0">
                        <a:buNone/>
                      </a:pPr>
                      <a:r>
                        <a:rPr lang="en-US" sz="830" b="1" dirty="0">
                          <a:solidFill>
                            <a:srgbClr val="0B1B2B"/>
                          </a:solidFill>
                        </a:rPr>
                        <a:t>Source of content</a:t>
                      </a:r>
                      <a:endParaRPr lang="en-US" sz="83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tc>
                  <a:txBody>
                    <a:bodyPr/>
                    <a:lstStyle/>
                    <a:p>
                      <a:pPr marL="0" indent="0">
                        <a:buNone/>
                      </a:pPr>
                      <a:r>
                        <a:rPr lang="en-US" sz="800" dirty="0">
                          <a:solidFill>
                            <a:srgbClr val="6B675F"/>
                          </a:solidFill>
                        </a:rPr>
                        <a:t>External frameworks, generic decks</a:t>
                      </a:r>
                      <a:endParaRPr lang="en-US" sz="80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buNone/>
                      </a:pPr>
                      <a:r>
                        <a:rPr lang="en-US" sz="800" dirty="0">
                          <a:solidFill>
                            <a:srgbClr val="6B675F"/>
                          </a:solidFill>
                        </a:rPr>
                        <a:t>Off-the-shelf libraries, no hotel standards</a:t>
                      </a:r>
                      <a:endParaRPr lang="en-US" sz="80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buNone/>
                      </a:pPr>
                      <a:r>
                        <a:rPr lang="en-US" sz="800" b="1" dirty="0">
                          <a:solidFill>
                            <a:srgbClr val="0F5C42"/>
                          </a:solidFill>
                        </a:rPr>
                        <a:t>Three decades of operator-grade SOPs and field-tested standards</a:t>
                      </a:r>
                      <a:endParaRPr lang="en-US" sz="80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extLst>
                  <a:ext uri="{0D108BD9-81ED-4DB2-BD59-A6C34878D82A}">
                    <a16:rowId xmlns:a16="http://schemas.microsoft.com/office/drawing/2014/main" val="10001"/>
                  </a:ext>
                </a:extLst>
              </a:tr>
              <a:tr h="388620">
                <a:tc>
                  <a:txBody>
                    <a:bodyPr/>
                    <a:lstStyle/>
                    <a:p>
                      <a:pPr marL="0" indent="0">
                        <a:buNone/>
                      </a:pPr>
                      <a:r>
                        <a:rPr lang="en-US" sz="830" b="1" dirty="0">
                          <a:solidFill>
                            <a:srgbClr val="0B1B2B"/>
                          </a:solidFill>
                        </a:rPr>
                        <a:t>After the engagement</a:t>
                      </a:r>
                      <a:endParaRPr lang="en-US" sz="83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tc>
                  <a:txBody>
                    <a:bodyPr/>
                    <a:lstStyle/>
                    <a:p>
                      <a:pPr marL="0" indent="0">
                        <a:buNone/>
                      </a:pPr>
                      <a:r>
                        <a:rPr lang="en-US" sz="800" dirty="0">
                          <a:solidFill>
                            <a:srgbClr val="6B675F"/>
                          </a:solidFill>
                        </a:rPr>
                        <a:t>Knowledge leaves with the consultants</a:t>
                      </a:r>
                      <a:endParaRPr lang="en-US" sz="80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buNone/>
                      </a:pPr>
                      <a:r>
                        <a:rPr lang="en-US" sz="800" dirty="0">
                          <a:solidFill>
                            <a:srgbClr val="6B675F"/>
                          </a:solidFill>
                        </a:rPr>
                        <a:t>Content ages without ownership</a:t>
                      </a:r>
                      <a:endParaRPr lang="en-US" sz="80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buNone/>
                      </a:pPr>
                      <a:r>
                        <a:rPr lang="en-US" sz="800" b="1" dirty="0">
                          <a:solidFill>
                            <a:srgbClr val="0F5C42"/>
                          </a:solidFill>
                        </a:rPr>
                        <a:t>Knowledge stays institutionalised, versioned, and continuously updated</a:t>
                      </a:r>
                      <a:endParaRPr lang="en-US" sz="80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extLst>
                  <a:ext uri="{0D108BD9-81ED-4DB2-BD59-A6C34878D82A}">
                    <a16:rowId xmlns:a16="http://schemas.microsoft.com/office/drawing/2014/main" val="10002"/>
                  </a:ext>
                </a:extLst>
              </a:tr>
              <a:tr h="388620">
                <a:tc>
                  <a:txBody>
                    <a:bodyPr/>
                    <a:lstStyle/>
                    <a:p>
                      <a:pPr marL="0" indent="0">
                        <a:buNone/>
                      </a:pPr>
                      <a:r>
                        <a:rPr lang="en-US" sz="830" b="1" dirty="0">
                          <a:solidFill>
                            <a:srgbClr val="0B1B2B"/>
                          </a:solidFill>
                        </a:rPr>
                        <a:t>Fit to the property</a:t>
                      </a:r>
                      <a:endParaRPr lang="en-US" sz="83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tc>
                  <a:txBody>
                    <a:bodyPr/>
                    <a:lstStyle/>
                    <a:p>
                      <a:pPr marL="0" indent="0">
                        <a:buNone/>
                      </a:pPr>
                      <a:r>
                        <a:rPr lang="en-US" sz="800" dirty="0">
                          <a:solidFill>
                            <a:srgbClr val="6B675F"/>
                          </a:solidFill>
                        </a:rPr>
                        <a:t>One-size recommendations</a:t>
                      </a:r>
                      <a:endParaRPr lang="en-US" sz="80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buNone/>
                      </a:pPr>
                      <a:r>
                        <a:rPr lang="en-US" sz="800" dirty="0">
                          <a:solidFill>
                            <a:srgbClr val="6B675F"/>
                          </a:solidFill>
                        </a:rPr>
                        <a:t>No customisation, no Arabic depth</a:t>
                      </a:r>
                      <a:endParaRPr lang="en-US" sz="80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buNone/>
                      </a:pPr>
                      <a:r>
                        <a:rPr lang="en-US" sz="800" b="1" dirty="0">
                          <a:solidFill>
                            <a:srgbClr val="0F5C42"/>
                          </a:solidFill>
                        </a:rPr>
                        <a:t>White-label, bilingual, tailored per property, role, and standard</a:t>
                      </a:r>
                      <a:endParaRPr lang="en-US" sz="80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extLst>
                  <a:ext uri="{0D108BD9-81ED-4DB2-BD59-A6C34878D82A}">
                    <a16:rowId xmlns:a16="http://schemas.microsoft.com/office/drawing/2014/main" val="10003"/>
                  </a:ext>
                </a:extLst>
              </a:tr>
              <a:tr h="388620">
                <a:tc>
                  <a:txBody>
                    <a:bodyPr/>
                    <a:lstStyle/>
                    <a:p>
                      <a:pPr marL="0" indent="0">
                        <a:buNone/>
                      </a:pPr>
                      <a:r>
                        <a:rPr lang="en-US" sz="830" b="1" dirty="0">
                          <a:solidFill>
                            <a:srgbClr val="0B1B2B"/>
                          </a:solidFill>
                        </a:rPr>
                        <a:t>Proof of adoption</a:t>
                      </a:r>
                      <a:endParaRPr lang="en-US" sz="83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tc>
                  <a:txBody>
                    <a:bodyPr/>
                    <a:lstStyle/>
                    <a:p>
                      <a:pPr marL="0" indent="0">
                        <a:buNone/>
                      </a:pPr>
                      <a:r>
                        <a:rPr lang="en-US" sz="800" dirty="0">
                          <a:solidFill>
                            <a:srgbClr val="6B675F"/>
                          </a:solidFill>
                        </a:rPr>
                        <a:t>Limited once the report is delivered</a:t>
                      </a:r>
                      <a:endParaRPr lang="en-US" sz="80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buNone/>
                      </a:pPr>
                      <a:r>
                        <a:rPr lang="en-US" sz="800" dirty="0">
                          <a:solidFill>
                            <a:srgbClr val="6B675F"/>
                          </a:solidFill>
                        </a:rPr>
                        <a:t>Completion clicks, not competence</a:t>
                      </a:r>
                      <a:endParaRPr lang="en-US" sz="80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buNone/>
                      </a:pPr>
                      <a:r>
                        <a:rPr lang="en-US" sz="800" b="1" dirty="0">
                          <a:solidFill>
                            <a:srgbClr val="0F5C42"/>
                          </a:solidFill>
                        </a:rPr>
                        <a:t>Assessment, certification, and competency dashboards per employee</a:t>
                      </a:r>
                      <a:endParaRPr lang="en-US" sz="80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extLst>
                  <a:ext uri="{0D108BD9-81ED-4DB2-BD59-A6C34878D82A}">
                    <a16:rowId xmlns:a16="http://schemas.microsoft.com/office/drawing/2014/main" val="10004"/>
                  </a:ext>
                </a:extLst>
              </a:tr>
              <a:tr h="388620">
                <a:tc>
                  <a:txBody>
                    <a:bodyPr/>
                    <a:lstStyle/>
                    <a:p>
                      <a:pPr marL="0" indent="0">
                        <a:buNone/>
                      </a:pPr>
                      <a:r>
                        <a:rPr lang="en-US" sz="830" b="1" dirty="0">
                          <a:solidFill>
                            <a:srgbClr val="0B1B2B"/>
                          </a:solidFill>
                        </a:rPr>
                        <a:t>Intelligence</a:t>
                      </a:r>
                      <a:endParaRPr lang="en-US" sz="83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tc>
                  <a:txBody>
                    <a:bodyPr/>
                    <a:lstStyle/>
                    <a:p>
                      <a:pPr marL="0" indent="0">
                        <a:buNone/>
                      </a:pPr>
                      <a:r>
                        <a:rPr lang="en-US" sz="800" dirty="0">
                          <a:solidFill>
                            <a:srgbClr val="6B675F"/>
                          </a:solidFill>
                        </a:rPr>
                        <a:t>Static documents</a:t>
                      </a:r>
                      <a:endParaRPr lang="en-US" sz="80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buNone/>
                      </a:pPr>
                      <a:r>
                        <a:rPr lang="en-US" sz="800" dirty="0">
                          <a:solidFill>
                            <a:srgbClr val="6B675F"/>
                          </a:solidFill>
                        </a:rPr>
                        <a:t>Keyword search at best</a:t>
                      </a:r>
                      <a:endParaRPr lang="en-US" sz="80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buNone/>
                      </a:pPr>
                      <a:r>
                        <a:rPr lang="en-US" sz="800" b="1" dirty="0">
                          <a:solidFill>
                            <a:srgbClr val="0F5C42"/>
                          </a:solidFill>
                        </a:rPr>
                        <a:t>Governed AI assistant answering strictly from approved content</a:t>
                      </a:r>
                      <a:endParaRPr lang="en-US" sz="800" dirty="0"/>
                    </a:p>
                  </a:txBody>
                  <a:tcPr marL="50800" marR="50800" marT="25400" marB="254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extLst>
                  <a:ext uri="{0D108BD9-81ED-4DB2-BD59-A6C34878D82A}">
                    <a16:rowId xmlns:a16="http://schemas.microsoft.com/office/drawing/2014/main" val="10005"/>
                  </a:ext>
                </a:extLst>
              </a:tr>
            </a:tbl>
          </a:graphicData>
        </a:graphic>
      </p:graphicFrame>
      <p:sp>
        <p:nvSpPr>
          <p:cNvPr id="6" name="Text 3"/>
          <p:cNvSpPr/>
          <p:nvPr/>
        </p:nvSpPr>
        <p:spPr>
          <a:xfrm>
            <a:off x="502920" y="4453128"/>
            <a:ext cx="6556248" cy="219456"/>
          </a:xfrm>
          <a:prstGeom prst="rect">
            <a:avLst/>
          </a:prstGeom>
          <a:noFill/>
          <a:ln/>
        </p:spPr>
        <p:txBody>
          <a:bodyPr wrap="square" rtlCol="0" anchor="ctr"/>
          <a:lstStyle/>
          <a:p>
            <a:pPr marL="0" indent="0">
              <a:buNone/>
            </a:pPr>
            <a:r>
              <a:rPr lang="en-US" sz="950" b="1" kern="0" spc="120" dirty="0">
                <a:solidFill>
                  <a:srgbClr val="C1501D"/>
                </a:solidFill>
                <a:latin typeface="Calibri" pitchFamily="34" charset="0"/>
                <a:ea typeface="Calibri" pitchFamily="34" charset="-122"/>
                <a:cs typeface="Calibri" pitchFamily="34" charset="-120"/>
              </a:rPr>
              <a:t>MEASURABLE VALUE FOR OWNERS AND OPERATORS</a:t>
            </a:r>
            <a:endParaRPr lang="en-US" sz="950" dirty="0"/>
          </a:p>
        </p:txBody>
      </p:sp>
      <p:sp>
        <p:nvSpPr>
          <p:cNvPr id="7" name="Shape 4"/>
          <p:cNvSpPr/>
          <p:nvPr/>
        </p:nvSpPr>
        <p:spPr>
          <a:xfrm>
            <a:off x="502920" y="4727448"/>
            <a:ext cx="1570482" cy="1600200"/>
          </a:xfrm>
          <a:prstGeom prst="roundRect">
            <a:avLst>
              <a:gd name="adj" fmla="val 2911"/>
            </a:avLst>
          </a:prstGeom>
          <a:solidFill>
            <a:srgbClr val="13273A"/>
          </a:solidFill>
          <a:ln/>
        </p:spPr>
      </p:sp>
      <p:sp>
        <p:nvSpPr>
          <p:cNvPr id="8" name="Text 5"/>
          <p:cNvSpPr/>
          <p:nvPr/>
        </p:nvSpPr>
        <p:spPr>
          <a:xfrm>
            <a:off x="557784" y="4818888"/>
            <a:ext cx="1460754" cy="672084"/>
          </a:xfrm>
          <a:prstGeom prst="rect">
            <a:avLst/>
          </a:prstGeom>
          <a:noFill/>
          <a:ln/>
        </p:spPr>
        <p:txBody>
          <a:bodyPr wrap="square" rtlCol="0" anchor="b">
            <a:normAutofit/>
          </a:bodyPr>
          <a:lstStyle/>
          <a:p>
            <a:pPr marL="0" indent="0" algn="ctr">
              <a:buNone/>
            </a:pPr>
            <a:r>
              <a:rPr lang="en-US" sz="2400" b="1" dirty="0">
                <a:solidFill>
                  <a:srgbClr val="C9A15A"/>
                </a:solidFill>
                <a:latin typeface="Cambria" pitchFamily="34" charset="0"/>
                <a:ea typeface="Cambria" pitchFamily="34" charset="-122"/>
                <a:cs typeface="Cambria" pitchFamily="34" charset="-120"/>
              </a:rPr>
              <a:t>40%+</a:t>
            </a:r>
            <a:endParaRPr lang="en-US" sz="2400" dirty="0"/>
          </a:p>
        </p:txBody>
      </p:sp>
      <p:sp>
        <p:nvSpPr>
          <p:cNvPr id="9" name="Text 6"/>
          <p:cNvSpPr/>
          <p:nvPr/>
        </p:nvSpPr>
        <p:spPr>
          <a:xfrm>
            <a:off x="612648" y="5591556"/>
            <a:ext cx="1351026" cy="384048"/>
          </a:xfrm>
          <a:prstGeom prst="rect">
            <a:avLst/>
          </a:prstGeom>
          <a:noFill/>
          <a:ln/>
        </p:spPr>
        <p:txBody>
          <a:bodyPr wrap="square" rtlCol="0" anchor="t"/>
          <a:lstStyle/>
          <a:p>
            <a:pPr marL="0" indent="0" algn="ctr">
              <a:buNone/>
            </a:pPr>
            <a:r>
              <a:rPr lang="en-US" sz="850" b="1" dirty="0">
                <a:solidFill>
                  <a:srgbClr val="FFFFFF"/>
                </a:solidFill>
                <a:latin typeface="Calibri" pitchFamily="34" charset="0"/>
                <a:ea typeface="Calibri" pitchFamily="34" charset="-122"/>
                <a:cs typeface="Calibri" pitchFamily="34" charset="-120"/>
              </a:rPr>
              <a:t>Faster onboarding readiness</a:t>
            </a:r>
            <a:endParaRPr lang="en-US" sz="850" dirty="0"/>
          </a:p>
        </p:txBody>
      </p:sp>
      <p:sp>
        <p:nvSpPr>
          <p:cNvPr id="5" name="Text 7"/>
          <p:cNvSpPr/>
          <p:nvPr/>
        </p:nvSpPr>
        <p:spPr>
          <a:xfrm>
            <a:off x="612648" y="5991606"/>
            <a:ext cx="1351026" cy="320040"/>
          </a:xfrm>
          <a:prstGeom prst="rect">
            <a:avLst/>
          </a:prstGeom>
          <a:noFill/>
          <a:ln/>
        </p:spPr>
        <p:txBody>
          <a:bodyPr wrap="square" rtlCol="0" anchor="t"/>
          <a:lstStyle/>
          <a:p>
            <a:pPr marL="0" indent="0" algn="ctr">
              <a:lnSpc>
                <a:spcPct val="105000"/>
              </a:lnSpc>
              <a:buNone/>
            </a:pPr>
            <a:r>
              <a:rPr lang="en-US" sz="720" dirty="0">
                <a:solidFill>
                  <a:srgbClr val="B9C3CC"/>
                </a:solidFill>
                <a:latin typeface="Calibri" pitchFamily="34" charset="0"/>
                <a:ea typeface="Calibri" pitchFamily="34" charset="-122"/>
                <a:cs typeface="Calibri" pitchFamily="34" charset="-120"/>
              </a:rPr>
              <a:t>New hires productive from day one.</a:t>
            </a:r>
            <a:endParaRPr lang="en-US" sz="720" dirty="0"/>
          </a:p>
        </p:txBody>
      </p:sp>
      <p:sp>
        <p:nvSpPr>
          <p:cNvPr id="11" name="Shape 8"/>
          <p:cNvSpPr/>
          <p:nvPr/>
        </p:nvSpPr>
        <p:spPr>
          <a:xfrm>
            <a:off x="2164842" y="4727448"/>
            <a:ext cx="1570482" cy="1600200"/>
          </a:xfrm>
          <a:prstGeom prst="roundRect">
            <a:avLst>
              <a:gd name="adj" fmla="val 2911"/>
            </a:avLst>
          </a:prstGeom>
          <a:solidFill>
            <a:srgbClr val="13273A"/>
          </a:solidFill>
          <a:ln/>
        </p:spPr>
      </p:sp>
      <p:sp>
        <p:nvSpPr>
          <p:cNvPr id="12" name="Text 9"/>
          <p:cNvSpPr/>
          <p:nvPr/>
        </p:nvSpPr>
        <p:spPr>
          <a:xfrm>
            <a:off x="2219706" y="4818888"/>
            <a:ext cx="1460754" cy="672084"/>
          </a:xfrm>
          <a:prstGeom prst="rect">
            <a:avLst/>
          </a:prstGeom>
          <a:noFill/>
          <a:ln/>
        </p:spPr>
        <p:txBody>
          <a:bodyPr wrap="square" rtlCol="0" anchor="b">
            <a:normAutofit/>
          </a:bodyPr>
          <a:lstStyle/>
          <a:p>
            <a:pPr marL="0" indent="0" algn="ctr">
              <a:buNone/>
            </a:pPr>
            <a:r>
              <a:rPr lang="en-US" sz="2400" b="1" dirty="0">
                <a:solidFill>
                  <a:srgbClr val="C9A15A"/>
                </a:solidFill>
                <a:latin typeface="Cambria" pitchFamily="34" charset="0"/>
                <a:ea typeface="Cambria" pitchFamily="34" charset="-122"/>
                <a:cs typeface="Cambria" pitchFamily="34" charset="-120"/>
              </a:rPr>
              <a:t>High</a:t>
            </a:r>
            <a:endParaRPr lang="en-US" sz="2400" dirty="0"/>
          </a:p>
        </p:txBody>
      </p:sp>
      <p:sp>
        <p:nvSpPr>
          <p:cNvPr id="13" name="Text 10"/>
          <p:cNvSpPr/>
          <p:nvPr/>
        </p:nvSpPr>
        <p:spPr>
          <a:xfrm>
            <a:off x="2274570" y="5591556"/>
            <a:ext cx="1351026" cy="384048"/>
          </a:xfrm>
          <a:prstGeom prst="rect">
            <a:avLst/>
          </a:prstGeom>
          <a:noFill/>
          <a:ln/>
        </p:spPr>
        <p:txBody>
          <a:bodyPr wrap="square" rtlCol="0" anchor="t"/>
          <a:lstStyle/>
          <a:p>
            <a:pPr marL="0" indent="0" algn="ctr">
              <a:buNone/>
            </a:pPr>
            <a:r>
              <a:rPr lang="en-US" sz="850" b="1" dirty="0">
                <a:solidFill>
                  <a:srgbClr val="FFFFFF"/>
                </a:solidFill>
                <a:latin typeface="Calibri" pitchFamily="34" charset="0"/>
                <a:ea typeface="Calibri" pitchFamily="34" charset="-122"/>
                <a:cs typeface="Calibri" pitchFamily="34" charset="-120"/>
              </a:rPr>
              <a:t>Knowledge retained in-house</a:t>
            </a:r>
            <a:endParaRPr lang="en-US" sz="850" dirty="0"/>
          </a:p>
        </p:txBody>
      </p:sp>
      <p:sp>
        <p:nvSpPr>
          <p:cNvPr id="14" name="Text 11"/>
          <p:cNvSpPr/>
          <p:nvPr/>
        </p:nvSpPr>
        <p:spPr>
          <a:xfrm>
            <a:off x="2274570" y="5991606"/>
            <a:ext cx="1351026" cy="320040"/>
          </a:xfrm>
          <a:prstGeom prst="rect">
            <a:avLst/>
          </a:prstGeom>
          <a:noFill/>
          <a:ln/>
        </p:spPr>
        <p:txBody>
          <a:bodyPr wrap="square" rtlCol="0" anchor="t"/>
          <a:lstStyle/>
          <a:p>
            <a:pPr marL="0" indent="0" algn="ctr">
              <a:lnSpc>
                <a:spcPct val="105000"/>
              </a:lnSpc>
              <a:buNone/>
            </a:pPr>
            <a:r>
              <a:rPr lang="en-US" sz="720" dirty="0">
                <a:solidFill>
                  <a:srgbClr val="B9C3CC"/>
                </a:solidFill>
                <a:latin typeface="Calibri" pitchFamily="34" charset="0"/>
                <a:ea typeface="Calibri" pitchFamily="34" charset="-122"/>
                <a:cs typeface="Calibri" pitchFamily="34" charset="-120"/>
              </a:rPr>
              <a:t>Stays with the institution, not departing staff.</a:t>
            </a:r>
            <a:endParaRPr lang="en-US" sz="720" dirty="0"/>
          </a:p>
        </p:txBody>
      </p:sp>
      <p:sp>
        <p:nvSpPr>
          <p:cNvPr id="15" name="Shape 12"/>
          <p:cNvSpPr/>
          <p:nvPr/>
        </p:nvSpPr>
        <p:spPr>
          <a:xfrm>
            <a:off x="3826764" y="4727448"/>
            <a:ext cx="1570482" cy="1600200"/>
          </a:xfrm>
          <a:prstGeom prst="roundRect">
            <a:avLst>
              <a:gd name="adj" fmla="val 2911"/>
            </a:avLst>
          </a:prstGeom>
          <a:solidFill>
            <a:srgbClr val="13273A"/>
          </a:solidFill>
          <a:ln/>
        </p:spPr>
      </p:sp>
      <p:sp>
        <p:nvSpPr>
          <p:cNvPr id="16" name="Text 13"/>
          <p:cNvSpPr/>
          <p:nvPr/>
        </p:nvSpPr>
        <p:spPr>
          <a:xfrm>
            <a:off x="3881628" y="4818888"/>
            <a:ext cx="1460754" cy="672084"/>
          </a:xfrm>
          <a:prstGeom prst="rect">
            <a:avLst/>
          </a:prstGeom>
          <a:noFill/>
          <a:ln/>
        </p:spPr>
        <p:txBody>
          <a:bodyPr wrap="square" rtlCol="0" anchor="b">
            <a:normAutofit/>
          </a:bodyPr>
          <a:lstStyle/>
          <a:p>
            <a:pPr marL="0" indent="0" algn="ctr">
              <a:buNone/>
            </a:pPr>
            <a:r>
              <a:rPr lang="en-US" sz="2400" b="1" dirty="0">
                <a:solidFill>
                  <a:srgbClr val="C9A15A"/>
                </a:solidFill>
                <a:latin typeface="Cambria" pitchFamily="34" charset="0"/>
                <a:ea typeface="Cambria" pitchFamily="34" charset="-122"/>
                <a:cs typeface="Cambria" pitchFamily="34" charset="-120"/>
              </a:rPr>
              <a:t>100s</a:t>
            </a:r>
            <a:endParaRPr lang="en-US" sz="2400" dirty="0"/>
          </a:p>
        </p:txBody>
      </p:sp>
      <p:sp>
        <p:nvSpPr>
          <p:cNvPr id="17" name="Text 14"/>
          <p:cNvSpPr/>
          <p:nvPr/>
        </p:nvSpPr>
        <p:spPr>
          <a:xfrm>
            <a:off x="3936492" y="5591556"/>
            <a:ext cx="1351026" cy="384048"/>
          </a:xfrm>
          <a:prstGeom prst="rect">
            <a:avLst/>
          </a:prstGeom>
          <a:noFill/>
          <a:ln/>
        </p:spPr>
        <p:txBody>
          <a:bodyPr wrap="square" rtlCol="0" anchor="t"/>
          <a:lstStyle/>
          <a:p>
            <a:pPr marL="0" indent="0" algn="ctr">
              <a:buNone/>
            </a:pPr>
            <a:r>
              <a:rPr lang="en-US" sz="850" b="1" dirty="0">
                <a:solidFill>
                  <a:srgbClr val="FFFFFF"/>
                </a:solidFill>
                <a:latin typeface="Calibri" pitchFamily="34" charset="0"/>
                <a:ea typeface="Calibri" pitchFamily="34" charset="-122"/>
                <a:cs typeface="Calibri" pitchFamily="34" charset="-120"/>
              </a:rPr>
              <a:t>Of training hours saved</a:t>
            </a:r>
            <a:endParaRPr lang="en-US" sz="850" dirty="0"/>
          </a:p>
        </p:txBody>
      </p:sp>
      <p:sp>
        <p:nvSpPr>
          <p:cNvPr id="18" name="Text 15"/>
          <p:cNvSpPr/>
          <p:nvPr/>
        </p:nvSpPr>
        <p:spPr>
          <a:xfrm>
            <a:off x="3936492" y="5991606"/>
            <a:ext cx="1351026" cy="320040"/>
          </a:xfrm>
          <a:prstGeom prst="rect">
            <a:avLst/>
          </a:prstGeom>
          <a:noFill/>
          <a:ln/>
        </p:spPr>
        <p:txBody>
          <a:bodyPr wrap="square" rtlCol="0" anchor="t"/>
          <a:lstStyle/>
          <a:p>
            <a:pPr marL="0" indent="0" algn="ctr">
              <a:lnSpc>
                <a:spcPct val="105000"/>
              </a:lnSpc>
              <a:buNone/>
            </a:pPr>
            <a:r>
              <a:rPr lang="en-US" sz="720" dirty="0">
                <a:solidFill>
                  <a:srgbClr val="B9C3CC"/>
                </a:solidFill>
                <a:latin typeface="Calibri" pitchFamily="34" charset="0"/>
                <a:ea typeface="Calibri" pitchFamily="34" charset="-122"/>
                <a:cs typeface="Calibri" pitchFamily="34" charset="-120"/>
              </a:rPr>
              <a:t>Replaces costly, repetitive classroom cycles.</a:t>
            </a:r>
            <a:endParaRPr lang="en-US" sz="720" dirty="0"/>
          </a:p>
        </p:txBody>
      </p:sp>
      <p:sp>
        <p:nvSpPr>
          <p:cNvPr id="19" name="Shape 16"/>
          <p:cNvSpPr/>
          <p:nvPr/>
        </p:nvSpPr>
        <p:spPr>
          <a:xfrm>
            <a:off x="5488686" y="4727448"/>
            <a:ext cx="1570482" cy="1600200"/>
          </a:xfrm>
          <a:prstGeom prst="roundRect">
            <a:avLst>
              <a:gd name="adj" fmla="val 2911"/>
            </a:avLst>
          </a:prstGeom>
          <a:solidFill>
            <a:srgbClr val="13273A"/>
          </a:solidFill>
          <a:ln/>
        </p:spPr>
      </p:sp>
      <p:sp>
        <p:nvSpPr>
          <p:cNvPr id="20" name="Text 17"/>
          <p:cNvSpPr/>
          <p:nvPr/>
        </p:nvSpPr>
        <p:spPr>
          <a:xfrm>
            <a:off x="5543550" y="4818888"/>
            <a:ext cx="1460754" cy="672084"/>
          </a:xfrm>
          <a:prstGeom prst="rect">
            <a:avLst/>
          </a:prstGeom>
          <a:noFill/>
          <a:ln/>
        </p:spPr>
        <p:txBody>
          <a:bodyPr wrap="square" rtlCol="0" anchor="b">
            <a:normAutofit/>
          </a:bodyPr>
          <a:lstStyle/>
          <a:p>
            <a:pPr marL="0" indent="0" algn="ctr">
              <a:buNone/>
            </a:pPr>
            <a:r>
              <a:rPr lang="en-US" sz="2400" b="1" dirty="0">
                <a:solidFill>
                  <a:srgbClr val="C9A15A"/>
                </a:solidFill>
                <a:latin typeface="Cambria" pitchFamily="34" charset="0"/>
                <a:ea typeface="Cambria" pitchFamily="34" charset="-122"/>
                <a:cs typeface="Cambria" pitchFamily="34" charset="-120"/>
              </a:rPr>
              <a:t>GOP ↑</a:t>
            </a:r>
            <a:endParaRPr lang="en-US" sz="2400" dirty="0"/>
          </a:p>
        </p:txBody>
      </p:sp>
      <p:sp>
        <p:nvSpPr>
          <p:cNvPr id="21" name="Text 18"/>
          <p:cNvSpPr/>
          <p:nvPr/>
        </p:nvSpPr>
        <p:spPr>
          <a:xfrm>
            <a:off x="5598414" y="5591556"/>
            <a:ext cx="1351026" cy="384048"/>
          </a:xfrm>
          <a:prstGeom prst="rect">
            <a:avLst/>
          </a:prstGeom>
          <a:noFill/>
          <a:ln/>
        </p:spPr>
        <p:txBody>
          <a:bodyPr wrap="square" rtlCol="0" anchor="t"/>
          <a:lstStyle/>
          <a:p>
            <a:pPr marL="0" indent="0" algn="ctr">
              <a:buNone/>
            </a:pPr>
            <a:r>
              <a:rPr lang="en-US" sz="850" b="1" dirty="0">
                <a:solidFill>
                  <a:srgbClr val="FFFFFF"/>
                </a:solidFill>
                <a:latin typeface="Calibri" pitchFamily="34" charset="0"/>
                <a:ea typeface="Calibri" pitchFamily="34" charset="-122"/>
                <a:cs typeface="Calibri" pitchFamily="34" charset="-120"/>
              </a:rPr>
              <a:t>Guest satisfaction &amp; profit</a:t>
            </a:r>
            <a:endParaRPr lang="en-US" sz="850" dirty="0"/>
          </a:p>
        </p:txBody>
      </p:sp>
      <p:sp>
        <p:nvSpPr>
          <p:cNvPr id="22" name="Text 19"/>
          <p:cNvSpPr/>
          <p:nvPr/>
        </p:nvSpPr>
        <p:spPr>
          <a:xfrm>
            <a:off x="5598414" y="5991606"/>
            <a:ext cx="1351026" cy="320040"/>
          </a:xfrm>
          <a:prstGeom prst="rect">
            <a:avLst/>
          </a:prstGeom>
          <a:noFill/>
          <a:ln/>
        </p:spPr>
        <p:txBody>
          <a:bodyPr wrap="square" rtlCol="0" anchor="t"/>
          <a:lstStyle/>
          <a:p>
            <a:pPr marL="0" indent="0" algn="ctr">
              <a:lnSpc>
                <a:spcPct val="105000"/>
              </a:lnSpc>
              <a:buNone/>
            </a:pPr>
            <a:r>
              <a:rPr lang="en-US" sz="720" dirty="0">
                <a:solidFill>
                  <a:srgbClr val="B9C3CC"/>
                </a:solidFill>
                <a:latin typeface="Calibri" pitchFamily="34" charset="0"/>
                <a:ea typeface="Calibri" pitchFamily="34" charset="-122"/>
                <a:cs typeface="Calibri" pitchFamily="34" charset="-120"/>
              </a:rPr>
              <a:t>Faster resolution supports scores and profit.</a:t>
            </a:r>
            <a:endParaRPr lang="en-US" sz="720" dirty="0"/>
          </a:p>
        </p:txBody>
      </p:sp>
      <p:sp>
        <p:nvSpPr>
          <p:cNvPr id="23" name="Text 20"/>
          <p:cNvSpPr/>
          <p:nvPr/>
        </p:nvSpPr>
        <p:spPr>
          <a:xfrm>
            <a:off x="502920" y="6537960"/>
            <a:ext cx="6556248" cy="219456"/>
          </a:xfrm>
          <a:prstGeom prst="rect">
            <a:avLst/>
          </a:prstGeom>
          <a:noFill/>
          <a:ln/>
        </p:spPr>
        <p:txBody>
          <a:bodyPr wrap="square" rtlCol="0" anchor="ctr"/>
          <a:lstStyle/>
          <a:p>
            <a:pPr marL="0" indent="0">
              <a:buNone/>
            </a:pPr>
            <a:r>
              <a:rPr lang="en-US" sz="950" b="1" kern="0" spc="120" dirty="0">
                <a:solidFill>
                  <a:srgbClr val="C1501D"/>
                </a:solidFill>
                <a:latin typeface="Calibri" pitchFamily="34" charset="0"/>
                <a:ea typeface="Calibri" pitchFamily="34" charset="-122"/>
                <a:cs typeface="Calibri" pitchFamily="34" charset="-120"/>
              </a:rPr>
              <a:t>ONE PLATFORM, THREE EXPERIENCES</a:t>
            </a:r>
            <a:endParaRPr lang="en-US" sz="950" dirty="0"/>
          </a:p>
        </p:txBody>
      </p:sp>
      <p:sp>
        <p:nvSpPr>
          <p:cNvPr id="24" name="Shape 21"/>
          <p:cNvSpPr/>
          <p:nvPr/>
        </p:nvSpPr>
        <p:spPr>
          <a:xfrm>
            <a:off x="502920" y="6812280"/>
            <a:ext cx="2063496" cy="1828800"/>
          </a:xfrm>
          <a:prstGeom prst="roundRect">
            <a:avLst>
              <a:gd name="adj" fmla="val 3000"/>
            </a:avLst>
          </a:prstGeom>
          <a:solidFill>
            <a:srgbClr val="FFFFFF"/>
          </a:solidFill>
          <a:ln w="9525">
            <a:solidFill>
              <a:srgbClr val="E4DDCB"/>
            </a:solidFill>
            <a:prstDash val="solid"/>
          </a:ln>
        </p:spPr>
      </p:sp>
      <p:sp>
        <p:nvSpPr>
          <p:cNvPr id="25" name="Shape 22"/>
          <p:cNvSpPr/>
          <p:nvPr/>
        </p:nvSpPr>
        <p:spPr>
          <a:xfrm>
            <a:off x="704088" y="7013448"/>
            <a:ext cx="402336" cy="402336"/>
          </a:xfrm>
          <a:prstGeom prst="ellipse">
            <a:avLst/>
          </a:prstGeom>
          <a:solidFill>
            <a:srgbClr val="0F5C42"/>
          </a:solidFill>
          <a:ln/>
        </p:spPr>
      </p:sp>
      <p:pic>
        <p:nvPicPr>
          <p:cNvPr id="26" name="Image 0" descr="/home/claude/assets/icons/gradcap.png"/>
          <p:cNvPicPr>
            <a:picLocks noChangeAspect="1"/>
          </p:cNvPicPr>
          <p:nvPr/>
        </p:nvPicPr>
        <p:blipFill>
          <a:blip r:embed="rId3"/>
          <a:stretch>
            <a:fillRect/>
          </a:stretch>
        </p:blipFill>
        <p:spPr>
          <a:xfrm>
            <a:off x="800649" y="7110009"/>
            <a:ext cx="209215" cy="209215"/>
          </a:xfrm>
          <a:prstGeom prst="rect">
            <a:avLst/>
          </a:prstGeom>
        </p:spPr>
      </p:pic>
      <p:sp>
        <p:nvSpPr>
          <p:cNvPr id="27" name="Text 23"/>
          <p:cNvSpPr/>
          <p:nvPr/>
        </p:nvSpPr>
        <p:spPr>
          <a:xfrm>
            <a:off x="1271016" y="6995160"/>
            <a:ext cx="1094232" cy="29260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The Learner</a:t>
            </a:r>
            <a:endParaRPr lang="en-US" sz="1250" dirty="0"/>
          </a:p>
        </p:txBody>
      </p:sp>
      <p:sp>
        <p:nvSpPr>
          <p:cNvPr id="28" name="Text 24"/>
          <p:cNvSpPr/>
          <p:nvPr/>
        </p:nvSpPr>
        <p:spPr>
          <a:xfrm>
            <a:off x="704088" y="7397496"/>
            <a:ext cx="1661160" cy="1207008"/>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Role-based plan, short applied lessons, assessment, live progress, and a completion certificate.</a:t>
            </a:r>
            <a:endParaRPr lang="en-US" sz="970" dirty="0"/>
          </a:p>
        </p:txBody>
      </p:sp>
      <p:sp>
        <p:nvSpPr>
          <p:cNvPr id="29" name="Shape 25"/>
          <p:cNvSpPr/>
          <p:nvPr/>
        </p:nvSpPr>
        <p:spPr>
          <a:xfrm>
            <a:off x="2749296" y="6812280"/>
            <a:ext cx="2063496" cy="1828800"/>
          </a:xfrm>
          <a:prstGeom prst="roundRect">
            <a:avLst>
              <a:gd name="adj" fmla="val 3000"/>
            </a:avLst>
          </a:prstGeom>
          <a:solidFill>
            <a:srgbClr val="FFFFFF"/>
          </a:solidFill>
          <a:ln w="9525">
            <a:solidFill>
              <a:srgbClr val="E4DDCB"/>
            </a:solidFill>
            <a:prstDash val="solid"/>
          </a:ln>
        </p:spPr>
      </p:sp>
      <p:sp>
        <p:nvSpPr>
          <p:cNvPr id="30" name="Shape 26"/>
          <p:cNvSpPr/>
          <p:nvPr/>
        </p:nvSpPr>
        <p:spPr>
          <a:xfrm>
            <a:off x="2950464" y="7013448"/>
            <a:ext cx="402336" cy="402336"/>
          </a:xfrm>
          <a:prstGeom prst="ellipse">
            <a:avLst/>
          </a:prstGeom>
          <a:solidFill>
            <a:srgbClr val="0F5C42"/>
          </a:solidFill>
          <a:ln/>
        </p:spPr>
      </p:sp>
      <p:pic>
        <p:nvPicPr>
          <p:cNvPr id="31" name="Image 1" descr="/home/claude/assets/icons/userscog.png"/>
          <p:cNvPicPr>
            <a:picLocks noChangeAspect="1"/>
          </p:cNvPicPr>
          <p:nvPr/>
        </p:nvPicPr>
        <p:blipFill>
          <a:blip r:embed="rId4"/>
          <a:stretch>
            <a:fillRect/>
          </a:stretch>
        </p:blipFill>
        <p:spPr>
          <a:xfrm>
            <a:off x="3047025" y="7110009"/>
            <a:ext cx="209215" cy="209215"/>
          </a:xfrm>
          <a:prstGeom prst="rect">
            <a:avLst/>
          </a:prstGeom>
        </p:spPr>
      </p:pic>
      <p:sp>
        <p:nvSpPr>
          <p:cNvPr id="32" name="Text 27"/>
          <p:cNvSpPr/>
          <p:nvPr/>
        </p:nvSpPr>
        <p:spPr>
          <a:xfrm>
            <a:off x="3517392" y="6995160"/>
            <a:ext cx="1094232" cy="47548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Property Management</a:t>
            </a:r>
            <a:endParaRPr lang="en-US" sz="1250" dirty="0"/>
          </a:p>
        </p:txBody>
      </p:sp>
      <p:sp>
        <p:nvSpPr>
          <p:cNvPr id="33" name="Text 28"/>
          <p:cNvSpPr/>
          <p:nvPr/>
        </p:nvSpPr>
        <p:spPr>
          <a:xfrm>
            <a:off x="2950464" y="7580376"/>
            <a:ext cx="1661160" cy="1024128"/>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Assign tracks, follow team completion, read competency reports, and apply the property's own brand.</a:t>
            </a:r>
            <a:endParaRPr lang="en-US" sz="970" dirty="0"/>
          </a:p>
        </p:txBody>
      </p:sp>
      <p:sp>
        <p:nvSpPr>
          <p:cNvPr id="34" name="Shape 29"/>
          <p:cNvSpPr/>
          <p:nvPr/>
        </p:nvSpPr>
        <p:spPr>
          <a:xfrm>
            <a:off x="4995672" y="6812280"/>
            <a:ext cx="2063496" cy="1828800"/>
          </a:xfrm>
          <a:prstGeom prst="roundRect">
            <a:avLst>
              <a:gd name="adj" fmla="val 3000"/>
            </a:avLst>
          </a:prstGeom>
          <a:solidFill>
            <a:srgbClr val="FFFFFF"/>
          </a:solidFill>
          <a:ln w="9525">
            <a:solidFill>
              <a:srgbClr val="E4DDCB"/>
            </a:solidFill>
            <a:prstDash val="solid"/>
          </a:ln>
        </p:spPr>
      </p:sp>
      <p:sp>
        <p:nvSpPr>
          <p:cNvPr id="35" name="Shape 30"/>
          <p:cNvSpPr/>
          <p:nvPr/>
        </p:nvSpPr>
        <p:spPr>
          <a:xfrm>
            <a:off x="5196840" y="7013448"/>
            <a:ext cx="402336" cy="402336"/>
          </a:xfrm>
          <a:prstGeom prst="ellipse">
            <a:avLst/>
          </a:prstGeom>
          <a:solidFill>
            <a:srgbClr val="0F5C42"/>
          </a:solidFill>
          <a:ln/>
        </p:spPr>
      </p:sp>
      <p:pic>
        <p:nvPicPr>
          <p:cNvPr id="36" name="Image 2" descr="/home/claude/assets/icons/cogs.png"/>
          <p:cNvPicPr>
            <a:picLocks noChangeAspect="1"/>
          </p:cNvPicPr>
          <p:nvPr/>
        </p:nvPicPr>
        <p:blipFill>
          <a:blip r:embed="rId5"/>
          <a:stretch>
            <a:fillRect/>
          </a:stretch>
        </p:blipFill>
        <p:spPr>
          <a:xfrm>
            <a:off x="5293401" y="7110009"/>
            <a:ext cx="209215" cy="209215"/>
          </a:xfrm>
          <a:prstGeom prst="rect">
            <a:avLst/>
          </a:prstGeom>
        </p:spPr>
      </p:pic>
      <p:sp>
        <p:nvSpPr>
          <p:cNvPr id="37" name="Text 31"/>
          <p:cNvSpPr/>
          <p:nvPr/>
        </p:nvSpPr>
        <p:spPr>
          <a:xfrm>
            <a:off x="5763768" y="6995160"/>
            <a:ext cx="1094232" cy="47548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The Altus Gulf Team</a:t>
            </a:r>
            <a:endParaRPr lang="en-US" sz="1250" dirty="0"/>
          </a:p>
        </p:txBody>
      </p:sp>
      <p:sp>
        <p:nvSpPr>
          <p:cNvPr id="38" name="Text 32"/>
          <p:cNvSpPr/>
          <p:nvPr/>
        </p:nvSpPr>
        <p:spPr>
          <a:xfrm>
            <a:off x="5196840" y="7580376"/>
            <a:ext cx="1661160" cy="1024128"/>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Content management, quality control, versioning, client administration, and cross-property analytics.</a:t>
            </a:r>
            <a:endParaRPr lang="en-US" sz="970" dirty="0"/>
          </a:p>
        </p:txBody>
      </p:sp>
      <p:sp>
        <p:nvSpPr>
          <p:cNvPr id="39" name="Shape 33"/>
          <p:cNvSpPr/>
          <p:nvPr/>
        </p:nvSpPr>
        <p:spPr>
          <a:xfrm>
            <a:off x="502920" y="10186416"/>
            <a:ext cx="6556248" cy="0"/>
          </a:xfrm>
          <a:prstGeom prst="line">
            <a:avLst/>
          </a:prstGeom>
          <a:noFill/>
          <a:ln w="9525">
            <a:solidFill>
              <a:srgbClr val="E4DDCB"/>
            </a:solidFill>
            <a:prstDash val="solid"/>
          </a:ln>
        </p:spPr>
      </p:sp>
      <p:sp>
        <p:nvSpPr>
          <p:cNvPr id="40" name="Text 34"/>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6B675F"/>
                </a:solidFill>
                <a:latin typeface="Calibri" pitchFamily="34" charset="0"/>
                <a:ea typeface="Calibri" pitchFamily="34" charset="-122"/>
                <a:cs typeface="Calibri" pitchFamily="34" charset="-120"/>
              </a:rPr>
              <a:t>ALTUS GULF</a:t>
            </a:r>
            <a:endParaRPr lang="en-US" sz="850" dirty="0"/>
          </a:p>
        </p:txBody>
      </p:sp>
      <p:sp>
        <p:nvSpPr>
          <p:cNvPr id="41" name="Text 35"/>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6B675F"/>
                </a:solidFill>
                <a:latin typeface="Calibri" pitchFamily="34" charset="0"/>
                <a:ea typeface="Calibri" pitchFamily="34" charset="-122"/>
                <a:cs typeface="Calibri" pitchFamily="34" charset="-120"/>
              </a:rPr>
              <a:t>CORPORATE PROFILE  •  09</a:t>
            </a:r>
            <a:endParaRPr lang="en-US" sz="85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C1501D"/>
                </a:solidFill>
                <a:latin typeface="Calibri" pitchFamily="34" charset="0"/>
                <a:ea typeface="Calibri" pitchFamily="34" charset="-122"/>
                <a:cs typeface="Calibri" pitchFamily="34" charset="-120"/>
              </a:rPr>
              <a:t>08  •  SECTOR COVERAGE</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a:solidFill>
                  <a:srgbClr val="0B1B2B"/>
                </a:solidFill>
                <a:latin typeface="Cambria" pitchFamily="34" charset="0"/>
                <a:ea typeface="Cambria" pitchFamily="34" charset="-122"/>
                <a:cs typeface="Cambria" pitchFamily="34" charset="-120"/>
              </a:rPr>
              <a:t>Industries We Serve</a:t>
            </a:r>
            <a:endParaRPr lang="en-US" sz="2700" dirty="0"/>
          </a:p>
        </p:txBody>
      </p:sp>
      <p:sp>
        <p:nvSpPr>
          <p:cNvPr id="4" name="Text 2"/>
          <p:cNvSpPr/>
          <p:nvPr/>
        </p:nvSpPr>
        <p:spPr>
          <a:xfrm>
            <a:off x="502920" y="1280160"/>
            <a:ext cx="6556248" cy="566928"/>
          </a:xfrm>
          <a:prstGeom prst="rect">
            <a:avLst/>
          </a:prstGeom>
          <a:noFill/>
          <a:ln/>
        </p:spPr>
        <p:txBody>
          <a:bodyPr wrap="square" rtlCol="0" anchor="t"/>
          <a:lstStyle/>
          <a:p>
            <a:pPr marL="0" indent="0" algn="l">
              <a:lnSpc>
                <a:spcPct val="118000"/>
              </a:lnSpc>
              <a:buNone/>
            </a:pPr>
            <a:r>
              <a:rPr lang="en-US" sz="1150" dirty="0">
                <a:solidFill>
                  <a:srgbClr val="6B675F"/>
                </a:solidFill>
                <a:latin typeface="Calibri" pitchFamily="34" charset="0"/>
                <a:ea typeface="Calibri" pitchFamily="34" charset="-122"/>
                <a:cs typeface="Calibri" pitchFamily="34" charset="-120"/>
              </a:rPr>
              <a:t>One operating philosophy, applied across the sectors driving the Kingdom's transformation, wherever service, asset performance, and guest experience decide the outcome.</a:t>
            </a:r>
            <a:endParaRPr lang="en-US" sz="1150" dirty="0"/>
          </a:p>
        </p:txBody>
      </p:sp>
      <p:sp>
        <p:nvSpPr>
          <p:cNvPr id="5" name="Shape 3"/>
          <p:cNvSpPr/>
          <p:nvPr/>
        </p:nvSpPr>
        <p:spPr>
          <a:xfrm>
            <a:off x="502920" y="1938528"/>
            <a:ext cx="2051304" cy="1417320"/>
          </a:xfrm>
          <a:prstGeom prst="roundRect">
            <a:avLst>
              <a:gd name="adj" fmla="val 3871"/>
            </a:avLst>
          </a:prstGeom>
          <a:solidFill>
            <a:srgbClr val="FFFFFF"/>
          </a:solidFill>
          <a:ln w="9525">
            <a:solidFill>
              <a:srgbClr val="E4DDCB"/>
            </a:solidFill>
            <a:prstDash val="solid"/>
          </a:ln>
        </p:spPr>
      </p:sp>
      <p:sp>
        <p:nvSpPr>
          <p:cNvPr id="6" name="Shape 4"/>
          <p:cNvSpPr/>
          <p:nvPr/>
        </p:nvSpPr>
        <p:spPr>
          <a:xfrm>
            <a:off x="1263396" y="2130552"/>
            <a:ext cx="530352" cy="530352"/>
          </a:xfrm>
          <a:prstGeom prst="ellipse">
            <a:avLst/>
          </a:prstGeom>
          <a:solidFill>
            <a:srgbClr val="0F5C42"/>
          </a:solidFill>
          <a:ln/>
        </p:spPr>
      </p:sp>
      <p:pic>
        <p:nvPicPr>
          <p:cNvPr id="7" name="Image 0" descr="/home/claude/assets/icons/hotel.png"/>
          <p:cNvPicPr>
            <a:picLocks noChangeAspect="1"/>
          </p:cNvPicPr>
          <p:nvPr/>
        </p:nvPicPr>
        <p:blipFill>
          <a:blip r:embed="rId3"/>
          <a:stretch>
            <a:fillRect/>
          </a:stretch>
        </p:blipFill>
        <p:spPr>
          <a:xfrm>
            <a:off x="1390680" y="2257836"/>
            <a:ext cx="275783" cy="275783"/>
          </a:xfrm>
          <a:prstGeom prst="rect">
            <a:avLst/>
          </a:prstGeom>
        </p:spPr>
      </p:pic>
      <p:sp>
        <p:nvSpPr>
          <p:cNvPr id="8" name="Text 5"/>
          <p:cNvSpPr/>
          <p:nvPr/>
        </p:nvSpPr>
        <p:spPr>
          <a:xfrm>
            <a:off x="594360" y="2724912"/>
            <a:ext cx="1868424" cy="320040"/>
          </a:xfrm>
          <a:prstGeom prst="rect">
            <a:avLst/>
          </a:prstGeom>
          <a:noFill/>
          <a:ln/>
        </p:spPr>
        <p:txBody>
          <a:bodyPr wrap="square" rtlCol="0" anchor="t"/>
          <a:lstStyle/>
          <a:p>
            <a:pPr marL="0" indent="0" algn="ctr">
              <a:buNone/>
            </a:pPr>
            <a:r>
              <a:rPr lang="en-US" sz="1050" b="1" dirty="0">
                <a:solidFill>
                  <a:srgbClr val="0B1B2B"/>
                </a:solidFill>
                <a:latin typeface="Calibri" pitchFamily="34" charset="0"/>
                <a:ea typeface="Calibri" pitchFamily="34" charset="-122"/>
                <a:cs typeface="Calibri" pitchFamily="34" charset="-120"/>
              </a:rPr>
              <a:t>Hotels</a:t>
            </a:r>
            <a:endParaRPr lang="en-US" sz="1050" dirty="0"/>
          </a:p>
        </p:txBody>
      </p:sp>
      <p:sp>
        <p:nvSpPr>
          <p:cNvPr id="9" name="Shape 6"/>
          <p:cNvSpPr/>
          <p:nvPr/>
        </p:nvSpPr>
        <p:spPr>
          <a:xfrm>
            <a:off x="2755392" y="1938528"/>
            <a:ext cx="2051304" cy="1417320"/>
          </a:xfrm>
          <a:prstGeom prst="roundRect">
            <a:avLst>
              <a:gd name="adj" fmla="val 3871"/>
            </a:avLst>
          </a:prstGeom>
          <a:solidFill>
            <a:srgbClr val="FFFFFF"/>
          </a:solidFill>
          <a:ln w="9525">
            <a:solidFill>
              <a:srgbClr val="E4DDCB"/>
            </a:solidFill>
            <a:prstDash val="solid"/>
          </a:ln>
        </p:spPr>
      </p:sp>
      <p:sp>
        <p:nvSpPr>
          <p:cNvPr id="10" name="Shape 7"/>
          <p:cNvSpPr/>
          <p:nvPr/>
        </p:nvSpPr>
        <p:spPr>
          <a:xfrm>
            <a:off x="3515868" y="2130552"/>
            <a:ext cx="530352" cy="530352"/>
          </a:xfrm>
          <a:prstGeom prst="ellipse">
            <a:avLst/>
          </a:prstGeom>
          <a:solidFill>
            <a:srgbClr val="0F5C42"/>
          </a:solidFill>
          <a:ln/>
        </p:spPr>
      </p:sp>
      <p:pic>
        <p:nvPicPr>
          <p:cNvPr id="11" name="Image 1" descr="/home/claude/assets/icons/umbrella.png"/>
          <p:cNvPicPr>
            <a:picLocks noChangeAspect="1"/>
          </p:cNvPicPr>
          <p:nvPr/>
        </p:nvPicPr>
        <p:blipFill>
          <a:blip r:embed="rId4"/>
          <a:stretch>
            <a:fillRect/>
          </a:stretch>
        </p:blipFill>
        <p:spPr>
          <a:xfrm>
            <a:off x="3643152" y="2257836"/>
            <a:ext cx="275783" cy="275783"/>
          </a:xfrm>
          <a:prstGeom prst="rect">
            <a:avLst/>
          </a:prstGeom>
        </p:spPr>
      </p:pic>
      <p:sp>
        <p:nvSpPr>
          <p:cNvPr id="12" name="Text 8"/>
          <p:cNvSpPr/>
          <p:nvPr/>
        </p:nvSpPr>
        <p:spPr>
          <a:xfrm>
            <a:off x="2846832" y="2724912"/>
            <a:ext cx="1868424" cy="320040"/>
          </a:xfrm>
          <a:prstGeom prst="rect">
            <a:avLst/>
          </a:prstGeom>
          <a:noFill/>
          <a:ln/>
        </p:spPr>
        <p:txBody>
          <a:bodyPr wrap="square" rtlCol="0" anchor="t"/>
          <a:lstStyle/>
          <a:p>
            <a:pPr marL="0" indent="0" algn="ctr">
              <a:buNone/>
            </a:pPr>
            <a:r>
              <a:rPr lang="en-US" sz="1050" b="1" dirty="0">
                <a:solidFill>
                  <a:srgbClr val="0B1B2B"/>
                </a:solidFill>
                <a:latin typeface="Calibri" pitchFamily="34" charset="0"/>
                <a:ea typeface="Calibri" pitchFamily="34" charset="-122"/>
                <a:cs typeface="Calibri" pitchFamily="34" charset="-120"/>
              </a:rPr>
              <a:t>Luxury Resorts</a:t>
            </a:r>
            <a:endParaRPr lang="en-US" sz="1050" dirty="0"/>
          </a:p>
        </p:txBody>
      </p:sp>
      <p:sp>
        <p:nvSpPr>
          <p:cNvPr id="13" name="Shape 9"/>
          <p:cNvSpPr/>
          <p:nvPr/>
        </p:nvSpPr>
        <p:spPr>
          <a:xfrm>
            <a:off x="5007864" y="1938528"/>
            <a:ext cx="2051304" cy="1417320"/>
          </a:xfrm>
          <a:prstGeom prst="roundRect">
            <a:avLst>
              <a:gd name="adj" fmla="val 3871"/>
            </a:avLst>
          </a:prstGeom>
          <a:solidFill>
            <a:srgbClr val="FFFFFF"/>
          </a:solidFill>
          <a:ln w="9525">
            <a:solidFill>
              <a:srgbClr val="E4DDCB"/>
            </a:solidFill>
            <a:prstDash val="solid"/>
          </a:ln>
        </p:spPr>
      </p:sp>
      <p:sp>
        <p:nvSpPr>
          <p:cNvPr id="14" name="Shape 10"/>
          <p:cNvSpPr/>
          <p:nvPr/>
        </p:nvSpPr>
        <p:spPr>
          <a:xfrm>
            <a:off x="5768340" y="2130552"/>
            <a:ext cx="530352" cy="530352"/>
          </a:xfrm>
          <a:prstGeom prst="ellipse">
            <a:avLst/>
          </a:prstGeom>
          <a:solidFill>
            <a:srgbClr val="0F5C42"/>
          </a:solidFill>
          <a:ln/>
        </p:spPr>
      </p:sp>
      <p:pic>
        <p:nvPicPr>
          <p:cNvPr id="15" name="Image 2" descr="/home/claude/assets/icons/plane.png"/>
          <p:cNvPicPr>
            <a:picLocks noChangeAspect="1"/>
          </p:cNvPicPr>
          <p:nvPr/>
        </p:nvPicPr>
        <p:blipFill>
          <a:blip r:embed="rId5"/>
          <a:stretch>
            <a:fillRect/>
          </a:stretch>
        </p:blipFill>
        <p:spPr>
          <a:xfrm>
            <a:off x="5895624" y="2257836"/>
            <a:ext cx="275783" cy="275783"/>
          </a:xfrm>
          <a:prstGeom prst="rect">
            <a:avLst/>
          </a:prstGeom>
        </p:spPr>
      </p:pic>
      <p:sp>
        <p:nvSpPr>
          <p:cNvPr id="16" name="Text 11"/>
          <p:cNvSpPr/>
          <p:nvPr/>
        </p:nvSpPr>
        <p:spPr>
          <a:xfrm>
            <a:off x="5099304" y="2724912"/>
            <a:ext cx="1868424" cy="320040"/>
          </a:xfrm>
          <a:prstGeom prst="rect">
            <a:avLst/>
          </a:prstGeom>
          <a:noFill/>
          <a:ln/>
        </p:spPr>
        <p:txBody>
          <a:bodyPr wrap="square" rtlCol="0" anchor="t"/>
          <a:lstStyle/>
          <a:p>
            <a:pPr marL="0" indent="0" algn="ctr">
              <a:buNone/>
            </a:pPr>
            <a:r>
              <a:rPr lang="en-US" sz="1050" b="1" dirty="0">
                <a:solidFill>
                  <a:srgbClr val="0B1B2B"/>
                </a:solidFill>
                <a:latin typeface="Calibri" pitchFamily="34" charset="0"/>
                <a:ea typeface="Calibri" pitchFamily="34" charset="-122"/>
                <a:cs typeface="Calibri" pitchFamily="34" charset="-120"/>
              </a:rPr>
              <a:t>Tourism &amp; Destinations</a:t>
            </a:r>
            <a:endParaRPr lang="en-US" sz="1050" dirty="0"/>
          </a:p>
        </p:txBody>
      </p:sp>
      <p:sp>
        <p:nvSpPr>
          <p:cNvPr id="17" name="Shape 12"/>
          <p:cNvSpPr/>
          <p:nvPr/>
        </p:nvSpPr>
        <p:spPr>
          <a:xfrm>
            <a:off x="502920" y="3538728"/>
            <a:ext cx="2051304" cy="1417320"/>
          </a:xfrm>
          <a:prstGeom prst="roundRect">
            <a:avLst>
              <a:gd name="adj" fmla="val 3871"/>
            </a:avLst>
          </a:prstGeom>
          <a:solidFill>
            <a:srgbClr val="FFFFFF"/>
          </a:solidFill>
          <a:ln w="9525">
            <a:solidFill>
              <a:srgbClr val="E4DDCB"/>
            </a:solidFill>
            <a:prstDash val="solid"/>
          </a:ln>
        </p:spPr>
      </p:sp>
      <p:sp>
        <p:nvSpPr>
          <p:cNvPr id="18" name="Shape 13"/>
          <p:cNvSpPr/>
          <p:nvPr/>
        </p:nvSpPr>
        <p:spPr>
          <a:xfrm>
            <a:off x="1263396" y="3730752"/>
            <a:ext cx="530352" cy="530352"/>
          </a:xfrm>
          <a:prstGeom prst="ellipse">
            <a:avLst/>
          </a:prstGeom>
          <a:solidFill>
            <a:srgbClr val="0F5C42"/>
          </a:solidFill>
          <a:ln/>
        </p:spPr>
      </p:sp>
      <p:pic>
        <p:nvPicPr>
          <p:cNvPr id="19" name="Image 3" descr="/home/claude/assets/icons/building.png"/>
          <p:cNvPicPr>
            <a:picLocks noChangeAspect="1"/>
          </p:cNvPicPr>
          <p:nvPr/>
        </p:nvPicPr>
        <p:blipFill>
          <a:blip r:embed="rId6"/>
          <a:stretch>
            <a:fillRect/>
          </a:stretch>
        </p:blipFill>
        <p:spPr>
          <a:xfrm>
            <a:off x="1390680" y="3858036"/>
            <a:ext cx="275783" cy="275783"/>
          </a:xfrm>
          <a:prstGeom prst="rect">
            <a:avLst/>
          </a:prstGeom>
        </p:spPr>
      </p:pic>
      <p:sp>
        <p:nvSpPr>
          <p:cNvPr id="20" name="Text 14"/>
          <p:cNvSpPr/>
          <p:nvPr/>
        </p:nvSpPr>
        <p:spPr>
          <a:xfrm>
            <a:off x="594360" y="4325112"/>
            <a:ext cx="1868424" cy="320040"/>
          </a:xfrm>
          <a:prstGeom prst="rect">
            <a:avLst/>
          </a:prstGeom>
          <a:noFill/>
          <a:ln/>
        </p:spPr>
        <p:txBody>
          <a:bodyPr wrap="square" rtlCol="0" anchor="t"/>
          <a:lstStyle/>
          <a:p>
            <a:pPr marL="0" indent="0" algn="ctr">
              <a:buNone/>
            </a:pPr>
            <a:r>
              <a:rPr lang="en-US" sz="1050" b="1" dirty="0">
                <a:solidFill>
                  <a:srgbClr val="0B1B2B"/>
                </a:solidFill>
                <a:latin typeface="Calibri" pitchFamily="34" charset="0"/>
                <a:ea typeface="Calibri" pitchFamily="34" charset="-122"/>
                <a:cs typeface="Calibri" pitchFamily="34" charset="-120"/>
              </a:rPr>
              <a:t>Real Estate</a:t>
            </a:r>
            <a:endParaRPr lang="en-US" sz="1050" dirty="0"/>
          </a:p>
        </p:txBody>
      </p:sp>
      <p:sp>
        <p:nvSpPr>
          <p:cNvPr id="21" name="Shape 15"/>
          <p:cNvSpPr/>
          <p:nvPr/>
        </p:nvSpPr>
        <p:spPr>
          <a:xfrm>
            <a:off x="2755392" y="3538728"/>
            <a:ext cx="2051304" cy="1417320"/>
          </a:xfrm>
          <a:prstGeom prst="roundRect">
            <a:avLst>
              <a:gd name="adj" fmla="val 3871"/>
            </a:avLst>
          </a:prstGeom>
          <a:solidFill>
            <a:srgbClr val="FFFFFF"/>
          </a:solidFill>
          <a:ln w="9525">
            <a:solidFill>
              <a:srgbClr val="E4DDCB"/>
            </a:solidFill>
            <a:prstDash val="solid"/>
          </a:ln>
        </p:spPr>
      </p:sp>
      <p:sp>
        <p:nvSpPr>
          <p:cNvPr id="22" name="Shape 16"/>
          <p:cNvSpPr/>
          <p:nvPr/>
        </p:nvSpPr>
        <p:spPr>
          <a:xfrm>
            <a:off x="3515868" y="3730752"/>
            <a:ext cx="530352" cy="530352"/>
          </a:xfrm>
          <a:prstGeom prst="ellipse">
            <a:avLst/>
          </a:prstGeom>
          <a:solidFill>
            <a:srgbClr val="0F5C42"/>
          </a:solidFill>
          <a:ln/>
        </p:spPr>
      </p:sp>
      <p:pic>
        <p:nvPicPr>
          <p:cNvPr id="23" name="Image 4" descr="/home/claude/assets/icons/landmark.png"/>
          <p:cNvPicPr>
            <a:picLocks noChangeAspect="1"/>
          </p:cNvPicPr>
          <p:nvPr/>
        </p:nvPicPr>
        <p:blipFill>
          <a:blip r:embed="rId7"/>
          <a:stretch>
            <a:fillRect/>
          </a:stretch>
        </p:blipFill>
        <p:spPr>
          <a:xfrm>
            <a:off x="3643152" y="3858036"/>
            <a:ext cx="275783" cy="275783"/>
          </a:xfrm>
          <a:prstGeom prst="rect">
            <a:avLst/>
          </a:prstGeom>
        </p:spPr>
      </p:pic>
      <p:sp>
        <p:nvSpPr>
          <p:cNvPr id="24" name="Text 17"/>
          <p:cNvSpPr/>
          <p:nvPr/>
        </p:nvSpPr>
        <p:spPr>
          <a:xfrm>
            <a:off x="2846832" y="4325112"/>
            <a:ext cx="1868424" cy="320040"/>
          </a:xfrm>
          <a:prstGeom prst="rect">
            <a:avLst/>
          </a:prstGeom>
          <a:noFill/>
          <a:ln/>
        </p:spPr>
        <p:txBody>
          <a:bodyPr wrap="square" rtlCol="0" anchor="t"/>
          <a:lstStyle/>
          <a:p>
            <a:pPr marL="0" indent="0" algn="ctr">
              <a:buNone/>
            </a:pPr>
            <a:r>
              <a:rPr lang="en-US" sz="1050" b="1" dirty="0">
                <a:solidFill>
                  <a:srgbClr val="0B1B2B"/>
                </a:solidFill>
                <a:latin typeface="Calibri" pitchFamily="34" charset="0"/>
                <a:ea typeface="Calibri" pitchFamily="34" charset="-122"/>
                <a:cs typeface="Calibri" pitchFamily="34" charset="-120"/>
              </a:rPr>
              <a:t>Government &amp; PSAs</a:t>
            </a:r>
            <a:endParaRPr lang="en-US" sz="1050" dirty="0"/>
          </a:p>
        </p:txBody>
      </p:sp>
      <p:sp>
        <p:nvSpPr>
          <p:cNvPr id="25" name="Shape 18"/>
          <p:cNvSpPr/>
          <p:nvPr/>
        </p:nvSpPr>
        <p:spPr>
          <a:xfrm>
            <a:off x="5007864" y="3538728"/>
            <a:ext cx="2051304" cy="1417320"/>
          </a:xfrm>
          <a:prstGeom prst="roundRect">
            <a:avLst>
              <a:gd name="adj" fmla="val 3871"/>
            </a:avLst>
          </a:prstGeom>
          <a:solidFill>
            <a:srgbClr val="FFFFFF"/>
          </a:solidFill>
          <a:ln w="9525">
            <a:solidFill>
              <a:srgbClr val="E4DDCB"/>
            </a:solidFill>
            <a:prstDash val="solid"/>
          </a:ln>
        </p:spPr>
      </p:sp>
      <p:sp>
        <p:nvSpPr>
          <p:cNvPr id="26" name="Shape 19"/>
          <p:cNvSpPr/>
          <p:nvPr/>
        </p:nvSpPr>
        <p:spPr>
          <a:xfrm>
            <a:off x="5768340" y="3730752"/>
            <a:ext cx="530352" cy="530352"/>
          </a:xfrm>
          <a:prstGeom prst="ellipse">
            <a:avLst/>
          </a:prstGeom>
          <a:solidFill>
            <a:srgbClr val="0F5C42"/>
          </a:solidFill>
          <a:ln/>
        </p:spPr>
      </p:sp>
      <p:pic>
        <p:nvPicPr>
          <p:cNvPr id="27" name="Image 5" descr="/home/claude/assets/icons/layers.png"/>
          <p:cNvPicPr>
            <a:picLocks noChangeAspect="1"/>
          </p:cNvPicPr>
          <p:nvPr/>
        </p:nvPicPr>
        <p:blipFill>
          <a:blip r:embed="rId8"/>
          <a:stretch>
            <a:fillRect/>
          </a:stretch>
        </p:blipFill>
        <p:spPr>
          <a:xfrm>
            <a:off x="5895624" y="3858036"/>
            <a:ext cx="275783" cy="275783"/>
          </a:xfrm>
          <a:prstGeom prst="rect">
            <a:avLst/>
          </a:prstGeom>
        </p:spPr>
      </p:pic>
      <p:sp>
        <p:nvSpPr>
          <p:cNvPr id="28" name="Text 20"/>
          <p:cNvSpPr/>
          <p:nvPr/>
        </p:nvSpPr>
        <p:spPr>
          <a:xfrm>
            <a:off x="5099304" y="4325112"/>
            <a:ext cx="1868424" cy="320040"/>
          </a:xfrm>
          <a:prstGeom prst="rect">
            <a:avLst/>
          </a:prstGeom>
          <a:noFill/>
          <a:ln/>
        </p:spPr>
        <p:txBody>
          <a:bodyPr wrap="square" rtlCol="0" anchor="t"/>
          <a:lstStyle/>
          <a:p>
            <a:pPr marL="0" indent="0" algn="ctr">
              <a:buNone/>
            </a:pPr>
            <a:r>
              <a:rPr lang="en-US" sz="1050" b="1" dirty="0">
                <a:solidFill>
                  <a:srgbClr val="0B1B2B"/>
                </a:solidFill>
                <a:latin typeface="Calibri" pitchFamily="34" charset="0"/>
                <a:ea typeface="Calibri" pitchFamily="34" charset="-122"/>
                <a:cs typeface="Calibri" pitchFamily="34" charset="-120"/>
              </a:rPr>
              <a:t>Mixed-Use Developments</a:t>
            </a:r>
            <a:endParaRPr lang="en-US" sz="1050" dirty="0"/>
          </a:p>
        </p:txBody>
      </p:sp>
      <p:sp>
        <p:nvSpPr>
          <p:cNvPr id="29" name="Shape 21"/>
          <p:cNvSpPr/>
          <p:nvPr/>
        </p:nvSpPr>
        <p:spPr>
          <a:xfrm>
            <a:off x="502920" y="5138928"/>
            <a:ext cx="2051304" cy="1417320"/>
          </a:xfrm>
          <a:prstGeom prst="roundRect">
            <a:avLst>
              <a:gd name="adj" fmla="val 3871"/>
            </a:avLst>
          </a:prstGeom>
          <a:solidFill>
            <a:srgbClr val="FFFFFF"/>
          </a:solidFill>
          <a:ln w="9525">
            <a:solidFill>
              <a:srgbClr val="E4DDCB"/>
            </a:solidFill>
            <a:prstDash val="solid"/>
          </a:ln>
        </p:spPr>
      </p:sp>
      <p:sp>
        <p:nvSpPr>
          <p:cNvPr id="30" name="Shape 22"/>
          <p:cNvSpPr/>
          <p:nvPr/>
        </p:nvSpPr>
        <p:spPr>
          <a:xfrm>
            <a:off x="1263396" y="5330952"/>
            <a:ext cx="530352" cy="530352"/>
          </a:xfrm>
          <a:prstGeom prst="ellipse">
            <a:avLst/>
          </a:prstGeom>
          <a:solidFill>
            <a:srgbClr val="0F5C42"/>
          </a:solidFill>
          <a:ln/>
        </p:spPr>
      </p:sp>
      <p:pic>
        <p:nvPicPr>
          <p:cNvPr id="31" name="Image 6" descr="/home/claude/assets/icons/masks.png"/>
          <p:cNvPicPr>
            <a:picLocks noChangeAspect="1"/>
          </p:cNvPicPr>
          <p:nvPr/>
        </p:nvPicPr>
        <p:blipFill>
          <a:blip r:embed="rId9"/>
          <a:stretch>
            <a:fillRect/>
          </a:stretch>
        </p:blipFill>
        <p:spPr>
          <a:xfrm>
            <a:off x="1390680" y="5458236"/>
            <a:ext cx="275783" cy="275783"/>
          </a:xfrm>
          <a:prstGeom prst="rect">
            <a:avLst/>
          </a:prstGeom>
        </p:spPr>
      </p:pic>
      <p:sp>
        <p:nvSpPr>
          <p:cNvPr id="32" name="Text 23"/>
          <p:cNvSpPr/>
          <p:nvPr/>
        </p:nvSpPr>
        <p:spPr>
          <a:xfrm>
            <a:off x="594360" y="5925312"/>
            <a:ext cx="1868424" cy="320040"/>
          </a:xfrm>
          <a:prstGeom prst="rect">
            <a:avLst/>
          </a:prstGeom>
          <a:noFill/>
          <a:ln/>
        </p:spPr>
        <p:txBody>
          <a:bodyPr wrap="square" rtlCol="0" anchor="t"/>
          <a:lstStyle/>
          <a:p>
            <a:pPr marL="0" indent="0" algn="ctr">
              <a:buNone/>
            </a:pPr>
            <a:r>
              <a:rPr lang="en-US" sz="1050" b="1" dirty="0">
                <a:solidFill>
                  <a:srgbClr val="0B1B2B"/>
                </a:solidFill>
                <a:latin typeface="Calibri" pitchFamily="34" charset="0"/>
                <a:ea typeface="Calibri" pitchFamily="34" charset="-122"/>
                <a:cs typeface="Calibri" pitchFamily="34" charset="-120"/>
              </a:rPr>
              <a:t>Entertainment</a:t>
            </a:r>
            <a:endParaRPr lang="en-US" sz="1050" dirty="0"/>
          </a:p>
        </p:txBody>
      </p:sp>
      <p:sp>
        <p:nvSpPr>
          <p:cNvPr id="33" name="Shape 24"/>
          <p:cNvSpPr/>
          <p:nvPr/>
        </p:nvSpPr>
        <p:spPr>
          <a:xfrm>
            <a:off x="2755392" y="5138928"/>
            <a:ext cx="2051304" cy="1417320"/>
          </a:xfrm>
          <a:prstGeom prst="roundRect">
            <a:avLst>
              <a:gd name="adj" fmla="val 3871"/>
            </a:avLst>
          </a:prstGeom>
          <a:solidFill>
            <a:srgbClr val="FFFFFF"/>
          </a:solidFill>
          <a:ln w="9525">
            <a:solidFill>
              <a:srgbClr val="E4DDCB"/>
            </a:solidFill>
            <a:prstDash val="solid"/>
          </a:ln>
        </p:spPr>
      </p:sp>
      <p:sp>
        <p:nvSpPr>
          <p:cNvPr id="34" name="Shape 25"/>
          <p:cNvSpPr/>
          <p:nvPr/>
        </p:nvSpPr>
        <p:spPr>
          <a:xfrm>
            <a:off x="3515868" y="5330952"/>
            <a:ext cx="530352" cy="530352"/>
          </a:xfrm>
          <a:prstGeom prst="ellipse">
            <a:avLst/>
          </a:prstGeom>
          <a:solidFill>
            <a:srgbClr val="0F5C42"/>
          </a:solidFill>
          <a:ln/>
        </p:spPr>
      </p:sp>
      <p:pic>
        <p:nvPicPr>
          <p:cNvPr id="35" name="Image 7" descr="/home/claude/assets/icons/heartbeat.png"/>
          <p:cNvPicPr>
            <a:picLocks noChangeAspect="1"/>
          </p:cNvPicPr>
          <p:nvPr/>
        </p:nvPicPr>
        <p:blipFill>
          <a:blip r:embed="rId10"/>
          <a:stretch>
            <a:fillRect/>
          </a:stretch>
        </p:blipFill>
        <p:spPr>
          <a:xfrm>
            <a:off x="3643152" y="5458236"/>
            <a:ext cx="275783" cy="275783"/>
          </a:xfrm>
          <a:prstGeom prst="rect">
            <a:avLst/>
          </a:prstGeom>
        </p:spPr>
      </p:pic>
      <p:sp>
        <p:nvSpPr>
          <p:cNvPr id="36" name="Text 26"/>
          <p:cNvSpPr/>
          <p:nvPr/>
        </p:nvSpPr>
        <p:spPr>
          <a:xfrm>
            <a:off x="2846832" y="5925312"/>
            <a:ext cx="1868424" cy="320040"/>
          </a:xfrm>
          <a:prstGeom prst="rect">
            <a:avLst/>
          </a:prstGeom>
          <a:noFill/>
          <a:ln/>
        </p:spPr>
        <p:txBody>
          <a:bodyPr wrap="square" rtlCol="0" anchor="t"/>
          <a:lstStyle/>
          <a:p>
            <a:pPr marL="0" indent="0" algn="ctr">
              <a:buNone/>
            </a:pPr>
            <a:r>
              <a:rPr lang="en-US" sz="1050" b="1" dirty="0">
                <a:solidFill>
                  <a:srgbClr val="0B1B2B"/>
                </a:solidFill>
                <a:latin typeface="Calibri" pitchFamily="34" charset="0"/>
                <a:ea typeface="Calibri" pitchFamily="34" charset="-122"/>
                <a:cs typeface="Calibri" pitchFamily="34" charset="-120"/>
              </a:rPr>
              <a:t>Healthcare Hospitality</a:t>
            </a:r>
            <a:endParaRPr lang="en-US" sz="1050" dirty="0"/>
          </a:p>
        </p:txBody>
      </p:sp>
      <p:sp>
        <p:nvSpPr>
          <p:cNvPr id="37" name="Shape 27"/>
          <p:cNvSpPr/>
          <p:nvPr/>
        </p:nvSpPr>
        <p:spPr>
          <a:xfrm>
            <a:off x="5007864" y="5138928"/>
            <a:ext cx="2051304" cy="1417320"/>
          </a:xfrm>
          <a:prstGeom prst="roundRect">
            <a:avLst>
              <a:gd name="adj" fmla="val 3871"/>
            </a:avLst>
          </a:prstGeom>
          <a:solidFill>
            <a:srgbClr val="FFFFFF"/>
          </a:solidFill>
          <a:ln w="9525">
            <a:solidFill>
              <a:srgbClr val="E4DDCB"/>
            </a:solidFill>
            <a:prstDash val="solid"/>
          </a:ln>
        </p:spPr>
      </p:sp>
      <p:sp>
        <p:nvSpPr>
          <p:cNvPr id="38" name="Shape 28"/>
          <p:cNvSpPr/>
          <p:nvPr/>
        </p:nvSpPr>
        <p:spPr>
          <a:xfrm>
            <a:off x="5768340" y="5330952"/>
            <a:ext cx="530352" cy="530352"/>
          </a:xfrm>
          <a:prstGeom prst="ellipse">
            <a:avLst/>
          </a:prstGeom>
          <a:solidFill>
            <a:srgbClr val="0F5C42"/>
          </a:solidFill>
          <a:ln/>
        </p:spPr>
      </p:sp>
      <p:pic>
        <p:nvPicPr>
          <p:cNvPr id="39" name="Image 8" descr="/home/claude/assets/icons/bag.png"/>
          <p:cNvPicPr>
            <a:picLocks noChangeAspect="1"/>
          </p:cNvPicPr>
          <p:nvPr/>
        </p:nvPicPr>
        <p:blipFill>
          <a:blip r:embed="rId11"/>
          <a:stretch>
            <a:fillRect/>
          </a:stretch>
        </p:blipFill>
        <p:spPr>
          <a:xfrm>
            <a:off x="5895624" y="5458236"/>
            <a:ext cx="275783" cy="275783"/>
          </a:xfrm>
          <a:prstGeom prst="rect">
            <a:avLst/>
          </a:prstGeom>
        </p:spPr>
      </p:pic>
      <p:sp>
        <p:nvSpPr>
          <p:cNvPr id="40" name="Text 29"/>
          <p:cNvSpPr/>
          <p:nvPr/>
        </p:nvSpPr>
        <p:spPr>
          <a:xfrm>
            <a:off x="5099304" y="5925312"/>
            <a:ext cx="1868424" cy="320040"/>
          </a:xfrm>
          <a:prstGeom prst="rect">
            <a:avLst/>
          </a:prstGeom>
          <a:noFill/>
          <a:ln/>
        </p:spPr>
        <p:txBody>
          <a:bodyPr wrap="square" rtlCol="0" anchor="t"/>
          <a:lstStyle/>
          <a:p>
            <a:pPr marL="0" indent="0" algn="ctr">
              <a:buNone/>
            </a:pPr>
            <a:r>
              <a:rPr lang="en-US" sz="1050" b="1" dirty="0">
                <a:solidFill>
                  <a:srgbClr val="0B1B2B"/>
                </a:solidFill>
                <a:latin typeface="Calibri" pitchFamily="34" charset="0"/>
                <a:ea typeface="Calibri" pitchFamily="34" charset="-122"/>
                <a:cs typeface="Calibri" pitchFamily="34" charset="-120"/>
              </a:rPr>
              <a:t>Retail &amp; F&amp;B</a:t>
            </a:r>
            <a:endParaRPr lang="en-US" sz="1050" dirty="0"/>
          </a:p>
        </p:txBody>
      </p:sp>
      <p:sp>
        <p:nvSpPr>
          <p:cNvPr id="41" name="Shape 30"/>
          <p:cNvSpPr/>
          <p:nvPr/>
        </p:nvSpPr>
        <p:spPr>
          <a:xfrm>
            <a:off x="502920" y="6739128"/>
            <a:ext cx="2051304" cy="1417320"/>
          </a:xfrm>
          <a:prstGeom prst="roundRect">
            <a:avLst>
              <a:gd name="adj" fmla="val 3871"/>
            </a:avLst>
          </a:prstGeom>
          <a:solidFill>
            <a:srgbClr val="FFFFFF"/>
          </a:solidFill>
          <a:ln w="9525">
            <a:solidFill>
              <a:srgbClr val="E4DDCB"/>
            </a:solidFill>
            <a:prstDash val="solid"/>
          </a:ln>
        </p:spPr>
      </p:sp>
      <p:sp>
        <p:nvSpPr>
          <p:cNvPr id="42" name="Shape 31"/>
          <p:cNvSpPr/>
          <p:nvPr/>
        </p:nvSpPr>
        <p:spPr>
          <a:xfrm>
            <a:off x="1263396" y="6931152"/>
            <a:ext cx="530352" cy="530352"/>
          </a:xfrm>
          <a:prstGeom prst="ellipse">
            <a:avLst/>
          </a:prstGeom>
          <a:solidFill>
            <a:srgbClr val="0F5C42"/>
          </a:solidFill>
          <a:ln/>
        </p:spPr>
      </p:sp>
      <p:pic>
        <p:nvPicPr>
          <p:cNvPr id="43" name="Image 9" descr="/home/claude/assets/icons/futbol.png"/>
          <p:cNvPicPr>
            <a:picLocks noChangeAspect="1"/>
          </p:cNvPicPr>
          <p:nvPr/>
        </p:nvPicPr>
        <p:blipFill>
          <a:blip r:embed="rId12"/>
          <a:stretch>
            <a:fillRect/>
          </a:stretch>
        </p:blipFill>
        <p:spPr>
          <a:xfrm>
            <a:off x="1390680" y="7058436"/>
            <a:ext cx="275783" cy="275783"/>
          </a:xfrm>
          <a:prstGeom prst="rect">
            <a:avLst/>
          </a:prstGeom>
        </p:spPr>
      </p:pic>
      <p:sp>
        <p:nvSpPr>
          <p:cNvPr id="44" name="Text 32"/>
          <p:cNvSpPr/>
          <p:nvPr/>
        </p:nvSpPr>
        <p:spPr>
          <a:xfrm>
            <a:off x="594360" y="7525512"/>
            <a:ext cx="1868424" cy="320040"/>
          </a:xfrm>
          <a:prstGeom prst="rect">
            <a:avLst/>
          </a:prstGeom>
          <a:noFill/>
          <a:ln/>
        </p:spPr>
        <p:txBody>
          <a:bodyPr wrap="square" rtlCol="0" anchor="t"/>
          <a:lstStyle/>
          <a:p>
            <a:pPr marL="0" indent="0" algn="ctr">
              <a:buNone/>
            </a:pPr>
            <a:r>
              <a:rPr lang="en-US" sz="1050" b="1" dirty="0">
                <a:solidFill>
                  <a:srgbClr val="0B1B2B"/>
                </a:solidFill>
                <a:latin typeface="Calibri" pitchFamily="34" charset="0"/>
                <a:ea typeface="Calibri" pitchFamily="34" charset="-122"/>
                <a:cs typeface="Calibri" pitchFamily="34" charset="-120"/>
              </a:rPr>
              <a:t>Sports &amp; Events</a:t>
            </a:r>
            <a:endParaRPr lang="en-US" sz="1050" dirty="0"/>
          </a:p>
        </p:txBody>
      </p:sp>
      <p:sp>
        <p:nvSpPr>
          <p:cNvPr id="45" name="Shape 33"/>
          <p:cNvSpPr/>
          <p:nvPr/>
        </p:nvSpPr>
        <p:spPr>
          <a:xfrm>
            <a:off x="2755392" y="6739128"/>
            <a:ext cx="2051304" cy="1417320"/>
          </a:xfrm>
          <a:prstGeom prst="roundRect">
            <a:avLst>
              <a:gd name="adj" fmla="val 3871"/>
            </a:avLst>
          </a:prstGeom>
          <a:solidFill>
            <a:srgbClr val="FFFFFF"/>
          </a:solidFill>
          <a:ln w="9525">
            <a:solidFill>
              <a:srgbClr val="E4DDCB"/>
            </a:solidFill>
            <a:prstDash val="solid"/>
          </a:ln>
        </p:spPr>
      </p:sp>
      <p:sp>
        <p:nvSpPr>
          <p:cNvPr id="46" name="Shape 34"/>
          <p:cNvSpPr/>
          <p:nvPr/>
        </p:nvSpPr>
        <p:spPr>
          <a:xfrm>
            <a:off x="3515868" y="6931152"/>
            <a:ext cx="530352" cy="530352"/>
          </a:xfrm>
          <a:prstGeom prst="ellipse">
            <a:avLst/>
          </a:prstGeom>
          <a:solidFill>
            <a:srgbClr val="0F5C42"/>
          </a:solidFill>
          <a:ln/>
        </p:spPr>
      </p:sp>
      <p:pic>
        <p:nvPicPr>
          <p:cNvPr id="47" name="Image 10" descr="/home/claude/assets/icons/chartbar.png"/>
          <p:cNvPicPr>
            <a:picLocks noChangeAspect="1"/>
          </p:cNvPicPr>
          <p:nvPr/>
        </p:nvPicPr>
        <p:blipFill>
          <a:blip r:embed="rId13"/>
          <a:stretch>
            <a:fillRect/>
          </a:stretch>
        </p:blipFill>
        <p:spPr>
          <a:xfrm>
            <a:off x="3643152" y="7058436"/>
            <a:ext cx="275783" cy="275783"/>
          </a:xfrm>
          <a:prstGeom prst="rect">
            <a:avLst/>
          </a:prstGeom>
        </p:spPr>
      </p:pic>
      <p:sp>
        <p:nvSpPr>
          <p:cNvPr id="48" name="Text 35"/>
          <p:cNvSpPr/>
          <p:nvPr/>
        </p:nvSpPr>
        <p:spPr>
          <a:xfrm>
            <a:off x="2846832" y="7525512"/>
            <a:ext cx="1868424" cy="320040"/>
          </a:xfrm>
          <a:prstGeom prst="rect">
            <a:avLst/>
          </a:prstGeom>
          <a:noFill/>
          <a:ln/>
        </p:spPr>
        <p:txBody>
          <a:bodyPr wrap="square" rtlCol="0" anchor="t"/>
          <a:lstStyle/>
          <a:p>
            <a:pPr marL="0" indent="0" algn="ctr">
              <a:buNone/>
            </a:pPr>
            <a:r>
              <a:rPr lang="en-US" sz="1050" b="1" dirty="0">
                <a:solidFill>
                  <a:srgbClr val="0B1B2B"/>
                </a:solidFill>
                <a:latin typeface="Calibri" pitchFamily="34" charset="0"/>
                <a:ea typeface="Calibri" pitchFamily="34" charset="-122"/>
                <a:cs typeface="Calibri" pitchFamily="34" charset="-120"/>
              </a:rPr>
              <a:t>Investment &amp; PE</a:t>
            </a:r>
            <a:endParaRPr lang="en-US" sz="1050" dirty="0"/>
          </a:p>
        </p:txBody>
      </p:sp>
      <p:sp>
        <p:nvSpPr>
          <p:cNvPr id="49" name="Shape 36"/>
          <p:cNvSpPr/>
          <p:nvPr/>
        </p:nvSpPr>
        <p:spPr>
          <a:xfrm>
            <a:off x="5007864" y="6739128"/>
            <a:ext cx="2051304" cy="1417320"/>
          </a:xfrm>
          <a:prstGeom prst="roundRect">
            <a:avLst>
              <a:gd name="adj" fmla="val 3871"/>
            </a:avLst>
          </a:prstGeom>
          <a:solidFill>
            <a:srgbClr val="FFFFFF"/>
          </a:solidFill>
          <a:ln w="9525">
            <a:solidFill>
              <a:srgbClr val="E4DDCB"/>
            </a:solidFill>
            <a:prstDash val="solid"/>
          </a:ln>
        </p:spPr>
      </p:sp>
      <p:sp>
        <p:nvSpPr>
          <p:cNvPr id="50" name="Shape 37"/>
          <p:cNvSpPr/>
          <p:nvPr/>
        </p:nvSpPr>
        <p:spPr>
          <a:xfrm>
            <a:off x="5768340" y="6931152"/>
            <a:ext cx="530352" cy="530352"/>
          </a:xfrm>
          <a:prstGeom prst="ellipse">
            <a:avLst/>
          </a:prstGeom>
          <a:solidFill>
            <a:srgbClr val="0F5C42"/>
          </a:solidFill>
          <a:ln/>
        </p:spPr>
      </p:sp>
      <p:pic>
        <p:nvPicPr>
          <p:cNvPr id="51" name="Image 11" descr="/home/claude/assets/icons/users.png"/>
          <p:cNvPicPr>
            <a:picLocks noChangeAspect="1"/>
          </p:cNvPicPr>
          <p:nvPr/>
        </p:nvPicPr>
        <p:blipFill>
          <a:blip r:embed="rId14"/>
          <a:stretch>
            <a:fillRect/>
          </a:stretch>
        </p:blipFill>
        <p:spPr>
          <a:xfrm>
            <a:off x="5895624" y="7058436"/>
            <a:ext cx="275783" cy="275783"/>
          </a:xfrm>
          <a:prstGeom prst="rect">
            <a:avLst/>
          </a:prstGeom>
        </p:spPr>
      </p:pic>
      <p:sp>
        <p:nvSpPr>
          <p:cNvPr id="52" name="Text 38"/>
          <p:cNvSpPr/>
          <p:nvPr/>
        </p:nvSpPr>
        <p:spPr>
          <a:xfrm>
            <a:off x="5099304" y="7525512"/>
            <a:ext cx="1868424" cy="320040"/>
          </a:xfrm>
          <a:prstGeom prst="rect">
            <a:avLst/>
          </a:prstGeom>
          <a:noFill/>
          <a:ln/>
        </p:spPr>
        <p:txBody>
          <a:bodyPr wrap="square" rtlCol="0" anchor="t"/>
          <a:lstStyle/>
          <a:p>
            <a:pPr marL="0" indent="0" algn="ctr">
              <a:buNone/>
            </a:pPr>
            <a:r>
              <a:rPr lang="en-US" sz="1050" b="1" dirty="0">
                <a:solidFill>
                  <a:srgbClr val="0B1B2B"/>
                </a:solidFill>
                <a:latin typeface="Calibri" pitchFamily="34" charset="0"/>
                <a:ea typeface="Calibri" pitchFamily="34" charset="-122"/>
                <a:cs typeface="Calibri" pitchFamily="34" charset="-120"/>
              </a:rPr>
              <a:t>Family Offices</a:t>
            </a:r>
            <a:endParaRPr lang="en-US" sz="1050" dirty="0"/>
          </a:p>
        </p:txBody>
      </p:sp>
      <p:sp>
        <p:nvSpPr>
          <p:cNvPr id="53" name="Shape 39"/>
          <p:cNvSpPr/>
          <p:nvPr/>
        </p:nvSpPr>
        <p:spPr>
          <a:xfrm>
            <a:off x="502920" y="8385048"/>
            <a:ext cx="6556248" cy="594360"/>
          </a:xfrm>
          <a:prstGeom prst="roundRect">
            <a:avLst>
              <a:gd name="adj" fmla="val 7692"/>
            </a:avLst>
          </a:prstGeom>
          <a:solidFill>
            <a:srgbClr val="F3EEE4"/>
          </a:solidFill>
          <a:ln w="9525">
            <a:solidFill>
              <a:srgbClr val="E4DDCB"/>
            </a:solidFill>
            <a:prstDash val="solid"/>
          </a:ln>
        </p:spPr>
      </p:sp>
      <p:sp>
        <p:nvSpPr>
          <p:cNvPr id="54" name="Text 40"/>
          <p:cNvSpPr/>
          <p:nvPr/>
        </p:nvSpPr>
        <p:spPr>
          <a:xfrm>
            <a:off x="731520" y="8439912"/>
            <a:ext cx="6099048" cy="484632"/>
          </a:xfrm>
          <a:prstGeom prst="rect">
            <a:avLst/>
          </a:prstGeom>
          <a:noFill/>
          <a:ln/>
        </p:spPr>
        <p:txBody>
          <a:bodyPr wrap="square" rtlCol="0" anchor="ctr"/>
          <a:lstStyle/>
          <a:p>
            <a:pPr marL="0" indent="0">
              <a:lnSpc>
                <a:spcPct val="115000"/>
              </a:lnSpc>
              <a:buNone/>
            </a:pPr>
            <a:r>
              <a:rPr lang="en-US" sz="1000" b="1" dirty="0">
                <a:solidFill>
                  <a:srgbClr val="0B1B2B"/>
                </a:solidFill>
                <a:latin typeface="Calibri" pitchFamily="34" charset="0"/>
                <a:ea typeface="Calibri" pitchFamily="34" charset="-122"/>
                <a:cs typeface="Calibri" pitchFamily="34" charset="-120"/>
              </a:rPr>
              <a:t>Committed at every scale: </a:t>
            </a:r>
            <a:r>
              <a:rPr lang="en-US" sz="1000" dirty="0">
                <a:solidFill>
                  <a:srgbClr val="2B2A27"/>
                </a:solidFill>
                <a:latin typeface="Calibri" pitchFamily="34" charset="0"/>
                <a:ea typeface="Calibri" pitchFamily="34" charset="-122"/>
                <a:cs typeface="Calibri" pitchFamily="34" charset="-120"/>
              </a:rPr>
              <a:t>from a boutique independent property taking its first steps, to national portfolios and global enterprises. The same exacting care, dedication, and strategic rigour.</a:t>
            </a:r>
            <a:endParaRPr lang="en-US" sz="1000" dirty="0"/>
          </a:p>
        </p:txBody>
      </p:sp>
      <p:sp>
        <p:nvSpPr>
          <p:cNvPr id="55" name="Shape 41"/>
          <p:cNvSpPr/>
          <p:nvPr/>
        </p:nvSpPr>
        <p:spPr>
          <a:xfrm>
            <a:off x="502920" y="10186416"/>
            <a:ext cx="6556248" cy="0"/>
          </a:xfrm>
          <a:prstGeom prst="line">
            <a:avLst/>
          </a:prstGeom>
          <a:noFill/>
          <a:ln w="9525">
            <a:solidFill>
              <a:srgbClr val="E4DDCB"/>
            </a:solidFill>
            <a:prstDash val="solid"/>
          </a:ln>
        </p:spPr>
      </p:sp>
      <p:sp>
        <p:nvSpPr>
          <p:cNvPr id="56" name="Text 42"/>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6B675F"/>
                </a:solidFill>
                <a:latin typeface="Calibri" pitchFamily="34" charset="0"/>
                <a:ea typeface="Calibri" pitchFamily="34" charset="-122"/>
                <a:cs typeface="Calibri" pitchFamily="34" charset="-120"/>
              </a:rPr>
              <a:t>ALTUS GULF</a:t>
            </a:r>
            <a:endParaRPr lang="en-US" sz="850" dirty="0"/>
          </a:p>
        </p:txBody>
      </p:sp>
      <p:sp>
        <p:nvSpPr>
          <p:cNvPr id="57" name="Text 43"/>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6B675F"/>
                </a:solidFill>
                <a:latin typeface="Calibri" pitchFamily="34" charset="0"/>
                <a:ea typeface="Calibri" pitchFamily="34" charset="-122"/>
                <a:cs typeface="Calibri" pitchFamily="34" charset="-120"/>
              </a:rPr>
              <a:t>CORPORATE PROFILE  •  10</a:t>
            </a:r>
            <a:endParaRPr lang="en-US" sz="85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E4C98A"/>
                </a:solidFill>
                <a:latin typeface="Calibri" pitchFamily="34" charset="0"/>
                <a:ea typeface="Calibri" pitchFamily="34" charset="-122"/>
                <a:cs typeface="Calibri" pitchFamily="34" charset="-120"/>
              </a:rPr>
              <a:t>09  •  PROPRIETARY METHODOLOGY</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a:solidFill>
                  <a:srgbClr val="FFFFFF"/>
                </a:solidFill>
                <a:latin typeface="Cambria" pitchFamily="34" charset="0"/>
                <a:ea typeface="Cambria" pitchFamily="34" charset="-122"/>
                <a:cs typeface="Cambria" pitchFamily="34" charset="-120"/>
              </a:rPr>
              <a:t>The Altus Ascent™ Framework</a:t>
            </a:r>
            <a:endParaRPr lang="en-US" sz="2700" dirty="0"/>
          </a:p>
        </p:txBody>
      </p:sp>
      <p:sp>
        <p:nvSpPr>
          <p:cNvPr id="4" name="Text 2"/>
          <p:cNvSpPr/>
          <p:nvPr/>
        </p:nvSpPr>
        <p:spPr>
          <a:xfrm>
            <a:off x="502920" y="1280160"/>
            <a:ext cx="6556248" cy="566928"/>
          </a:xfrm>
          <a:prstGeom prst="rect">
            <a:avLst/>
          </a:prstGeom>
          <a:noFill/>
          <a:ln/>
        </p:spPr>
        <p:txBody>
          <a:bodyPr wrap="square" rtlCol="0" anchor="t"/>
          <a:lstStyle/>
          <a:p>
            <a:pPr marL="0" indent="0" algn="l">
              <a:lnSpc>
                <a:spcPct val="118000"/>
              </a:lnSpc>
              <a:buNone/>
            </a:pPr>
            <a:r>
              <a:rPr lang="en-US" sz="1150" dirty="0">
                <a:solidFill>
                  <a:srgbClr val="B9C3CC"/>
                </a:solidFill>
                <a:latin typeface="Calibri" pitchFamily="34" charset="0"/>
                <a:ea typeface="Calibri" pitchFamily="34" charset="-122"/>
                <a:cs typeface="Calibri" pitchFamily="34" charset="-120"/>
              </a:rPr>
              <a:t>A six-stage operating discipline that carries every mandate from first diagnostic to institutionalised, self-sustaining performance, with defined gates, deliverables, and owner sign-off at each stage.</a:t>
            </a:r>
            <a:endParaRPr lang="en-US" sz="1150" dirty="0"/>
          </a:p>
        </p:txBody>
      </p:sp>
      <p:sp>
        <p:nvSpPr>
          <p:cNvPr id="5" name="Shape 3"/>
          <p:cNvSpPr/>
          <p:nvPr/>
        </p:nvSpPr>
        <p:spPr>
          <a:xfrm>
            <a:off x="502920" y="2002536"/>
            <a:ext cx="457200" cy="457200"/>
          </a:xfrm>
          <a:prstGeom prst="ellipse">
            <a:avLst/>
          </a:prstGeom>
          <a:solidFill>
            <a:srgbClr val="0F5C42"/>
          </a:solidFill>
          <a:ln/>
        </p:spPr>
      </p:sp>
      <p:sp>
        <p:nvSpPr>
          <p:cNvPr id="6" name="Text 4"/>
          <p:cNvSpPr/>
          <p:nvPr/>
        </p:nvSpPr>
        <p:spPr>
          <a:xfrm>
            <a:off x="502920" y="2002536"/>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Shape 5"/>
          <p:cNvSpPr/>
          <p:nvPr/>
        </p:nvSpPr>
        <p:spPr>
          <a:xfrm>
            <a:off x="731520" y="2459736"/>
            <a:ext cx="0" cy="786384"/>
          </a:xfrm>
          <a:prstGeom prst="line">
            <a:avLst/>
          </a:prstGeom>
          <a:noFill/>
          <a:ln w="12700">
            <a:solidFill>
              <a:srgbClr val="C9A15A"/>
            </a:solidFill>
            <a:prstDash val="dash"/>
          </a:ln>
        </p:spPr>
      </p:sp>
      <p:sp>
        <p:nvSpPr>
          <p:cNvPr id="8" name="Shape 6"/>
          <p:cNvSpPr/>
          <p:nvPr/>
        </p:nvSpPr>
        <p:spPr>
          <a:xfrm>
            <a:off x="1143000" y="1984248"/>
            <a:ext cx="5916168" cy="1042416"/>
          </a:xfrm>
          <a:prstGeom prst="roundRect">
            <a:avLst>
              <a:gd name="adj" fmla="val 4386"/>
            </a:avLst>
          </a:prstGeom>
          <a:solidFill>
            <a:srgbClr val="13273A"/>
          </a:solidFill>
          <a:ln/>
        </p:spPr>
      </p:sp>
      <p:sp>
        <p:nvSpPr>
          <p:cNvPr id="9" name="Text 7"/>
          <p:cNvSpPr/>
          <p:nvPr/>
        </p:nvSpPr>
        <p:spPr>
          <a:xfrm>
            <a:off x="1371600" y="2075688"/>
            <a:ext cx="5458968" cy="237744"/>
          </a:xfrm>
          <a:prstGeom prst="rect">
            <a:avLst/>
          </a:prstGeom>
          <a:noFill/>
          <a:ln/>
        </p:spPr>
        <p:txBody>
          <a:bodyPr wrap="square" rtlCol="0" anchor="ctr"/>
          <a:lstStyle/>
          <a:p>
            <a:pPr marL="0" indent="0">
              <a:buNone/>
            </a:pPr>
            <a:r>
              <a:rPr lang="en-US" sz="1200" b="1" kern="0" spc="150" dirty="0">
                <a:solidFill>
                  <a:srgbClr val="E4C98A"/>
                </a:solidFill>
                <a:latin typeface="Calibri" pitchFamily="34" charset="0"/>
                <a:ea typeface="Calibri" pitchFamily="34" charset="-122"/>
                <a:cs typeface="Calibri" pitchFamily="34" charset="-120"/>
              </a:rPr>
              <a:t>DISCOVER</a:t>
            </a:r>
            <a:endParaRPr lang="en-US" sz="1200" dirty="0"/>
          </a:p>
        </p:txBody>
      </p:sp>
      <p:sp>
        <p:nvSpPr>
          <p:cNvPr id="10" name="Text 8"/>
          <p:cNvSpPr/>
          <p:nvPr/>
        </p:nvSpPr>
        <p:spPr>
          <a:xfrm>
            <a:off x="1371600" y="2350008"/>
            <a:ext cx="5413248" cy="667512"/>
          </a:xfrm>
          <a:prstGeom prst="rect">
            <a:avLst/>
          </a:prstGeom>
          <a:noFill/>
          <a:ln/>
        </p:spPr>
        <p:txBody>
          <a:bodyPr wrap="square" rtlCol="0" anchor="t"/>
          <a:lstStyle/>
          <a:p>
            <a:pPr marL="0" indent="0">
              <a:lnSpc>
                <a:spcPct val="116000"/>
              </a:lnSpc>
              <a:buNone/>
            </a:pPr>
            <a:r>
              <a:rPr lang="en-US" sz="940" dirty="0">
                <a:solidFill>
                  <a:srgbClr val="B9C3CC"/>
                </a:solidFill>
                <a:latin typeface="Calibri" pitchFamily="34" charset="0"/>
                <a:ea typeface="Calibri" pitchFamily="34" charset="-122"/>
                <a:cs typeface="Calibri" pitchFamily="34" charset="-120"/>
              </a:rPr>
              <a:t>Immersive diagnostic of the asset, market, and organisation. Data rooms, field audits, stakeholder interviews, and competitive benchmarking establish the factual baseline.</a:t>
            </a:r>
            <a:endParaRPr lang="en-US" sz="940" dirty="0"/>
          </a:p>
        </p:txBody>
      </p:sp>
      <p:sp>
        <p:nvSpPr>
          <p:cNvPr id="11" name="Shape 9"/>
          <p:cNvSpPr/>
          <p:nvPr/>
        </p:nvSpPr>
        <p:spPr>
          <a:xfrm>
            <a:off x="502920" y="3172968"/>
            <a:ext cx="457200" cy="457200"/>
          </a:xfrm>
          <a:prstGeom prst="ellipse">
            <a:avLst/>
          </a:prstGeom>
          <a:solidFill>
            <a:srgbClr val="C1501D"/>
          </a:solidFill>
          <a:ln/>
        </p:spPr>
      </p:sp>
      <p:sp>
        <p:nvSpPr>
          <p:cNvPr id="12" name="Text 10"/>
          <p:cNvSpPr/>
          <p:nvPr/>
        </p:nvSpPr>
        <p:spPr>
          <a:xfrm>
            <a:off x="502920" y="3172968"/>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Shape 11"/>
          <p:cNvSpPr/>
          <p:nvPr/>
        </p:nvSpPr>
        <p:spPr>
          <a:xfrm>
            <a:off x="731520" y="3630168"/>
            <a:ext cx="0" cy="786384"/>
          </a:xfrm>
          <a:prstGeom prst="line">
            <a:avLst/>
          </a:prstGeom>
          <a:noFill/>
          <a:ln w="12700">
            <a:solidFill>
              <a:srgbClr val="C9A15A"/>
            </a:solidFill>
            <a:prstDash val="dash"/>
          </a:ln>
        </p:spPr>
      </p:sp>
      <p:sp>
        <p:nvSpPr>
          <p:cNvPr id="14" name="Shape 12"/>
          <p:cNvSpPr/>
          <p:nvPr/>
        </p:nvSpPr>
        <p:spPr>
          <a:xfrm>
            <a:off x="1143000" y="3154680"/>
            <a:ext cx="5916168" cy="1042416"/>
          </a:xfrm>
          <a:prstGeom prst="roundRect">
            <a:avLst>
              <a:gd name="adj" fmla="val 4386"/>
            </a:avLst>
          </a:prstGeom>
          <a:solidFill>
            <a:srgbClr val="13273A"/>
          </a:solidFill>
          <a:ln/>
        </p:spPr>
      </p:sp>
      <p:sp>
        <p:nvSpPr>
          <p:cNvPr id="15" name="Text 13"/>
          <p:cNvSpPr/>
          <p:nvPr/>
        </p:nvSpPr>
        <p:spPr>
          <a:xfrm>
            <a:off x="1371600" y="3246120"/>
            <a:ext cx="5458968" cy="237744"/>
          </a:xfrm>
          <a:prstGeom prst="rect">
            <a:avLst/>
          </a:prstGeom>
          <a:noFill/>
          <a:ln/>
        </p:spPr>
        <p:txBody>
          <a:bodyPr wrap="square" rtlCol="0" anchor="ctr"/>
          <a:lstStyle/>
          <a:p>
            <a:pPr marL="0" indent="0">
              <a:buNone/>
            </a:pPr>
            <a:r>
              <a:rPr lang="en-US" sz="1200" b="1" kern="0" spc="150" dirty="0">
                <a:solidFill>
                  <a:srgbClr val="E4C98A"/>
                </a:solidFill>
                <a:latin typeface="Calibri" pitchFamily="34" charset="0"/>
                <a:ea typeface="Calibri" pitchFamily="34" charset="-122"/>
                <a:cs typeface="Calibri" pitchFamily="34" charset="-120"/>
              </a:rPr>
              <a:t>ASSESS</a:t>
            </a:r>
            <a:endParaRPr lang="en-US" sz="1200" dirty="0"/>
          </a:p>
        </p:txBody>
      </p:sp>
      <p:sp>
        <p:nvSpPr>
          <p:cNvPr id="16" name="Text 14"/>
          <p:cNvSpPr/>
          <p:nvPr/>
        </p:nvSpPr>
        <p:spPr>
          <a:xfrm>
            <a:off x="1371600" y="3520440"/>
            <a:ext cx="5413248" cy="667512"/>
          </a:xfrm>
          <a:prstGeom prst="rect">
            <a:avLst/>
          </a:prstGeom>
          <a:noFill/>
          <a:ln/>
        </p:spPr>
        <p:txBody>
          <a:bodyPr wrap="square" rtlCol="0" anchor="t"/>
          <a:lstStyle/>
          <a:p>
            <a:pPr marL="0" indent="0">
              <a:lnSpc>
                <a:spcPct val="116000"/>
              </a:lnSpc>
              <a:buNone/>
            </a:pPr>
            <a:r>
              <a:rPr lang="en-US" sz="940" dirty="0">
                <a:solidFill>
                  <a:srgbClr val="B9C3CC"/>
                </a:solidFill>
                <a:latin typeface="Calibri" pitchFamily="34" charset="0"/>
                <a:ea typeface="Calibri" pitchFamily="34" charset="-122"/>
                <a:cs typeface="Calibri" pitchFamily="34" charset="-120"/>
              </a:rPr>
              <a:t>Gap analysis against global standards and investor objectives. Financial modelling, risk mapping, and opportunity sizing convert findings into a quantified case for change.</a:t>
            </a:r>
            <a:endParaRPr lang="en-US" sz="940" dirty="0"/>
          </a:p>
        </p:txBody>
      </p:sp>
      <p:sp>
        <p:nvSpPr>
          <p:cNvPr id="17" name="Shape 15"/>
          <p:cNvSpPr/>
          <p:nvPr/>
        </p:nvSpPr>
        <p:spPr>
          <a:xfrm>
            <a:off x="502920" y="4343400"/>
            <a:ext cx="457200" cy="457200"/>
          </a:xfrm>
          <a:prstGeom prst="ellipse">
            <a:avLst/>
          </a:prstGeom>
          <a:solidFill>
            <a:srgbClr val="0F5C42"/>
          </a:solidFill>
          <a:ln/>
        </p:spPr>
      </p:sp>
      <p:sp>
        <p:nvSpPr>
          <p:cNvPr id="18" name="Text 16"/>
          <p:cNvSpPr/>
          <p:nvPr/>
        </p:nvSpPr>
        <p:spPr>
          <a:xfrm>
            <a:off x="502920" y="434340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Shape 17"/>
          <p:cNvSpPr/>
          <p:nvPr/>
        </p:nvSpPr>
        <p:spPr>
          <a:xfrm>
            <a:off x="731520" y="4800600"/>
            <a:ext cx="0" cy="786384"/>
          </a:xfrm>
          <a:prstGeom prst="line">
            <a:avLst/>
          </a:prstGeom>
          <a:noFill/>
          <a:ln w="12700">
            <a:solidFill>
              <a:srgbClr val="C9A15A"/>
            </a:solidFill>
            <a:prstDash val="dash"/>
          </a:ln>
        </p:spPr>
      </p:sp>
      <p:sp>
        <p:nvSpPr>
          <p:cNvPr id="20" name="Shape 18"/>
          <p:cNvSpPr/>
          <p:nvPr/>
        </p:nvSpPr>
        <p:spPr>
          <a:xfrm>
            <a:off x="1143000" y="4325112"/>
            <a:ext cx="5916168" cy="1042416"/>
          </a:xfrm>
          <a:prstGeom prst="roundRect">
            <a:avLst>
              <a:gd name="adj" fmla="val 4386"/>
            </a:avLst>
          </a:prstGeom>
          <a:solidFill>
            <a:srgbClr val="13273A"/>
          </a:solidFill>
          <a:ln/>
        </p:spPr>
      </p:sp>
      <p:sp>
        <p:nvSpPr>
          <p:cNvPr id="21" name="Text 19"/>
          <p:cNvSpPr/>
          <p:nvPr/>
        </p:nvSpPr>
        <p:spPr>
          <a:xfrm>
            <a:off x="1371600" y="4416552"/>
            <a:ext cx="5458968" cy="237744"/>
          </a:xfrm>
          <a:prstGeom prst="rect">
            <a:avLst/>
          </a:prstGeom>
          <a:noFill/>
          <a:ln/>
        </p:spPr>
        <p:txBody>
          <a:bodyPr wrap="square" rtlCol="0" anchor="ctr"/>
          <a:lstStyle/>
          <a:p>
            <a:pPr marL="0" indent="0">
              <a:buNone/>
            </a:pPr>
            <a:r>
              <a:rPr lang="en-US" sz="1200" b="1" kern="0" spc="150" dirty="0">
                <a:solidFill>
                  <a:srgbClr val="E4C98A"/>
                </a:solidFill>
                <a:latin typeface="Calibri" pitchFamily="34" charset="0"/>
                <a:ea typeface="Calibri" pitchFamily="34" charset="-122"/>
                <a:cs typeface="Calibri" pitchFamily="34" charset="-120"/>
              </a:rPr>
              <a:t>DESIGN</a:t>
            </a:r>
            <a:endParaRPr lang="en-US" sz="1200" dirty="0"/>
          </a:p>
        </p:txBody>
      </p:sp>
      <p:sp>
        <p:nvSpPr>
          <p:cNvPr id="22" name="Text 20"/>
          <p:cNvSpPr/>
          <p:nvPr/>
        </p:nvSpPr>
        <p:spPr>
          <a:xfrm>
            <a:off x="1371600" y="4690872"/>
            <a:ext cx="5413248" cy="667512"/>
          </a:xfrm>
          <a:prstGeom prst="rect">
            <a:avLst/>
          </a:prstGeom>
          <a:noFill/>
          <a:ln/>
        </p:spPr>
        <p:txBody>
          <a:bodyPr wrap="square" rtlCol="0" anchor="t"/>
          <a:lstStyle/>
          <a:p>
            <a:pPr marL="0" indent="0">
              <a:lnSpc>
                <a:spcPct val="116000"/>
              </a:lnSpc>
              <a:buNone/>
            </a:pPr>
            <a:r>
              <a:rPr lang="en-US" sz="940" dirty="0">
                <a:solidFill>
                  <a:srgbClr val="B9C3CC"/>
                </a:solidFill>
                <a:latin typeface="Calibri" pitchFamily="34" charset="0"/>
                <a:ea typeface="Calibri" pitchFamily="34" charset="-122"/>
                <a:cs typeface="Calibri" pitchFamily="34" charset="-120"/>
              </a:rPr>
              <a:t>The strategic blueprint: operating model, commercial architecture, organisational structure, and technology roadmap, each with owners, milestones, and measurable targets.</a:t>
            </a:r>
            <a:endParaRPr lang="en-US" sz="940" dirty="0"/>
          </a:p>
        </p:txBody>
      </p:sp>
      <p:sp>
        <p:nvSpPr>
          <p:cNvPr id="23" name="Shape 21"/>
          <p:cNvSpPr/>
          <p:nvPr/>
        </p:nvSpPr>
        <p:spPr>
          <a:xfrm>
            <a:off x="502920" y="5513832"/>
            <a:ext cx="457200" cy="457200"/>
          </a:xfrm>
          <a:prstGeom prst="ellipse">
            <a:avLst/>
          </a:prstGeom>
          <a:solidFill>
            <a:srgbClr val="C1501D"/>
          </a:solidFill>
          <a:ln/>
        </p:spPr>
      </p:sp>
      <p:sp>
        <p:nvSpPr>
          <p:cNvPr id="24" name="Text 22"/>
          <p:cNvSpPr/>
          <p:nvPr/>
        </p:nvSpPr>
        <p:spPr>
          <a:xfrm>
            <a:off x="502920" y="5513832"/>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5" name="Shape 23"/>
          <p:cNvSpPr/>
          <p:nvPr/>
        </p:nvSpPr>
        <p:spPr>
          <a:xfrm>
            <a:off x="731520" y="5971032"/>
            <a:ext cx="0" cy="786384"/>
          </a:xfrm>
          <a:prstGeom prst="line">
            <a:avLst/>
          </a:prstGeom>
          <a:noFill/>
          <a:ln w="12700">
            <a:solidFill>
              <a:srgbClr val="C9A15A"/>
            </a:solidFill>
            <a:prstDash val="dash"/>
          </a:ln>
        </p:spPr>
      </p:sp>
      <p:sp>
        <p:nvSpPr>
          <p:cNvPr id="26" name="Shape 24"/>
          <p:cNvSpPr/>
          <p:nvPr/>
        </p:nvSpPr>
        <p:spPr>
          <a:xfrm>
            <a:off x="1143000" y="5495544"/>
            <a:ext cx="5916168" cy="1042416"/>
          </a:xfrm>
          <a:prstGeom prst="roundRect">
            <a:avLst>
              <a:gd name="adj" fmla="val 4386"/>
            </a:avLst>
          </a:prstGeom>
          <a:solidFill>
            <a:srgbClr val="13273A"/>
          </a:solidFill>
          <a:ln/>
        </p:spPr>
      </p:sp>
      <p:sp>
        <p:nvSpPr>
          <p:cNvPr id="27" name="Text 25"/>
          <p:cNvSpPr/>
          <p:nvPr/>
        </p:nvSpPr>
        <p:spPr>
          <a:xfrm>
            <a:off x="1371600" y="5586984"/>
            <a:ext cx="5458968" cy="237744"/>
          </a:xfrm>
          <a:prstGeom prst="rect">
            <a:avLst/>
          </a:prstGeom>
          <a:noFill/>
          <a:ln/>
        </p:spPr>
        <p:txBody>
          <a:bodyPr wrap="square" rtlCol="0" anchor="ctr"/>
          <a:lstStyle/>
          <a:p>
            <a:pPr marL="0" indent="0">
              <a:buNone/>
            </a:pPr>
            <a:r>
              <a:rPr lang="en-US" sz="1200" b="1" kern="0" spc="150" dirty="0">
                <a:solidFill>
                  <a:srgbClr val="E4C98A"/>
                </a:solidFill>
                <a:latin typeface="Calibri" pitchFamily="34" charset="0"/>
                <a:ea typeface="Calibri" pitchFamily="34" charset="-122"/>
                <a:cs typeface="Calibri" pitchFamily="34" charset="-120"/>
              </a:rPr>
              <a:t>TRANSFORM</a:t>
            </a:r>
            <a:endParaRPr lang="en-US" sz="1200" dirty="0"/>
          </a:p>
        </p:txBody>
      </p:sp>
      <p:sp>
        <p:nvSpPr>
          <p:cNvPr id="28" name="Text 26"/>
          <p:cNvSpPr/>
          <p:nvPr/>
        </p:nvSpPr>
        <p:spPr>
          <a:xfrm>
            <a:off x="1371600" y="5861304"/>
            <a:ext cx="5413248" cy="667512"/>
          </a:xfrm>
          <a:prstGeom prst="rect">
            <a:avLst/>
          </a:prstGeom>
          <a:noFill/>
          <a:ln/>
        </p:spPr>
        <p:txBody>
          <a:bodyPr wrap="square" rtlCol="0" anchor="t"/>
          <a:lstStyle/>
          <a:p>
            <a:pPr marL="0" indent="0">
              <a:lnSpc>
                <a:spcPct val="116000"/>
              </a:lnSpc>
              <a:buNone/>
            </a:pPr>
            <a:r>
              <a:rPr lang="en-US" sz="940" dirty="0">
                <a:solidFill>
                  <a:srgbClr val="B9C3CC"/>
                </a:solidFill>
                <a:latin typeface="Calibri" pitchFamily="34" charset="0"/>
                <a:ea typeface="Calibri" pitchFamily="34" charset="-122"/>
                <a:cs typeface="Calibri" pitchFamily="34" charset="-120"/>
              </a:rPr>
              <a:t>Hands-on, shoulder-to-shoulder execution. We embed alongside client teams to implement, coach, and course-correct, not observe from a distance.</a:t>
            </a:r>
            <a:endParaRPr lang="en-US" sz="940" dirty="0"/>
          </a:p>
        </p:txBody>
      </p:sp>
      <p:sp>
        <p:nvSpPr>
          <p:cNvPr id="29" name="Shape 27"/>
          <p:cNvSpPr/>
          <p:nvPr/>
        </p:nvSpPr>
        <p:spPr>
          <a:xfrm>
            <a:off x="502920" y="6684264"/>
            <a:ext cx="457200" cy="457200"/>
          </a:xfrm>
          <a:prstGeom prst="ellipse">
            <a:avLst/>
          </a:prstGeom>
          <a:solidFill>
            <a:srgbClr val="0F5C42"/>
          </a:solidFill>
          <a:ln/>
        </p:spPr>
      </p:sp>
      <p:sp>
        <p:nvSpPr>
          <p:cNvPr id="30" name="Text 28"/>
          <p:cNvSpPr/>
          <p:nvPr/>
        </p:nvSpPr>
        <p:spPr>
          <a:xfrm>
            <a:off x="502920" y="6684264"/>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1" name="Shape 29"/>
          <p:cNvSpPr/>
          <p:nvPr/>
        </p:nvSpPr>
        <p:spPr>
          <a:xfrm>
            <a:off x="731520" y="7141464"/>
            <a:ext cx="0" cy="786384"/>
          </a:xfrm>
          <a:prstGeom prst="line">
            <a:avLst/>
          </a:prstGeom>
          <a:noFill/>
          <a:ln w="12700">
            <a:solidFill>
              <a:srgbClr val="C9A15A"/>
            </a:solidFill>
            <a:prstDash val="dash"/>
          </a:ln>
        </p:spPr>
      </p:sp>
      <p:sp>
        <p:nvSpPr>
          <p:cNvPr id="32" name="Shape 30"/>
          <p:cNvSpPr/>
          <p:nvPr/>
        </p:nvSpPr>
        <p:spPr>
          <a:xfrm>
            <a:off x="1143000" y="6665976"/>
            <a:ext cx="5916168" cy="1042416"/>
          </a:xfrm>
          <a:prstGeom prst="roundRect">
            <a:avLst>
              <a:gd name="adj" fmla="val 4386"/>
            </a:avLst>
          </a:prstGeom>
          <a:solidFill>
            <a:srgbClr val="13273A"/>
          </a:solidFill>
          <a:ln/>
        </p:spPr>
      </p:sp>
      <p:sp>
        <p:nvSpPr>
          <p:cNvPr id="33" name="Text 31"/>
          <p:cNvSpPr/>
          <p:nvPr/>
        </p:nvSpPr>
        <p:spPr>
          <a:xfrm>
            <a:off x="1371600" y="6757416"/>
            <a:ext cx="5458968" cy="237744"/>
          </a:xfrm>
          <a:prstGeom prst="rect">
            <a:avLst/>
          </a:prstGeom>
          <a:noFill/>
          <a:ln/>
        </p:spPr>
        <p:txBody>
          <a:bodyPr wrap="square" rtlCol="0" anchor="ctr"/>
          <a:lstStyle/>
          <a:p>
            <a:pPr marL="0" indent="0">
              <a:buNone/>
            </a:pPr>
            <a:r>
              <a:rPr lang="en-US" sz="1200" b="1" kern="0" spc="150" dirty="0">
                <a:solidFill>
                  <a:srgbClr val="E4C98A"/>
                </a:solidFill>
                <a:latin typeface="Calibri" pitchFamily="34" charset="0"/>
                <a:ea typeface="Calibri" pitchFamily="34" charset="-122"/>
                <a:cs typeface="Calibri" pitchFamily="34" charset="-120"/>
              </a:rPr>
              <a:t>OPTIMISE</a:t>
            </a:r>
            <a:endParaRPr lang="en-US" sz="1200" dirty="0"/>
          </a:p>
        </p:txBody>
      </p:sp>
      <p:sp>
        <p:nvSpPr>
          <p:cNvPr id="34" name="Text 32"/>
          <p:cNvSpPr/>
          <p:nvPr/>
        </p:nvSpPr>
        <p:spPr>
          <a:xfrm>
            <a:off x="1371600" y="7031736"/>
            <a:ext cx="5413248" cy="667512"/>
          </a:xfrm>
          <a:prstGeom prst="rect">
            <a:avLst/>
          </a:prstGeom>
          <a:noFill/>
          <a:ln/>
        </p:spPr>
        <p:txBody>
          <a:bodyPr wrap="square" rtlCol="0" anchor="t"/>
          <a:lstStyle/>
          <a:p>
            <a:pPr marL="0" indent="0">
              <a:lnSpc>
                <a:spcPct val="116000"/>
              </a:lnSpc>
              <a:buNone/>
            </a:pPr>
            <a:r>
              <a:rPr lang="en-US" sz="940" dirty="0">
                <a:solidFill>
                  <a:srgbClr val="B9C3CC"/>
                </a:solidFill>
                <a:latin typeface="Calibri" pitchFamily="34" charset="0"/>
                <a:ea typeface="Calibri" pitchFamily="34" charset="-122"/>
                <a:cs typeface="Calibri" pitchFamily="34" charset="-120"/>
              </a:rPr>
              <a:t>Performance instrumentation, dashboarding, and iterative refinement. Pricing, cost, quality, and guest-experience levers tuned against live data.</a:t>
            </a:r>
            <a:endParaRPr lang="en-US" sz="940" dirty="0"/>
          </a:p>
        </p:txBody>
      </p:sp>
      <p:sp>
        <p:nvSpPr>
          <p:cNvPr id="35" name="Shape 33"/>
          <p:cNvSpPr/>
          <p:nvPr/>
        </p:nvSpPr>
        <p:spPr>
          <a:xfrm>
            <a:off x="502920" y="7854696"/>
            <a:ext cx="457200" cy="457200"/>
          </a:xfrm>
          <a:prstGeom prst="ellipse">
            <a:avLst/>
          </a:prstGeom>
          <a:solidFill>
            <a:srgbClr val="C1501D"/>
          </a:solidFill>
          <a:ln/>
        </p:spPr>
      </p:sp>
      <p:sp>
        <p:nvSpPr>
          <p:cNvPr id="36" name="Text 34"/>
          <p:cNvSpPr/>
          <p:nvPr/>
        </p:nvSpPr>
        <p:spPr>
          <a:xfrm>
            <a:off x="502920" y="7854696"/>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7" name="Shape 35"/>
          <p:cNvSpPr/>
          <p:nvPr/>
        </p:nvSpPr>
        <p:spPr>
          <a:xfrm>
            <a:off x="1143000" y="7836408"/>
            <a:ext cx="5916168" cy="1042416"/>
          </a:xfrm>
          <a:prstGeom prst="roundRect">
            <a:avLst>
              <a:gd name="adj" fmla="val 4386"/>
            </a:avLst>
          </a:prstGeom>
          <a:solidFill>
            <a:srgbClr val="13273A"/>
          </a:solidFill>
          <a:ln/>
        </p:spPr>
      </p:sp>
      <p:sp>
        <p:nvSpPr>
          <p:cNvPr id="38" name="Text 36"/>
          <p:cNvSpPr/>
          <p:nvPr/>
        </p:nvSpPr>
        <p:spPr>
          <a:xfrm>
            <a:off x="1371600" y="7927848"/>
            <a:ext cx="5458968" cy="237744"/>
          </a:xfrm>
          <a:prstGeom prst="rect">
            <a:avLst/>
          </a:prstGeom>
          <a:noFill/>
          <a:ln/>
        </p:spPr>
        <p:txBody>
          <a:bodyPr wrap="square" rtlCol="0" anchor="ctr"/>
          <a:lstStyle/>
          <a:p>
            <a:pPr marL="0" indent="0">
              <a:buNone/>
            </a:pPr>
            <a:r>
              <a:rPr lang="en-US" sz="1200" b="1" kern="0" spc="150" dirty="0">
                <a:solidFill>
                  <a:srgbClr val="E4C98A"/>
                </a:solidFill>
                <a:latin typeface="Calibri" pitchFamily="34" charset="0"/>
                <a:ea typeface="Calibri" pitchFamily="34" charset="-122"/>
                <a:cs typeface="Calibri" pitchFamily="34" charset="-120"/>
              </a:rPr>
              <a:t>SCALE</a:t>
            </a:r>
            <a:endParaRPr lang="en-US" sz="1200" dirty="0"/>
          </a:p>
        </p:txBody>
      </p:sp>
      <p:sp>
        <p:nvSpPr>
          <p:cNvPr id="39" name="Text 37"/>
          <p:cNvSpPr/>
          <p:nvPr/>
        </p:nvSpPr>
        <p:spPr>
          <a:xfrm>
            <a:off x="1371600" y="8202168"/>
            <a:ext cx="5413248" cy="667512"/>
          </a:xfrm>
          <a:prstGeom prst="rect">
            <a:avLst/>
          </a:prstGeom>
          <a:noFill/>
          <a:ln/>
        </p:spPr>
        <p:txBody>
          <a:bodyPr wrap="square" rtlCol="0" anchor="t"/>
          <a:lstStyle/>
          <a:p>
            <a:pPr marL="0" indent="0">
              <a:lnSpc>
                <a:spcPct val="116000"/>
              </a:lnSpc>
              <a:buNone/>
            </a:pPr>
            <a:r>
              <a:rPr lang="en-US" sz="940" dirty="0">
                <a:solidFill>
                  <a:srgbClr val="B9C3CC"/>
                </a:solidFill>
                <a:latin typeface="Calibri" pitchFamily="34" charset="0"/>
                <a:ea typeface="Calibri" pitchFamily="34" charset="-122"/>
                <a:cs typeface="Calibri" pitchFamily="34" charset="-120"/>
              </a:rPr>
              <a:t>Institutionalisation and growth: playbooks, capability transfer, and governance handover so momentum can compound long after the engagement concludes.</a:t>
            </a:r>
            <a:endParaRPr lang="en-US" sz="940" dirty="0"/>
          </a:p>
        </p:txBody>
      </p:sp>
      <p:sp>
        <p:nvSpPr>
          <p:cNvPr id="40" name="Text 38"/>
          <p:cNvSpPr/>
          <p:nvPr/>
        </p:nvSpPr>
        <p:spPr>
          <a:xfrm>
            <a:off x="502920" y="9052560"/>
            <a:ext cx="6556248" cy="365760"/>
          </a:xfrm>
          <a:prstGeom prst="rect">
            <a:avLst/>
          </a:prstGeom>
          <a:noFill/>
          <a:ln/>
        </p:spPr>
        <p:txBody>
          <a:bodyPr wrap="square" rtlCol="0" anchor="ctr"/>
          <a:lstStyle/>
          <a:p>
            <a:pPr marL="0" indent="0" algn="ctr">
              <a:buNone/>
            </a:pPr>
            <a:r>
              <a:rPr lang="en-US" sz="1300" i="1" dirty="0">
                <a:solidFill>
                  <a:srgbClr val="E4C98A"/>
                </a:solidFill>
                <a:latin typeface="Cambria" pitchFamily="34" charset="0"/>
                <a:ea typeface="Cambria" pitchFamily="34" charset="-122"/>
                <a:cs typeface="Cambria" pitchFamily="34" charset="-120"/>
              </a:rPr>
              <a:t>Precision in planning. Discipline in execution.</a:t>
            </a:r>
            <a:endParaRPr lang="en-US" sz="1300" dirty="0"/>
          </a:p>
        </p:txBody>
      </p:sp>
      <p:sp>
        <p:nvSpPr>
          <p:cNvPr id="41" name="Shape 39"/>
          <p:cNvSpPr/>
          <p:nvPr/>
        </p:nvSpPr>
        <p:spPr>
          <a:xfrm>
            <a:off x="502920" y="10186416"/>
            <a:ext cx="6556248" cy="0"/>
          </a:xfrm>
          <a:prstGeom prst="line">
            <a:avLst/>
          </a:prstGeom>
          <a:noFill/>
          <a:ln w="9525">
            <a:solidFill>
              <a:srgbClr val="2A3B4C"/>
            </a:solidFill>
            <a:prstDash val="solid"/>
          </a:ln>
        </p:spPr>
      </p:sp>
      <p:sp>
        <p:nvSpPr>
          <p:cNvPr id="42" name="Text 40"/>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B9C3CC"/>
                </a:solidFill>
                <a:latin typeface="Calibri" pitchFamily="34" charset="0"/>
                <a:ea typeface="Calibri" pitchFamily="34" charset="-122"/>
                <a:cs typeface="Calibri" pitchFamily="34" charset="-120"/>
              </a:rPr>
              <a:t>ALTUS GULF</a:t>
            </a:r>
            <a:endParaRPr lang="en-US" sz="850" dirty="0"/>
          </a:p>
        </p:txBody>
      </p:sp>
      <p:sp>
        <p:nvSpPr>
          <p:cNvPr id="43" name="Text 41"/>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B9C3CC"/>
                </a:solidFill>
                <a:latin typeface="Calibri" pitchFamily="34" charset="0"/>
                <a:ea typeface="Calibri" pitchFamily="34" charset="-122"/>
                <a:cs typeface="Calibri" pitchFamily="34" charset="-120"/>
              </a:rPr>
              <a:t>CORPORATE PROFILE  •  11</a:t>
            </a:r>
            <a:endParaRPr lang="en-US" sz="85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C1501D"/>
                </a:solidFill>
                <a:latin typeface="Calibri" pitchFamily="34" charset="0"/>
                <a:ea typeface="Calibri" pitchFamily="34" charset="-122"/>
                <a:cs typeface="Calibri" pitchFamily="34" charset="-120"/>
              </a:rPr>
              <a:t>10  •  ORIGINAL CONSULTING MODELS</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a:solidFill>
                  <a:srgbClr val="0B1B2B"/>
                </a:solidFill>
                <a:latin typeface="Cambria" pitchFamily="34" charset="0"/>
                <a:ea typeface="Cambria" pitchFamily="34" charset="-122"/>
                <a:cs typeface="Cambria" pitchFamily="34" charset="-120"/>
              </a:rPr>
              <a:t>Strategic Frameworks</a:t>
            </a:r>
            <a:endParaRPr lang="en-US" sz="2700" dirty="0"/>
          </a:p>
        </p:txBody>
      </p:sp>
      <p:sp>
        <p:nvSpPr>
          <p:cNvPr id="4" name="Text 2"/>
          <p:cNvSpPr/>
          <p:nvPr/>
        </p:nvSpPr>
        <p:spPr>
          <a:xfrm>
            <a:off x="502920" y="1280160"/>
            <a:ext cx="6556248" cy="566928"/>
          </a:xfrm>
          <a:prstGeom prst="rect">
            <a:avLst/>
          </a:prstGeom>
          <a:noFill/>
          <a:ln/>
        </p:spPr>
        <p:txBody>
          <a:bodyPr wrap="square" rtlCol="0" anchor="t"/>
          <a:lstStyle/>
          <a:p>
            <a:pPr marL="0" indent="0" algn="l">
              <a:lnSpc>
                <a:spcPct val="118000"/>
              </a:lnSpc>
              <a:buNone/>
            </a:pPr>
            <a:r>
              <a:rPr lang="en-US" sz="1150" dirty="0">
                <a:solidFill>
                  <a:srgbClr val="6B675F"/>
                </a:solidFill>
                <a:latin typeface="Calibri" pitchFamily="34" charset="0"/>
                <a:ea typeface="Calibri" pitchFamily="34" charset="-122"/>
                <a:cs typeface="Calibri" pitchFamily="34" charset="-120"/>
              </a:rPr>
              <a:t>Two proprietary lenses through which Altus Gulf reads an asset: locating it on the performance map, then mapping the route toward compounding returns.</a:t>
            </a:r>
            <a:endParaRPr lang="en-US" sz="1150" dirty="0"/>
          </a:p>
        </p:txBody>
      </p:sp>
      <p:sp>
        <p:nvSpPr>
          <p:cNvPr id="5" name="Text 3"/>
          <p:cNvSpPr/>
          <p:nvPr/>
        </p:nvSpPr>
        <p:spPr>
          <a:xfrm>
            <a:off x="502920" y="1938528"/>
            <a:ext cx="6556248" cy="219456"/>
          </a:xfrm>
          <a:prstGeom prst="rect">
            <a:avLst/>
          </a:prstGeom>
          <a:noFill/>
          <a:ln/>
        </p:spPr>
        <p:txBody>
          <a:bodyPr wrap="square" rtlCol="0" anchor="ctr"/>
          <a:lstStyle/>
          <a:p>
            <a:pPr marL="0" indent="0">
              <a:buNone/>
            </a:pPr>
            <a:r>
              <a:rPr lang="en-US" sz="1000" b="1" kern="0" spc="100" dirty="0">
                <a:solidFill>
                  <a:srgbClr val="C1501D"/>
                </a:solidFill>
                <a:latin typeface="Calibri" pitchFamily="34" charset="0"/>
                <a:ea typeface="Calibri" pitchFamily="34" charset="-122"/>
                <a:cs typeface="Calibri" pitchFamily="34" charset="-120"/>
              </a:rPr>
              <a:t>A.  THE ALTUS PERFORMANCE MATRIX™</a:t>
            </a:r>
            <a:endParaRPr lang="en-US" sz="1000" dirty="0"/>
          </a:p>
        </p:txBody>
      </p:sp>
      <p:sp>
        <p:nvSpPr>
          <p:cNvPr id="6" name="Shape 4"/>
          <p:cNvSpPr/>
          <p:nvPr/>
        </p:nvSpPr>
        <p:spPr>
          <a:xfrm>
            <a:off x="502920" y="2267712"/>
            <a:ext cx="2240280" cy="1234440"/>
          </a:xfrm>
          <a:prstGeom prst="rect">
            <a:avLst/>
          </a:prstGeom>
          <a:solidFill>
            <a:srgbClr val="13273A"/>
          </a:solidFill>
          <a:ln w="19050">
            <a:solidFill>
              <a:srgbClr val="FAF7F0"/>
            </a:solidFill>
            <a:prstDash val="solid"/>
          </a:ln>
        </p:spPr>
      </p:sp>
      <p:sp>
        <p:nvSpPr>
          <p:cNvPr id="7" name="Text 5"/>
          <p:cNvSpPr/>
          <p:nvPr/>
        </p:nvSpPr>
        <p:spPr>
          <a:xfrm>
            <a:off x="612648" y="2432304"/>
            <a:ext cx="2020824" cy="274320"/>
          </a:xfrm>
          <a:prstGeom prst="rect">
            <a:avLst/>
          </a:prstGeom>
          <a:noFill/>
          <a:ln/>
        </p:spPr>
        <p:txBody>
          <a:bodyPr wrap="square" rtlCol="0" anchor="ctr"/>
          <a:lstStyle/>
          <a:p>
            <a:pPr marL="0" indent="0" algn="ctr">
              <a:buNone/>
            </a:pPr>
            <a:r>
              <a:rPr lang="en-US" sz="900" b="1" dirty="0">
                <a:solidFill>
                  <a:srgbClr val="0B1B2B"/>
                </a:solidFill>
                <a:latin typeface="Calibri" pitchFamily="34" charset="0"/>
                <a:ea typeface="Calibri" pitchFamily="34" charset="-122"/>
                <a:cs typeface="Calibri" pitchFamily="34" charset="-120"/>
              </a:rPr>
              <a:t>LEGACY OPERATOR</a:t>
            </a:r>
            <a:endParaRPr lang="en-US" sz="900" dirty="0"/>
          </a:p>
        </p:txBody>
      </p:sp>
      <p:sp>
        <p:nvSpPr>
          <p:cNvPr id="8" name="Text 6"/>
          <p:cNvSpPr/>
          <p:nvPr/>
        </p:nvSpPr>
        <p:spPr>
          <a:xfrm>
            <a:off x="612648" y="2724912"/>
            <a:ext cx="2020824" cy="548640"/>
          </a:xfrm>
          <a:prstGeom prst="rect">
            <a:avLst/>
          </a:prstGeom>
          <a:noFill/>
          <a:ln/>
        </p:spPr>
        <p:txBody>
          <a:bodyPr wrap="square" rtlCol="0" anchor="ctr"/>
          <a:lstStyle/>
          <a:p>
            <a:pPr marL="0" indent="0" algn="ctr">
              <a:lnSpc>
                <a:spcPct val="115000"/>
              </a:lnSpc>
              <a:buNone/>
            </a:pPr>
            <a:r>
              <a:rPr lang="en-US" sz="770" dirty="0">
                <a:solidFill>
                  <a:srgbClr val="B9C3CC"/>
                </a:solidFill>
                <a:latin typeface="Calibri" pitchFamily="34" charset="0"/>
                <a:ea typeface="Calibri" pitchFamily="34" charset="-122"/>
                <a:cs typeface="Calibri" pitchFamily="34" charset="-120"/>
              </a:rPr>
              <a:t>Sound operations,</a:t>
            </a:r>
            <a:endParaRPr lang="en-US" sz="770" dirty="0"/>
          </a:p>
          <a:p>
            <a:pPr marL="0" indent="0" algn="ctr">
              <a:lnSpc>
                <a:spcPct val="115000"/>
              </a:lnSpc>
              <a:buNone/>
            </a:pPr>
            <a:r>
              <a:rPr lang="en-US" sz="770" dirty="0">
                <a:solidFill>
                  <a:srgbClr val="B9C3CC"/>
                </a:solidFill>
                <a:latin typeface="Calibri" pitchFamily="34" charset="0"/>
                <a:ea typeface="Calibri" pitchFamily="34" charset="-122"/>
                <a:cs typeface="Calibri" pitchFamily="34" charset="-120"/>
              </a:rPr>
              <a:t>analogue commercial engine</a:t>
            </a:r>
            <a:endParaRPr lang="en-US" sz="770" dirty="0"/>
          </a:p>
        </p:txBody>
      </p:sp>
      <p:sp>
        <p:nvSpPr>
          <p:cNvPr id="9" name="Shape 7"/>
          <p:cNvSpPr/>
          <p:nvPr/>
        </p:nvSpPr>
        <p:spPr>
          <a:xfrm>
            <a:off x="2743200" y="2267712"/>
            <a:ext cx="2240280" cy="1234440"/>
          </a:xfrm>
          <a:prstGeom prst="rect">
            <a:avLst/>
          </a:prstGeom>
          <a:solidFill>
            <a:srgbClr val="0F5C42"/>
          </a:solidFill>
          <a:ln w="19050">
            <a:solidFill>
              <a:srgbClr val="FAF7F0"/>
            </a:solidFill>
            <a:prstDash val="solid"/>
          </a:ln>
        </p:spPr>
      </p:sp>
      <p:sp>
        <p:nvSpPr>
          <p:cNvPr id="10" name="Text 8"/>
          <p:cNvSpPr/>
          <p:nvPr/>
        </p:nvSpPr>
        <p:spPr>
          <a:xfrm>
            <a:off x="2852928" y="2432304"/>
            <a:ext cx="2020824"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THE ALTUS GULF ZONE</a:t>
            </a:r>
            <a:endParaRPr lang="en-US" sz="900" dirty="0"/>
          </a:p>
        </p:txBody>
      </p:sp>
      <p:sp>
        <p:nvSpPr>
          <p:cNvPr id="11" name="Text 9"/>
          <p:cNvSpPr/>
          <p:nvPr/>
        </p:nvSpPr>
        <p:spPr>
          <a:xfrm>
            <a:off x="2852928" y="2724912"/>
            <a:ext cx="2020824" cy="548640"/>
          </a:xfrm>
          <a:prstGeom prst="rect">
            <a:avLst/>
          </a:prstGeom>
          <a:noFill/>
          <a:ln/>
        </p:spPr>
        <p:txBody>
          <a:bodyPr wrap="square" rtlCol="0" anchor="ctr"/>
          <a:lstStyle/>
          <a:p>
            <a:pPr marL="0" indent="0" algn="ctr">
              <a:lnSpc>
                <a:spcPct val="115000"/>
              </a:lnSpc>
              <a:buNone/>
            </a:pPr>
            <a:r>
              <a:rPr lang="en-US" sz="770" dirty="0">
                <a:solidFill>
                  <a:srgbClr val="E9F3EE"/>
                </a:solidFill>
                <a:latin typeface="Calibri" pitchFamily="34" charset="0"/>
                <a:ea typeface="Calibri" pitchFamily="34" charset="-122"/>
                <a:cs typeface="Calibri" pitchFamily="34" charset="-120"/>
              </a:rPr>
              <a:t>Operational mastery × digital intelligence:</a:t>
            </a:r>
            <a:endParaRPr lang="en-US" sz="770" dirty="0"/>
          </a:p>
          <a:p>
            <a:pPr marL="0" indent="0" algn="ctr">
              <a:lnSpc>
                <a:spcPct val="115000"/>
              </a:lnSpc>
              <a:buNone/>
            </a:pPr>
            <a:r>
              <a:rPr lang="en-US" sz="770" dirty="0">
                <a:solidFill>
                  <a:srgbClr val="E9F3EE"/>
                </a:solidFill>
                <a:latin typeface="Calibri" pitchFamily="34" charset="0"/>
                <a:ea typeface="Calibri" pitchFamily="34" charset="-122"/>
                <a:cs typeface="Calibri" pitchFamily="34" charset="-120"/>
              </a:rPr>
              <a:t>compounding performance</a:t>
            </a:r>
            <a:endParaRPr lang="en-US" sz="770" dirty="0"/>
          </a:p>
        </p:txBody>
      </p:sp>
      <p:sp>
        <p:nvSpPr>
          <p:cNvPr id="12" name="Shape 10"/>
          <p:cNvSpPr/>
          <p:nvPr/>
        </p:nvSpPr>
        <p:spPr>
          <a:xfrm>
            <a:off x="502920" y="3502152"/>
            <a:ext cx="2240280" cy="1234440"/>
          </a:xfrm>
          <a:prstGeom prst="rect">
            <a:avLst/>
          </a:prstGeom>
          <a:solidFill>
            <a:srgbClr val="F3EEE4"/>
          </a:solidFill>
          <a:ln w="19050">
            <a:solidFill>
              <a:srgbClr val="FAF7F0"/>
            </a:solidFill>
            <a:prstDash val="solid"/>
          </a:ln>
        </p:spPr>
      </p:sp>
      <p:sp>
        <p:nvSpPr>
          <p:cNvPr id="13" name="Text 11"/>
          <p:cNvSpPr/>
          <p:nvPr/>
        </p:nvSpPr>
        <p:spPr>
          <a:xfrm>
            <a:off x="612648" y="3666744"/>
            <a:ext cx="2020824" cy="274320"/>
          </a:xfrm>
          <a:prstGeom prst="rect">
            <a:avLst/>
          </a:prstGeom>
          <a:noFill/>
          <a:ln/>
        </p:spPr>
        <p:txBody>
          <a:bodyPr wrap="square" rtlCol="0" anchor="ctr"/>
          <a:lstStyle/>
          <a:p>
            <a:pPr marL="0" indent="0" algn="ctr">
              <a:buNone/>
            </a:pPr>
            <a:r>
              <a:rPr lang="en-US" sz="900" b="1" dirty="0">
                <a:solidFill>
                  <a:srgbClr val="0B1B2B"/>
                </a:solidFill>
                <a:latin typeface="Calibri" pitchFamily="34" charset="0"/>
                <a:ea typeface="Calibri" pitchFamily="34" charset="-122"/>
                <a:cs typeface="Calibri" pitchFamily="34" charset="-120"/>
              </a:rPr>
              <a:t>UNDERMANAGED ASSET</a:t>
            </a:r>
            <a:endParaRPr lang="en-US" sz="900" dirty="0"/>
          </a:p>
        </p:txBody>
      </p:sp>
      <p:sp>
        <p:nvSpPr>
          <p:cNvPr id="14" name="Text 12"/>
          <p:cNvSpPr/>
          <p:nvPr/>
        </p:nvSpPr>
        <p:spPr>
          <a:xfrm>
            <a:off x="612648" y="3959352"/>
            <a:ext cx="2020824" cy="548640"/>
          </a:xfrm>
          <a:prstGeom prst="rect">
            <a:avLst/>
          </a:prstGeom>
          <a:noFill/>
          <a:ln/>
        </p:spPr>
        <p:txBody>
          <a:bodyPr wrap="square" rtlCol="0" anchor="ctr"/>
          <a:lstStyle/>
          <a:p>
            <a:pPr marL="0" indent="0" algn="ctr">
              <a:lnSpc>
                <a:spcPct val="115000"/>
              </a:lnSpc>
              <a:buNone/>
            </a:pPr>
            <a:r>
              <a:rPr lang="en-US" sz="770" dirty="0">
                <a:solidFill>
                  <a:srgbClr val="6B675F"/>
                </a:solidFill>
                <a:latin typeface="Calibri" pitchFamily="34" charset="0"/>
                <a:ea typeface="Calibri" pitchFamily="34" charset="-122"/>
                <a:cs typeface="Calibri" pitchFamily="34" charset="-120"/>
              </a:rPr>
              <a:t>Capital deployed,</a:t>
            </a:r>
            <a:endParaRPr lang="en-US" sz="770" dirty="0"/>
          </a:p>
          <a:p>
            <a:pPr marL="0" indent="0" algn="ctr">
              <a:lnSpc>
                <a:spcPct val="115000"/>
              </a:lnSpc>
              <a:buNone/>
            </a:pPr>
            <a:r>
              <a:rPr lang="en-US" sz="770" dirty="0">
                <a:solidFill>
                  <a:srgbClr val="6B675F"/>
                </a:solidFill>
                <a:latin typeface="Calibri" pitchFamily="34" charset="0"/>
                <a:ea typeface="Calibri" pitchFamily="34" charset="-122"/>
                <a:cs typeface="Calibri" pitchFamily="34" charset="-120"/>
              </a:rPr>
              <a:t>potential unrealised</a:t>
            </a:r>
            <a:endParaRPr lang="en-US" sz="770" dirty="0"/>
          </a:p>
        </p:txBody>
      </p:sp>
      <p:sp>
        <p:nvSpPr>
          <p:cNvPr id="15" name="Shape 13"/>
          <p:cNvSpPr/>
          <p:nvPr/>
        </p:nvSpPr>
        <p:spPr>
          <a:xfrm>
            <a:off x="2743200" y="3502152"/>
            <a:ext cx="2240280" cy="1234440"/>
          </a:xfrm>
          <a:prstGeom prst="rect">
            <a:avLst/>
          </a:prstGeom>
          <a:solidFill>
            <a:srgbClr val="F3EEE4"/>
          </a:solidFill>
          <a:ln w="19050">
            <a:solidFill>
              <a:srgbClr val="FAF7F0"/>
            </a:solidFill>
            <a:prstDash val="solid"/>
          </a:ln>
        </p:spPr>
      </p:sp>
      <p:sp>
        <p:nvSpPr>
          <p:cNvPr id="16" name="Text 14"/>
          <p:cNvSpPr/>
          <p:nvPr/>
        </p:nvSpPr>
        <p:spPr>
          <a:xfrm>
            <a:off x="2852928" y="3666744"/>
            <a:ext cx="2020824" cy="274320"/>
          </a:xfrm>
          <a:prstGeom prst="rect">
            <a:avLst/>
          </a:prstGeom>
          <a:noFill/>
          <a:ln/>
        </p:spPr>
        <p:txBody>
          <a:bodyPr wrap="square" rtlCol="0" anchor="ctr"/>
          <a:lstStyle/>
          <a:p>
            <a:pPr marL="0" indent="0" algn="ctr">
              <a:buNone/>
            </a:pPr>
            <a:r>
              <a:rPr lang="en-US" sz="900" b="1" dirty="0">
                <a:solidFill>
                  <a:srgbClr val="0B1B2B"/>
                </a:solidFill>
                <a:latin typeface="Calibri" pitchFamily="34" charset="0"/>
                <a:ea typeface="Calibri" pitchFamily="34" charset="-122"/>
                <a:cs typeface="Calibri" pitchFamily="34" charset="-120"/>
              </a:rPr>
              <a:t>DIGITAL VENEER</a:t>
            </a:r>
            <a:endParaRPr lang="en-US" sz="900" dirty="0"/>
          </a:p>
        </p:txBody>
      </p:sp>
      <p:sp>
        <p:nvSpPr>
          <p:cNvPr id="17" name="Text 15"/>
          <p:cNvSpPr/>
          <p:nvPr/>
        </p:nvSpPr>
        <p:spPr>
          <a:xfrm>
            <a:off x="2852928" y="3959352"/>
            <a:ext cx="2020824" cy="548640"/>
          </a:xfrm>
          <a:prstGeom prst="rect">
            <a:avLst/>
          </a:prstGeom>
          <a:noFill/>
          <a:ln/>
        </p:spPr>
        <p:txBody>
          <a:bodyPr wrap="square" rtlCol="0" anchor="ctr"/>
          <a:lstStyle/>
          <a:p>
            <a:pPr marL="0" indent="0" algn="ctr">
              <a:lnSpc>
                <a:spcPct val="115000"/>
              </a:lnSpc>
              <a:buNone/>
            </a:pPr>
            <a:r>
              <a:rPr lang="en-US" sz="770" dirty="0">
                <a:solidFill>
                  <a:srgbClr val="6B675F"/>
                </a:solidFill>
                <a:latin typeface="Calibri" pitchFamily="34" charset="0"/>
                <a:ea typeface="Calibri" pitchFamily="34" charset="-122"/>
                <a:cs typeface="Calibri" pitchFamily="34" charset="-120"/>
              </a:rPr>
              <a:t>Technology adopted,</a:t>
            </a:r>
            <a:endParaRPr lang="en-US" sz="770" dirty="0"/>
          </a:p>
          <a:p>
            <a:pPr marL="0" indent="0" algn="ctr">
              <a:lnSpc>
                <a:spcPct val="115000"/>
              </a:lnSpc>
              <a:buNone/>
            </a:pPr>
            <a:r>
              <a:rPr lang="en-US" sz="770" dirty="0">
                <a:solidFill>
                  <a:srgbClr val="6B675F"/>
                </a:solidFill>
                <a:latin typeface="Calibri" pitchFamily="34" charset="0"/>
                <a:ea typeface="Calibri" pitchFamily="34" charset="-122"/>
                <a:cs typeface="Calibri" pitchFamily="34" charset="-120"/>
              </a:rPr>
              <a:t>operations underpowered</a:t>
            </a:r>
            <a:endParaRPr lang="en-US" sz="770" dirty="0"/>
          </a:p>
        </p:txBody>
      </p:sp>
      <p:sp>
        <p:nvSpPr>
          <p:cNvPr id="18" name="Shape 16"/>
          <p:cNvSpPr/>
          <p:nvPr/>
        </p:nvSpPr>
        <p:spPr>
          <a:xfrm>
            <a:off x="502920" y="4882896"/>
            <a:ext cx="4480560" cy="0"/>
          </a:xfrm>
          <a:prstGeom prst="line">
            <a:avLst/>
          </a:prstGeom>
          <a:noFill/>
          <a:ln w="9525">
            <a:solidFill>
              <a:srgbClr val="6B675F"/>
            </a:solidFill>
            <a:prstDash val="solid"/>
            <a:tailEnd type="triangle"/>
          </a:ln>
        </p:spPr>
      </p:sp>
      <p:sp>
        <p:nvSpPr>
          <p:cNvPr id="19" name="Text 17"/>
          <p:cNvSpPr/>
          <p:nvPr/>
        </p:nvSpPr>
        <p:spPr>
          <a:xfrm>
            <a:off x="502920" y="4919472"/>
            <a:ext cx="4480560" cy="182880"/>
          </a:xfrm>
          <a:prstGeom prst="rect">
            <a:avLst/>
          </a:prstGeom>
          <a:noFill/>
          <a:ln/>
        </p:spPr>
        <p:txBody>
          <a:bodyPr wrap="square" rtlCol="0" anchor="ctr"/>
          <a:lstStyle/>
          <a:p>
            <a:pPr marL="0" indent="0" algn="ctr">
              <a:buNone/>
            </a:pPr>
            <a:r>
              <a:rPr lang="en-US" sz="730" dirty="0">
                <a:solidFill>
                  <a:srgbClr val="6B675F"/>
                </a:solidFill>
                <a:latin typeface="Calibri" pitchFamily="34" charset="0"/>
                <a:ea typeface="Calibri" pitchFamily="34" charset="-122"/>
                <a:cs typeface="Calibri" pitchFamily="34" charset="-120"/>
              </a:rPr>
              <a:t>DIGITAL &amp; COMMERCIAL INTELLIGENCE →</a:t>
            </a:r>
            <a:endParaRPr lang="en-US" sz="730" dirty="0"/>
          </a:p>
        </p:txBody>
      </p:sp>
      <p:sp>
        <p:nvSpPr>
          <p:cNvPr id="20" name="Text 18"/>
          <p:cNvSpPr/>
          <p:nvPr/>
        </p:nvSpPr>
        <p:spPr>
          <a:xfrm>
            <a:off x="502920" y="2048256"/>
            <a:ext cx="4480560" cy="182880"/>
          </a:xfrm>
          <a:prstGeom prst="rect">
            <a:avLst/>
          </a:prstGeom>
          <a:noFill/>
          <a:ln/>
        </p:spPr>
        <p:txBody>
          <a:bodyPr wrap="square" rtlCol="0" anchor="ctr"/>
          <a:lstStyle/>
          <a:p>
            <a:pPr marL="0" indent="0" algn="ctr">
              <a:buNone/>
            </a:pPr>
            <a:r>
              <a:rPr lang="en-US" sz="730" dirty="0">
                <a:solidFill>
                  <a:srgbClr val="6B675F"/>
                </a:solidFill>
                <a:latin typeface="Calibri" pitchFamily="34" charset="0"/>
                <a:ea typeface="Calibri" pitchFamily="34" charset="-122"/>
                <a:cs typeface="Calibri" pitchFamily="34" charset="-120"/>
              </a:rPr>
              <a:t>↑ OPERATIONAL RIGOUR</a:t>
            </a:r>
            <a:endParaRPr lang="en-US" sz="730" dirty="0"/>
          </a:p>
        </p:txBody>
      </p:sp>
      <p:sp>
        <p:nvSpPr>
          <p:cNvPr id="21" name="Text 19"/>
          <p:cNvSpPr/>
          <p:nvPr/>
        </p:nvSpPr>
        <p:spPr>
          <a:xfrm>
            <a:off x="5212080" y="2542032"/>
            <a:ext cx="1847088" cy="1463040"/>
          </a:xfrm>
          <a:prstGeom prst="rect">
            <a:avLst/>
          </a:prstGeom>
          <a:noFill/>
          <a:ln/>
        </p:spPr>
        <p:txBody>
          <a:bodyPr wrap="square" rtlCol="0" anchor="t"/>
          <a:lstStyle/>
          <a:p>
            <a:pPr marL="0" indent="0">
              <a:lnSpc>
                <a:spcPct val="135000"/>
              </a:lnSpc>
              <a:buNone/>
            </a:pPr>
            <a:r>
              <a:rPr lang="en-US" sz="1300" i="1" dirty="0">
                <a:solidFill>
                  <a:srgbClr val="0B1B2B"/>
                </a:solidFill>
                <a:latin typeface="Cambria" pitchFamily="34" charset="0"/>
                <a:ea typeface="Cambria" pitchFamily="34" charset="-122"/>
                <a:cs typeface="Cambria" pitchFamily="34" charset="-120"/>
              </a:rPr>
              <a:t>Our mandate: move every client asset up and to the right, into the Altus Gulf Zone.</a:t>
            </a:r>
            <a:endParaRPr lang="en-US" sz="1300" dirty="0"/>
          </a:p>
        </p:txBody>
      </p:sp>
      <p:sp>
        <p:nvSpPr>
          <p:cNvPr id="22" name="Text 20"/>
          <p:cNvSpPr/>
          <p:nvPr/>
        </p:nvSpPr>
        <p:spPr>
          <a:xfrm>
            <a:off x="502920" y="5330952"/>
            <a:ext cx="6556248" cy="219456"/>
          </a:xfrm>
          <a:prstGeom prst="rect">
            <a:avLst/>
          </a:prstGeom>
          <a:noFill/>
          <a:ln/>
        </p:spPr>
        <p:txBody>
          <a:bodyPr wrap="square" rtlCol="0" anchor="ctr"/>
          <a:lstStyle/>
          <a:p>
            <a:pPr marL="0" indent="0">
              <a:buNone/>
            </a:pPr>
            <a:r>
              <a:rPr lang="en-US" sz="1000" b="1" kern="0" spc="100" dirty="0">
                <a:solidFill>
                  <a:srgbClr val="C1501D"/>
                </a:solidFill>
                <a:latin typeface="Calibri" pitchFamily="34" charset="0"/>
                <a:ea typeface="Calibri" pitchFamily="34" charset="-122"/>
                <a:cs typeface="Calibri" pitchFamily="34" charset="-120"/>
              </a:rPr>
              <a:t>B.  THE GOPPAR VALUE STACK™</a:t>
            </a:r>
            <a:endParaRPr lang="en-US" sz="1000" dirty="0"/>
          </a:p>
        </p:txBody>
      </p:sp>
      <p:sp>
        <p:nvSpPr>
          <p:cNvPr id="23" name="Shape 21"/>
          <p:cNvSpPr/>
          <p:nvPr/>
        </p:nvSpPr>
        <p:spPr>
          <a:xfrm>
            <a:off x="502920" y="5660136"/>
            <a:ext cx="5504688" cy="640080"/>
          </a:xfrm>
          <a:prstGeom prst="rect">
            <a:avLst/>
          </a:prstGeom>
          <a:solidFill>
            <a:srgbClr val="0B1B2B"/>
          </a:solidFill>
          <a:ln/>
        </p:spPr>
      </p:sp>
      <p:sp>
        <p:nvSpPr>
          <p:cNvPr id="24" name="Text 22"/>
          <p:cNvSpPr/>
          <p:nvPr/>
        </p:nvSpPr>
        <p:spPr>
          <a:xfrm>
            <a:off x="731520" y="5660136"/>
            <a:ext cx="2103120" cy="64008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TOP-LINE CAPTURE</a:t>
            </a:r>
            <a:endParaRPr lang="en-US" sz="1050" dirty="0"/>
          </a:p>
        </p:txBody>
      </p:sp>
      <p:sp>
        <p:nvSpPr>
          <p:cNvPr id="25" name="Text 23"/>
          <p:cNvSpPr/>
          <p:nvPr/>
        </p:nvSpPr>
        <p:spPr>
          <a:xfrm>
            <a:off x="2926080" y="5660136"/>
            <a:ext cx="2898648" cy="640080"/>
          </a:xfrm>
          <a:prstGeom prst="rect">
            <a:avLst/>
          </a:prstGeom>
          <a:noFill/>
          <a:ln/>
        </p:spPr>
        <p:txBody>
          <a:bodyPr wrap="square" rtlCol="0" anchor="ctr"/>
          <a:lstStyle/>
          <a:p>
            <a:pPr marL="0" indent="0">
              <a:buNone/>
            </a:pPr>
            <a:r>
              <a:rPr lang="en-US" sz="920" dirty="0">
                <a:solidFill>
                  <a:srgbClr val="B9C3CC"/>
                </a:solidFill>
                <a:latin typeface="Calibri" pitchFamily="34" charset="0"/>
                <a:ea typeface="Calibri" pitchFamily="34" charset="-122"/>
                <a:cs typeface="Calibri" pitchFamily="34" charset="-120"/>
              </a:rPr>
              <a:t>Dynamic pricing • predictive yield • total revenue systems</a:t>
            </a:r>
            <a:endParaRPr lang="en-US" sz="920" dirty="0"/>
          </a:p>
        </p:txBody>
      </p:sp>
      <p:sp>
        <p:nvSpPr>
          <p:cNvPr id="26" name="Shape 24"/>
          <p:cNvSpPr/>
          <p:nvPr/>
        </p:nvSpPr>
        <p:spPr>
          <a:xfrm>
            <a:off x="502920" y="6409944"/>
            <a:ext cx="5504688" cy="640080"/>
          </a:xfrm>
          <a:prstGeom prst="rect">
            <a:avLst/>
          </a:prstGeom>
          <a:solidFill>
            <a:srgbClr val="13273A"/>
          </a:solidFill>
          <a:ln/>
        </p:spPr>
      </p:sp>
      <p:sp>
        <p:nvSpPr>
          <p:cNvPr id="27" name="Text 25"/>
          <p:cNvSpPr/>
          <p:nvPr/>
        </p:nvSpPr>
        <p:spPr>
          <a:xfrm>
            <a:off x="731520" y="6409944"/>
            <a:ext cx="2103120" cy="64008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DISTRIBUTION ECONOMICS</a:t>
            </a:r>
            <a:endParaRPr lang="en-US" sz="1050" dirty="0"/>
          </a:p>
        </p:txBody>
      </p:sp>
      <p:sp>
        <p:nvSpPr>
          <p:cNvPr id="28" name="Text 26"/>
          <p:cNvSpPr/>
          <p:nvPr/>
        </p:nvSpPr>
        <p:spPr>
          <a:xfrm>
            <a:off x="2926080" y="6409944"/>
            <a:ext cx="2898648" cy="640080"/>
          </a:xfrm>
          <a:prstGeom prst="rect">
            <a:avLst/>
          </a:prstGeom>
          <a:noFill/>
          <a:ln/>
        </p:spPr>
        <p:txBody>
          <a:bodyPr wrap="square" rtlCol="0" anchor="ctr"/>
          <a:lstStyle/>
          <a:p>
            <a:pPr marL="0" indent="0">
              <a:buNone/>
            </a:pPr>
            <a:r>
              <a:rPr lang="en-US" sz="920" dirty="0">
                <a:solidFill>
                  <a:srgbClr val="B9C3CC"/>
                </a:solidFill>
                <a:latin typeface="Calibri" pitchFamily="34" charset="0"/>
                <a:ea typeface="Calibri" pitchFamily="34" charset="-122"/>
                <a:cs typeface="Calibri" pitchFamily="34" charset="-120"/>
              </a:rPr>
              <a:t>Channel-mix optimisation • OTA governance • direct-booking growth</a:t>
            </a:r>
            <a:endParaRPr lang="en-US" sz="920" dirty="0"/>
          </a:p>
        </p:txBody>
      </p:sp>
      <p:sp>
        <p:nvSpPr>
          <p:cNvPr id="29" name="Shape 27"/>
          <p:cNvSpPr/>
          <p:nvPr/>
        </p:nvSpPr>
        <p:spPr>
          <a:xfrm>
            <a:off x="502920" y="7159752"/>
            <a:ext cx="5504688" cy="640080"/>
          </a:xfrm>
          <a:prstGeom prst="rect">
            <a:avLst/>
          </a:prstGeom>
          <a:solidFill>
            <a:srgbClr val="0F5C42"/>
          </a:solidFill>
          <a:ln/>
        </p:spPr>
      </p:sp>
      <p:sp>
        <p:nvSpPr>
          <p:cNvPr id="30" name="Text 28"/>
          <p:cNvSpPr/>
          <p:nvPr/>
        </p:nvSpPr>
        <p:spPr>
          <a:xfrm>
            <a:off x="731520" y="7159752"/>
            <a:ext cx="2103120" cy="64008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COST CONTAINMENT</a:t>
            </a:r>
            <a:endParaRPr lang="en-US" sz="1050" dirty="0"/>
          </a:p>
        </p:txBody>
      </p:sp>
      <p:sp>
        <p:nvSpPr>
          <p:cNvPr id="31" name="Text 29"/>
          <p:cNvSpPr/>
          <p:nvPr/>
        </p:nvSpPr>
        <p:spPr>
          <a:xfrm>
            <a:off x="2926080" y="7159752"/>
            <a:ext cx="2898648" cy="640080"/>
          </a:xfrm>
          <a:prstGeom prst="rect">
            <a:avLst/>
          </a:prstGeom>
          <a:noFill/>
          <a:ln/>
        </p:spPr>
        <p:txBody>
          <a:bodyPr wrap="square" rtlCol="0" anchor="ctr"/>
          <a:lstStyle/>
          <a:p>
            <a:pPr marL="0" indent="0">
              <a:buNone/>
            </a:pPr>
            <a:r>
              <a:rPr lang="en-US" sz="920" dirty="0">
                <a:solidFill>
                  <a:srgbClr val="B9C3CC"/>
                </a:solidFill>
                <a:latin typeface="Calibri" pitchFamily="34" charset="0"/>
                <a:ea typeface="Calibri" pitchFamily="34" charset="-122"/>
                <a:cs typeface="Calibri" pitchFamily="34" charset="-120"/>
              </a:rPr>
              <a:t>Disciplined cost frameworks • procurement discipline • productivity</a:t>
            </a:r>
            <a:endParaRPr lang="en-US" sz="920" dirty="0"/>
          </a:p>
        </p:txBody>
      </p:sp>
      <p:sp>
        <p:nvSpPr>
          <p:cNvPr id="32" name="Shape 30"/>
          <p:cNvSpPr/>
          <p:nvPr/>
        </p:nvSpPr>
        <p:spPr>
          <a:xfrm>
            <a:off x="502920" y="7909560"/>
            <a:ext cx="5504688" cy="640080"/>
          </a:xfrm>
          <a:prstGeom prst="rect">
            <a:avLst/>
          </a:prstGeom>
          <a:solidFill>
            <a:srgbClr val="C9A15A"/>
          </a:solidFill>
          <a:ln/>
        </p:spPr>
      </p:sp>
      <p:sp>
        <p:nvSpPr>
          <p:cNvPr id="33" name="Text 31"/>
          <p:cNvSpPr/>
          <p:nvPr/>
        </p:nvSpPr>
        <p:spPr>
          <a:xfrm>
            <a:off x="731520" y="7909560"/>
            <a:ext cx="2103120" cy="640080"/>
          </a:xfrm>
          <a:prstGeom prst="rect">
            <a:avLst/>
          </a:prstGeom>
          <a:noFill/>
          <a:ln/>
        </p:spPr>
        <p:txBody>
          <a:bodyPr wrap="square" rtlCol="0" anchor="ctr"/>
          <a:lstStyle/>
          <a:p>
            <a:pPr marL="0" indent="0">
              <a:buNone/>
            </a:pPr>
            <a:r>
              <a:rPr lang="en-US" sz="1050" b="1" dirty="0">
                <a:solidFill>
                  <a:srgbClr val="0B1B2B"/>
                </a:solidFill>
                <a:latin typeface="Calibri" pitchFamily="34" charset="0"/>
                <a:ea typeface="Calibri" pitchFamily="34" charset="-122"/>
                <a:cs typeface="Calibri" pitchFamily="34" charset="-120"/>
              </a:rPr>
              <a:t>ASSET PRODUCTIVITY</a:t>
            </a:r>
            <a:endParaRPr lang="en-US" sz="1050" dirty="0"/>
          </a:p>
        </p:txBody>
      </p:sp>
      <p:sp>
        <p:nvSpPr>
          <p:cNvPr id="34" name="Text 32"/>
          <p:cNvSpPr/>
          <p:nvPr/>
        </p:nvSpPr>
        <p:spPr>
          <a:xfrm>
            <a:off x="2926080" y="7909560"/>
            <a:ext cx="2898648" cy="640080"/>
          </a:xfrm>
          <a:prstGeom prst="rect">
            <a:avLst/>
          </a:prstGeom>
          <a:noFill/>
          <a:ln/>
        </p:spPr>
        <p:txBody>
          <a:bodyPr wrap="square" rtlCol="0" anchor="ctr"/>
          <a:lstStyle/>
          <a:p>
            <a:pPr marL="0" indent="0">
              <a:buNone/>
            </a:pPr>
            <a:r>
              <a:rPr lang="en-US" sz="920" dirty="0">
                <a:solidFill>
                  <a:srgbClr val="0B1B2B"/>
                </a:solidFill>
                <a:latin typeface="Calibri" pitchFamily="34" charset="0"/>
                <a:ea typeface="Calibri" pitchFamily="34" charset="-122"/>
                <a:cs typeface="Calibri" pitchFamily="34" charset="-120"/>
              </a:rPr>
              <a:t>Space monetisation • capex governance • energy &amp; lifecycle efficiency</a:t>
            </a:r>
            <a:endParaRPr lang="en-US" sz="920" dirty="0"/>
          </a:p>
        </p:txBody>
      </p:sp>
      <p:sp>
        <p:nvSpPr>
          <p:cNvPr id="35" name="Shape 33"/>
          <p:cNvSpPr/>
          <p:nvPr/>
        </p:nvSpPr>
        <p:spPr>
          <a:xfrm>
            <a:off x="6528816" y="5650992"/>
            <a:ext cx="0" cy="2935224"/>
          </a:xfrm>
          <a:prstGeom prst="line">
            <a:avLst/>
          </a:prstGeom>
          <a:noFill/>
          <a:ln w="22225">
            <a:solidFill>
              <a:srgbClr val="C9A15A"/>
            </a:solidFill>
            <a:prstDash val="solid"/>
            <a:tailEnd type="triangle"/>
          </a:ln>
        </p:spPr>
      </p:sp>
      <p:sp>
        <p:nvSpPr>
          <p:cNvPr id="36" name="Text 34"/>
          <p:cNvSpPr/>
          <p:nvPr/>
        </p:nvSpPr>
        <p:spPr>
          <a:xfrm>
            <a:off x="6007608" y="8586216"/>
            <a:ext cx="1051560" cy="365760"/>
          </a:xfrm>
          <a:prstGeom prst="rect">
            <a:avLst/>
          </a:prstGeom>
          <a:noFill/>
          <a:ln/>
        </p:spPr>
        <p:txBody>
          <a:bodyPr wrap="square" rtlCol="0" anchor="ctr"/>
          <a:lstStyle/>
          <a:p>
            <a:pPr marL="0" indent="0" algn="ctr">
              <a:buNone/>
            </a:pPr>
            <a:r>
              <a:rPr lang="en-US" sz="800" b="1" dirty="0">
                <a:solidFill>
                  <a:srgbClr val="C1501D"/>
                </a:solidFill>
                <a:latin typeface="Calibri" pitchFamily="34" charset="0"/>
                <a:ea typeface="Calibri" pitchFamily="34" charset="-122"/>
                <a:cs typeface="Calibri" pitchFamily="34" charset="-120"/>
              </a:rPr>
              <a:t>GOPPAR</a:t>
            </a:r>
            <a:endParaRPr lang="en-US" sz="800" dirty="0"/>
          </a:p>
          <a:p>
            <a:pPr marL="0" indent="0" algn="ctr">
              <a:buNone/>
            </a:pPr>
            <a:r>
              <a:rPr lang="en-US" sz="800" b="1" dirty="0">
                <a:solidFill>
                  <a:srgbClr val="C1501D"/>
                </a:solidFill>
                <a:latin typeface="Calibri" pitchFamily="34" charset="0"/>
                <a:ea typeface="Calibri" pitchFamily="34" charset="-122"/>
                <a:cs typeface="Calibri" pitchFamily="34" charset="-120"/>
              </a:rPr>
              <a:t>EXPANSION</a:t>
            </a:r>
            <a:endParaRPr lang="en-US" sz="800" dirty="0"/>
          </a:p>
        </p:txBody>
      </p:sp>
      <p:sp>
        <p:nvSpPr>
          <p:cNvPr id="37" name="Text 35"/>
          <p:cNvSpPr/>
          <p:nvPr/>
        </p:nvSpPr>
        <p:spPr>
          <a:xfrm>
            <a:off x="502920" y="8979408"/>
            <a:ext cx="6556248" cy="365760"/>
          </a:xfrm>
          <a:prstGeom prst="rect">
            <a:avLst/>
          </a:prstGeom>
          <a:noFill/>
          <a:ln/>
        </p:spPr>
        <p:txBody>
          <a:bodyPr wrap="square" rtlCol="0" anchor="ctr"/>
          <a:lstStyle/>
          <a:p>
            <a:pPr marL="0" indent="0" algn="ctr">
              <a:buNone/>
            </a:pPr>
            <a:r>
              <a:rPr lang="en-US" sz="1300" i="1" dirty="0">
                <a:solidFill>
                  <a:srgbClr val="C1501D"/>
                </a:solidFill>
                <a:latin typeface="Cambria" pitchFamily="34" charset="0"/>
                <a:ea typeface="Cambria" pitchFamily="34" charset="-122"/>
                <a:cs typeface="Cambria" pitchFamily="34" charset="-120"/>
              </a:rPr>
              <a:t>One diagnostic. One value model. A shared language for every mandate.</a:t>
            </a:r>
            <a:endParaRPr lang="en-US" sz="1300" dirty="0"/>
          </a:p>
        </p:txBody>
      </p:sp>
      <p:sp>
        <p:nvSpPr>
          <p:cNvPr id="38" name="Shape 36"/>
          <p:cNvSpPr/>
          <p:nvPr/>
        </p:nvSpPr>
        <p:spPr>
          <a:xfrm>
            <a:off x="502920" y="10186416"/>
            <a:ext cx="6556248" cy="0"/>
          </a:xfrm>
          <a:prstGeom prst="line">
            <a:avLst/>
          </a:prstGeom>
          <a:noFill/>
          <a:ln w="9525">
            <a:solidFill>
              <a:srgbClr val="E4DDCB"/>
            </a:solidFill>
            <a:prstDash val="solid"/>
          </a:ln>
        </p:spPr>
      </p:sp>
      <p:sp>
        <p:nvSpPr>
          <p:cNvPr id="39" name="Text 37"/>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6B675F"/>
                </a:solidFill>
                <a:latin typeface="Calibri" pitchFamily="34" charset="0"/>
                <a:ea typeface="Calibri" pitchFamily="34" charset="-122"/>
                <a:cs typeface="Calibri" pitchFamily="34" charset="-120"/>
              </a:rPr>
              <a:t>ALTUS GULF</a:t>
            </a:r>
            <a:endParaRPr lang="en-US" sz="850" dirty="0"/>
          </a:p>
        </p:txBody>
      </p:sp>
      <p:sp>
        <p:nvSpPr>
          <p:cNvPr id="40" name="Text 38"/>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6B675F"/>
                </a:solidFill>
                <a:latin typeface="Calibri" pitchFamily="34" charset="0"/>
                <a:ea typeface="Calibri" pitchFamily="34" charset="-122"/>
                <a:cs typeface="Calibri" pitchFamily="34" charset="-120"/>
              </a:rPr>
              <a:t>CORPORATE PROFILE  •  12</a:t>
            </a:r>
            <a:endParaRPr lang="en-US" sz="85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C1501D"/>
                </a:solidFill>
                <a:latin typeface="Calibri" pitchFamily="34" charset="0"/>
                <a:ea typeface="Calibri" pitchFamily="34" charset="-122"/>
                <a:cs typeface="Calibri" pitchFamily="34" charset="-120"/>
              </a:rPr>
              <a:t>11  •  WHAT WE BRING TO THE TABLE</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a:solidFill>
                  <a:srgbClr val="0B1B2B"/>
                </a:solidFill>
                <a:latin typeface="Cambria" pitchFamily="34" charset="0"/>
                <a:ea typeface="Cambria" pitchFamily="34" charset="-122"/>
                <a:cs typeface="Cambria" pitchFamily="34" charset="-120"/>
              </a:rPr>
              <a:t>Institutional Capabilities</a:t>
            </a:r>
            <a:endParaRPr lang="en-US" sz="2700" dirty="0"/>
          </a:p>
        </p:txBody>
      </p:sp>
      <p:sp>
        <p:nvSpPr>
          <p:cNvPr id="4" name="Text 2"/>
          <p:cNvSpPr/>
          <p:nvPr/>
        </p:nvSpPr>
        <p:spPr>
          <a:xfrm>
            <a:off x="502920" y="1280160"/>
            <a:ext cx="6556248" cy="566928"/>
          </a:xfrm>
          <a:prstGeom prst="rect">
            <a:avLst/>
          </a:prstGeom>
          <a:noFill/>
          <a:ln/>
        </p:spPr>
        <p:txBody>
          <a:bodyPr wrap="square" rtlCol="0" anchor="t"/>
          <a:lstStyle/>
          <a:p>
            <a:pPr marL="0" indent="0" algn="l">
              <a:lnSpc>
                <a:spcPct val="118000"/>
              </a:lnSpc>
              <a:buNone/>
            </a:pPr>
            <a:r>
              <a:rPr lang="en-US" sz="1150" dirty="0">
                <a:solidFill>
                  <a:srgbClr val="6B675F"/>
                </a:solidFill>
                <a:latin typeface="Calibri" pitchFamily="34" charset="0"/>
                <a:ea typeface="Calibri" pitchFamily="34" charset="-122"/>
                <a:cs typeface="Calibri" pitchFamily="34" charset="-120"/>
              </a:rPr>
              <a:t>Eight integrated capability sets, deployed selectively per mandate, always in combination, never in isolation.</a:t>
            </a:r>
            <a:endParaRPr lang="en-US" sz="1150" dirty="0"/>
          </a:p>
        </p:txBody>
      </p:sp>
      <p:sp>
        <p:nvSpPr>
          <p:cNvPr id="5" name="Shape 3"/>
          <p:cNvSpPr/>
          <p:nvPr/>
        </p:nvSpPr>
        <p:spPr>
          <a:xfrm>
            <a:off x="502920" y="1938528"/>
            <a:ext cx="3163824" cy="1536192"/>
          </a:xfrm>
          <a:prstGeom prst="roundRect">
            <a:avLst>
              <a:gd name="adj" fmla="val 3571"/>
            </a:avLst>
          </a:prstGeom>
          <a:solidFill>
            <a:srgbClr val="FFFFFF"/>
          </a:solidFill>
          <a:ln w="9525">
            <a:solidFill>
              <a:srgbClr val="E4DDCB"/>
            </a:solidFill>
            <a:prstDash val="solid"/>
          </a:ln>
        </p:spPr>
      </p:sp>
      <p:sp>
        <p:nvSpPr>
          <p:cNvPr id="6" name="Shape 4"/>
          <p:cNvSpPr/>
          <p:nvPr/>
        </p:nvSpPr>
        <p:spPr>
          <a:xfrm>
            <a:off x="704088" y="2139696"/>
            <a:ext cx="402336" cy="402336"/>
          </a:xfrm>
          <a:prstGeom prst="ellipse">
            <a:avLst/>
          </a:prstGeom>
          <a:solidFill>
            <a:srgbClr val="0F5C42"/>
          </a:solidFill>
          <a:ln/>
        </p:spPr>
      </p:sp>
      <p:pic>
        <p:nvPicPr>
          <p:cNvPr id="7" name="Image 0" descr="/home/claude/assets/icons/cogs.png"/>
          <p:cNvPicPr>
            <a:picLocks noChangeAspect="1"/>
          </p:cNvPicPr>
          <p:nvPr/>
        </p:nvPicPr>
        <p:blipFill>
          <a:blip r:embed="rId3"/>
          <a:stretch>
            <a:fillRect/>
          </a:stretch>
        </p:blipFill>
        <p:spPr>
          <a:xfrm>
            <a:off x="800649" y="2236257"/>
            <a:ext cx="209215" cy="209215"/>
          </a:xfrm>
          <a:prstGeom prst="rect">
            <a:avLst/>
          </a:prstGeom>
        </p:spPr>
      </p:pic>
      <p:sp>
        <p:nvSpPr>
          <p:cNvPr id="8" name="Text 5"/>
          <p:cNvSpPr/>
          <p:nvPr/>
        </p:nvSpPr>
        <p:spPr>
          <a:xfrm>
            <a:off x="1271016" y="2121408"/>
            <a:ext cx="2194560" cy="29260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Operational</a:t>
            </a:r>
            <a:endParaRPr lang="en-US" sz="1250" dirty="0"/>
          </a:p>
        </p:txBody>
      </p:sp>
      <p:sp>
        <p:nvSpPr>
          <p:cNvPr id="9" name="Text 6"/>
          <p:cNvSpPr/>
          <p:nvPr/>
        </p:nvSpPr>
        <p:spPr>
          <a:xfrm>
            <a:off x="704088" y="2523744"/>
            <a:ext cx="2761488" cy="914400"/>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SOP architecture, quality systems, pre-opening readiness, service-delivery engineering across rooms, F&amp;B, and support functions.</a:t>
            </a:r>
            <a:endParaRPr lang="en-US" sz="970" dirty="0"/>
          </a:p>
        </p:txBody>
      </p:sp>
      <p:sp>
        <p:nvSpPr>
          <p:cNvPr id="10" name="Shape 7"/>
          <p:cNvSpPr/>
          <p:nvPr/>
        </p:nvSpPr>
        <p:spPr>
          <a:xfrm>
            <a:off x="3895344" y="1938528"/>
            <a:ext cx="3163824" cy="1536192"/>
          </a:xfrm>
          <a:prstGeom prst="roundRect">
            <a:avLst>
              <a:gd name="adj" fmla="val 3571"/>
            </a:avLst>
          </a:prstGeom>
          <a:solidFill>
            <a:srgbClr val="FFFFFF"/>
          </a:solidFill>
          <a:ln w="9525">
            <a:solidFill>
              <a:srgbClr val="E4DDCB"/>
            </a:solidFill>
            <a:prstDash val="solid"/>
          </a:ln>
        </p:spPr>
      </p:sp>
      <p:sp>
        <p:nvSpPr>
          <p:cNvPr id="11" name="Shape 8"/>
          <p:cNvSpPr/>
          <p:nvPr/>
        </p:nvSpPr>
        <p:spPr>
          <a:xfrm>
            <a:off x="4096512" y="2139696"/>
            <a:ext cx="402336" cy="402336"/>
          </a:xfrm>
          <a:prstGeom prst="ellipse">
            <a:avLst/>
          </a:prstGeom>
          <a:solidFill>
            <a:srgbClr val="0F5C42"/>
          </a:solidFill>
          <a:ln/>
        </p:spPr>
      </p:sp>
      <p:pic>
        <p:nvPicPr>
          <p:cNvPr id="12" name="Image 1" descr="/home/claude/assets/icons/briefcase.png"/>
          <p:cNvPicPr>
            <a:picLocks noChangeAspect="1"/>
          </p:cNvPicPr>
          <p:nvPr/>
        </p:nvPicPr>
        <p:blipFill>
          <a:blip r:embed="rId4"/>
          <a:stretch>
            <a:fillRect/>
          </a:stretch>
        </p:blipFill>
        <p:spPr>
          <a:xfrm>
            <a:off x="4193073" y="2236257"/>
            <a:ext cx="209215" cy="209215"/>
          </a:xfrm>
          <a:prstGeom prst="rect">
            <a:avLst/>
          </a:prstGeom>
        </p:spPr>
      </p:pic>
      <p:sp>
        <p:nvSpPr>
          <p:cNvPr id="13" name="Text 9"/>
          <p:cNvSpPr/>
          <p:nvPr/>
        </p:nvSpPr>
        <p:spPr>
          <a:xfrm>
            <a:off x="4663440" y="2121408"/>
            <a:ext cx="2194560" cy="29260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Commercial</a:t>
            </a:r>
            <a:endParaRPr lang="en-US" sz="1250" dirty="0"/>
          </a:p>
        </p:txBody>
      </p:sp>
      <p:sp>
        <p:nvSpPr>
          <p:cNvPr id="14" name="Text 10"/>
          <p:cNvSpPr/>
          <p:nvPr/>
        </p:nvSpPr>
        <p:spPr>
          <a:xfrm>
            <a:off x="4096512" y="2523744"/>
            <a:ext cx="2761488" cy="914400"/>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Revenue strategy, sales-force effectiveness, distribution and channel economics, brand and marketing performance.</a:t>
            </a:r>
            <a:endParaRPr lang="en-US" sz="970" dirty="0"/>
          </a:p>
        </p:txBody>
      </p:sp>
      <p:sp>
        <p:nvSpPr>
          <p:cNvPr id="15" name="Shape 11"/>
          <p:cNvSpPr/>
          <p:nvPr/>
        </p:nvSpPr>
        <p:spPr>
          <a:xfrm>
            <a:off x="502920" y="3621024"/>
            <a:ext cx="3163824" cy="1536192"/>
          </a:xfrm>
          <a:prstGeom prst="roundRect">
            <a:avLst>
              <a:gd name="adj" fmla="val 3571"/>
            </a:avLst>
          </a:prstGeom>
          <a:solidFill>
            <a:srgbClr val="FFFFFF"/>
          </a:solidFill>
          <a:ln w="9525">
            <a:solidFill>
              <a:srgbClr val="E4DDCB"/>
            </a:solidFill>
            <a:prstDash val="solid"/>
          </a:ln>
        </p:spPr>
      </p:sp>
      <p:sp>
        <p:nvSpPr>
          <p:cNvPr id="16" name="Shape 12"/>
          <p:cNvSpPr/>
          <p:nvPr/>
        </p:nvSpPr>
        <p:spPr>
          <a:xfrm>
            <a:off x="704088" y="3822192"/>
            <a:ext cx="402336" cy="402336"/>
          </a:xfrm>
          <a:prstGeom prst="ellipse">
            <a:avLst/>
          </a:prstGeom>
          <a:solidFill>
            <a:srgbClr val="0F5C42"/>
          </a:solidFill>
          <a:ln/>
        </p:spPr>
      </p:sp>
      <p:pic>
        <p:nvPicPr>
          <p:cNvPr id="17" name="Image 2" descr="/home/claude/assets/icons/coins.png"/>
          <p:cNvPicPr>
            <a:picLocks noChangeAspect="1"/>
          </p:cNvPicPr>
          <p:nvPr/>
        </p:nvPicPr>
        <p:blipFill>
          <a:blip r:embed="rId5"/>
          <a:stretch>
            <a:fillRect/>
          </a:stretch>
        </p:blipFill>
        <p:spPr>
          <a:xfrm>
            <a:off x="800649" y="3918753"/>
            <a:ext cx="209215" cy="209215"/>
          </a:xfrm>
          <a:prstGeom prst="rect">
            <a:avLst/>
          </a:prstGeom>
        </p:spPr>
      </p:pic>
      <p:sp>
        <p:nvSpPr>
          <p:cNvPr id="18" name="Text 13"/>
          <p:cNvSpPr/>
          <p:nvPr/>
        </p:nvSpPr>
        <p:spPr>
          <a:xfrm>
            <a:off x="1271016" y="3803904"/>
            <a:ext cx="2194560" cy="29260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Financial</a:t>
            </a:r>
            <a:endParaRPr lang="en-US" sz="1250" dirty="0"/>
          </a:p>
        </p:txBody>
      </p:sp>
      <p:sp>
        <p:nvSpPr>
          <p:cNvPr id="19" name="Text 14"/>
          <p:cNvSpPr/>
          <p:nvPr/>
        </p:nvSpPr>
        <p:spPr>
          <a:xfrm>
            <a:off x="704088" y="4206240"/>
            <a:ext cx="2761488" cy="914400"/>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P&amp;L restructuring, cost-containment frameworks, budgeting and forecasting discipline, capex governance and ROI tracking.</a:t>
            </a:r>
            <a:endParaRPr lang="en-US" sz="970" dirty="0"/>
          </a:p>
        </p:txBody>
      </p:sp>
      <p:sp>
        <p:nvSpPr>
          <p:cNvPr id="20" name="Shape 15"/>
          <p:cNvSpPr/>
          <p:nvPr/>
        </p:nvSpPr>
        <p:spPr>
          <a:xfrm>
            <a:off x="3895344" y="3621024"/>
            <a:ext cx="3163824" cy="1536192"/>
          </a:xfrm>
          <a:prstGeom prst="roundRect">
            <a:avLst>
              <a:gd name="adj" fmla="val 3571"/>
            </a:avLst>
          </a:prstGeom>
          <a:solidFill>
            <a:srgbClr val="FFFFFF"/>
          </a:solidFill>
          <a:ln w="9525">
            <a:solidFill>
              <a:srgbClr val="E4DDCB"/>
            </a:solidFill>
            <a:prstDash val="solid"/>
          </a:ln>
        </p:spPr>
      </p:sp>
      <p:sp>
        <p:nvSpPr>
          <p:cNvPr id="21" name="Shape 16"/>
          <p:cNvSpPr/>
          <p:nvPr/>
        </p:nvSpPr>
        <p:spPr>
          <a:xfrm>
            <a:off x="4096512" y="3822192"/>
            <a:ext cx="402336" cy="402336"/>
          </a:xfrm>
          <a:prstGeom prst="ellipse">
            <a:avLst/>
          </a:prstGeom>
          <a:solidFill>
            <a:srgbClr val="0F5C42"/>
          </a:solidFill>
          <a:ln/>
        </p:spPr>
      </p:sp>
      <p:pic>
        <p:nvPicPr>
          <p:cNvPr id="22" name="Image 3" descr="/home/claude/assets/icons/chartline.png"/>
          <p:cNvPicPr>
            <a:picLocks noChangeAspect="1"/>
          </p:cNvPicPr>
          <p:nvPr/>
        </p:nvPicPr>
        <p:blipFill>
          <a:blip r:embed="rId6"/>
          <a:stretch>
            <a:fillRect/>
          </a:stretch>
        </p:blipFill>
        <p:spPr>
          <a:xfrm>
            <a:off x="4193073" y="3918753"/>
            <a:ext cx="209215" cy="209215"/>
          </a:xfrm>
          <a:prstGeom prst="rect">
            <a:avLst/>
          </a:prstGeom>
        </p:spPr>
      </p:pic>
      <p:sp>
        <p:nvSpPr>
          <p:cNvPr id="23" name="Text 17"/>
          <p:cNvSpPr/>
          <p:nvPr/>
        </p:nvSpPr>
        <p:spPr>
          <a:xfrm>
            <a:off x="4663440" y="3803904"/>
            <a:ext cx="2194560" cy="29260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Investment</a:t>
            </a:r>
            <a:endParaRPr lang="en-US" sz="1250" dirty="0"/>
          </a:p>
        </p:txBody>
      </p:sp>
      <p:sp>
        <p:nvSpPr>
          <p:cNvPr id="24" name="Text 18"/>
          <p:cNvSpPr/>
          <p:nvPr/>
        </p:nvSpPr>
        <p:spPr>
          <a:xfrm>
            <a:off x="4096512" y="4206240"/>
            <a:ext cx="2761488" cy="914400"/>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Feasibility validation, underwriting support, due diligence, valuation and synergy modelling for acquisitions and development.</a:t>
            </a:r>
            <a:endParaRPr lang="en-US" sz="970" dirty="0"/>
          </a:p>
        </p:txBody>
      </p:sp>
      <p:sp>
        <p:nvSpPr>
          <p:cNvPr id="25" name="Shape 19"/>
          <p:cNvSpPr/>
          <p:nvPr/>
        </p:nvSpPr>
        <p:spPr>
          <a:xfrm>
            <a:off x="502920" y="5303520"/>
            <a:ext cx="3163824" cy="1536192"/>
          </a:xfrm>
          <a:prstGeom prst="roundRect">
            <a:avLst>
              <a:gd name="adj" fmla="val 3571"/>
            </a:avLst>
          </a:prstGeom>
          <a:solidFill>
            <a:srgbClr val="FFFFFF"/>
          </a:solidFill>
          <a:ln w="9525">
            <a:solidFill>
              <a:srgbClr val="E4DDCB"/>
            </a:solidFill>
            <a:prstDash val="solid"/>
          </a:ln>
        </p:spPr>
      </p:sp>
      <p:sp>
        <p:nvSpPr>
          <p:cNvPr id="26" name="Shape 20"/>
          <p:cNvSpPr/>
          <p:nvPr/>
        </p:nvSpPr>
        <p:spPr>
          <a:xfrm>
            <a:off x="704088" y="5504688"/>
            <a:ext cx="402336" cy="402336"/>
          </a:xfrm>
          <a:prstGeom prst="ellipse">
            <a:avLst/>
          </a:prstGeom>
          <a:solidFill>
            <a:srgbClr val="0F5C42"/>
          </a:solidFill>
          <a:ln/>
        </p:spPr>
      </p:sp>
      <p:pic>
        <p:nvPicPr>
          <p:cNvPr id="27" name="Image 4" descr="/home/claude/assets/icons/microchip.png"/>
          <p:cNvPicPr>
            <a:picLocks noChangeAspect="1"/>
          </p:cNvPicPr>
          <p:nvPr/>
        </p:nvPicPr>
        <p:blipFill>
          <a:blip r:embed="rId7"/>
          <a:stretch>
            <a:fillRect/>
          </a:stretch>
        </p:blipFill>
        <p:spPr>
          <a:xfrm>
            <a:off x="800649" y="5601249"/>
            <a:ext cx="209215" cy="209215"/>
          </a:xfrm>
          <a:prstGeom prst="rect">
            <a:avLst/>
          </a:prstGeom>
        </p:spPr>
      </p:pic>
      <p:sp>
        <p:nvSpPr>
          <p:cNvPr id="28" name="Text 21"/>
          <p:cNvSpPr/>
          <p:nvPr/>
        </p:nvSpPr>
        <p:spPr>
          <a:xfrm>
            <a:off x="1271016" y="5486400"/>
            <a:ext cx="2194560" cy="29260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Digital &amp; AI</a:t>
            </a:r>
            <a:endParaRPr lang="en-US" sz="1250" dirty="0"/>
          </a:p>
        </p:txBody>
      </p:sp>
      <p:sp>
        <p:nvSpPr>
          <p:cNvPr id="29" name="Text 22"/>
          <p:cNvSpPr/>
          <p:nvPr/>
        </p:nvSpPr>
        <p:spPr>
          <a:xfrm>
            <a:off x="704088" y="5888736"/>
            <a:ext cx="2761488" cy="914400"/>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AI-readiness assessment, dynamic pricing, predictive analytics, CRM and technology-stack modernisation, plus the Altus Gulf HK&amp;P platform.</a:t>
            </a:r>
            <a:endParaRPr lang="en-US" sz="970" dirty="0"/>
          </a:p>
        </p:txBody>
      </p:sp>
      <p:sp>
        <p:nvSpPr>
          <p:cNvPr id="30" name="Shape 23"/>
          <p:cNvSpPr/>
          <p:nvPr/>
        </p:nvSpPr>
        <p:spPr>
          <a:xfrm>
            <a:off x="3895344" y="5303520"/>
            <a:ext cx="3163824" cy="1536192"/>
          </a:xfrm>
          <a:prstGeom prst="roundRect">
            <a:avLst>
              <a:gd name="adj" fmla="val 3571"/>
            </a:avLst>
          </a:prstGeom>
          <a:solidFill>
            <a:srgbClr val="FFFFFF"/>
          </a:solidFill>
          <a:ln w="9525">
            <a:solidFill>
              <a:srgbClr val="E4DDCB"/>
            </a:solidFill>
            <a:prstDash val="solid"/>
          </a:ln>
        </p:spPr>
      </p:sp>
      <p:sp>
        <p:nvSpPr>
          <p:cNvPr id="31" name="Shape 24"/>
          <p:cNvSpPr/>
          <p:nvPr/>
        </p:nvSpPr>
        <p:spPr>
          <a:xfrm>
            <a:off x="4096512" y="5504688"/>
            <a:ext cx="402336" cy="402336"/>
          </a:xfrm>
          <a:prstGeom prst="ellipse">
            <a:avLst/>
          </a:prstGeom>
          <a:solidFill>
            <a:srgbClr val="0F5C42"/>
          </a:solidFill>
          <a:ln/>
        </p:spPr>
      </p:sp>
      <p:pic>
        <p:nvPicPr>
          <p:cNvPr id="32" name="Image 5" descr="/home/claude/assets/icons/sitemap.png"/>
          <p:cNvPicPr>
            <a:picLocks noChangeAspect="1"/>
          </p:cNvPicPr>
          <p:nvPr/>
        </p:nvPicPr>
        <p:blipFill>
          <a:blip r:embed="rId8"/>
          <a:stretch>
            <a:fillRect/>
          </a:stretch>
        </p:blipFill>
        <p:spPr>
          <a:xfrm>
            <a:off x="4193073" y="5601249"/>
            <a:ext cx="209215" cy="209215"/>
          </a:xfrm>
          <a:prstGeom prst="rect">
            <a:avLst/>
          </a:prstGeom>
        </p:spPr>
      </p:pic>
      <p:sp>
        <p:nvSpPr>
          <p:cNvPr id="33" name="Text 25"/>
          <p:cNvSpPr/>
          <p:nvPr/>
        </p:nvSpPr>
        <p:spPr>
          <a:xfrm>
            <a:off x="4663440" y="5486400"/>
            <a:ext cx="2194560" cy="29260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Organisational</a:t>
            </a:r>
            <a:endParaRPr lang="en-US" sz="1250" dirty="0"/>
          </a:p>
        </p:txBody>
      </p:sp>
      <p:sp>
        <p:nvSpPr>
          <p:cNvPr id="34" name="Text 26"/>
          <p:cNvSpPr/>
          <p:nvPr/>
        </p:nvSpPr>
        <p:spPr>
          <a:xfrm>
            <a:off x="4096512" y="5888736"/>
            <a:ext cx="2761488" cy="914400"/>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Structure redesign, role clarity, succession planning, leadership coaching, and capability-transfer programmes.</a:t>
            </a:r>
            <a:endParaRPr lang="en-US" sz="970" dirty="0"/>
          </a:p>
        </p:txBody>
      </p:sp>
      <p:sp>
        <p:nvSpPr>
          <p:cNvPr id="35" name="Shape 27"/>
          <p:cNvSpPr/>
          <p:nvPr/>
        </p:nvSpPr>
        <p:spPr>
          <a:xfrm>
            <a:off x="502920" y="6986016"/>
            <a:ext cx="3163824" cy="1536192"/>
          </a:xfrm>
          <a:prstGeom prst="roundRect">
            <a:avLst>
              <a:gd name="adj" fmla="val 3571"/>
            </a:avLst>
          </a:prstGeom>
          <a:solidFill>
            <a:srgbClr val="FFFFFF"/>
          </a:solidFill>
          <a:ln w="9525">
            <a:solidFill>
              <a:srgbClr val="E4DDCB"/>
            </a:solidFill>
            <a:prstDash val="solid"/>
          </a:ln>
        </p:spPr>
      </p:sp>
      <p:sp>
        <p:nvSpPr>
          <p:cNvPr id="36" name="Shape 28"/>
          <p:cNvSpPr/>
          <p:nvPr/>
        </p:nvSpPr>
        <p:spPr>
          <a:xfrm>
            <a:off x="704088" y="7187184"/>
            <a:ext cx="402336" cy="402336"/>
          </a:xfrm>
          <a:prstGeom prst="ellipse">
            <a:avLst/>
          </a:prstGeom>
          <a:solidFill>
            <a:srgbClr val="0F5C42"/>
          </a:solidFill>
          <a:ln/>
        </p:spPr>
      </p:sp>
      <p:pic>
        <p:nvPicPr>
          <p:cNvPr id="37" name="Image 6" descr="/home/claude/assets/icons/gavel.png"/>
          <p:cNvPicPr>
            <a:picLocks noChangeAspect="1"/>
          </p:cNvPicPr>
          <p:nvPr/>
        </p:nvPicPr>
        <p:blipFill>
          <a:blip r:embed="rId9"/>
          <a:stretch>
            <a:fillRect/>
          </a:stretch>
        </p:blipFill>
        <p:spPr>
          <a:xfrm>
            <a:off x="800649" y="7283745"/>
            <a:ext cx="209215" cy="209215"/>
          </a:xfrm>
          <a:prstGeom prst="rect">
            <a:avLst/>
          </a:prstGeom>
        </p:spPr>
      </p:pic>
      <p:sp>
        <p:nvSpPr>
          <p:cNvPr id="38" name="Text 29"/>
          <p:cNvSpPr/>
          <p:nvPr/>
        </p:nvSpPr>
        <p:spPr>
          <a:xfrm>
            <a:off x="1271016" y="7168896"/>
            <a:ext cx="2194560" cy="29260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Governance</a:t>
            </a:r>
            <a:endParaRPr lang="en-US" sz="1250" dirty="0"/>
          </a:p>
        </p:txBody>
      </p:sp>
      <p:sp>
        <p:nvSpPr>
          <p:cNvPr id="39" name="Text 30"/>
          <p:cNvSpPr/>
          <p:nvPr/>
        </p:nvSpPr>
        <p:spPr>
          <a:xfrm>
            <a:off x="704088" y="7571232"/>
            <a:ext cx="2761488" cy="914400"/>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HMA oversight, owner and operator alignment, performance-clause monitoring, reporting and board-level assurance.</a:t>
            </a:r>
            <a:endParaRPr lang="en-US" sz="970" dirty="0"/>
          </a:p>
        </p:txBody>
      </p:sp>
      <p:sp>
        <p:nvSpPr>
          <p:cNvPr id="40" name="Shape 31"/>
          <p:cNvSpPr/>
          <p:nvPr/>
        </p:nvSpPr>
        <p:spPr>
          <a:xfrm>
            <a:off x="3895344" y="6986016"/>
            <a:ext cx="3163824" cy="1536192"/>
          </a:xfrm>
          <a:prstGeom prst="roundRect">
            <a:avLst>
              <a:gd name="adj" fmla="val 3571"/>
            </a:avLst>
          </a:prstGeom>
          <a:solidFill>
            <a:srgbClr val="FFFFFF"/>
          </a:solidFill>
          <a:ln w="9525">
            <a:solidFill>
              <a:srgbClr val="E4DDCB"/>
            </a:solidFill>
            <a:prstDash val="solid"/>
          </a:ln>
        </p:spPr>
      </p:sp>
      <p:sp>
        <p:nvSpPr>
          <p:cNvPr id="41" name="Shape 32"/>
          <p:cNvSpPr/>
          <p:nvPr/>
        </p:nvSpPr>
        <p:spPr>
          <a:xfrm>
            <a:off x="4096512" y="7187184"/>
            <a:ext cx="402336" cy="402336"/>
          </a:xfrm>
          <a:prstGeom prst="ellipse">
            <a:avLst/>
          </a:prstGeom>
          <a:solidFill>
            <a:srgbClr val="0F5C42"/>
          </a:solidFill>
          <a:ln/>
        </p:spPr>
      </p:sp>
      <p:pic>
        <p:nvPicPr>
          <p:cNvPr id="42" name="Image 7" descr="/home/claude/assets/icons/exchange.png"/>
          <p:cNvPicPr>
            <a:picLocks noChangeAspect="1"/>
          </p:cNvPicPr>
          <p:nvPr/>
        </p:nvPicPr>
        <p:blipFill>
          <a:blip r:embed="rId10"/>
          <a:stretch>
            <a:fillRect/>
          </a:stretch>
        </p:blipFill>
        <p:spPr>
          <a:xfrm>
            <a:off x="4193073" y="7283745"/>
            <a:ext cx="209215" cy="209215"/>
          </a:xfrm>
          <a:prstGeom prst="rect">
            <a:avLst/>
          </a:prstGeom>
        </p:spPr>
      </p:pic>
      <p:sp>
        <p:nvSpPr>
          <p:cNvPr id="43" name="Text 33"/>
          <p:cNvSpPr/>
          <p:nvPr/>
        </p:nvSpPr>
        <p:spPr>
          <a:xfrm>
            <a:off x="4663440" y="7168896"/>
            <a:ext cx="2194560" cy="29260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Transformation</a:t>
            </a:r>
            <a:endParaRPr lang="en-US" sz="1250" dirty="0"/>
          </a:p>
        </p:txBody>
      </p:sp>
      <p:sp>
        <p:nvSpPr>
          <p:cNvPr id="44" name="Text 34"/>
          <p:cNvSpPr/>
          <p:nvPr/>
        </p:nvSpPr>
        <p:spPr>
          <a:xfrm>
            <a:off x="4096512" y="7571232"/>
            <a:ext cx="2761488" cy="914400"/>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Turnaround management, change protocols, post-merger integration, and enterprise-wide performance programmes.</a:t>
            </a:r>
            <a:endParaRPr lang="en-US" sz="970" dirty="0"/>
          </a:p>
        </p:txBody>
      </p:sp>
      <p:sp>
        <p:nvSpPr>
          <p:cNvPr id="45" name="Text 35"/>
          <p:cNvSpPr/>
          <p:nvPr/>
        </p:nvSpPr>
        <p:spPr>
          <a:xfrm>
            <a:off x="502920" y="8759952"/>
            <a:ext cx="6556248" cy="365760"/>
          </a:xfrm>
          <a:prstGeom prst="rect">
            <a:avLst/>
          </a:prstGeom>
          <a:noFill/>
          <a:ln/>
        </p:spPr>
        <p:txBody>
          <a:bodyPr wrap="square" rtlCol="0" anchor="ctr"/>
          <a:lstStyle/>
          <a:p>
            <a:pPr marL="0" indent="0" algn="ctr">
              <a:buNone/>
            </a:pPr>
            <a:r>
              <a:rPr lang="en-US" sz="1300" i="1" dirty="0">
                <a:solidFill>
                  <a:srgbClr val="C1501D"/>
                </a:solidFill>
                <a:latin typeface="Cambria" pitchFamily="34" charset="0"/>
                <a:ea typeface="Cambria" pitchFamily="34" charset="-122"/>
                <a:cs typeface="Cambria" pitchFamily="34" charset="-120"/>
              </a:rPr>
              <a:t>Every capability is delivered by principals, never delegated to a junior bench.</a:t>
            </a:r>
            <a:endParaRPr lang="en-US" sz="1300" dirty="0"/>
          </a:p>
        </p:txBody>
      </p:sp>
      <p:sp>
        <p:nvSpPr>
          <p:cNvPr id="46" name="Shape 36"/>
          <p:cNvSpPr/>
          <p:nvPr/>
        </p:nvSpPr>
        <p:spPr>
          <a:xfrm>
            <a:off x="502920" y="10186416"/>
            <a:ext cx="6556248" cy="0"/>
          </a:xfrm>
          <a:prstGeom prst="line">
            <a:avLst/>
          </a:prstGeom>
          <a:noFill/>
          <a:ln w="9525">
            <a:solidFill>
              <a:srgbClr val="E4DDCB"/>
            </a:solidFill>
            <a:prstDash val="solid"/>
          </a:ln>
        </p:spPr>
      </p:sp>
      <p:sp>
        <p:nvSpPr>
          <p:cNvPr id="47" name="Text 37"/>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6B675F"/>
                </a:solidFill>
                <a:latin typeface="Calibri" pitchFamily="34" charset="0"/>
                <a:ea typeface="Calibri" pitchFamily="34" charset="-122"/>
                <a:cs typeface="Calibri" pitchFamily="34" charset="-120"/>
              </a:rPr>
              <a:t>ALTUS GULF</a:t>
            </a:r>
            <a:endParaRPr lang="en-US" sz="850" dirty="0"/>
          </a:p>
        </p:txBody>
      </p:sp>
      <p:sp>
        <p:nvSpPr>
          <p:cNvPr id="48" name="Text 38"/>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6B675F"/>
                </a:solidFill>
                <a:latin typeface="Calibri" pitchFamily="34" charset="0"/>
                <a:ea typeface="Calibri" pitchFamily="34" charset="-122"/>
                <a:cs typeface="Calibri" pitchFamily="34" charset="-120"/>
              </a:rPr>
              <a:t>CORPORATE PROFILE  •  13</a:t>
            </a:r>
            <a:endParaRPr lang="en-US" sz="85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C1501D"/>
                </a:solidFill>
                <a:latin typeface="Calibri" pitchFamily="34" charset="0"/>
                <a:ea typeface="Calibri" pitchFamily="34" charset="-122"/>
                <a:cs typeface="Calibri" pitchFamily="34" charset="-120"/>
              </a:rPr>
              <a:t>12  •  NATIONAL ALIGNMENT</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a:solidFill>
                  <a:srgbClr val="0B1B2B"/>
                </a:solidFill>
                <a:latin typeface="Cambria" pitchFamily="34" charset="0"/>
                <a:ea typeface="Cambria" pitchFamily="34" charset="-122"/>
                <a:cs typeface="Cambria" pitchFamily="34" charset="-120"/>
              </a:rPr>
              <a:t>Engineered for Saudi Vision 2030</a:t>
            </a:r>
            <a:endParaRPr lang="en-US" sz="2700" dirty="0"/>
          </a:p>
        </p:txBody>
      </p:sp>
      <p:sp>
        <p:nvSpPr>
          <p:cNvPr id="4" name="Text 2"/>
          <p:cNvSpPr/>
          <p:nvPr/>
        </p:nvSpPr>
        <p:spPr>
          <a:xfrm>
            <a:off x="502920" y="1280160"/>
            <a:ext cx="6556248" cy="566928"/>
          </a:xfrm>
          <a:prstGeom prst="rect">
            <a:avLst/>
          </a:prstGeom>
          <a:noFill/>
          <a:ln/>
        </p:spPr>
        <p:txBody>
          <a:bodyPr wrap="square" rtlCol="0" anchor="t"/>
          <a:lstStyle/>
          <a:p>
            <a:pPr marL="0" indent="0" algn="l">
              <a:lnSpc>
                <a:spcPct val="118000"/>
              </a:lnSpc>
              <a:buNone/>
            </a:pPr>
            <a:r>
              <a:rPr lang="en-US" sz="1150" dirty="0">
                <a:solidFill>
                  <a:srgbClr val="6B675F"/>
                </a:solidFill>
                <a:latin typeface="Calibri" pitchFamily="34" charset="0"/>
                <a:ea typeface="Calibri" pitchFamily="34" charset="-122"/>
                <a:cs typeface="Calibri" pitchFamily="34" charset="-120"/>
              </a:rPr>
              <a:t>Vision 2030 is not a blueprint of the future; it is a live, national-scale transformation already underway. Altus Gulf has aligned its mission and service architecture to directly support the Kingdom's core pillars, so our partners do not merely take part in this historic growth: they help lead it.</a:t>
            </a:r>
            <a:endParaRPr lang="en-US" sz="1150" dirty="0"/>
          </a:p>
        </p:txBody>
      </p:sp>
      <p:sp>
        <p:nvSpPr>
          <p:cNvPr id="5" name="Shape 3"/>
          <p:cNvSpPr/>
          <p:nvPr/>
        </p:nvSpPr>
        <p:spPr>
          <a:xfrm>
            <a:off x="502920" y="1938528"/>
            <a:ext cx="3163824" cy="2468880"/>
          </a:xfrm>
          <a:prstGeom prst="roundRect">
            <a:avLst>
              <a:gd name="adj" fmla="val 2222"/>
            </a:avLst>
          </a:prstGeom>
          <a:solidFill>
            <a:srgbClr val="F3EEE4"/>
          </a:solidFill>
          <a:ln w="9525">
            <a:solidFill>
              <a:srgbClr val="E4DDCB"/>
            </a:solidFill>
            <a:prstDash val="solid"/>
          </a:ln>
        </p:spPr>
      </p:sp>
      <p:sp>
        <p:nvSpPr>
          <p:cNvPr id="6" name="Shape 4"/>
          <p:cNvSpPr/>
          <p:nvPr/>
        </p:nvSpPr>
        <p:spPr>
          <a:xfrm>
            <a:off x="658368" y="2084832"/>
            <a:ext cx="512064" cy="512064"/>
          </a:xfrm>
          <a:prstGeom prst="ellipse">
            <a:avLst/>
          </a:prstGeom>
          <a:solidFill>
            <a:srgbClr val="0F5C42"/>
          </a:solidFill>
          <a:ln/>
        </p:spPr>
      </p:sp>
      <p:pic>
        <p:nvPicPr>
          <p:cNvPr id="7" name="Image 0" descr="/home/claude/assets/icons/umbrella.png"/>
          <p:cNvPicPr>
            <a:picLocks noChangeAspect="1"/>
          </p:cNvPicPr>
          <p:nvPr/>
        </p:nvPicPr>
        <p:blipFill>
          <a:blip r:embed="rId3"/>
          <a:stretch>
            <a:fillRect/>
          </a:stretch>
        </p:blipFill>
        <p:spPr>
          <a:xfrm>
            <a:off x="781263" y="2207727"/>
            <a:ext cx="266273" cy="266273"/>
          </a:xfrm>
          <a:prstGeom prst="rect">
            <a:avLst/>
          </a:prstGeom>
        </p:spPr>
      </p:pic>
      <p:sp>
        <p:nvSpPr>
          <p:cNvPr id="8" name="Text 5"/>
          <p:cNvSpPr/>
          <p:nvPr/>
        </p:nvSpPr>
        <p:spPr>
          <a:xfrm>
            <a:off x="1252728" y="2103120"/>
            <a:ext cx="2249424" cy="182880"/>
          </a:xfrm>
          <a:prstGeom prst="rect">
            <a:avLst/>
          </a:prstGeom>
          <a:noFill/>
          <a:ln/>
        </p:spPr>
        <p:txBody>
          <a:bodyPr wrap="square" rtlCol="0" anchor="ctr"/>
          <a:lstStyle/>
          <a:p>
            <a:pPr marL="0" indent="0">
              <a:buNone/>
            </a:pPr>
            <a:r>
              <a:rPr lang="en-US" sz="830" b="1" kern="0" spc="120" dirty="0">
                <a:solidFill>
                  <a:srgbClr val="C1501D"/>
                </a:solidFill>
                <a:latin typeface="Calibri" pitchFamily="34" charset="0"/>
                <a:ea typeface="Calibri" pitchFamily="34" charset="-122"/>
                <a:cs typeface="Calibri" pitchFamily="34" charset="-120"/>
              </a:rPr>
              <a:t>PILLAR I</a:t>
            </a:r>
            <a:endParaRPr lang="en-US" sz="830" dirty="0"/>
          </a:p>
        </p:txBody>
      </p:sp>
      <p:sp>
        <p:nvSpPr>
          <p:cNvPr id="9" name="Text 6"/>
          <p:cNvSpPr/>
          <p:nvPr/>
        </p:nvSpPr>
        <p:spPr>
          <a:xfrm>
            <a:off x="1252728" y="2276856"/>
            <a:ext cx="2249424" cy="502920"/>
          </a:xfrm>
          <a:prstGeom prst="rect">
            <a:avLst/>
          </a:prstGeom>
          <a:noFill/>
          <a:ln/>
        </p:spPr>
        <p:txBody>
          <a:bodyPr wrap="square" rtlCol="0" anchor="t"/>
          <a:lstStyle/>
          <a:p>
            <a:pPr marL="0" indent="0">
              <a:lnSpc>
                <a:spcPct val="112000"/>
              </a:lnSpc>
              <a:buNone/>
            </a:pPr>
            <a:r>
              <a:rPr lang="en-US" sz="1180" b="1" dirty="0">
                <a:solidFill>
                  <a:srgbClr val="0B1B2B"/>
                </a:solidFill>
                <a:latin typeface="Calibri" pitchFamily="34" charset="0"/>
                <a:ea typeface="Calibri" pitchFamily="34" charset="-122"/>
                <a:cs typeface="Calibri" pitchFamily="34" charset="-120"/>
              </a:rPr>
              <a:t>Powering the Tourism &amp; Hospitality Surge</a:t>
            </a:r>
            <a:endParaRPr lang="en-US" sz="1180" dirty="0"/>
          </a:p>
        </p:txBody>
      </p:sp>
      <p:sp>
        <p:nvSpPr>
          <p:cNvPr id="10" name="Text 7"/>
          <p:cNvSpPr/>
          <p:nvPr/>
        </p:nvSpPr>
        <p:spPr>
          <a:xfrm>
            <a:off x="731520" y="2852928"/>
            <a:ext cx="2706624" cy="1417320"/>
          </a:xfrm>
          <a:prstGeom prst="rect">
            <a:avLst/>
          </a:prstGeom>
          <a:noFill/>
          <a:ln/>
        </p:spPr>
        <p:txBody>
          <a:bodyPr wrap="square" rtlCol="0" anchor="t"/>
          <a:lstStyle/>
          <a:p>
            <a:pPr marL="0" indent="0">
              <a:lnSpc>
                <a:spcPct val="125000"/>
              </a:lnSpc>
              <a:buNone/>
            </a:pPr>
            <a:r>
              <a:rPr lang="en-US" sz="940" dirty="0">
                <a:solidFill>
                  <a:srgbClr val="2B2A27"/>
                </a:solidFill>
                <a:latin typeface="Calibri" pitchFamily="34" charset="0"/>
                <a:ea typeface="Calibri" pitchFamily="34" charset="-122"/>
                <a:cs typeface="Calibri" pitchFamily="34" charset="-120"/>
              </a:rPr>
              <a:t>With the Kingdom targeting 150 million annual visits by 2030, we act as a strategic partner to developers and investors: owner representation, feasibility validation, and operational optimisation that support the delivery of new hotel assets on time, on budget, and engineered for GOP from day one.</a:t>
            </a:r>
            <a:endParaRPr lang="en-US" sz="940" dirty="0"/>
          </a:p>
        </p:txBody>
      </p:sp>
      <p:sp>
        <p:nvSpPr>
          <p:cNvPr id="11" name="Shape 8"/>
          <p:cNvSpPr/>
          <p:nvPr/>
        </p:nvSpPr>
        <p:spPr>
          <a:xfrm>
            <a:off x="3895344" y="1938528"/>
            <a:ext cx="3163824" cy="2468880"/>
          </a:xfrm>
          <a:prstGeom prst="roundRect">
            <a:avLst>
              <a:gd name="adj" fmla="val 2222"/>
            </a:avLst>
          </a:prstGeom>
          <a:solidFill>
            <a:srgbClr val="FFFFFF"/>
          </a:solidFill>
          <a:ln w="9525">
            <a:solidFill>
              <a:srgbClr val="E4DDCB"/>
            </a:solidFill>
            <a:prstDash val="solid"/>
          </a:ln>
        </p:spPr>
      </p:sp>
      <p:sp>
        <p:nvSpPr>
          <p:cNvPr id="12" name="Shape 9"/>
          <p:cNvSpPr/>
          <p:nvPr/>
        </p:nvSpPr>
        <p:spPr>
          <a:xfrm>
            <a:off x="4050792" y="2084832"/>
            <a:ext cx="512064" cy="512064"/>
          </a:xfrm>
          <a:prstGeom prst="ellipse">
            <a:avLst/>
          </a:prstGeom>
          <a:solidFill>
            <a:srgbClr val="0F5C42"/>
          </a:solidFill>
          <a:ln/>
        </p:spPr>
      </p:sp>
      <p:pic>
        <p:nvPicPr>
          <p:cNvPr id="13" name="Image 1" descr="/home/claude/assets/icons/robot.png"/>
          <p:cNvPicPr>
            <a:picLocks noChangeAspect="1"/>
          </p:cNvPicPr>
          <p:nvPr/>
        </p:nvPicPr>
        <p:blipFill>
          <a:blip r:embed="rId4"/>
          <a:stretch>
            <a:fillRect/>
          </a:stretch>
        </p:blipFill>
        <p:spPr>
          <a:xfrm>
            <a:off x="4173687" y="2207727"/>
            <a:ext cx="266273" cy="266273"/>
          </a:xfrm>
          <a:prstGeom prst="rect">
            <a:avLst/>
          </a:prstGeom>
        </p:spPr>
      </p:pic>
      <p:sp>
        <p:nvSpPr>
          <p:cNvPr id="14" name="Text 10"/>
          <p:cNvSpPr/>
          <p:nvPr/>
        </p:nvSpPr>
        <p:spPr>
          <a:xfrm>
            <a:off x="4645152" y="2103120"/>
            <a:ext cx="2249424" cy="182880"/>
          </a:xfrm>
          <a:prstGeom prst="rect">
            <a:avLst/>
          </a:prstGeom>
          <a:noFill/>
          <a:ln/>
        </p:spPr>
        <p:txBody>
          <a:bodyPr wrap="square" rtlCol="0" anchor="ctr"/>
          <a:lstStyle/>
          <a:p>
            <a:pPr marL="0" indent="0">
              <a:buNone/>
            </a:pPr>
            <a:r>
              <a:rPr lang="en-US" sz="830" b="1" kern="0" spc="120" dirty="0">
                <a:solidFill>
                  <a:srgbClr val="C1501D"/>
                </a:solidFill>
                <a:latin typeface="Calibri" pitchFamily="34" charset="0"/>
                <a:ea typeface="Calibri" pitchFamily="34" charset="-122"/>
                <a:cs typeface="Calibri" pitchFamily="34" charset="-120"/>
              </a:rPr>
              <a:t>PILLAR II</a:t>
            </a:r>
            <a:endParaRPr lang="en-US" sz="830" dirty="0"/>
          </a:p>
        </p:txBody>
      </p:sp>
      <p:sp>
        <p:nvSpPr>
          <p:cNvPr id="15" name="Text 11"/>
          <p:cNvSpPr/>
          <p:nvPr/>
        </p:nvSpPr>
        <p:spPr>
          <a:xfrm>
            <a:off x="4645152" y="2276856"/>
            <a:ext cx="2249424" cy="502920"/>
          </a:xfrm>
          <a:prstGeom prst="rect">
            <a:avLst/>
          </a:prstGeom>
          <a:noFill/>
          <a:ln/>
        </p:spPr>
        <p:txBody>
          <a:bodyPr wrap="square" rtlCol="0" anchor="t"/>
          <a:lstStyle/>
          <a:p>
            <a:pPr marL="0" indent="0">
              <a:lnSpc>
                <a:spcPct val="112000"/>
              </a:lnSpc>
              <a:buNone/>
            </a:pPr>
            <a:r>
              <a:rPr lang="en-US" sz="1180" b="1" dirty="0">
                <a:solidFill>
                  <a:srgbClr val="0B1B2B"/>
                </a:solidFill>
                <a:latin typeface="Calibri" pitchFamily="34" charset="0"/>
                <a:ea typeface="Calibri" pitchFamily="34" charset="-122"/>
                <a:cs typeface="Calibri" pitchFamily="34" charset="-120"/>
              </a:rPr>
              <a:t>Advancing Digital &amp; AI Leadership</a:t>
            </a:r>
            <a:endParaRPr lang="en-US" sz="1180" dirty="0"/>
          </a:p>
        </p:txBody>
      </p:sp>
      <p:sp>
        <p:nvSpPr>
          <p:cNvPr id="16" name="Text 12"/>
          <p:cNvSpPr/>
          <p:nvPr/>
        </p:nvSpPr>
        <p:spPr>
          <a:xfrm>
            <a:off x="4123944" y="2852928"/>
            <a:ext cx="2706624" cy="1417320"/>
          </a:xfrm>
          <a:prstGeom prst="rect">
            <a:avLst/>
          </a:prstGeom>
          <a:noFill/>
          <a:ln/>
        </p:spPr>
        <p:txBody>
          <a:bodyPr wrap="square" rtlCol="0" anchor="t"/>
          <a:lstStyle/>
          <a:p>
            <a:pPr marL="0" indent="0">
              <a:lnSpc>
                <a:spcPct val="125000"/>
              </a:lnSpc>
              <a:buNone/>
            </a:pPr>
            <a:r>
              <a:rPr lang="en-US" sz="940" dirty="0">
                <a:solidFill>
                  <a:srgbClr val="2B2A27"/>
                </a:solidFill>
                <a:latin typeface="Calibri" pitchFamily="34" charset="0"/>
                <a:ea typeface="Calibri" pitchFamily="34" charset="-122"/>
                <a:cs typeface="Calibri" pitchFamily="34" charset="-120"/>
              </a:rPr>
              <a:t>Supporting a digitally enabled society and tech-forward economy: AI-based dynamic pricing, predictive revenue management, and advanced digital marketing. Our Altus Gulf Hospitality Knowledge &amp; Performance platform replaces paper-based procedures with a governed digital system that supports transparency and a culture of continuous improvement.</a:t>
            </a:r>
            <a:endParaRPr lang="en-US" sz="940" dirty="0"/>
          </a:p>
        </p:txBody>
      </p:sp>
      <p:sp>
        <p:nvSpPr>
          <p:cNvPr id="17" name="Shape 13"/>
          <p:cNvSpPr/>
          <p:nvPr/>
        </p:nvSpPr>
        <p:spPr>
          <a:xfrm>
            <a:off x="502920" y="4590288"/>
            <a:ext cx="3163824" cy="2468880"/>
          </a:xfrm>
          <a:prstGeom prst="roundRect">
            <a:avLst>
              <a:gd name="adj" fmla="val 2222"/>
            </a:avLst>
          </a:prstGeom>
          <a:solidFill>
            <a:srgbClr val="FFFFFF"/>
          </a:solidFill>
          <a:ln w="9525">
            <a:solidFill>
              <a:srgbClr val="E4DDCB"/>
            </a:solidFill>
            <a:prstDash val="solid"/>
          </a:ln>
        </p:spPr>
      </p:sp>
      <p:sp>
        <p:nvSpPr>
          <p:cNvPr id="18" name="Shape 14"/>
          <p:cNvSpPr/>
          <p:nvPr/>
        </p:nvSpPr>
        <p:spPr>
          <a:xfrm>
            <a:off x="658368" y="4736592"/>
            <a:ext cx="512064" cy="512064"/>
          </a:xfrm>
          <a:prstGeom prst="ellipse">
            <a:avLst/>
          </a:prstGeom>
          <a:solidFill>
            <a:srgbClr val="0F5C42"/>
          </a:solidFill>
          <a:ln/>
        </p:spPr>
      </p:sp>
      <p:pic>
        <p:nvPicPr>
          <p:cNvPr id="19" name="Image 2" descr="/home/claude/assets/icons/gradcap.png"/>
          <p:cNvPicPr>
            <a:picLocks noChangeAspect="1"/>
          </p:cNvPicPr>
          <p:nvPr/>
        </p:nvPicPr>
        <p:blipFill>
          <a:blip r:embed="rId5"/>
          <a:stretch>
            <a:fillRect/>
          </a:stretch>
        </p:blipFill>
        <p:spPr>
          <a:xfrm>
            <a:off x="781263" y="4859487"/>
            <a:ext cx="266273" cy="266273"/>
          </a:xfrm>
          <a:prstGeom prst="rect">
            <a:avLst/>
          </a:prstGeom>
        </p:spPr>
      </p:pic>
      <p:sp>
        <p:nvSpPr>
          <p:cNvPr id="20" name="Text 15"/>
          <p:cNvSpPr/>
          <p:nvPr/>
        </p:nvSpPr>
        <p:spPr>
          <a:xfrm>
            <a:off x="1252728" y="4754880"/>
            <a:ext cx="2249424" cy="182880"/>
          </a:xfrm>
          <a:prstGeom prst="rect">
            <a:avLst/>
          </a:prstGeom>
          <a:noFill/>
          <a:ln/>
        </p:spPr>
        <p:txBody>
          <a:bodyPr wrap="square" rtlCol="0" anchor="ctr"/>
          <a:lstStyle/>
          <a:p>
            <a:pPr marL="0" indent="0">
              <a:buNone/>
            </a:pPr>
            <a:r>
              <a:rPr lang="en-US" sz="830" b="1" kern="0" spc="120" dirty="0">
                <a:solidFill>
                  <a:srgbClr val="C1501D"/>
                </a:solidFill>
                <a:latin typeface="Calibri" pitchFamily="34" charset="0"/>
                <a:ea typeface="Calibri" pitchFamily="34" charset="-122"/>
                <a:cs typeface="Calibri" pitchFamily="34" charset="-120"/>
              </a:rPr>
              <a:t>PILLAR III</a:t>
            </a:r>
            <a:endParaRPr lang="en-US" sz="830" dirty="0"/>
          </a:p>
        </p:txBody>
      </p:sp>
      <p:sp>
        <p:nvSpPr>
          <p:cNvPr id="21" name="Text 16"/>
          <p:cNvSpPr/>
          <p:nvPr/>
        </p:nvSpPr>
        <p:spPr>
          <a:xfrm>
            <a:off x="1252728" y="4928616"/>
            <a:ext cx="2249424" cy="502920"/>
          </a:xfrm>
          <a:prstGeom prst="rect">
            <a:avLst/>
          </a:prstGeom>
          <a:noFill/>
          <a:ln/>
        </p:spPr>
        <p:txBody>
          <a:bodyPr wrap="square" rtlCol="0" anchor="t"/>
          <a:lstStyle/>
          <a:p>
            <a:pPr marL="0" indent="0">
              <a:lnSpc>
                <a:spcPct val="112000"/>
              </a:lnSpc>
              <a:buNone/>
            </a:pPr>
            <a:r>
              <a:rPr lang="en-US" sz="1180" b="1" dirty="0">
                <a:solidFill>
                  <a:srgbClr val="0B1B2B"/>
                </a:solidFill>
                <a:latin typeface="Calibri" pitchFamily="34" charset="0"/>
                <a:ea typeface="Calibri" pitchFamily="34" charset="-122"/>
                <a:cs typeface="Calibri" pitchFamily="34" charset="-120"/>
              </a:rPr>
              <a:t>Empowering Saudi Human Capital</a:t>
            </a:r>
            <a:endParaRPr lang="en-US" sz="1180" dirty="0"/>
          </a:p>
        </p:txBody>
      </p:sp>
      <p:sp>
        <p:nvSpPr>
          <p:cNvPr id="22" name="Text 17"/>
          <p:cNvSpPr/>
          <p:nvPr/>
        </p:nvSpPr>
        <p:spPr>
          <a:xfrm>
            <a:off x="731520" y="5504688"/>
            <a:ext cx="2706624" cy="1417320"/>
          </a:xfrm>
          <a:prstGeom prst="rect">
            <a:avLst/>
          </a:prstGeom>
          <a:noFill/>
          <a:ln/>
        </p:spPr>
        <p:txBody>
          <a:bodyPr wrap="square" rtlCol="0" anchor="t"/>
          <a:lstStyle/>
          <a:p>
            <a:pPr marL="0" indent="0">
              <a:lnSpc>
                <a:spcPct val="125000"/>
              </a:lnSpc>
              <a:buNone/>
            </a:pPr>
            <a:r>
              <a:rPr lang="en-US" sz="940" dirty="0">
                <a:solidFill>
                  <a:srgbClr val="2B2A27"/>
                </a:solidFill>
                <a:latin typeface="Calibri" pitchFamily="34" charset="0"/>
                <a:ea typeface="Calibri" pitchFamily="34" charset="-122"/>
                <a:cs typeface="Calibri" pitchFamily="34" charset="-120"/>
              </a:rPr>
              <a:t>In step with Saudization and youth-empowerment goals, our executive coaching, leadership-competency frameworks, and knowledge-transfer programmes help build a globally competitive class of Saudi executives, now delivered at scale through the platform's bilingual digital academy, learning paths, and certification.</a:t>
            </a:r>
            <a:endParaRPr lang="en-US" sz="940" dirty="0"/>
          </a:p>
        </p:txBody>
      </p:sp>
      <p:sp>
        <p:nvSpPr>
          <p:cNvPr id="23" name="Shape 18"/>
          <p:cNvSpPr/>
          <p:nvPr/>
        </p:nvSpPr>
        <p:spPr>
          <a:xfrm>
            <a:off x="3895344" y="4590288"/>
            <a:ext cx="3163824" cy="2468880"/>
          </a:xfrm>
          <a:prstGeom prst="roundRect">
            <a:avLst>
              <a:gd name="adj" fmla="val 2222"/>
            </a:avLst>
          </a:prstGeom>
          <a:solidFill>
            <a:srgbClr val="FFFFFF"/>
          </a:solidFill>
          <a:ln w="9525">
            <a:solidFill>
              <a:srgbClr val="E4DDCB"/>
            </a:solidFill>
            <a:prstDash val="solid"/>
          </a:ln>
        </p:spPr>
      </p:sp>
      <p:sp>
        <p:nvSpPr>
          <p:cNvPr id="24" name="Shape 19"/>
          <p:cNvSpPr/>
          <p:nvPr/>
        </p:nvSpPr>
        <p:spPr>
          <a:xfrm>
            <a:off x="4050792" y="4736592"/>
            <a:ext cx="512064" cy="512064"/>
          </a:xfrm>
          <a:prstGeom prst="ellipse">
            <a:avLst/>
          </a:prstGeom>
          <a:solidFill>
            <a:srgbClr val="0F5C42"/>
          </a:solidFill>
          <a:ln/>
        </p:spPr>
      </p:sp>
      <p:pic>
        <p:nvPicPr>
          <p:cNvPr id="25" name="Image 3" descr="/home/claude/assets/icons/seedling.png"/>
          <p:cNvPicPr>
            <a:picLocks noChangeAspect="1"/>
          </p:cNvPicPr>
          <p:nvPr/>
        </p:nvPicPr>
        <p:blipFill>
          <a:blip r:embed="rId6"/>
          <a:stretch>
            <a:fillRect/>
          </a:stretch>
        </p:blipFill>
        <p:spPr>
          <a:xfrm>
            <a:off x="4173687" y="4859487"/>
            <a:ext cx="266273" cy="266273"/>
          </a:xfrm>
          <a:prstGeom prst="rect">
            <a:avLst/>
          </a:prstGeom>
        </p:spPr>
      </p:pic>
      <p:sp>
        <p:nvSpPr>
          <p:cNvPr id="26" name="Text 20"/>
          <p:cNvSpPr/>
          <p:nvPr/>
        </p:nvSpPr>
        <p:spPr>
          <a:xfrm>
            <a:off x="4645152" y="4754880"/>
            <a:ext cx="2249424" cy="182880"/>
          </a:xfrm>
          <a:prstGeom prst="rect">
            <a:avLst/>
          </a:prstGeom>
          <a:noFill/>
          <a:ln/>
        </p:spPr>
        <p:txBody>
          <a:bodyPr wrap="square" rtlCol="0" anchor="ctr"/>
          <a:lstStyle/>
          <a:p>
            <a:pPr marL="0" indent="0">
              <a:buNone/>
            </a:pPr>
            <a:r>
              <a:rPr lang="en-US" sz="830" b="1" kern="0" spc="120" dirty="0">
                <a:solidFill>
                  <a:srgbClr val="C1501D"/>
                </a:solidFill>
                <a:latin typeface="Calibri" pitchFamily="34" charset="0"/>
                <a:ea typeface="Calibri" pitchFamily="34" charset="-122"/>
                <a:cs typeface="Calibri" pitchFamily="34" charset="-120"/>
              </a:rPr>
              <a:t>PILLAR IV</a:t>
            </a:r>
            <a:endParaRPr lang="en-US" sz="830" dirty="0"/>
          </a:p>
        </p:txBody>
      </p:sp>
      <p:sp>
        <p:nvSpPr>
          <p:cNvPr id="27" name="Text 21"/>
          <p:cNvSpPr/>
          <p:nvPr/>
        </p:nvSpPr>
        <p:spPr>
          <a:xfrm>
            <a:off x="4645152" y="4928616"/>
            <a:ext cx="2249424" cy="502920"/>
          </a:xfrm>
          <a:prstGeom prst="rect">
            <a:avLst/>
          </a:prstGeom>
          <a:noFill/>
          <a:ln/>
        </p:spPr>
        <p:txBody>
          <a:bodyPr wrap="square" rtlCol="0" anchor="t"/>
          <a:lstStyle/>
          <a:p>
            <a:pPr marL="0" indent="0">
              <a:lnSpc>
                <a:spcPct val="112000"/>
              </a:lnSpc>
              <a:buNone/>
            </a:pPr>
            <a:r>
              <a:rPr lang="en-US" sz="1180" b="1" dirty="0">
                <a:solidFill>
                  <a:srgbClr val="0B1B2B"/>
                </a:solidFill>
                <a:latin typeface="Calibri" pitchFamily="34" charset="0"/>
                <a:ea typeface="Calibri" pitchFamily="34" charset="-122"/>
                <a:cs typeface="Calibri" pitchFamily="34" charset="-120"/>
              </a:rPr>
              <a:t>Enabling SMEs, Start-ups &amp; Bold Entrepreneurs</a:t>
            </a:r>
            <a:endParaRPr lang="en-US" sz="1180" dirty="0"/>
          </a:p>
        </p:txBody>
      </p:sp>
      <p:sp>
        <p:nvSpPr>
          <p:cNvPr id="28" name="Text 22"/>
          <p:cNvSpPr/>
          <p:nvPr/>
        </p:nvSpPr>
        <p:spPr>
          <a:xfrm>
            <a:off x="4123944" y="5504688"/>
            <a:ext cx="2706624" cy="1417320"/>
          </a:xfrm>
          <a:prstGeom prst="rect">
            <a:avLst/>
          </a:prstGeom>
          <a:noFill/>
          <a:ln/>
        </p:spPr>
        <p:txBody>
          <a:bodyPr wrap="square" rtlCol="0" anchor="t"/>
          <a:lstStyle/>
          <a:p>
            <a:pPr marL="0" indent="0">
              <a:lnSpc>
                <a:spcPct val="125000"/>
              </a:lnSpc>
              <a:buNone/>
            </a:pPr>
            <a:r>
              <a:rPr lang="en-US" sz="940" dirty="0">
                <a:solidFill>
                  <a:srgbClr val="2B2A27"/>
                </a:solidFill>
                <a:latin typeface="Calibri" pitchFamily="34" charset="0"/>
                <a:ea typeface="Calibri" pitchFamily="34" charset="-122"/>
                <a:cs typeface="Calibri" pitchFamily="34" charset="-120"/>
              </a:rPr>
              <a:t>Vision 2030 prioritises SME contribution to GDP. We bring Tier-1 consulting standards, typically reserved for larger groups, to Saudi start-ups and scale-ups, and we priced our platform deliberately for independent hotels and SME establishments, supporting resilience and growth from day one.</a:t>
            </a:r>
            <a:endParaRPr lang="en-US" sz="940" dirty="0"/>
          </a:p>
        </p:txBody>
      </p:sp>
      <p:sp>
        <p:nvSpPr>
          <p:cNvPr id="29" name="Shape 23"/>
          <p:cNvSpPr/>
          <p:nvPr/>
        </p:nvSpPr>
        <p:spPr>
          <a:xfrm>
            <a:off x="502920" y="7379208"/>
            <a:ext cx="6556248" cy="1600200"/>
          </a:xfrm>
          <a:prstGeom prst="roundRect">
            <a:avLst>
              <a:gd name="adj" fmla="val 3429"/>
            </a:avLst>
          </a:prstGeom>
          <a:solidFill>
            <a:srgbClr val="0B1B2B"/>
          </a:solidFill>
          <a:ln/>
        </p:spPr>
      </p:sp>
      <p:sp>
        <p:nvSpPr>
          <p:cNvPr id="30" name="Text 24"/>
          <p:cNvSpPr/>
          <p:nvPr/>
        </p:nvSpPr>
        <p:spPr>
          <a:xfrm>
            <a:off x="777240" y="7580376"/>
            <a:ext cx="6007608" cy="219456"/>
          </a:xfrm>
          <a:prstGeom prst="rect">
            <a:avLst/>
          </a:prstGeom>
          <a:noFill/>
          <a:ln/>
        </p:spPr>
        <p:txBody>
          <a:bodyPr wrap="square" rtlCol="0" anchor="ctr"/>
          <a:lstStyle/>
          <a:p>
            <a:pPr marL="0" indent="0">
              <a:buNone/>
            </a:pPr>
            <a:r>
              <a:rPr lang="en-US" sz="1000" b="1" kern="0" spc="120" dirty="0">
                <a:solidFill>
                  <a:srgbClr val="E4C98A"/>
                </a:solidFill>
                <a:latin typeface="Calibri" pitchFamily="34" charset="0"/>
                <a:ea typeface="Calibri" pitchFamily="34" charset="-122"/>
                <a:cs typeface="Calibri" pitchFamily="34" charset="-120"/>
              </a:rPr>
              <a:t>OUR ROLE IN THE KINGDOM'S GROWTH</a:t>
            </a:r>
            <a:endParaRPr lang="en-US" sz="1000" dirty="0"/>
          </a:p>
        </p:txBody>
      </p:sp>
      <p:sp>
        <p:nvSpPr>
          <p:cNvPr id="31" name="Text 25"/>
          <p:cNvSpPr/>
          <p:nvPr/>
        </p:nvSpPr>
        <p:spPr>
          <a:xfrm>
            <a:off x="777240" y="7882128"/>
            <a:ext cx="6007608" cy="1005840"/>
          </a:xfrm>
          <a:prstGeom prst="rect">
            <a:avLst/>
          </a:prstGeom>
          <a:noFill/>
          <a:ln/>
        </p:spPr>
        <p:txBody>
          <a:bodyPr wrap="square" rtlCol="0" anchor="t"/>
          <a:lstStyle/>
          <a:p>
            <a:pPr marL="0" indent="0">
              <a:lnSpc>
                <a:spcPct val="130000"/>
              </a:lnSpc>
              <a:buNone/>
            </a:pPr>
            <a:r>
              <a:rPr lang="en-US" sz="1200" i="1" dirty="0">
                <a:solidFill>
                  <a:srgbClr val="FFFFFF"/>
                </a:solidFill>
                <a:latin typeface="Cambria" pitchFamily="34" charset="0"/>
                <a:ea typeface="Cambria" pitchFamily="34" charset="-122"/>
                <a:cs typeface="Cambria" pitchFamily="34" charset="-120"/>
              </a:rPr>
              <a:t>We see Vision 2030 as a shared national opportunity. Working at the meeting point of hospitality operations and applied business intelligence, and investing in proprietary Saudi-focused digital products, we help equip our partners in the Kingdom to shape the future of their sectors.</a:t>
            </a:r>
            <a:endParaRPr lang="en-US" sz="1200" dirty="0"/>
          </a:p>
        </p:txBody>
      </p:sp>
      <p:pic>
        <p:nvPicPr>
          <p:cNvPr id="32" name="Image 4" descr="/home/claude/assets/monogram.png"/>
          <p:cNvPicPr>
            <a:picLocks noChangeAspect="1"/>
          </p:cNvPicPr>
          <p:nvPr/>
        </p:nvPicPr>
        <p:blipFill>
          <a:blip r:embed="rId7">
            <a:alphaModFix amt="18000"/>
          </a:blip>
          <a:stretch>
            <a:fillRect/>
          </a:stretch>
        </p:blipFill>
        <p:spPr>
          <a:xfrm>
            <a:off x="3323844" y="9162288"/>
            <a:ext cx="914400" cy="781812"/>
          </a:xfrm>
          <a:prstGeom prst="rect">
            <a:avLst/>
          </a:prstGeom>
        </p:spPr>
      </p:pic>
      <p:sp>
        <p:nvSpPr>
          <p:cNvPr id="33" name="Shape 26"/>
          <p:cNvSpPr/>
          <p:nvPr/>
        </p:nvSpPr>
        <p:spPr>
          <a:xfrm>
            <a:off x="502920" y="10186416"/>
            <a:ext cx="6556248" cy="0"/>
          </a:xfrm>
          <a:prstGeom prst="line">
            <a:avLst/>
          </a:prstGeom>
          <a:noFill/>
          <a:ln w="9525">
            <a:solidFill>
              <a:srgbClr val="E4DDCB"/>
            </a:solidFill>
            <a:prstDash val="solid"/>
          </a:ln>
        </p:spPr>
      </p:sp>
      <p:sp>
        <p:nvSpPr>
          <p:cNvPr id="34" name="Text 27"/>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6B675F"/>
                </a:solidFill>
                <a:latin typeface="Calibri" pitchFamily="34" charset="0"/>
                <a:ea typeface="Calibri" pitchFamily="34" charset="-122"/>
                <a:cs typeface="Calibri" pitchFamily="34" charset="-120"/>
              </a:rPr>
              <a:t>ALTUS GULF</a:t>
            </a:r>
            <a:endParaRPr lang="en-US" sz="850" dirty="0"/>
          </a:p>
        </p:txBody>
      </p:sp>
      <p:sp>
        <p:nvSpPr>
          <p:cNvPr id="35" name="Text 28"/>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6B675F"/>
                </a:solidFill>
                <a:latin typeface="Calibri" pitchFamily="34" charset="0"/>
                <a:ea typeface="Calibri" pitchFamily="34" charset="-122"/>
                <a:cs typeface="Calibri" pitchFamily="34" charset="-120"/>
              </a:rPr>
              <a:t>CORPORATE PROFILE  •  14</a:t>
            </a:r>
            <a:endParaRPr lang="en-US" sz="85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C1501D"/>
                </a:solidFill>
                <a:latin typeface="Calibri" pitchFamily="34" charset="0"/>
                <a:ea typeface="Calibri" pitchFamily="34" charset="-122"/>
                <a:cs typeface="Calibri" pitchFamily="34" charset="-120"/>
              </a:rPr>
              <a:t>13  •  THE SAUDI GROWTH RUNWAY</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a:solidFill>
                  <a:srgbClr val="0B1B2B"/>
                </a:solidFill>
                <a:latin typeface="Cambria" pitchFamily="34" charset="0"/>
                <a:ea typeface="Cambria" pitchFamily="34" charset="-122"/>
                <a:cs typeface="Cambria" pitchFamily="34" charset="-120"/>
              </a:rPr>
              <a:t>Market Opportunity</a:t>
            </a:r>
            <a:endParaRPr lang="en-US" sz="2700" dirty="0"/>
          </a:p>
        </p:txBody>
      </p:sp>
      <p:sp>
        <p:nvSpPr>
          <p:cNvPr id="4" name="Text 2"/>
          <p:cNvSpPr/>
          <p:nvPr/>
        </p:nvSpPr>
        <p:spPr>
          <a:xfrm>
            <a:off x="502920" y="1280160"/>
            <a:ext cx="6556248" cy="566928"/>
          </a:xfrm>
          <a:prstGeom prst="rect">
            <a:avLst/>
          </a:prstGeom>
          <a:noFill/>
          <a:ln/>
        </p:spPr>
        <p:txBody>
          <a:bodyPr wrap="square" rtlCol="0" anchor="t"/>
          <a:lstStyle/>
          <a:p>
            <a:pPr marL="0" indent="0" algn="l">
              <a:lnSpc>
                <a:spcPct val="118000"/>
              </a:lnSpc>
              <a:buNone/>
            </a:pPr>
            <a:r>
              <a:rPr lang="en-US" sz="1150" dirty="0">
                <a:solidFill>
                  <a:srgbClr val="6B675F"/>
                </a:solidFill>
                <a:latin typeface="Calibri" pitchFamily="34" charset="0"/>
                <a:ea typeface="Calibri" pitchFamily="34" charset="-122"/>
                <a:cs typeface="Calibri" pitchFamily="34" charset="-120"/>
              </a:rPr>
              <a:t>The Kingdom is executing one of the most ambitious hospitality build-outs in the world. The numbers define both the scale of the opportunity and the premium on disciplined, owner-side execution.</a:t>
            </a:r>
            <a:endParaRPr lang="en-US" sz="1150" dirty="0"/>
          </a:p>
        </p:txBody>
      </p:sp>
      <p:sp>
        <p:nvSpPr>
          <p:cNvPr id="5" name="Shape 3"/>
          <p:cNvSpPr/>
          <p:nvPr/>
        </p:nvSpPr>
        <p:spPr>
          <a:xfrm>
            <a:off x="502920" y="1938528"/>
            <a:ext cx="1570482" cy="1005840"/>
          </a:xfrm>
          <a:prstGeom prst="roundRect">
            <a:avLst>
              <a:gd name="adj" fmla="val 4545"/>
            </a:avLst>
          </a:prstGeom>
          <a:solidFill>
            <a:srgbClr val="13273A"/>
          </a:solidFill>
          <a:ln/>
        </p:spPr>
      </p:sp>
      <p:sp>
        <p:nvSpPr>
          <p:cNvPr id="6" name="Text 4"/>
          <p:cNvSpPr/>
          <p:nvPr/>
        </p:nvSpPr>
        <p:spPr>
          <a:xfrm>
            <a:off x="557784" y="2029968"/>
            <a:ext cx="1460754" cy="422453"/>
          </a:xfrm>
          <a:prstGeom prst="rect">
            <a:avLst/>
          </a:prstGeom>
          <a:noFill/>
          <a:ln/>
        </p:spPr>
        <p:txBody>
          <a:bodyPr wrap="square" rtlCol="0" anchor="b">
            <a:normAutofit lnSpcReduction="10000"/>
          </a:bodyPr>
          <a:lstStyle/>
          <a:p>
            <a:pPr marL="0" indent="0" algn="ctr">
              <a:buNone/>
            </a:pPr>
            <a:r>
              <a:rPr lang="en-US" sz="2400" b="1" dirty="0">
                <a:solidFill>
                  <a:srgbClr val="C9A15A"/>
                </a:solidFill>
                <a:latin typeface="Cambria" pitchFamily="34" charset="0"/>
                <a:ea typeface="Cambria" pitchFamily="34" charset="-122"/>
                <a:cs typeface="Cambria" pitchFamily="34" charset="-120"/>
              </a:rPr>
              <a:t>122M</a:t>
            </a:r>
            <a:endParaRPr lang="en-US" sz="2400" dirty="0"/>
          </a:p>
        </p:txBody>
      </p:sp>
      <p:sp>
        <p:nvSpPr>
          <p:cNvPr id="7" name="Text 5"/>
          <p:cNvSpPr/>
          <p:nvPr/>
        </p:nvSpPr>
        <p:spPr>
          <a:xfrm>
            <a:off x="612648" y="2481682"/>
            <a:ext cx="1351026" cy="241402"/>
          </a:xfrm>
          <a:prstGeom prst="rect">
            <a:avLst/>
          </a:prstGeom>
          <a:noFill/>
          <a:ln/>
        </p:spPr>
        <p:txBody>
          <a:bodyPr wrap="square" rtlCol="0" anchor="t"/>
          <a:lstStyle/>
          <a:p>
            <a:pPr marL="0" indent="0" algn="ctr">
              <a:buNone/>
            </a:pPr>
            <a:r>
              <a:rPr lang="en-US" sz="850" b="1" dirty="0">
                <a:solidFill>
                  <a:srgbClr val="FFFFFF"/>
                </a:solidFill>
                <a:latin typeface="Calibri" pitchFamily="34" charset="0"/>
                <a:ea typeface="Calibri" pitchFamily="34" charset="-122"/>
                <a:cs typeface="Calibri" pitchFamily="34" charset="-120"/>
              </a:rPr>
              <a:t>domestic &amp; international</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visits in 2025 (+5% YoY)</a:t>
            </a:r>
            <a:endParaRPr lang="en-US" sz="850" dirty="0"/>
          </a:p>
        </p:txBody>
      </p:sp>
      <p:sp>
        <p:nvSpPr>
          <p:cNvPr id="8" name="Shape 6"/>
          <p:cNvSpPr/>
          <p:nvPr/>
        </p:nvSpPr>
        <p:spPr>
          <a:xfrm>
            <a:off x="2164842" y="1938528"/>
            <a:ext cx="1570482" cy="1005840"/>
          </a:xfrm>
          <a:prstGeom prst="roundRect">
            <a:avLst>
              <a:gd name="adj" fmla="val 4545"/>
            </a:avLst>
          </a:prstGeom>
          <a:solidFill>
            <a:srgbClr val="13273A"/>
          </a:solidFill>
          <a:ln/>
        </p:spPr>
      </p:sp>
      <p:sp>
        <p:nvSpPr>
          <p:cNvPr id="9" name="Text 7"/>
          <p:cNvSpPr/>
          <p:nvPr/>
        </p:nvSpPr>
        <p:spPr>
          <a:xfrm>
            <a:off x="2219706" y="2029968"/>
            <a:ext cx="1460754" cy="422453"/>
          </a:xfrm>
          <a:prstGeom prst="rect">
            <a:avLst/>
          </a:prstGeom>
          <a:noFill/>
          <a:ln/>
        </p:spPr>
        <p:txBody>
          <a:bodyPr wrap="square" rtlCol="0" anchor="b">
            <a:normAutofit/>
          </a:bodyPr>
          <a:lstStyle/>
          <a:p>
            <a:pPr marL="0" indent="0" algn="ctr">
              <a:buNone/>
            </a:pPr>
            <a:r>
              <a:rPr lang="en-US" sz="1800" b="1" dirty="0">
                <a:solidFill>
                  <a:srgbClr val="C9A15A"/>
                </a:solidFill>
                <a:latin typeface="Cambria" pitchFamily="34" charset="0"/>
                <a:ea typeface="Cambria" pitchFamily="34" charset="-122"/>
                <a:cs typeface="Cambria" pitchFamily="34" charset="-120"/>
              </a:rPr>
              <a:t>SAR 300B</a:t>
            </a:r>
            <a:endParaRPr lang="en-US" sz="1800" dirty="0"/>
          </a:p>
        </p:txBody>
      </p:sp>
      <p:sp>
        <p:nvSpPr>
          <p:cNvPr id="10" name="Text 8"/>
          <p:cNvSpPr/>
          <p:nvPr/>
        </p:nvSpPr>
        <p:spPr>
          <a:xfrm>
            <a:off x="2274570" y="2481682"/>
            <a:ext cx="1351026" cy="241402"/>
          </a:xfrm>
          <a:prstGeom prst="rect">
            <a:avLst/>
          </a:prstGeom>
          <a:noFill/>
          <a:ln/>
        </p:spPr>
        <p:txBody>
          <a:bodyPr wrap="square" rtlCol="0" anchor="t"/>
          <a:lstStyle/>
          <a:p>
            <a:pPr marL="0" indent="0" algn="ctr">
              <a:buNone/>
            </a:pPr>
            <a:r>
              <a:rPr lang="en-US" sz="850" b="1" dirty="0">
                <a:solidFill>
                  <a:srgbClr val="FFFFFF"/>
                </a:solidFill>
                <a:latin typeface="Calibri" pitchFamily="34" charset="0"/>
                <a:ea typeface="Calibri" pitchFamily="34" charset="-122"/>
                <a:cs typeface="Calibri" pitchFamily="34" charset="-120"/>
              </a:rPr>
              <a:t>total tourism spending</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in 2025 (≈ USD 81B)</a:t>
            </a:r>
            <a:endParaRPr lang="en-US" sz="850" dirty="0"/>
          </a:p>
        </p:txBody>
      </p:sp>
      <p:sp>
        <p:nvSpPr>
          <p:cNvPr id="11" name="Shape 9"/>
          <p:cNvSpPr/>
          <p:nvPr/>
        </p:nvSpPr>
        <p:spPr>
          <a:xfrm>
            <a:off x="3826764" y="1938528"/>
            <a:ext cx="1570482" cy="1005840"/>
          </a:xfrm>
          <a:prstGeom prst="roundRect">
            <a:avLst>
              <a:gd name="adj" fmla="val 4545"/>
            </a:avLst>
          </a:prstGeom>
          <a:solidFill>
            <a:srgbClr val="13273A"/>
          </a:solidFill>
          <a:ln/>
        </p:spPr>
      </p:sp>
      <p:sp>
        <p:nvSpPr>
          <p:cNvPr id="12" name="Text 10"/>
          <p:cNvSpPr/>
          <p:nvPr/>
        </p:nvSpPr>
        <p:spPr>
          <a:xfrm>
            <a:off x="3881628" y="2029968"/>
            <a:ext cx="1460754" cy="422453"/>
          </a:xfrm>
          <a:prstGeom prst="rect">
            <a:avLst/>
          </a:prstGeom>
          <a:noFill/>
          <a:ln/>
        </p:spPr>
        <p:txBody>
          <a:bodyPr wrap="square" rtlCol="0" anchor="b">
            <a:normAutofit lnSpcReduction="10000"/>
          </a:bodyPr>
          <a:lstStyle/>
          <a:p>
            <a:pPr marL="0" indent="0" algn="ctr">
              <a:buNone/>
            </a:pPr>
            <a:r>
              <a:rPr lang="en-US" sz="2400" b="1" dirty="0">
                <a:solidFill>
                  <a:srgbClr val="C9A15A"/>
                </a:solidFill>
                <a:latin typeface="Cambria" pitchFamily="34" charset="0"/>
                <a:ea typeface="Cambria" pitchFamily="34" charset="-122"/>
                <a:cs typeface="Cambria" pitchFamily="34" charset="-120"/>
              </a:rPr>
              <a:t>362K</a:t>
            </a:r>
            <a:endParaRPr lang="en-US" sz="2400" dirty="0"/>
          </a:p>
        </p:txBody>
      </p:sp>
      <p:sp>
        <p:nvSpPr>
          <p:cNvPr id="13" name="Text 11"/>
          <p:cNvSpPr/>
          <p:nvPr/>
        </p:nvSpPr>
        <p:spPr>
          <a:xfrm>
            <a:off x="3936492" y="2481682"/>
            <a:ext cx="1351026" cy="241402"/>
          </a:xfrm>
          <a:prstGeom prst="rect">
            <a:avLst/>
          </a:prstGeom>
          <a:noFill/>
          <a:ln/>
        </p:spPr>
        <p:txBody>
          <a:bodyPr wrap="square" rtlCol="0" anchor="t"/>
          <a:lstStyle/>
          <a:p>
            <a:pPr marL="0" indent="0" algn="ctr">
              <a:buNone/>
            </a:pPr>
            <a:r>
              <a:rPr lang="en-US" sz="850" b="1" dirty="0">
                <a:solidFill>
                  <a:srgbClr val="FFFFFF"/>
                </a:solidFill>
                <a:latin typeface="Calibri" pitchFamily="34" charset="0"/>
                <a:ea typeface="Calibri" pitchFamily="34" charset="-122"/>
                <a:cs typeface="Calibri" pitchFamily="34" charset="-120"/>
              </a:rPr>
              <a:t>projected hotel keys</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by 2030 (from ~167.5K)</a:t>
            </a:r>
            <a:endParaRPr lang="en-US" sz="850" dirty="0"/>
          </a:p>
        </p:txBody>
      </p:sp>
      <p:sp>
        <p:nvSpPr>
          <p:cNvPr id="14" name="Shape 12"/>
          <p:cNvSpPr/>
          <p:nvPr/>
        </p:nvSpPr>
        <p:spPr>
          <a:xfrm>
            <a:off x="5488686" y="1938528"/>
            <a:ext cx="1570482" cy="1005840"/>
          </a:xfrm>
          <a:prstGeom prst="roundRect">
            <a:avLst>
              <a:gd name="adj" fmla="val 4545"/>
            </a:avLst>
          </a:prstGeom>
          <a:solidFill>
            <a:srgbClr val="13273A"/>
          </a:solidFill>
          <a:ln/>
        </p:spPr>
      </p:sp>
      <p:sp>
        <p:nvSpPr>
          <p:cNvPr id="15" name="Text 13"/>
          <p:cNvSpPr/>
          <p:nvPr/>
        </p:nvSpPr>
        <p:spPr>
          <a:xfrm>
            <a:off x="5543550" y="2029968"/>
            <a:ext cx="1460754" cy="422453"/>
          </a:xfrm>
          <a:prstGeom prst="rect">
            <a:avLst/>
          </a:prstGeom>
          <a:noFill/>
          <a:ln/>
        </p:spPr>
        <p:txBody>
          <a:bodyPr wrap="square" rtlCol="0" anchor="b">
            <a:normAutofit lnSpcReduction="10000"/>
          </a:bodyPr>
          <a:lstStyle/>
          <a:p>
            <a:pPr marL="0" indent="0" algn="ctr">
              <a:buNone/>
            </a:pPr>
            <a:r>
              <a:rPr lang="en-US" sz="2400" b="1" dirty="0">
                <a:solidFill>
                  <a:srgbClr val="C9A15A"/>
                </a:solidFill>
                <a:latin typeface="Cambria" pitchFamily="34" charset="0"/>
                <a:ea typeface="Cambria" pitchFamily="34" charset="-122"/>
                <a:cs typeface="Cambria" pitchFamily="34" charset="-120"/>
              </a:rPr>
              <a:t>78%</a:t>
            </a:r>
            <a:endParaRPr lang="en-US" sz="2400" dirty="0"/>
          </a:p>
        </p:txBody>
      </p:sp>
      <p:sp>
        <p:nvSpPr>
          <p:cNvPr id="16" name="Text 14"/>
          <p:cNvSpPr/>
          <p:nvPr/>
        </p:nvSpPr>
        <p:spPr>
          <a:xfrm>
            <a:off x="5598414" y="2481682"/>
            <a:ext cx="1351026" cy="241402"/>
          </a:xfrm>
          <a:prstGeom prst="rect">
            <a:avLst/>
          </a:prstGeom>
          <a:noFill/>
          <a:ln/>
        </p:spPr>
        <p:txBody>
          <a:bodyPr wrap="square" rtlCol="0" anchor="t"/>
          <a:lstStyle/>
          <a:p>
            <a:pPr marL="0" indent="0" algn="ctr">
              <a:buNone/>
            </a:pPr>
            <a:r>
              <a:rPr lang="en-US" sz="850" b="1" dirty="0">
                <a:solidFill>
                  <a:srgbClr val="FFFFFF"/>
                </a:solidFill>
                <a:latin typeface="Calibri" pitchFamily="34" charset="0"/>
                <a:ea typeface="Calibri" pitchFamily="34" charset="-122"/>
                <a:cs typeface="Calibri" pitchFamily="34" charset="-120"/>
              </a:rPr>
              <a:t>of pipeline in luxury,</a:t>
            </a:r>
            <a:endParaRPr lang="en-US" sz="850" dirty="0"/>
          </a:p>
          <a:p>
            <a:pPr marL="0" indent="0" algn="ctr">
              <a:buNone/>
            </a:pPr>
            <a:r>
              <a:rPr lang="en-US" sz="850" b="1" dirty="0">
                <a:solidFill>
                  <a:srgbClr val="FFFFFF"/>
                </a:solidFill>
                <a:latin typeface="Calibri" pitchFamily="34" charset="0"/>
                <a:ea typeface="Calibri" pitchFamily="34" charset="-122"/>
                <a:cs typeface="Calibri" pitchFamily="34" charset="-120"/>
              </a:rPr>
              <a:t>upscale &amp; upper-upscale</a:t>
            </a:r>
            <a:endParaRPr lang="en-US" sz="850" dirty="0"/>
          </a:p>
        </p:txBody>
      </p:sp>
      <p:sp>
        <p:nvSpPr>
          <p:cNvPr id="17" name="Text 15"/>
          <p:cNvSpPr/>
          <p:nvPr/>
        </p:nvSpPr>
        <p:spPr>
          <a:xfrm>
            <a:off x="502920" y="3172968"/>
            <a:ext cx="6556248" cy="201168"/>
          </a:xfrm>
          <a:prstGeom prst="rect">
            <a:avLst/>
          </a:prstGeom>
          <a:noFill/>
          <a:ln/>
        </p:spPr>
        <p:txBody>
          <a:bodyPr wrap="square" rtlCol="0" anchor="ctr"/>
          <a:lstStyle/>
          <a:p>
            <a:pPr marL="0" indent="0">
              <a:buNone/>
            </a:pPr>
            <a:r>
              <a:rPr lang="en-US" sz="870" b="1" kern="0" spc="80" dirty="0">
                <a:solidFill>
                  <a:srgbClr val="C1501D"/>
                </a:solidFill>
                <a:latin typeface="Calibri" pitchFamily="34" charset="0"/>
                <a:ea typeface="Calibri" pitchFamily="34" charset="-122"/>
                <a:cs typeface="Calibri" pitchFamily="34" charset="-120"/>
              </a:rPr>
              <a:t>VISITOR TRAJECTORY TOWARD THE 150M TARGET (MILLIONS OF VISITS)</a:t>
            </a:r>
            <a:endParaRPr lang="en-US" sz="870" dirty="0"/>
          </a:p>
        </p:txBody>
      </p:sp>
      <p:graphicFrame>
        <p:nvGraphicFramePr>
          <p:cNvPr id="18" name="Chart 0"/>
          <p:cNvGraphicFramePr/>
          <p:nvPr/>
        </p:nvGraphicFramePr>
        <p:xfrm>
          <a:off x="502920" y="3429000"/>
          <a:ext cx="6556248"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 16"/>
          <p:cNvSpPr/>
          <p:nvPr/>
        </p:nvSpPr>
        <p:spPr>
          <a:xfrm>
            <a:off x="502920" y="5897880"/>
            <a:ext cx="6556248" cy="201168"/>
          </a:xfrm>
          <a:prstGeom prst="rect">
            <a:avLst/>
          </a:prstGeom>
          <a:noFill/>
          <a:ln/>
        </p:spPr>
        <p:txBody>
          <a:bodyPr wrap="square" rtlCol="0" anchor="ctr"/>
          <a:lstStyle/>
          <a:p>
            <a:pPr marL="0" indent="0">
              <a:buNone/>
            </a:pPr>
            <a:r>
              <a:rPr lang="en-US" sz="870" b="1" kern="0" spc="80" dirty="0">
                <a:solidFill>
                  <a:srgbClr val="C1501D"/>
                </a:solidFill>
                <a:latin typeface="Calibri" pitchFamily="34" charset="0"/>
                <a:ea typeface="Calibri" pitchFamily="34" charset="-122"/>
                <a:cs typeface="Calibri" pitchFamily="34" charset="-120"/>
              </a:rPr>
              <a:t>HOTEL SUPPLY EXPANSION (THOUSANDS OF KEYS)</a:t>
            </a:r>
            <a:endParaRPr lang="en-US" sz="870" dirty="0"/>
          </a:p>
        </p:txBody>
      </p:sp>
      <p:graphicFrame>
        <p:nvGraphicFramePr>
          <p:cNvPr id="20" name="Chart 1"/>
          <p:cNvGraphicFramePr/>
          <p:nvPr/>
        </p:nvGraphicFramePr>
        <p:xfrm>
          <a:off x="502920" y="6153912"/>
          <a:ext cx="6556248" cy="1691640"/>
        </p:xfrm>
        <a:graphic>
          <a:graphicData uri="http://schemas.openxmlformats.org/drawingml/2006/chart">
            <c:chart xmlns:c="http://schemas.openxmlformats.org/drawingml/2006/chart" xmlns:r="http://schemas.openxmlformats.org/officeDocument/2006/relationships" r:id="rId4"/>
          </a:graphicData>
        </a:graphic>
      </p:graphicFrame>
      <p:sp>
        <p:nvSpPr>
          <p:cNvPr id="21" name="Text 17"/>
          <p:cNvSpPr/>
          <p:nvPr/>
        </p:nvSpPr>
        <p:spPr>
          <a:xfrm>
            <a:off x="502920" y="8028432"/>
            <a:ext cx="6556248" cy="201168"/>
          </a:xfrm>
          <a:prstGeom prst="rect">
            <a:avLst/>
          </a:prstGeom>
          <a:noFill/>
          <a:ln/>
        </p:spPr>
        <p:txBody>
          <a:bodyPr wrap="square" rtlCol="0" anchor="ctr"/>
          <a:lstStyle/>
          <a:p>
            <a:pPr marL="0" indent="0">
              <a:buNone/>
            </a:pPr>
            <a:r>
              <a:rPr lang="en-US" sz="870" b="1" kern="0" spc="80" dirty="0">
                <a:solidFill>
                  <a:srgbClr val="C1501D"/>
                </a:solidFill>
                <a:latin typeface="Calibri" pitchFamily="34" charset="0"/>
                <a:ea typeface="Calibri" pitchFamily="34" charset="-122"/>
                <a:cs typeface="Calibri" pitchFamily="34" charset="-120"/>
              </a:rPr>
              <a:t>DEMAND CATALYSTS</a:t>
            </a:r>
            <a:endParaRPr lang="en-US" sz="870" dirty="0"/>
          </a:p>
        </p:txBody>
      </p:sp>
      <p:sp>
        <p:nvSpPr>
          <p:cNvPr id="22" name="Shape 18"/>
          <p:cNvSpPr/>
          <p:nvPr/>
        </p:nvSpPr>
        <p:spPr>
          <a:xfrm>
            <a:off x="502920" y="8311896"/>
            <a:ext cx="73152" cy="73152"/>
          </a:xfrm>
          <a:prstGeom prst="ellipse">
            <a:avLst/>
          </a:prstGeom>
          <a:solidFill>
            <a:srgbClr val="0F5C42"/>
          </a:solidFill>
          <a:ln/>
        </p:spPr>
      </p:sp>
      <p:sp>
        <p:nvSpPr>
          <p:cNvPr id="23" name="Text 19"/>
          <p:cNvSpPr/>
          <p:nvPr/>
        </p:nvSpPr>
        <p:spPr>
          <a:xfrm>
            <a:off x="667512" y="8266176"/>
            <a:ext cx="6391656" cy="219456"/>
          </a:xfrm>
          <a:prstGeom prst="rect">
            <a:avLst/>
          </a:prstGeom>
          <a:noFill/>
          <a:ln/>
        </p:spPr>
        <p:txBody>
          <a:bodyPr wrap="square" rtlCol="0" anchor="ctr"/>
          <a:lstStyle/>
          <a:p>
            <a:pPr marL="0" indent="0">
              <a:buNone/>
            </a:pPr>
            <a:r>
              <a:rPr lang="en-US" sz="900" dirty="0">
                <a:solidFill>
                  <a:srgbClr val="2B2A27"/>
                </a:solidFill>
                <a:latin typeface="Calibri" pitchFamily="34" charset="0"/>
                <a:ea typeface="Calibri" pitchFamily="34" charset="-122"/>
                <a:cs typeface="Calibri" pitchFamily="34" charset="-120"/>
              </a:rPr>
              <a:t>35.7M Umrah pilgrims (2024): record religious demand</a:t>
            </a:r>
            <a:endParaRPr lang="en-US" sz="900" dirty="0"/>
          </a:p>
        </p:txBody>
      </p:sp>
      <p:sp>
        <p:nvSpPr>
          <p:cNvPr id="24" name="Shape 20"/>
          <p:cNvSpPr/>
          <p:nvPr/>
        </p:nvSpPr>
        <p:spPr>
          <a:xfrm>
            <a:off x="502920" y="8558784"/>
            <a:ext cx="73152" cy="73152"/>
          </a:xfrm>
          <a:prstGeom prst="ellipse">
            <a:avLst/>
          </a:prstGeom>
          <a:solidFill>
            <a:srgbClr val="0F5C42"/>
          </a:solidFill>
          <a:ln/>
        </p:spPr>
      </p:sp>
      <p:sp>
        <p:nvSpPr>
          <p:cNvPr id="25" name="Text 21"/>
          <p:cNvSpPr/>
          <p:nvPr/>
        </p:nvSpPr>
        <p:spPr>
          <a:xfrm>
            <a:off x="667512" y="8513064"/>
            <a:ext cx="6391656" cy="219456"/>
          </a:xfrm>
          <a:prstGeom prst="rect">
            <a:avLst/>
          </a:prstGeom>
          <a:noFill/>
          <a:ln/>
        </p:spPr>
        <p:txBody>
          <a:bodyPr wrap="square" rtlCol="0" anchor="ctr"/>
          <a:lstStyle/>
          <a:p>
            <a:pPr marL="0" indent="0">
              <a:buNone/>
            </a:pPr>
            <a:r>
              <a:rPr lang="en-US" sz="900" dirty="0">
                <a:solidFill>
                  <a:srgbClr val="2B2A27"/>
                </a:solidFill>
                <a:latin typeface="Calibri" pitchFamily="34" charset="0"/>
                <a:ea typeface="Calibri" pitchFamily="34" charset="-122"/>
                <a:cs typeface="Calibri" pitchFamily="34" charset="-120"/>
              </a:rPr>
              <a:t>Expo 2030 Riyadh  •  FIFA World Cup 2034  •  Asian Winter Games 2029</a:t>
            </a:r>
            <a:endParaRPr lang="en-US" sz="900" dirty="0"/>
          </a:p>
        </p:txBody>
      </p:sp>
      <p:sp>
        <p:nvSpPr>
          <p:cNvPr id="26" name="Shape 22"/>
          <p:cNvSpPr/>
          <p:nvPr/>
        </p:nvSpPr>
        <p:spPr>
          <a:xfrm>
            <a:off x="502920" y="8805672"/>
            <a:ext cx="73152" cy="73152"/>
          </a:xfrm>
          <a:prstGeom prst="ellipse">
            <a:avLst/>
          </a:prstGeom>
          <a:solidFill>
            <a:srgbClr val="0F5C42"/>
          </a:solidFill>
          <a:ln/>
        </p:spPr>
      </p:sp>
      <p:sp>
        <p:nvSpPr>
          <p:cNvPr id="27" name="Text 23"/>
          <p:cNvSpPr/>
          <p:nvPr/>
        </p:nvSpPr>
        <p:spPr>
          <a:xfrm>
            <a:off x="667512" y="8759952"/>
            <a:ext cx="6391656" cy="219456"/>
          </a:xfrm>
          <a:prstGeom prst="rect">
            <a:avLst/>
          </a:prstGeom>
          <a:noFill/>
          <a:ln/>
        </p:spPr>
        <p:txBody>
          <a:bodyPr wrap="square" rtlCol="0" anchor="ctr"/>
          <a:lstStyle/>
          <a:p>
            <a:pPr marL="0" indent="0">
              <a:buNone/>
            </a:pPr>
            <a:r>
              <a:rPr lang="en-US" sz="900" dirty="0">
                <a:solidFill>
                  <a:srgbClr val="2B2A27"/>
                </a:solidFill>
                <a:latin typeface="Calibri" pitchFamily="34" charset="0"/>
                <a:ea typeface="Calibri" pitchFamily="34" charset="-122"/>
                <a:cs typeface="Calibri" pitchFamily="34" charset="-120"/>
              </a:rPr>
              <a:t>Giga-projects: NEOM, Red Sea, Diriyah, AlUla, Qiddiya</a:t>
            </a:r>
            <a:endParaRPr lang="en-US" sz="900" dirty="0"/>
          </a:p>
        </p:txBody>
      </p:sp>
      <p:sp>
        <p:nvSpPr>
          <p:cNvPr id="28" name="Text 24"/>
          <p:cNvSpPr/>
          <p:nvPr/>
        </p:nvSpPr>
        <p:spPr>
          <a:xfrm>
            <a:off x="502920" y="9052560"/>
            <a:ext cx="6556248" cy="274320"/>
          </a:xfrm>
          <a:prstGeom prst="rect">
            <a:avLst/>
          </a:prstGeom>
          <a:noFill/>
          <a:ln/>
        </p:spPr>
        <p:txBody>
          <a:bodyPr wrap="square" rtlCol="0" anchor="ctr"/>
          <a:lstStyle/>
          <a:p>
            <a:pPr marL="0" indent="0">
              <a:buNone/>
            </a:pPr>
            <a:r>
              <a:rPr lang="en-US" sz="730" i="1" dirty="0">
                <a:solidFill>
                  <a:srgbClr val="6B675F"/>
                </a:solidFill>
                <a:latin typeface="Calibri" pitchFamily="34" charset="0"/>
                <a:ea typeface="Calibri" pitchFamily="34" charset="-122"/>
                <a:cs typeface="Calibri" pitchFamily="34" charset="-120"/>
              </a:rPr>
              <a:t>Sources: Saudi Ministry of Tourism preliminary data (Jan 2026); Knight Frank, Saudi Arabia Hospitality Market Review 2025; Ministry of Hajj &amp; Umrah, 2024.</a:t>
            </a:r>
            <a:endParaRPr lang="en-US" sz="730" dirty="0"/>
          </a:p>
        </p:txBody>
      </p:sp>
      <p:sp>
        <p:nvSpPr>
          <p:cNvPr id="29" name="Shape 25"/>
          <p:cNvSpPr/>
          <p:nvPr/>
        </p:nvSpPr>
        <p:spPr>
          <a:xfrm>
            <a:off x="502920" y="10186416"/>
            <a:ext cx="6556248" cy="0"/>
          </a:xfrm>
          <a:prstGeom prst="line">
            <a:avLst/>
          </a:prstGeom>
          <a:noFill/>
          <a:ln w="9525">
            <a:solidFill>
              <a:srgbClr val="E4DDCB"/>
            </a:solidFill>
            <a:prstDash val="solid"/>
          </a:ln>
        </p:spPr>
      </p:sp>
      <p:sp>
        <p:nvSpPr>
          <p:cNvPr id="30" name="Text 26"/>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6B675F"/>
                </a:solidFill>
                <a:latin typeface="Calibri" pitchFamily="34" charset="0"/>
                <a:ea typeface="Calibri" pitchFamily="34" charset="-122"/>
                <a:cs typeface="Calibri" pitchFamily="34" charset="-120"/>
              </a:rPr>
              <a:t>ALTUS GULF</a:t>
            </a:r>
            <a:endParaRPr lang="en-US" sz="850" dirty="0"/>
          </a:p>
        </p:txBody>
      </p:sp>
      <p:sp>
        <p:nvSpPr>
          <p:cNvPr id="31" name="Text 27"/>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6B675F"/>
                </a:solidFill>
                <a:latin typeface="Calibri" pitchFamily="34" charset="0"/>
                <a:ea typeface="Calibri" pitchFamily="34" charset="-122"/>
                <a:cs typeface="Calibri" pitchFamily="34" charset="-120"/>
              </a:rPr>
              <a:t>CORPORATE PROFILE  •  15</a:t>
            </a:r>
            <a:endParaRPr lang="en-US" sz="85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C1501D"/>
                </a:solidFill>
                <a:latin typeface="Calibri" pitchFamily="34" charset="0"/>
                <a:ea typeface="Calibri" pitchFamily="34" charset="-122"/>
                <a:cs typeface="Calibri" pitchFamily="34" charset="-120"/>
              </a:rPr>
              <a:t>14  •  PROOF OF CONCEPT • I</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a:solidFill>
                  <a:srgbClr val="0B1B2B"/>
                </a:solidFill>
                <a:latin typeface="Cambria" pitchFamily="34" charset="0"/>
                <a:ea typeface="Cambria" pitchFamily="34" charset="-122"/>
                <a:cs typeface="Cambria" pitchFamily="34" charset="-120"/>
              </a:rPr>
              <a:t>Illustrative Case Studies</a:t>
            </a:r>
            <a:endParaRPr lang="en-US" sz="2700" dirty="0"/>
          </a:p>
        </p:txBody>
      </p:sp>
      <p:sp>
        <p:nvSpPr>
          <p:cNvPr id="4" name="Text 2"/>
          <p:cNvSpPr/>
          <p:nvPr/>
        </p:nvSpPr>
        <p:spPr>
          <a:xfrm>
            <a:off x="502920" y="1280160"/>
            <a:ext cx="6556248" cy="566928"/>
          </a:xfrm>
          <a:prstGeom prst="rect">
            <a:avLst/>
          </a:prstGeom>
          <a:noFill/>
          <a:ln/>
        </p:spPr>
        <p:txBody>
          <a:bodyPr wrap="square" rtlCol="0" anchor="t"/>
          <a:lstStyle/>
          <a:p>
            <a:pPr marL="0" indent="0" algn="l">
              <a:lnSpc>
                <a:spcPct val="118000"/>
              </a:lnSpc>
              <a:buNone/>
            </a:pPr>
            <a:r>
              <a:rPr lang="en-US" sz="1150" dirty="0">
                <a:solidFill>
                  <a:srgbClr val="6B675F"/>
                </a:solidFill>
                <a:latin typeface="Calibri" pitchFamily="34" charset="0"/>
                <a:ea typeface="Calibri" pitchFamily="34" charset="-122"/>
                <a:cs typeface="Calibri" pitchFamily="34" charset="-120"/>
              </a:rPr>
              <a:t>Composite engagements, anonymised and clearly labelled as illustrative. Each reflects the type of mandate our principals have personally led inside global brands and independent portfolios; individual results vary by asset, market, and execution.</a:t>
            </a:r>
            <a:endParaRPr lang="en-US" sz="1150" dirty="0"/>
          </a:p>
        </p:txBody>
      </p:sp>
      <p:sp>
        <p:nvSpPr>
          <p:cNvPr id="5" name="Shape 3"/>
          <p:cNvSpPr/>
          <p:nvPr/>
        </p:nvSpPr>
        <p:spPr>
          <a:xfrm>
            <a:off x="502920" y="1938528"/>
            <a:ext cx="6556248" cy="3200400"/>
          </a:xfrm>
          <a:prstGeom prst="roundRect">
            <a:avLst>
              <a:gd name="adj" fmla="val 1714"/>
            </a:avLst>
          </a:prstGeom>
          <a:solidFill>
            <a:srgbClr val="FFFFFF"/>
          </a:solidFill>
          <a:ln w="9525">
            <a:solidFill>
              <a:srgbClr val="E4DDCB"/>
            </a:solidFill>
            <a:prstDash val="solid"/>
          </a:ln>
        </p:spPr>
      </p:sp>
      <p:sp>
        <p:nvSpPr>
          <p:cNvPr id="6" name="Shape 4"/>
          <p:cNvSpPr/>
          <p:nvPr/>
        </p:nvSpPr>
        <p:spPr>
          <a:xfrm>
            <a:off x="685800" y="2103120"/>
            <a:ext cx="1828800" cy="274320"/>
          </a:xfrm>
          <a:prstGeom prst="roundRect">
            <a:avLst>
              <a:gd name="adj" fmla="val 50000"/>
            </a:avLst>
          </a:prstGeom>
          <a:solidFill>
            <a:srgbClr val="C9A15A"/>
          </a:solidFill>
          <a:ln/>
        </p:spPr>
      </p:sp>
      <p:sp>
        <p:nvSpPr>
          <p:cNvPr id="7" name="Text 5"/>
          <p:cNvSpPr/>
          <p:nvPr/>
        </p:nvSpPr>
        <p:spPr>
          <a:xfrm>
            <a:off x="685800" y="2103120"/>
            <a:ext cx="1828800" cy="274320"/>
          </a:xfrm>
          <a:prstGeom prst="rect">
            <a:avLst/>
          </a:prstGeom>
          <a:noFill/>
          <a:ln/>
        </p:spPr>
        <p:txBody>
          <a:bodyPr wrap="square" rtlCol="0" anchor="ctr"/>
          <a:lstStyle/>
          <a:p>
            <a:pPr marL="0" indent="0" algn="ctr">
              <a:buNone/>
            </a:pPr>
            <a:r>
              <a:rPr lang="en-US" sz="730" b="1" kern="0" spc="50" dirty="0">
                <a:solidFill>
                  <a:srgbClr val="0B1B2B"/>
                </a:solidFill>
                <a:latin typeface="Calibri" pitchFamily="34" charset="0"/>
                <a:ea typeface="Calibri" pitchFamily="34" charset="-122"/>
                <a:cs typeface="Calibri" pitchFamily="34" charset="-120"/>
              </a:rPr>
              <a:t>ILLUSTRATIVE CASE STUDY</a:t>
            </a:r>
            <a:endParaRPr lang="en-US" sz="730" dirty="0"/>
          </a:p>
        </p:txBody>
      </p:sp>
      <p:sp>
        <p:nvSpPr>
          <p:cNvPr id="8" name="Text 6"/>
          <p:cNvSpPr/>
          <p:nvPr/>
        </p:nvSpPr>
        <p:spPr>
          <a:xfrm>
            <a:off x="2651760" y="2103120"/>
            <a:ext cx="4224528" cy="274320"/>
          </a:xfrm>
          <a:prstGeom prst="rect">
            <a:avLst/>
          </a:prstGeom>
          <a:noFill/>
          <a:ln/>
        </p:spPr>
        <p:txBody>
          <a:bodyPr wrap="square" rtlCol="0" anchor="ctr"/>
          <a:lstStyle/>
          <a:p>
            <a:pPr marL="0" indent="0" algn="r">
              <a:buNone/>
            </a:pPr>
            <a:r>
              <a:rPr lang="en-US" sz="800" b="1" kern="0" spc="50" dirty="0">
                <a:solidFill>
                  <a:srgbClr val="6B675F"/>
                </a:solidFill>
                <a:latin typeface="Calibri" pitchFamily="34" charset="0"/>
                <a:ea typeface="Calibri" pitchFamily="34" charset="-122"/>
                <a:cs typeface="Calibri" pitchFamily="34" charset="-120"/>
              </a:rPr>
              <a:t>FLAGSHIP RESORT • EGYPT • TURNAROUND</a:t>
            </a:r>
            <a:endParaRPr lang="en-US" sz="800" dirty="0"/>
          </a:p>
        </p:txBody>
      </p:sp>
      <p:sp>
        <p:nvSpPr>
          <p:cNvPr id="9" name="Text 7"/>
          <p:cNvSpPr/>
          <p:nvPr/>
        </p:nvSpPr>
        <p:spPr>
          <a:xfrm>
            <a:off x="685800" y="2395728"/>
            <a:ext cx="6190488" cy="292608"/>
          </a:xfrm>
          <a:prstGeom prst="rect">
            <a:avLst/>
          </a:prstGeom>
          <a:noFill/>
          <a:ln/>
        </p:spPr>
        <p:txBody>
          <a:bodyPr wrap="square" rtlCol="0" anchor="ctr"/>
          <a:lstStyle/>
          <a:p>
            <a:pPr marL="0" indent="0">
              <a:buNone/>
            </a:pPr>
            <a:r>
              <a:rPr lang="en-US" sz="1450" b="1" dirty="0">
                <a:solidFill>
                  <a:srgbClr val="0B1B2B"/>
                </a:solidFill>
                <a:latin typeface="Cambria" pitchFamily="34" charset="0"/>
                <a:ea typeface="Cambria" pitchFamily="34" charset="-122"/>
                <a:cs typeface="Cambria" pitchFamily="34" charset="-120"/>
              </a:rPr>
              <a:t>Flagship Resort Turnaround &amp; Sustained Market Leadership</a:t>
            </a:r>
            <a:endParaRPr lang="en-US" sz="1450" dirty="0"/>
          </a:p>
        </p:txBody>
      </p:sp>
      <p:sp>
        <p:nvSpPr>
          <p:cNvPr id="10" name="Text 8"/>
          <p:cNvSpPr/>
          <p:nvPr/>
        </p:nvSpPr>
        <p:spPr>
          <a:xfrm>
            <a:off x="685800" y="2779776"/>
            <a:ext cx="1051560" cy="356616"/>
          </a:xfrm>
          <a:prstGeom prst="rect">
            <a:avLst/>
          </a:prstGeom>
          <a:noFill/>
          <a:ln/>
        </p:spPr>
        <p:txBody>
          <a:bodyPr wrap="square" rtlCol="0" anchor="t"/>
          <a:lstStyle/>
          <a:p>
            <a:pPr marL="0" indent="0">
              <a:buNone/>
            </a:pPr>
            <a:r>
              <a:rPr lang="en-US" sz="780" b="1" kern="0" spc="50" dirty="0">
                <a:solidFill>
                  <a:srgbClr val="C1501D"/>
                </a:solidFill>
                <a:latin typeface="Calibri" pitchFamily="34" charset="0"/>
                <a:ea typeface="Calibri" pitchFamily="34" charset="-122"/>
                <a:cs typeface="Calibri" pitchFamily="34" charset="-120"/>
              </a:rPr>
              <a:t>CLIENT</a:t>
            </a:r>
            <a:endParaRPr lang="en-US" sz="780" dirty="0"/>
          </a:p>
        </p:txBody>
      </p:sp>
      <p:sp>
        <p:nvSpPr>
          <p:cNvPr id="11" name="Text 9"/>
          <p:cNvSpPr/>
          <p:nvPr/>
        </p:nvSpPr>
        <p:spPr>
          <a:xfrm>
            <a:off x="1783080" y="2779776"/>
            <a:ext cx="5093208" cy="356616"/>
          </a:xfrm>
          <a:prstGeom prst="rect">
            <a:avLst/>
          </a:prstGeom>
          <a:noFill/>
          <a:ln/>
        </p:spPr>
        <p:txBody>
          <a:bodyPr wrap="square" rtlCol="0" anchor="t"/>
          <a:lstStyle/>
          <a:p>
            <a:pPr marL="0" indent="0">
              <a:lnSpc>
                <a:spcPct val="112000"/>
              </a:lnSpc>
              <a:buNone/>
            </a:pPr>
            <a:r>
              <a:rPr lang="en-US" sz="860" dirty="0">
                <a:solidFill>
                  <a:srgbClr val="2B2A27"/>
                </a:solidFill>
                <a:latin typeface="Calibri" pitchFamily="34" charset="0"/>
                <a:ea typeface="Calibri" pitchFamily="34" charset="-122"/>
                <a:cs typeface="Calibri" pitchFamily="34" charset="-120"/>
              </a:rPr>
              <a:t>A 300+ key branded beachfront resort in a competitive leisure market, underperforming its comp set on rate and guest sentiment.</a:t>
            </a:r>
            <a:endParaRPr lang="en-US" sz="860" dirty="0"/>
          </a:p>
        </p:txBody>
      </p:sp>
      <p:sp>
        <p:nvSpPr>
          <p:cNvPr id="12" name="Text 10"/>
          <p:cNvSpPr/>
          <p:nvPr/>
        </p:nvSpPr>
        <p:spPr>
          <a:xfrm>
            <a:off x="685800" y="3182112"/>
            <a:ext cx="1051560" cy="356616"/>
          </a:xfrm>
          <a:prstGeom prst="rect">
            <a:avLst/>
          </a:prstGeom>
          <a:noFill/>
          <a:ln/>
        </p:spPr>
        <p:txBody>
          <a:bodyPr wrap="square" rtlCol="0" anchor="t"/>
          <a:lstStyle/>
          <a:p>
            <a:pPr marL="0" indent="0">
              <a:buNone/>
            </a:pPr>
            <a:r>
              <a:rPr lang="en-US" sz="780" b="1" kern="0" spc="50" dirty="0">
                <a:solidFill>
                  <a:srgbClr val="C1501D"/>
                </a:solidFill>
                <a:latin typeface="Calibri" pitchFamily="34" charset="0"/>
                <a:ea typeface="Calibri" pitchFamily="34" charset="-122"/>
                <a:cs typeface="Calibri" pitchFamily="34" charset="-120"/>
              </a:rPr>
              <a:t>CHALLENGE</a:t>
            </a:r>
            <a:endParaRPr lang="en-US" sz="780" dirty="0"/>
          </a:p>
        </p:txBody>
      </p:sp>
      <p:sp>
        <p:nvSpPr>
          <p:cNvPr id="13" name="Text 11"/>
          <p:cNvSpPr/>
          <p:nvPr/>
        </p:nvSpPr>
        <p:spPr>
          <a:xfrm>
            <a:off x="1783080" y="3182112"/>
            <a:ext cx="5093208" cy="356616"/>
          </a:xfrm>
          <a:prstGeom prst="rect">
            <a:avLst/>
          </a:prstGeom>
          <a:noFill/>
          <a:ln/>
        </p:spPr>
        <p:txBody>
          <a:bodyPr wrap="square" rtlCol="0" anchor="t"/>
          <a:lstStyle/>
          <a:p>
            <a:pPr marL="0" indent="0">
              <a:lnSpc>
                <a:spcPct val="112000"/>
              </a:lnSpc>
              <a:buNone/>
            </a:pPr>
            <a:r>
              <a:rPr lang="en-US" sz="860" dirty="0">
                <a:solidFill>
                  <a:srgbClr val="2B2A27"/>
                </a:solidFill>
                <a:latin typeface="Calibri" pitchFamily="34" charset="0"/>
                <a:ea typeface="Calibri" pitchFamily="34" charset="-122"/>
                <a:cs typeface="Calibri" pitchFamily="34" charset="-120"/>
              </a:rPr>
              <a:t>Stagnant RevPAR, slipping guest-satisfaction scores, and margin pressure despite strong location fundamentals.</a:t>
            </a:r>
            <a:endParaRPr lang="en-US" sz="860" dirty="0"/>
          </a:p>
        </p:txBody>
      </p:sp>
      <p:sp>
        <p:nvSpPr>
          <p:cNvPr id="14" name="Text 12"/>
          <p:cNvSpPr/>
          <p:nvPr/>
        </p:nvSpPr>
        <p:spPr>
          <a:xfrm>
            <a:off x="685800" y="3584448"/>
            <a:ext cx="1051560" cy="356616"/>
          </a:xfrm>
          <a:prstGeom prst="rect">
            <a:avLst/>
          </a:prstGeom>
          <a:noFill/>
          <a:ln/>
        </p:spPr>
        <p:txBody>
          <a:bodyPr wrap="square" rtlCol="0" anchor="t"/>
          <a:lstStyle/>
          <a:p>
            <a:pPr marL="0" indent="0">
              <a:buNone/>
            </a:pPr>
            <a:r>
              <a:rPr lang="en-US" sz="780" b="1" kern="0" spc="50" dirty="0">
                <a:solidFill>
                  <a:srgbClr val="C1501D"/>
                </a:solidFill>
                <a:latin typeface="Calibri" pitchFamily="34" charset="0"/>
                <a:ea typeface="Calibri" pitchFamily="34" charset="-122"/>
                <a:cs typeface="Calibri" pitchFamily="34" charset="-120"/>
              </a:rPr>
              <a:t>APPROACH</a:t>
            </a:r>
            <a:endParaRPr lang="en-US" sz="780" dirty="0"/>
          </a:p>
        </p:txBody>
      </p:sp>
      <p:sp>
        <p:nvSpPr>
          <p:cNvPr id="15" name="Text 13"/>
          <p:cNvSpPr/>
          <p:nvPr/>
        </p:nvSpPr>
        <p:spPr>
          <a:xfrm>
            <a:off x="1783080" y="3584448"/>
            <a:ext cx="5093208" cy="356616"/>
          </a:xfrm>
          <a:prstGeom prst="rect">
            <a:avLst/>
          </a:prstGeom>
          <a:noFill/>
          <a:ln/>
        </p:spPr>
        <p:txBody>
          <a:bodyPr wrap="square" rtlCol="0" anchor="t"/>
          <a:lstStyle/>
          <a:p>
            <a:pPr marL="0" indent="0">
              <a:lnSpc>
                <a:spcPct val="112000"/>
              </a:lnSpc>
              <a:buNone/>
            </a:pPr>
            <a:r>
              <a:rPr lang="en-US" sz="860" dirty="0">
                <a:solidFill>
                  <a:srgbClr val="2B2A27"/>
                </a:solidFill>
                <a:latin typeface="Calibri" pitchFamily="34" charset="0"/>
                <a:ea typeface="Calibri" pitchFamily="34" charset="-122"/>
                <a:cs typeface="Calibri" pitchFamily="34" charset="-120"/>
              </a:rPr>
              <a:t>Full commercial re-engineering: pricing architecture, channel mix, service-culture programme, and Six Sigma-led guest-journey redesign with disciplined cost governance.</a:t>
            </a:r>
            <a:endParaRPr lang="en-US" sz="860" dirty="0"/>
          </a:p>
        </p:txBody>
      </p:sp>
      <p:sp>
        <p:nvSpPr>
          <p:cNvPr id="16" name="Text 14"/>
          <p:cNvSpPr/>
          <p:nvPr/>
        </p:nvSpPr>
        <p:spPr>
          <a:xfrm>
            <a:off x="685800" y="3986784"/>
            <a:ext cx="1051560" cy="356616"/>
          </a:xfrm>
          <a:prstGeom prst="rect">
            <a:avLst/>
          </a:prstGeom>
          <a:noFill/>
          <a:ln/>
        </p:spPr>
        <p:txBody>
          <a:bodyPr wrap="square" rtlCol="0" anchor="t"/>
          <a:lstStyle/>
          <a:p>
            <a:pPr marL="0" indent="0">
              <a:buNone/>
            </a:pPr>
            <a:r>
              <a:rPr lang="en-US" sz="780" b="1" kern="0" spc="50" dirty="0">
                <a:solidFill>
                  <a:srgbClr val="C1501D"/>
                </a:solidFill>
                <a:latin typeface="Calibri" pitchFamily="34" charset="0"/>
                <a:ea typeface="Calibri" pitchFamily="34" charset="-122"/>
                <a:cs typeface="Calibri" pitchFamily="34" charset="-120"/>
              </a:rPr>
              <a:t>OUTCOME</a:t>
            </a:r>
            <a:endParaRPr lang="en-US" sz="780" dirty="0"/>
          </a:p>
        </p:txBody>
      </p:sp>
      <p:sp>
        <p:nvSpPr>
          <p:cNvPr id="17" name="Text 15"/>
          <p:cNvSpPr/>
          <p:nvPr/>
        </p:nvSpPr>
        <p:spPr>
          <a:xfrm>
            <a:off x="1783080" y="3986784"/>
            <a:ext cx="5093208" cy="356616"/>
          </a:xfrm>
          <a:prstGeom prst="rect">
            <a:avLst/>
          </a:prstGeom>
          <a:noFill/>
          <a:ln/>
        </p:spPr>
        <p:txBody>
          <a:bodyPr wrap="square" rtlCol="0" anchor="t"/>
          <a:lstStyle/>
          <a:p>
            <a:pPr marL="0" indent="0">
              <a:lnSpc>
                <a:spcPct val="112000"/>
              </a:lnSpc>
              <a:buNone/>
            </a:pPr>
            <a:r>
              <a:rPr lang="en-US" sz="860" dirty="0">
                <a:solidFill>
                  <a:srgbClr val="2B2A27"/>
                </a:solidFill>
                <a:latin typeface="Calibri" pitchFamily="34" charset="0"/>
                <a:ea typeface="Calibri" pitchFamily="34" charset="-122"/>
                <a:cs typeface="Calibri" pitchFamily="34" charset="-120"/>
              </a:rPr>
              <a:t>The property rose to No. 1 in its competitive set and held the position for six consecutive years, alongside structural GOP margin expansion.</a:t>
            </a:r>
            <a:endParaRPr lang="en-US" sz="860" dirty="0"/>
          </a:p>
        </p:txBody>
      </p:sp>
      <p:sp>
        <p:nvSpPr>
          <p:cNvPr id="18" name="Shape 16"/>
          <p:cNvSpPr/>
          <p:nvPr/>
        </p:nvSpPr>
        <p:spPr>
          <a:xfrm>
            <a:off x="685800" y="4498848"/>
            <a:ext cx="1419606" cy="457200"/>
          </a:xfrm>
          <a:prstGeom prst="roundRect">
            <a:avLst>
              <a:gd name="adj" fmla="val 8000"/>
            </a:avLst>
          </a:prstGeom>
          <a:solidFill>
            <a:srgbClr val="0B1B2B"/>
          </a:solidFill>
          <a:ln/>
        </p:spPr>
      </p:sp>
      <p:sp>
        <p:nvSpPr>
          <p:cNvPr id="19" name="Text 17"/>
          <p:cNvSpPr/>
          <p:nvPr/>
        </p:nvSpPr>
        <p:spPr>
          <a:xfrm>
            <a:off x="685800" y="4526280"/>
            <a:ext cx="1419606" cy="246888"/>
          </a:xfrm>
          <a:prstGeom prst="rect">
            <a:avLst/>
          </a:prstGeom>
          <a:noFill/>
          <a:ln/>
        </p:spPr>
        <p:txBody>
          <a:bodyPr wrap="square" rtlCol="0" anchor="ctr"/>
          <a:lstStyle/>
          <a:p>
            <a:pPr marL="0" indent="0" algn="ctr">
              <a:buNone/>
            </a:pPr>
            <a:r>
              <a:rPr lang="en-US" sz="1300" b="1" dirty="0">
                <a:solidFill>
                  <a:srgbClr val="E4C98A"/>
                </a:solidFill>
                <a:latin typeface="Cambria" pitchFamily="34" charset="0"/>
                <a:ea typeface="Cambria" pitchFamily="34" charset="-122"/>
                <a:cs typeface="Cambria" pitchFamily="34" charset="-120"/>
              </a:rPr>
              <a:t>+25%</a:t>
            </a:r>
            <a:endParaRPr lang="en-US" sz="1300" dirty="0"/>
          </a:p>
        </p:txBody>
      </p:sp>
      <p:sp>
        <p:nvSpPr>
          <p:cNvPr id="20" name="Text 18"/>
          <p:cNvSpPr/>
          <p:nvPr/>
        </p:nvSpPr>
        <p:spPr>
          <a:xfrm>
            <a:off x="713232" y="4773168"/>
            <a:ext cx="1364742" cy="164592"/>
          </a:xfrm>
          <a:prstGeom prst="rect">
            <a:avLst/>
          </a:prstGeom>
          <a:noFill/>
          <a:ln/>
        </p:spPr>
        <p:txBody>
          <a:bodyPr wrap="square" rtlCol="0" anchor="ctr"/>
          <a:lstStyle/>
          <a:p>
            <a:pPr marL="0" indent="0" algn="ctr">
              <a:buNone/>
            </a:pPr>
            <a:r>
              <a:rPr lang="en-US" sz="650" dirty="0">
                <a:solidFill>
                  <a:srgbClr val="B9C3CC"/>
                </a:solidFill>
                <a:latin typeface="Calibri" pitchFamily="34" charset="0"/>
                <a:ea typeface="Calibri" pitchFamily="34" charset="-122"/>
                <a:cs typeface="Calibri" pitchFamily="34" charset="-120"/>
              </a:rPr>
              <a:t>RevPAR growth</a:t>
            </a:r>
            <a:endParaRPr lang="en-US" sz="650" dirty="0"/>
          </a:p>
        </p:txBody>
      </p:sp>
      <p:sp>
        <p:nvSpPr>
          <p:cNvPr id="21" name="Shape 19"/>
          <p:cNvSpPr/>
          <p:nvPr/>
        </p:nvSpPr>
        <p:spPr>
          <a:xfrm>
            <a:off x="2215134" y="4498848"/>
            <a:ext cx="1419606" cy="457200"/>
          </a:xfrm>
          <a:prstGeom prst="roundRect">
            <a:avLst>
              <a:gd name="adj" fmla="val 8000"/>
            </a:avLst>
          </a:prstGeom>
          <a:solidFill>
            <a:srgbClr val="0B1B2B"/>
          </a:solidFill>
          <a:ln/>
        </p:spPr>
      </p:sp>
      <p:sp>
        <p:nvSpPr>
          <p:cNvPr id="22" name="Text 20"/>
          <p:cNvSpPr/>
          <p:nvPr/>
        </p:nvSpPr>
        <p:spPr>
          <a:xfrm>
            <a:off x="2215134" y="4526280"/>
            <a:ext cx="1419606" cy="246888"/>
          </a:xfrm>
          <a:prstGeom prst="rect">
            <a:avLst/>
          </a:prstGeom>
          <a:noFill/>
          <a:ln/>
        </p:spPr>
        <p:txBody>
          <a:bodyPr wrap="square" rtlCol="0" anchor="ctr"/>
          <a:lstStyle/>
          <a:p>
            <a:pPr marL="0" indent="0" algn="ctr">
              <a:buNone/>
            </a:pPr>
            <a:r>
              <a:rPr lang="en-US" sz="1300" b="1" dirty="0">
                <a:solidFill>
                  <a:srgbClr val="E4C98A"/>
                </a:solidFill>
                <a:latin typeface="Cambria" pitchFamily="34" charset="0"/>
                <a:ea typeface="Cambria" pitchFamily="34" charset="-122"/>
                <a:cs typeface="Cambria" pitchFamily="34" charset="-120"/>
              </a:rPr>
              <a:t>+30%</a:t>
            </a:r>
            <a:endParaRPr lang="en-US" sz="1300" dirty="0"/>
          </a:p>
        </p:txBody>
      </p:sp>
      <p:sp>
        <p:nvSpPr>
          <p:cNvPr id="23" name="Text 21"/>
          <p:cNvSpPr/>
          <p:nvPr/>
        </p:nvSpPr>
        <p:spPr>
          <a:xfrm>
            <a:off x="2242566" y="4773168"/>
            <a:ext cx="1364742" cy="164592"/>
          </a:xfrm>
          <a:prstGeom prst="rect">
            <a:avLst/>
          </a:prstGeom>
          <a:noFill/>
          <a:ln/>
        </p:spPr>
        <p:txBody>
          <a:bodyPr wrap="square" rtlCol="0" anchor="ctr"/>
          <a:lstStyle/>
          <a:p>
            <a:pPr marL="0" indent="0" algn="ctr">
              <a:buNone/>
            </a:pPr>
            <a:r>
              <a:rPr lang="en-US" sz="650" dirty="0">
                <a:solidFill>
                  <a:srgbClr val="B9C3CC"/>
                </a:solidFill>
                <a:latin typeface="Calibri" pitchFamily="34" charset="0"/>
                <a:ea typeface="Calibri" pitchFamily="34" charset="-122"/>
                <a:cs typeface="Calibri" pitchFamily="34" charset="-120"/>
              </a:rPr>
              <a:t>guest satisfaction</a:t>
            </a:r>
            <a:endParaRPr lang="en-US" sz="650" dirty="0"/>
          </a:p>
        </p:txBody>
      </p:sp>
      <p:sp>
        <p:nvSpPr>
          <p:cNvPr id="24" name="Shape 22"/>
          <p:cNvSpPr/>
          <p:nvPr/>
        </p:nvSpPr>
        <p:spPr>
          <a:xfrm>
            <a:off x="3744468" y="4498848"/>
            <a:ext cx="1419606" cy="457200"/>
          </a:xfrm>
          <a:prstGeom prst="roundRect">
            <a:avLst>
              <a:gd name="adj" fmla="val 8000"/>
            </a:avLst>
          </a:prstGeom>
          <a:solidFill>
            <a:srgbClr val="0B1B2B"/>
          </a:solidFill>
          <a:ln/>
        </p:spPr>
      </p:sp>
      <p:sp>
        <p:nvSpPr>
          <p:cNvPr id="25" name="Text 23"/>
          <p:cNvSpPr/>
          <p:nvPr/>
        </p:nvSpPr>
        <p:spPr>
          <a:xfrm>
            <a:off x="3744468" y="4526280"/>
            <a:ext cx="1419606" cy="246888"/>
          </a:xfrm>
          <a:prstGeom prst="rect">
            <a:avLst/>
          </a:prstGeom>
          <a:noFill/>
          <a:ln/>
        </p:spPr>
        <p:txBody>
          <a:bodyPr wrap="square" rtlCol="0" anchor="ctr"/>
          <a:lstStyle/>
          <a:p>
            <a:pPr marL="0" indent="0" algn="ctr">
              <a:buNone/>
            </a:pPr>
            <a:r>
              <a:rPr lang="en-US" sz="1300" b="1" dirty="0">
                <a:solidFill>
                  <a:srgbClr val="E4C98A"/>
                </a:solidFill>
                <a:latin typeface="Cambria" pitchFamily="34" charset="0"/>
                <a:ea typeface="Cambria" pitchFamily="34" charset="-122"/>
                <a:cs typeface="Cambria" pitchFamily="34" charset="-120"/>
              </a:rPr>
              <a:t>#1</a:t>
            </a:r>
            <a:endParaRPr lang="en-US" sz="1300" dirty="0"/>
          </a:p>
        </p:txBody>
      </p:sp>
      <p:sp>
        <p:nvSpPr>
          <p:cNvPr id="26" name="Text 24"/>
          <p:cNvSpPr/>
          <p:nvPr/>
        </p:nvSpPr>
        <p:spPr>
          <a:xfrm>
            <a:off x="3771900" y="4773168"/>
            <a:ext cx="1364742" cy="164592"/>
          </a:xfrm>
          <a:prstGeom prst="rect">
            <a:avLst/>
          </a:prstGeom>
          <a:noFill/>
          <a:ln/>
        </p:spPr>
        <p:txBody>
          <a:bodyPr wrap="square" rtlCol="0" anchor="ctr"/>
          <a:lstStyle/>
          <a:p>
            <a:pPr marL="0" indent="0" algn="ctr">
              <a:buNone/>
            </a:pPr>
            <a:r>
              <a:rPr lang="en-US" sz="650" dirty="0">
                <a:solidFill>
                  <a:srgbClr val="B9C3CC"/>
                </a:solidFill>
                <a:latin typeface="Calibri" pitchFamily="34" charset="0"/>
                <a:ea typeface="Calibri" pitchFamily="34" charset="-122"/>
                <a:cs typeface="Calibri" pitchFamily="34" charset="-120"/>
              </a:rPr>
              <a:t>comp set, 6 yrs</a:t>
            </a:r>
            <a:endParaRPr lang="en-US" sz="650" dirty="0"/>
          </a:p>
        </p:txBody>
      </p:sp>
      <p:sp>
        <p:nvSpPr>
          <p:cNvPr id="27" name="Shape 25"/>
          <p:cNvSpPr/>
          <p:nvPr/>
        </p:nvSpPr>
        <p:spPr>
          <a:xfrm>
            <a:off x="5273802" y="4498848"/>
            <a:ext cx="1419606" cy="457200"/>
          </a:xfrm>
          <a:prstGeom prst="roundRect">
            <a:avLst>
              <a:gd name="adj" fmla="val 8000"/>
            </a:avLst>
          </a:prstGeom>
          <a:solidFill>
            <a:srgbClr val="0B1B2B"/>
          </a:solidFill>
          <a:ln/>
        </p:spPr>
      </p:sp>
      <p:sp>
        <p:nvSpPr>
          <p:cNvPr id="28" name="Text 26"/>
          <p:cNvSpPr/>
          <p:nvPr/>
        </p:nvSpPr>
        <p:spPr>
          <a:xfrm>
            <a:off x="5273802" y="4526280"/>
            <a:ext cx="1419606" cy="246888"/>
          </a:xfrm>
          <a:prstGeom prst="rect">
            <a:avLst/>
          </a:prstGeom>
          <a:noFill/>
          <a:ln/>
        </p:spPr>
        <p:txBody>
          <a:bodyPr wrap="square" rtlCol="0" anchor="ctr"/>
          <a:lstStyle/>
          <a:p>
            <a:pPr marL="0" indent="0" algn="ctr">
              <a:buNone/>
            </a:pPr>
            <a:r>
              <a:rPr lang="en-US" sz="1300" b="1" dirty="0">
                <a:solidFill>
                  <a:srgbClr val="E4C98A"/>
                </a:solidFill>
                <a:latin typeface="Cambria" pitchFamily="34" charset="0"/>
                <a:ea typeface="Cambria" pitchFamily="34" charset="-122"/>
                <a:cs typeface="Cambria" pitchFamily="34" charset="-120"/>
              </a:rPr>
              <a:t>$340K</a:t>
            </a:r>
            <a:endParaRPr lang="en-US" sz="1300" dirty="0"/>
          </a:p>
        </p:txBody>
      </p:sp>
      <p:sp>
        <p:nvSpPr>
          <p:cNvPr id="29" name="Text 27"/>
          <p:cNvSpPr/>
          <p:nvPr/>
        </p:nvSpPr>
        <p:spPr>
          <a:xfrm>
            <a:off x="5301234" y="4773168"/>
            <a:ext cx="1364742" cy="164592"/>
          </a:xfrm>
          <a:prstGeom prst="rect">
            <a:avLst/>
          </a:prstGeom>
          <a:noFill/>
          <a:ln/>
        </p:spPr>
        <p:txBody>
          <a:bodyPr wrap="square" rtlCol="0" anchor="ctr"/>
          <a:lstStyle/>
          <a:p>
            <a:pPr marL="0" indent="0" algn="ctr">
              <a:buNone/>
            </a:pPr>
            <a:r>
              <a:rPr lang="en-US" sz="650" dirty="0">
                <a:solidFill>
                  <a:srgbClr val="B9C3CC"/>
                </a:solidFill>
                <a:latin typeface="Calibri" pitchFamily="34" charset="0"/>
                <a:ea typeface="Calibri" pitchFamily="34" charset="-122"/>
                <a:cs typeface="Calibri" pitchFamily="34" charset="-120"/>
              </a:rPr>
              <a:t>annual savings, 1 project</a:t>
            </a:r>
            <a:endParaRPr lang="en-US" sz="650" dirty="0"/>
          </a:p>
        </p:txBody>
      </p:sp>
      <p:sp>
        <p:nvSpPr>
          <p:cNvPr id="30" name="Shape 28"/>
          <p:cNvSpPr/>
          <p:nvPr/>
        </p:nvSpPr>
        <p:spPr>
          <a:xfrm>
            <a:off x="502920" y="5413248"/>
            <a:ext cx="6556248" cy="3200400"/>
          </a:xfrm>
          <a:prstGeom prst="roundRect">
            <a:avLst>
              <a:gd name="adj" fmla="val 1714"/>
            </a:avLst>
          </a:prstGeom>
          <a:solidFill>
            <a:srgbClr val="FFFFFF"/>
          </a:solidFill>
          <a:ln w="9525">
            <a:solidFill>
              <a:srgbClr val="E4DDCB"/>
            </a:solidFill>
            <a:prstDash val="solid"/>
          </a:ln>
        </p:spPr>
      </p:sp>
      <p:sp>
        <p:nvSpPr>
          <p:cNvPr id="31" name="Shape 29"/>
          <p:cNvSpPr/>
          <p:nvPr/>
        </p:nvSpPr>
        <p:spPr>
          <a:xfrm>
            <a:off x="685800" y="5577840"/>
            <a:ext cx="1828800" cy="274320"/>
          </a:xfrm>
          <a:prstGeom prst="roundRect">
            <a:avLst>
              <a:gd name="adj" fmla="val 50000"/>
            </a:avLst>
          </a:prstGeom>
          <a:solidFill>
            <a:srgbClr val="C9A15A"/>
          </a:solidFill>
          <a:ln/>
        </p:spPr>
      </p:sp>
      <p:sp>
        <p:nvSpPr>
          <p:cNvPr id="32" name="Text 30"/>
          <p:cNvSpPr/>
          <p:nvPr/>
        </p:nvSpPr>
        <p:spPr>
          <a:xfrm>
            <a:off x="685800" y="5577840"/>
            <a:ext cx="1828800" cy="274320"/>
          </a:xfrm>
          <a:prstGeom prst="rect">
            <a:avLst/>
          </a:prstGeom>
          <a:noFill/>
          <a:ln/>
        </p:spPr>
        <p:txBody>
          <a:bodyPr wrap="square" rtlCol="0" anchor="ctr"/>
          <a:lstStyle/>
          <a:p>
            <a:pPr marL="0" indent="0" algn="ctr">
              <a:buNone/>
            </a:pPr>
            <a:r>
              <a:rPr lang="en-US" sz="730" b="1" kern="0" spc="50" dirty="0">
                <a:solidFill>
                  <a:srgbClr val="0B1B2B"/>
                </a:solidFill>
                <a:latin typeface="Calibri" pitchFamily="34" charset="0"/>
                <a:ea typeface="Calibri" pitchFamily="34" charset="-122"/>
                <a:cs typeface="Calibri" pitchFamily="34" charset="-120"/>
              </a:rPr>
              <a:t>ILLUSTRATIVE CASE STUDY</a:t>
            </a:r>
            <a:endParaRPr lang="en-US" sz="730" dirty="0"/>
          </a:p>
        </p:txBody>
      </p:sp>
      <p:sp>
        <p:nvSpPr>
          <p:cNvPr id="33" name="Text 31"/>
          <p:cNvSpPr/>
          <p:nvPr/>
        </p:nvSpPr>
        <p:spPr>
          <a:xfrm>
            <a:off x="2651760" y="5577840"/>
            <a:ext cx="4224528" cy="274320"/>
          </a:xfrm>
          <a:prstGeom prst="rect">
            <a:avLst/>
          </a:prstGeom>
          <a:noFill/>
          <a:ln/>
        </p:spPr>
        <p:txBody>
          <a:bodyPr wrap="square" rtlCol="0" anchor="ctr"/>
          <a:lstStyle/>
          <a:p>
            <a:pPr marL="0" indent="0" algn="r">
              <a:buNone/>
            </a:pPr>
            <a:r>
              <a:rPr lang="en-US" sz="800" b="1" kern="0" spc="50" dirty="0">
                <a:solidFill>
                  <a:srgbClr val="6B675F"/>
                </a:solidFill>
                <a:latin typeface="Calibri" pitchFamily="34" charset="0"/>
                <a:ea typeface="Calibri" pitchFamily="34" charset="-122"/>
                <a:cs typeface="Calibri" pitchFamily="34" charset="-120"/>
              </a:rPr>
              <a:t>MULTI-PROPERTY • 19 HOTELS • OPERATIONAL EXCELLENCE</a:t>
            </a:r>
            <a:endParaRPr lang="en-US" sz="800" dirty="0"/>
          </a:p>
        </p:txBody>
      </p:sp>
      <p:sp>
        <p:nvSpPr>
          <p:cNvPr id="34" name="Text 32"/>
          <p:cNvSpPr/>
          <p:nvPr/>
        </p:nvSpPr>
        <p:spPr>
          <a:xfrm>
            <a:off x="685800" y="5870448"/>
            <a:ext cx="6190488" cy="292608"/>
          </a:xfrm>
          <a:prstGeom prst="rect">
            <a:avLst/>
          </a:prstGeom>
          <a:noFill/>
          <a:ln/>
        </p:spPr>
        <p:txBody>
          <a:bodyPr wrap="square" rtlCol="0" anchor="ctr"/>
          <a:lstStyle/>
          <a:p>
            <a:pPr marL="0" indent="0">
              <a:buNone/>
            </a:pPr>
            <a:r>
              <a:rPr lang="en-US" sz="1450" b="1" dirty="0">
                <a:solidFill>
                  <a:srgbClr val="0B1B2B"/>
                </a:solidFill>
                <a:latin typeface="Cambria" pitchFamily="34" charset="0"/>
                <a:ea typeface="Cambria" pitchFamily="34" charset="-122"/>
                <a:cs typeface="Cambria" pitchFamily="34" charset="-120"/>
              </a:rPr>
              <a:t>Portfolio-Wide Operational Excellence Mandate</a:t>
            </a:r>
            <a:endParaRPr lang="en-US" sz="1450" dirty="0"/>
          </a:p>
        </p:txBody>
      </p:sp>
      <p:sp>
        <p:nvSpPr>
          <p:cNvPr id="35" name="Text 33"/>
          <p:cNvSpPr/>
          <p:nvPr/>
        </p:nvSpPr>
        <p:spPr>
          <a:xfrm>
            <a:off x="685800" y="6254496"/>
            <a:ext cx="1051560" cy="356616"/>
          </a:xfrm>
          <a:prstGeom prst="rect">
            <a:avLst/>
          </a:prstGeom>
          <a:noFill/>
          <a:ln/>
        </p:spPr>
        <p:txBody>
          <a:bodyPr wrap="square" rtlCol="0" anchor="t"/>
          <a:lstStyle/>
          <a:p>
            <a:pPr marL="0" indent="0">
              <a:buNone/>
            </a:pPr>
            <a:r>
              <a:rPr lang="en-US" sz="780" b="1" kern="0" spc="50" dirty="0">
                <a:solidFill>
                  <a:srgbClr val="C1501D"/>
                </a:solidFill>
                <a:latin typeface="Calibri" pitchFamily="34" charset="0"/>
                <a:ea typeface="Calibri" pitchFamily="34" charset="-122"/>
                <a:cs typeface="Calibri" pitchFamily="34" charset="-120"/>
              </a:rPr>
              <a:t>CLIENT</a:t>
            </a:r>
            <a:endParaRPr lang="en-US" sz="780" dirty="0"/>
          </a:p>
        </p:txBody>
      </p:sp>
      <p:sp>
        <p:nvSpPr>
          <p:cNvPr id="36" name="Text 34"/>
          <p:cNvSpPr/>
          <p:nvPr/>
        </p:nvSpPr>
        <p:spPr>
          <a:xfrm>
            <a:off x="1783080" y="6254496"/>
            <a:ext cx="5093208" cy="356616"/>
          </a:xfrm>
          <a:prstGeom prst="rect">
            <a:avLst/>
          </a:prstGeom>
          <a:noFill/>
          <a:ln/>
        </p:spPr>
        <p:txBody>
          <a:bodyPr wrap="square" rtlCol="0" anchor="t"/>
          <a:lstStyle/>
          <a:p>
            <a:pPr marL="0" indent="0">
              <a:lnSpc>
                <a:spcPct val="112000"/>
              </a:lnSpc>
              <a:buNone/>
            </a:pPr>
            <a:r>
              <a:rPr lang="en-US" sz="860" dirty="0">
                <a:solidFill>
                  <a:srgbClr val="2B2A27"/>
                </a:solidFill>
                <a:latin typeface="Calibri" pitchFamily="34" charset="0"/>
                <a:ea typeface="Calibri" pitchFamily="34" charset="-122"/>
                <a:cs typeface="Calibri" pitchFamily="34" charset="-120"/>
              </a:rPr>
              <a:t>A global operator's country portfolio of 19 hotels and 3,000+ rooms spanning city, resort, and airport assets.</a:t>
            </a:r>
            <a:endParaRPr lang="en-US" sz="860" dirty="0"/>
          </a:p>
        </p:txBody>
      </p:sp>
      <p:sp>
        <p:nvSpPr>
          <p:cNvPr id="37" name="Text 35"/>
          <p:cNvSpPr/>
          <p:nvPr/>
        </p:nvSpPr>
        <p:spPr>
          <a:xfrm>
            <a:off x="685800" y="6656832"/>
            <a:ext cx="1051560" cy="356616"/>
          </a:xfrm>
          <a:prstGeom prst="rect">
            <a:avLst/>
          </a:prstGeom>
          <a:noFill/>
          <a:ln/>
        </p:spPr>
        <p:txBody>
          <a:bodyPr wrap="square" rtlCol="0" anchor="t"/>
          <a:lstStyle/>
          <a:p>
            <a:pPr marL="0" indent="0">
              <a:buNone/>
            </a:pPr>
            <a:r>
              <a:rPr lang="en-US" sz="780" b="1" kern="0" spc="50" dirty="0">
                <a:solidFill>
                  <a:srgbClr val="C1501D"/>
                </a:solidFill>
                <a:latin typeface="Calibri" pitchFamily="34" charset="0"/>
                <a:ea typeface="Calibri" pitchFamily="34" charset="-122"/>
                <a:cs typeface="Calibri" pitchFamily="34" charset="-120"/>
              </a:rPr>
              <a:t>CHALLENGE</a:t>
            </a:r>
            <a:endParaRPr lang="en-US" sz="780" dirty="0"/>
          </a:p>
        </p:txBody>
      </p:sp>
      <p:sp>
        <p:nvSpPr>
          <p:cNvPr id="38" name="Text 36"/>
          <p:cNvSpPr/>
          <p:nvPr/>
        </p:nvSpPr>
        <p:spPr>
          <a:xfrm>
            <a:off x="1783080" y="6656832"/>
            <a:ext cx="5093208" cy="356616"/>
          </a:xfrm>
          <a:prstGeom prst="rect">
            <a:avLst/>
          </a:prstGeom>
          <a:noFill/>
          <a:ln/>
        </p:spPr>
        <p:txBody>
          <a:bodyPr wrap="square" rtlCol="0" anchor="t"/>
          <a:lstStyle/>
          <a:p>
            <a:pPr marL="0" indent="0">
              <a:lnSpc>
                <a:spcPct val="112000"/>
              </a:lnSpc>
              <a:buNone/>
            </a:pPr>
            <a:r>
              <a:rPr lang="en-US" sz="860" dirty="0">
                <a:solidFill>
                  <a:srgbClr val="2B2A27"/>
                </a:solidFill>
                <a:latin typeface="Calibri" pitchFamily="34" charset="0"/>
                <a:ea typeface="Calibri" pitchFamily="34" charset="-122"/>
                <a:cs typeface="Calibri" pitchFamily="34" charset="-120"/>
              </a:rPr>
              <a:t>Inconsistent service delivery, fragmented F&amp;B performance, and uneven brand-standard compliance across the estate.</a:t>
            </a:r>
            <a:endParaRPr lang="en-US" sz="860" dirty="0"/>
          </a:p>
        </p:txBody>
      </p:sp>
      <p:sp>
        <p:nvSpPr>
          <p:cNvPr id="39" name="Text 37"/>
          <p:cNvSpPr/>
          <p:nvPr/>
        </p:nvSpPr>
        <p:spPr>
          <a:xfrm>
            <a:off x="685800" y="7059168"/>
            <a:ext cx="1051560" cy="356616"/>
          </a:xfrm>
          <a:prstGeom prst="rect">
            <a:avLst/>
          </a:prstGeom>
          <a:noFill/>
          <a:ln/>
        </p:spPr>
        <p:txBody>
          <a:bodyPr wrap="square" rtlCol="0" anchor="t"/>
          <a:lstStyle/>
          <a:p>
            <a:pPr marL="0" indent="0">
              <a:buNone/>
            </a:pPr>
            <a:r>
              <a:rPr lang="en-US" sz="780" b="1" kern="0" spc="50" dirty="0">
                <a:solidFill>
                  <a:srgbClr val="C1501D"/>
                </a:solidFill>
                <a:latin typeface="Calibri" pitchFamily="34" charset="0"/>
                <a:ea typeface="Calibri" pitchFamily="34" charset="-122"/>
                <a:cs typeface="Calibri" pitchFamily="34" charset="-120"/>
              </a:rPr>
              <a:t>APPROACH</a:t>
            </a:r>
            <a:endParaRPr lang="en-US" sz="780" dirty="0"/>
          </a:p>
        </p:txBody>
      </p:sp>
      <p:sp>
        <p:nvSpPr>
          <p:cNvPr id="40" name="Text 38"/>
          <p:cNvSpPr/>
          <p:nvPr/>
        </p:nvSpPr>
        <p:spPr>
          <a:xfrm>
            <a:off x="1783080" y="7059168"/>
            <a:ext cx="5093208" cy="356616"/>
          </a:xfrm>
          <a:prstGeom prst="rect">
            <a:avLst/>
          </a:prstGeom>
          <a:noFill/>
          <a:ln/>
        </p:spPr>
        <p:txBody>
          <a:bodyPr wrap="square" rtlCol="0" anchor="t"/>
          <a:lstStyle/>
          <a:p>
            <a:pPr marL="0" indent="0">
              <a:lnSpc>
                <a:spcPct val="112000"/>
              </a:lnSpc>
              <a:buNone/>
            </a:pPr>
            <a:r>
              <a:rPr lang="en-US" sz="860" dirty="0">
                <a:solidFill>
                  <a:srgbClr val="2B2A27"/>
                </a:solidFill>
                <a:latin typeface="Calibri" pitchFamily="34" charset="0"/>
                <a:ea typeface="Calibri" pitchFamily="34" charset="-122"/>
                <a:cs typeface="Calibri" pitchFamily="34" charset="-120"/>
              </a:rPr>
              <a:t>Centralised excellence programme: standards harmonisation, targeted property-level diagnostics, capability coaching for GMs and HODs, and monthly performance instrumentation.</a:t>
            </a:r>
            <a:endParaRPr lang="en-US" sz="860" dirty="0"/>
          </a:p>
        </p:txBody>
      </p:sp>
      <p:sp>
        <p:nvSpPr>
          <p:cNvPr id="41" name="Text 39"/>
          <p:cNvSpPr/>
          <p:nvPr/>
        </p:nvSpPr>
        <p:spPr>
          <a:xfrm>
            <a:off x="685800" y="7461504"/>
            <a:ext cx="1051560" cy="356616"/>
          </a:xfrm>
          <a:prstGeom prst="rect">
            <a:avLst/>
          </a:prstGeom>
          <a:noFill/>
          <a:ln/>
        </p:spPr>
        <p:txBody>
          <a:bodyPr wrap="square" rtlCol="0" anchor="t"/>
          <a:lstStyle/>
          <a:p>
            <a:pPr marL="0" indent="0">
              <a:buNone/>
            </a:pPr>
            <a:r>
              <a:rPr lang="en-US" sz="780" b="1" kern="0" spc="50" dirty="0">
                <a:solidFill>
                  <a:srgbClr val="C1501D"/>
                </a:solidFill>
                <a:latin typeface="Calibri" pitchFamily="34" charset="0"/>
                <a:ea typeface="Calibri" pitchFamily="34" charset="-122"/>
                <a:cs typeface="Calibri" pitchFamily="34" charset="-120"/>
              </a:rPr>
              <a:t>OUTCOME</a:t>
            </a:r>
            <a:endParaRPr lang="en-US" sz="780" dirty="0"/>
          </a:p>
        </p:txBody>
      </p:sp>
      <p:sp>
        <p:nvSpPr>
          <p:cNvPr id="42" name="Text 40"/>
          <p:cNvSpPr/>
          <p:nvPr/>
        </p:nvSpPr>
        <p:spPr>
          <a:xfrm>
            <a:off x="1783080" y="7461504"/>
            <a:ext cx="5093208" cy="356616"/>
          </a:xfrm>
          <a:prstGeom prst="rect">
            <a:avLst/>
          </a:prstGeom>
          <a:noFill/>
          <a:ln/>
        </p:spPr>
        <p:txBody>
          <a:bodyPr wrap="square" rtlCol="0" anchor="t"/>
          <a:lstStyle/>
          <a:p>
            <a:pPr marL="0" indent="0">
              <a:lnSpc>
                <a:spcPct val="112000"/>
              </a:lnSpc>
              <a:buNone/>
            </a:pPr>
            <a:r>
              <a:rPr lang="en-US" sz="860" dirty="0">
                <a:solidFill>
                  <a:srgbClr val="2B2A27"/>
                </a:solidFill>
                <a:latin typeface="Calibri" pitchFamily="34" charset="0"/>
                <a:ea typeface="Calibri" pitchFamily="34" charset="-122"/>
                <a:cs typeface="Calibri" pitchFamily="34" charset="-120"/>
              </a:rPr>
              <a:t>Portfolio-wide uplift in guest satisfaction and F&amp;B revenue within 18 months, with a repeatable playbook institutionalised across the estate.</a:t>
            </a:r>
            <a:endParaRPr lang="en-US" sz="860" dirty="0"/>
          </a:p>
        </p:txBody>
      </p:sp>
      <p:sp>
        <p:nvSpPr>
          <p:cNvPr id="43" name="Shape 41"/>
          <p:cNvSpPr/>
          <p:nvPr/>
        </p:nvSpPr>
        <p:spPr>
          <a:xfrm>
            <a:off x="685800" y="7973568"/>
            <a:ext cx="1419606" cy="457200"/>
          </a:xfrm>
          <a:prstGeom prst="roundRect">
            <a:avLst>
              <a:gd name="adj" fmla="val 8000"/>
            </a:avLst>
          </a:prstGeom>
          <a:solidFill>
            <a:srgbClr val="0B1B2B"/>
          </a:solidFill>
          <a:ln/>
        </p:spPr>
      </p:sp>
      <p:sp>
        <p:nvSpPr>
          <p:cNvPr id="44" name="Text 42"/>
          <p:cNvSpPr/>
          <p:nvPr/>
        </p:nvSpPr>
        <p:spPr>
          <a:xfrm>
            <a:off x="685800" y="8001000"/>
            <a:ext cx="1419606" cy="246888"/>
          </a:xfrm>
          <a:prstGeom prst="rect">
            <a:avLst/>
          </a:prstGeom>
          <a:noFill/>
          <a:ln/>
        </p:spPr>
        <p:txBody>
          <a:bodyPr wrap="square" rtlCol="0" anchor="ctr"/>
          <a:lstStyle/>
          <a:p>
            <a:pPr marL="0" indent="0" algn="ctr">
              <a:buNone/>
            </a:pPr>
            <a:r>
              <a:rPr lang="en-US" sz="1300" b="1" dirty="0">
                <a:solidFill>
                  <a:srgbClr val="E4C98A"/>
                </a:solidFill>
                <a:latin typeface="Cambria" pitchFamily="34" charset="0"/>
                <a:ea typeface="Cambria" pitchFamily="34" charset="-122"/>
                <a:cs typeface="Cambria" pitchFamily="34" charset="-120"/>
              </a:rPr>
              <a:t>19</a:t>
            </a:r>
            <a:endParaRPr lang="en-US" sz="1300" dirty="0"/>
          </a:p>
        </p:txBody>
      </p:sp>
      <p:sp>
        <p:nvSpPr>
          <p:cNvPr id="45" name="Text 43"/>
          <p:cNvSpPr/>
          <p:nvPr/>
        </p:nvSpPr>
        <p:spPr>
          <a:xfrm>
            <a:off x="713232" y="8247888"/>
            <a:ext cx="1364742" cy="164592"/>
          </a:xfrm>
          <a:prstGeom prst="rect">
            <a:avLst/>
          </a:prstGeom>
          <a:noFill/>
          <a:ln/>
        </p:spPr>
        <p:txBody>
          <a:bodyPr wrap="square" rtlCol="0" anchor="ctr"/>
          <a:lstStyle/>
          <a:p>
            <a:pPr marL="0" indent="0" algn="ctr">
              <a:buNone/>
            </a:pPr>
            <a:r>
              <a:rPr lang="en-US" sz="650" dirty="0">
                <a:solidFill>
                  <a:srgbClr val="B9C3CC"/>
                </a:solidFill>
                <a:latin typeface="Calibri" pitchFamily="34" charset="0"/>
                <a:ea typeface="Calibri" pitchFamily="34" charset="-122"/>
                <a:cs typeface="Calibri" pitchFamily="34" charset="-120"/>
              </a:rPr>
              <a:t>hotels, 1 mandate</a:t>
            </a:r>
            <a:endParaRPr lang="en-US" sz="650" dirty="0"/>
          </a:p>
        </p:txBody>
      </p:sp>
      <p:sp>
        <p:nvSpPr>
          <p:cNvPr id="46" name="Shape 44"/>
          <p:cNvSpPr/>
          <p:nvPr/>
        </p:nvSpPr>
        <p:spPr>
          <a:xfrm>
            <a:off x="2215134" y="7973568"/>
            <a:ext cx="1419606" cy="457200"/>
          </a:xfrm>
          <a:prstGeom prst="roundRect">
            <a:avLst>
              <a:gd name="adj" fmla="val 8000"/>
            </a:avLst>
          </a:prstGeom>
          <a:solidFill>
            <a:srgbClr val="0B1B2B"/>
          </a:solidFill>
          <a:ln/>
        </p:spPr>
      </p:sp>
      <p:sp>
        <p:nvSpPr>
          <p:cNvPr id="47" name="Text 45"/>
          <p:cNvSpPr/>
          <p:nvPr/>
        </p:nvSpPr>
        <p:spPr>
          <a:xfrm>
            <a:off x="2215134" y="8001000"/>
            <a:ext cx="1419606" cy="246888"/>
          </a:xfrm>
          <a:prstGeom prst="rect">
            <a:avLst/>
          </a:prstGeom>
          <a:noFill/>
          <a:ln/>
        </p:spPr>
        <p:txBody>
          <a:bodyPr wrap="square" rtlCol="0" anchor="ctr"/>
          <a:lstStyle/>
          <a:p>
            <a:pPr marL="0" indent="0" algn="ctr">
              <a:buNone/>
            </a:pPr>
            <a:r>
              <a:rPr lang="en-US" sz="1300" b="1" dirty="0">
                <a:solidFill>
                  <a:srgbClr val="E4C98A"/>
                </a:solidFill>
                <a:latin typeface="Cambria" pitchFamily="34" charset="0"/>
                <a:ea typeface="Cambria" pitchFamily="34" charset="-122"/>
                <a:cs typeface="Cambria" pitchFamily="34" charset="-120"/>
              </a:rPr>
              <a:t>3,000+</a:t>
            </a:r>
            <a:endParaRPr lang="en-US" sz="1300" dirty="0"/>
          </a:p>
        </p:txBody>
      </p:sp>
      <p:sp>
        <p:nvSpPr>
          <p:cNvPr id="48" name="Text 46"/>
          <p:cNvSpPr/>
          <p:nvPr/>
        </p:nvSpPr>
        <p:spPr>
          <a:xfrm>
            <a:off x="2242566" y="8247888"/>
            <a:ext cx="1364742" cy="164592"/>
          </a:xfrm>
          <a:prstGeom prst="rect">
            <a:avLst/>
          </a:prstGeom>
          <a:noFill/>
          <a:ln/>
        </p:spPr>
        <p:txBody>
          <a:bodyPr wrap="square" rtlCol="0" anchor="ctr"/>
          <a:lstStyle/>
          <a:p>
            <a:pPr marL="0" indent="0" algn="ctr">
              <a:buNone/>
            </a:pPr>
            <a:r>
              <a:rPr lang="en-US" sz="650" dirty="0">
                <a:solidFill>
                  <a:srgbClr val="B9C3CC"/>
                </a:solidFill>
                <a:latin typeface="Calibri" pitchFamily="34" charset="0"/>
                <a:ea typeface="Calibri" pitchFamily="34" charset="-122"/>
                <a:cs typeface="Calibri" pitchFamily="34" charset="-120"/>
              </a:rPr>
              <a:t>rooms in scope</a:t>
            </a:r>
            <a:endParaRPr lang="en-US" sz="650" dirty="0"/>
          </a:p>
        </p:txBody>
      </p:sp>
      <p:sp>
        <p:nvSpPr>
          <p:cNvPr id="49" name="Shape 47"/>
          <p:cNvSpPr/>
          <p:nvPr/>
        </p:nvSpPr>
        <p:spPr>
          <a:xfrm>
            <a:off x="3744468" y="7973568"/>
            <a:ext cx="1419606" cy="457200"/>
          </a:xfrm>
          <a:prstGeom prst="roundRect">
            <a:avLst>
              <a:gd name="adj" fmla="val 8000"/>
            </a:avLst>
          </a:prstGeom>
          <a:solidFill>
            <a:srgbClr val="0B1B2B"/>
          </a:solidFill>
          <a:ln/>
        </p:spPr>
      </p:sp>
      <p:sp>
        <p:nvSpPr>
          <p:cNvPr id="50" name="Text 48"/>
          <p:cNvSpPr/>
          <p:nvPr/>
        </p:nvSpPr>
        <p:spPr>
          <a:xfrm>
            <a:off x="3744468" y="8001000"/>
            <a:ext cx="1419606" cy="246888"/>
          </a:xfrm>
          <a:prstGeom prst="rect">
            <a:avLst/>
          </a:prstGeom>
          <a:noFill/>
          <a:ln/>
        </p:spPr>
        <p:txBody>
          <a:bodyPr wrap="square" rtlCol="0" anchor="ctr"/>
          <a:lstStyle/>
          <a:p>
            <a:pPr marL="0" indent="0" algn="ctr">
              <a:buNone/>
            </a:pPr>
            <a:r>
              <a:rPr lang="en-US" sz="1300" b="1" dirty="0">
                <a:solidFill>
                  <a:srgbClr val="E4C98A"/>
                </a:solidFill>
                <a:latin typeface="Cambria" pitchFamily="34" charset="0"/>
                <a:ea typeface="Cambria" pitchFamily="34" charset="-122"/>
                <a:cs typeface="Cambria" pitchFamily="34" charset="-120"/>
              </a:rPr>
              <a:t>+10%</a:t>
            </a:r>
            <a:endParaRPr lang="en-US" sz="1300" dirty="0"/>
          </a:p>
        </p:txBody>
      </p:sp>
      <p:sp>
        <p:nvSpPr>
          <p:cNvPr id="51" name="Text 49"/>
          <p:cNvSpPr/>
          <p:nvPr/>
        </p:nvSpPr>
        <p:spPr>
          <a:xfrm>
            <a:off x="3771900" y="8247888"/>
            <a:ext cx="1364742" cy="164592"/>
          </a:xfrm>
          <a:prstGeom prst="rect">
            <a:avLst/>
          </a:prstGeom>
          <a:noFill/>
          <a:ln/>
        </p:spPr>
        <p:txBody>
          <a:bodyPr wrap="square" rtlCol="0" anchor="ctr"/>
          <a:lstStyle/>
          <a:p>
            <a:pPr marL="0" indent="0" algn="ctr">
              <a:buNone/>
            </a:pPr>
            <a:r>
              <a:rPr lang="en-US" sz="650" dirty="0">
                <a:solidFill>
                  <a:srgbClr val="B9C3CC"/>
                </a:solidFill>
                <a:latin typeface="Calibri" pitchFamily="34" charset="0"/>
                <a:ea typeface="Calibri" pitchFamily="34" charset="-122"/>
                <a:cs typeface="Calibri" pitchFamily="34" charset="-120"/>
              </a:rPr>
              <a:t>guest satisfaction</a:t>
            </a:r>
            <a:endParaRPr lang="en-US" sz="650" dirty="0"/>
          </a:p>
        </p:txBody>
      </p:sp>
      <p:sp>
        <p:nvSpPr>
          <p:cNvPr id="52" name="Shape 50"/>
          <p:cNvSpPr/>
          <p:nvPr/>
        </p:nvSpPr>
        <p:spPr>
          <a:xfrm>
            <a:off x="5273802" y="7973568"/>
            <a:ext cx="1419606" cy="457200"/>
          </a:xfrm>
          <a:prstGeom prst="roundRect">
            <a:avLst>
              <a:gd name="adj" fmla="val 8000"/>
            </a:avLst>
          </a:prstGeom>
          <a:solidFill>
            <a:srgbClr val="0B1B2B"/>
          </a:solidFill>
          <a:ln/>
        </p:spPr>
      </p:sp>
      <p:sp>
        <p:nvSpPr>
          <p:cNvPr id="53" name="Text 51"/>
          <p:cNvSpPr/>
          <p:nvPr/>
        </p:nvSpPr>
        <p:spPr>
          <a:xfrm>
            <a:off x="5273802" y="8001000"/>
            <a:ext cx="1419606" cy="246888"/>
          </a:xfrm>
          <a:prstGeom prst="rect">
            <a:avLst/>
          </a:prstGeom>
          <a:noFill/>
          <a:ln/>
        </p:spPr>
        <p:txBody>
          <a:bodyPr wrap="square" rtlCol="0" anchor="ctr"/>
          <a:lstStyle/>
          <a:p>
            <a:pPr marL="0" indent="0" algn="ctr">
              <a:buNone/>
            </a:pPr>
            <a:r>
              <a:rPr lang="en-US" sz="1300" b="1" dirty="0">
                <a:solidFill>
                  <a:srgbClr val="E4C98A"/>
                </a:solidFill>
                <a:latin typeface="Cambria" pitchFamily="34" charset="0"/>
                <a:ea typeface="Cambria" pitchFamily="34" charset="-122"/>
                <a:cs typeface="Cambria" pitchFamily="34" charset="-120"/>
              </a:rPr>
              <a:t>+8%</a:t>
            </a:r>
            <a:endParaRPr lang="en-US" sz="1300" dirty="0"/>
          </a:p>
        </p:txBody>
      </p:sp>
      <p:sp>
        <p:nvSpPr>
          <p:cNvPr id="54" name="Text 52"/>
          <p:cNvSpPr/>
          <p:nvPr/>
        </p:nvSpPr>
        <p:spPr>
          <a:xfrm>
            <a:off x="5301234" y="8247888"/>
            <a:ext cx="1364742" cy="164592"/>
          </a:xfrm>
          <a:prstGeom prst="rect">
            <a:avLst/>
          </a:prstGeom>
          <a:noFill/>
          <a:ln/>
        </p:spPr>
        <p:txBody>
          <a:bodyPr wrap="square" rtlCol="0" anchor="ctr"/>
          <a:lstStyle/>
          <a:p>
            <a:pPr marL="0" indent="0" algn="ctr">
              <a:buNone/>
            </a:pPr>
            <a:r>
              <a:rPr lang="en-US" sz="650" dirty="0">
                <a:solidFill>
                  <a:srgbClr val="B9C3CC"/>
                </a:solidFill>
                <a:latin typeface="Calibri" pitchFamily="34" charset="0"/>
                <a:ea typeface="Calibri" pitchFamily="34" charset="-122"/>
                <a:cs typeface="Calibri" pitchFamily="34" charset="-120"/>
              </a:rPr>
              <a:t>F&amp;B revenue, 18 mo</a:t>
            </a:r>
            <a:endParaRPr lang="en-US" sz="650" dirty="0"/>
          </a:p>
        </p:txBody>
      </p:sp>
      <p:sp>
        <p:nvSpPr>
          <p:cNvPr id="55" name="Shape 53"/>
          <p:cNvSpPr/>
          <p:nvPr/>
        </p:nvSpPr>
        <p:spPr>
          <a:xfrm>
            <a:off x="502920" y="10186416"/>
            <a:ext cx="6556248" cy="0"/>
          </a:xfrm>
          <a:prstGeom prst="line">
            <a:avLst/>
          </a:prstGeom>
          <a:noFill/>
          <a:ln w="9525">
            <a:solidFill>
              <a:srgbClr val="E4DDCB"/>
            </a:solidFill>
            <a:prstDash val="solid"/>
          </a:ln>
        </p:spPr>
      </p:sp>
      <p:sp>
        <p:nvSpPr>
          <p:cNvPr id="56" name="Text 54"/>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6B675F"/>
                </a:solidFill>
                <a:latin typeface="Calibri" pitchFamily="34" charset="0"/>
                <a:ea typeface="Calibri" pitchFamily="34" charset="-122"/>
                <a:cs typeface="Calibri" pitchFamily="34" charset="-120"/>
              </a:rPr>
              <a:t>ALTUS GULF</a:t>
            </a:r>
            <a:endParaRPr lang="en-US" sz="850" dirty="0"/>
          </a:p>
        </p:txBody>
      </p:sp>
      <p:sp>
        <p:nvSpPr>
          <p:cNvPr id="57" name="Text 55"/>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6B675F"/>
                </a:solidFill>
                <a:latin typeface="Calibri" pitchFamily="34" charset="0"/>
                <a:ea typeface="Calibri" pitchFamily="34" charset="-122"/>
                <a:cs typeface="Calibri" pitchFamily="34" charset="-120"/>
              </a:rPr>
              <a:t>CORPORATE PROFILE  •  16</a:t>
            </a:r>
            <a:endParaRPr lang="en-US" sz="85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C1501D"/>
                </a:solidFill>
                <a:latin typeface="Calibri" pitchFamily="34" charset="0"/>
                <a:ea typeface="Calibri" pitchFamily="34" charset="-122"/>
                <a:cs typeface="Calibri" pitchFamily="34" charset="-120"/>
              </a:rPr>
              <a:t>15  •  PROOF OF CONCEPT • II</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a:solidFill>
                  <a:srgbClr val="0B1B2B"/>
                </a:solidFill>
                <a:latin typeface="Cambria" pitchFamily="34" charset="0"/>
                <a:ea typeface="Cambria" pitchFamily="34" charset="-122"/>
                <a:cs typeface="Cambria" pitchFamily="34" charset="-120"/>
              </a:rPr>
              <a:t>Illustrative Case Studies</a:t>
            </a:r>
            <a:endParaRPr lang="en-US" sz="2700" dirty="0"/>
          </a:p>
        </p:txBody>
      </p:sp>
      <p:sp>
        <p:nvSpPr>
          <p:cNvPr id="4" name="Text 2"/>
          <p:cNvSpPr/>
          <p:nvPr/>
        </p:nvSpPr>
        <p:spPr>
          <a:xfrm>
            <a:off x="502920" y="1280160"/>
            <a:ext cx="6556248" cy="566928"/>
          </a:xfrm>
          <a:prstGeom prst="rect">
            <a:avLst/>
          </a:prstGeom>
          <a:noFill/>
          <a:ln/>
        </p:spPr>
        <p:txBody>
          <a:bodyPr wrap="square" rtlCol="0" anchor="t"/>
          <a:lstStyle/>
          <a:p>
            <a:pPr marL="0" indent="0" algn="l">
              <a:lnSpc>
                <a:spcPct val="118000"/>
              </a:lnSpc>
              <a:buNone/>
            </a:pPr>
            <a:r>
              <a:rPr lang="en-US" sz="1150" dirty="0">
                <a:solidFill>
                  <a:srgbClr val="6B675F"/>
                </a:solidFill>
                <a:latin typeface="Calibri" pitchFamily="34" charset="0"/>
                <a:ea typeface="Calibri" pitchFamily="34" charset="-122"/>
                <a:cs typeface="Calibri" pitchFamily="34" charset="-120"/>
              </a:rPr>
              <a:t>Pre-opening delivery and owner representation: two mandates where disciplined, client-side governance most directly supports invested capital. Presented as illustrative examples; individual results vary by asset, market, and execution.</a:t>
            </a:r>
            <a:endParaRPr lang="en-US" sz="1150" dirty="0"/>
          </a:p>
        </p:txBody>
      </p:sp>
      <p:sp>
        <p:nvSpPr>
          <p:cNvPr id="5" name="Shape 3"/>
          <p:cNvSpPr/>
          <p:nvPr/>
        </p:nvSpPr>
        <p:spPr>
          <a:xfrm>
            <a:off x="502920" y="1938528"/>
            <a:ext cx="6556248" cy="3200400"/>
          </a:xfrm>
          <a:prstGeom prst="roundRect">
            <a:avLst>
              <a:gd name="adj" fmla="val 1714"/>
            </a:avLst>
          </a:prstGeom>
          <a:solidFill>
            <a:srgbClr val="FFFFFF"/>
          </a:solidFill>
          <a:ln w="9525">
            <a:solidFill>
              <a:srgbClr val="E4DDCB"/>
            </a:solidFill>
            <a:prstDash val="solid"/>
          </a:ln>
        </p:spPr>
      </p:sp>
      <p:sp>
        <p:nvSpPr>
          <p:cNvPr id="6" name="Shape 4"/>
          <p:cNvSpPr/>
          <p:nvPr/>
        </p:nvSpPr>
        <p:spPr>
          <a:xfrm>
            <a:off x="685800" y="2103120"/>
            <a:ext cx="1828800" cy="274320"/>
          </a:xfrm>
          <a:prstGeom prst="roundRect">
            <a:avLst>
              <a:gd name="adj" fmla="val 50000"/>
            </a:avLst>
          </a:prstGeom>
          <a:solidFill>
            <a:srgbClr val="C9A15A"/>
          </a:solidFill>
          <a:ln/>
        </p:spPr>
      </p:sp>
      <p:sp>
        <p:nvSpPr>
          <p:cNvPr id="7" name="Text 5"/>
          <p:cNvSpPr/>
          <p:nvPr/>
        </p:nvSpPr>
        <p:spPr>
          <a:xfrm>
            <a:off x="685800" y="2103120"/>
            <a:ext cx="1828800" cy="274320"/>
          </a:xfrm>
          <a:prstGeom prst="rect">
            <a:avLst/>
          </a:prstGeom>
          <a:noFill/>
          <a:ln/>
        </p:spPr>
        <p:txBody>
          <a:bodyPr wrap="square" rtlCol="0" anchor="ctr"/>
          <a:lstStyle/>
          <a:p>
            <a:pPr marL="0" indent="0" algn="ctr">
              <a:buNone/>
            </a:pPr>
            <a:r>
              <a:rPr lang="en-US" sz="730" b="1" kern="0" spc="50" dirty="0">
                <a:solidFill>
                  <a:srgbClr val="0B1B2B"/>
                </a:solidFill>
                <a:latin typeface="Calibri" pitchFamily="34" charset="0"/>
                <a:ea typeface="Calibri" pitchFamily="34" charset="-122"/>
                <a:cs typeface="Calibri" pitchFamily="34" charset="-120"/>
              </a:rPr>
              <a:t>ILLUSTRATIVE CASE STUDY</a:t>
            </a:r>
            <a:endParaRPr lang="en-US" sz="730" dirty="0"/>
          </a:p>
        </p:txBody>
      </p:sp>
      <p:sp>
        <p:nvSpPr>
          <p:cNvPr id="8" name="Text 6"/>
          <p:cNvSpPr/>
          <p:nvPr/>
        </p:nvSpPr>
        <p:spPr>
          <a:xfrm>
            <a:off x="2651760" y="2103120"/>
            <a:ext cx="4224528" cy="274320"/>
          </a:xfrm>
          <a:prstGeom prst="rect">
            <a:avLst/>
          </a:prstGeom>
          <a:noFill/>
          <a:ln/>
        </p:spPr>
        <p:txBody>
          <a:bodyPr wrap="square" rtlCol="0" anchor="ctr"/>
          <a:lstStyle/>
          <a:p>
            <a:pPr marL="0" indent="0" algn="r">
              <a:buNone/>
            </a:pPr>
            <a:r>
              <a:rPr lang="en-US" sz="800" b="1" kern="0" spc="50" dirty="0">
                <a:solidFill>
                  <a:srgbClr val="6B675F"/>
                </a:solidFill>
                <a:latin typeface="Calibri" pitchFamily="34" charset="0"/>
                <a:ea typeface="Calibri" pitchFamily="34" charset="-122"/>
                <a:cs typeface="Calibri" pitchFamily="34" charset="-120"/>
              </a:rPr>
              <a:t>PRE-OPENING • KSA • DUAL LAUNCH</a:t>
            </a:r>
            <a:endParaRPr lang="en-US" sz="800" dirty="0"/>
          </a:p>
        </p:txBody>
      </p:sp>
      <p:sp>
        <p:nvSpPr>
          <p:cNvPr id="9" name="Text 7"/>
          <p:cNvSpPr/>
          <p:nvPr/>
        </p:nvSpPr>
        <p:spPr>
          <a:xfrm>
            <a:off x="685800" y="2395728"/>
            <a:ext cx="6190488" cy="292608"/>
          </a:xfrm>
          <a:prstGeom prst="rect">
            <a:avLst/>
          </a:prstGeom>
          <a:noFill/>
          <a:ln/>
        </p:spPr>
        <p:txBody>
          <a:bodyPr wrap="square" rtlCol="0" anchor="ctr"/>
          <a:lstStyle/>
          <a:p>
            <a:pPr marL="0" indent="0">
              <a:buNone/>
            </a:pPr>
            <a:r>
              <a:rPr lang="en-US" sz="1450" b="1" dirty="0">
                <a:solidFill>
                  <a:srgbClr val="0B1B2B"/>
                </a:solidFill>
                <a:latin typeface="Cambria" pitchFamily="34" charset="0"/>
                <a:ea typeface="Cambria" pitchFamily="34" charset="-122"/>
                <a:cs typeface="Cambria" pitchFamily="34" charset="-120"/>
              </a:rPr>
              <a:t>Simultaneous Dual-Hotel Pre-Opening &amp; Ramp-Up</a:t>
            </a:r>
            <a:endParaRPr lang="en-US" sz="1450" dirty="0"/>
          </a:p>
        </p:txBody>
      </p:sp>
      <p:sp>
        <p:nvSpPr>
          <p:cNvPr id="10" name="Text 8"/>
          <p:cNvSpPr/>
          <p:nvPr/>
        </p:nvSpPr>
        <p:spPr>
          <a:xfrm>
            <a:off x="685800" y="2779776"/>
            <a:ext cx="1051560" cy="356616"/>
          </a:xfrm>
          <a:prstGeom prst="rect">
            <a:avLst/>
          </a:prstGeom>
          <a:noFill/>
          <a:ln/>
        </p:spPr>
        <p:txBody>
          <a:bodyPr wrap="square" rtlCol="0" anchor="t"/>
          <a:lstStyle/>
          <a:p>
            <a:pPr marL="0" indent="0">
              <a:buNone/>
            </a:pPr>
            <a:r>
              <a:rPr lang="en-US" sz="780" b="1" kern="0" spc="50" dirty="0">
                <a:solidFill>
                  <a:srgbClr val="C1501D"/>
                </a:solidFill>
                <a:latin typeface="Calibri" pitchFamily="34" charset="0"/>
                <a:ea typeface="Calibri" pitchFamily="34" charset="-122"/>
                <a:cs typeface="Calibri" pitchFamily="34" charset="-120"/>
              </a:rPr>
              <a:t>CLIENT</a:t>
            </a:r>
            <a:endParaRPr lang="en-US" sz="780" dirty="0"/>
          </a:p>
        </p:txBody>
      </p:sp>
      <p:sp>
        <p:nvSpPr>
          <p:cNvPr id="11" name="Text 9"/>
          <p:cNvSpPr/>
          <p:nvPr/>
        </p:nvSpPr>
        <p:spPr>
          <a:xfrm>
            <a:off x="1783080" y="2779776"/>
            <a:ext cx="5093208" cy="356616"/>
          </a:xfrm>
          <a:prstGeom prst="rect">
            <a:avLst/>
          </a:prstGeom>
          <a:noFill/>
          <a:ln/>
        </p:spPr>
        <p:txBody>
          <a:bodyPr wrap="square" rtlCol="0" anchor="t"/>
          <a:lstStyle/>
          <a:p>
            <a:pPr marL="0" indent="0">
              <a:lnSpc>
                <a:spcPct val="112000"/>
              </a:lnSpc>
              <a:buNone/>
            </a:pPr>
            <a:r>
              <a:rPr lang="en-US" sz="860" dirty="0">
                <a:solidFill>
                  <a:srgbClr val="2B2A27"/>
                </a:solidFill>
                <a:latin typeface="Calibri" pitchFamily="34" charset="0"/>
                <a:ea typeface="Calibri" pitchFamily="34" charset="-122"/>
                <a:cs typeface="Calibri" pitchFamily="34" charset="-120"/>
              </a:rPr>
              <a:t>A regional hospitality group commissioning two new-build properties in the Kingdom within a single opening season.</a:t>
            </a:r>
            <a:endParaRPr lang="en-US" sz="860" dirty="0"/>
          </a:p>
        </p:txBody>
      </p:sp>
      <p:sp>
        <p:nvSpPr>
          <p:cNvPr id="12" name="Text 10"/>
          <p:cNvSpPr/>
          <p:nvPr/>
        </p:nvSpPr>
        <p:spPr>
          <a:xfrm>
            <a:off x="685800" y="3182112"/>
            <a:ext cx="1051560" cy="356616"/>
          </a:xfrm>
          <a:prstGeom prst="rect">
            <a:avLst/>
          </a:prstGeom>
          <a:noFill/>
          <a:ln/>
        </p:spPr>
        <p:txBody>
          <a:bodyPr wrap="square" rtlCol="0" anchor="t"/>
          <a:lstStyle/>
          <a:p>
            <a:pPr marL="0" indent="0">
              <a:buNone/>
            </a:pPr>
            <a:r>
              <a:rPr lang="en-US" sz="780" b="1" kern="0" spc="50" dirty="0">
                <a:solidFill>
                  <a:srgbClr val="C1501D"/>
                </a:solidFill>
                <a:latin typeface="Calibri" pitchFamily="34" charset="0"/>
                <a:ea typeface="Calibri" pitchFamily="34" charset="-122"/>
                <a:cs typeface="Calibri" pitchFamily="34" charset="-120"/>
              </a:rPr>
              <a:t>CHALLENGE</a:t>
            </a:r>
            <a:endParaRPr lang="en-US" sz="780" dirty="0"/>
          </a:p>
        </p:txBody>
      </p:sp>
      <p:sp>
        <p:nvSpPr>
          <p:cNvPr id="13" name="Text 11"/>
          <p:cNvSpPr/>
          <p:nvPr/>
        </p:nvSpPr>
        <p:spPr>
          <a:xfrm>
            <a:off x="1783080" y="3182112"/>
            <a:ext cx="5093208" cy="356616"/>
          </a:xfrm>
          <a:prstGeom prst="rect">
            <a:avLst/>
          </a:prstGeom>
          <a:noFill/>
          <a:ln/>
        </p:spPr>
        <p:txBody>
          <a:bodyPr wrap="square" rtlCol="0" anchor="t"/>
          <a:lstStyle/>
          <a:p>
            <a:pPr marL="0" indent="0">
              <a:lnSpc>
                <a:spcPct val="112000"/>
              </a:lnSpc>
              <a:buNone/>
            </a:pPr>
            <a:r>
              <a:rPr lang="en-US" sz="860" dirty="0">
                <a:solidFill>
                  <a:srgbClr val="2B2A27"/>
                </a:solidFill>
                <a:latin typeface="Calibri" pitchFamily="34" charset="0"/>
                <a:ea typeface="Calibri" pitchFamily="34" charset="-122"/>
                <a:cs typeface="Calibri" pitchFamily="34" charset="-120"/>
              </a:rPr>
              <a:t>Parallel critical paths across licensing, recruitment, OS&amp;E procurement, systems, and brand standards, with little room for launch slippage.</a:t>
            </a:r>
            <a:endParaRPr lang="en-US" sz="860" dirty="0"/>
          </a:p>
        </p:txBody>
      </p:sp>
      <p:sp>
        <p:nvSpPr>
          <p:cNvPr id="14" name="Text 12"/>
          <p:cNvSpPr/>
          <p:nvPr/>
        </p:nvSpPr>
        <p:spPr>
          <a:xfrm>
            <a:off x="685800" y="3584448"/>
            <a:ext cx="1051560" cy="356616"/>
          </a:xfrm>
          <a:prstGeom prst="rect">
            <a:avLst/>
          </a:prstGeom>
          <a:noFill/>
          <a:ln/>
        </p:spPr>
        <p:txBody>
          <a:bodyPr wrap="square" rtlCol="0" anchor="t"/>
          <a:lstStyle/>
          <a:p>
            <a:pPr marL="0" indent="0">
              <a:buNone/>
            </a:pPr>
            <a:r>
              <a:rPr lang="en-US" sz="780" b="1" kern="0" spc="50" dirty="0">
                <a:solidFill>
                  <a:srgbClr val="C1501D"/>
                </a:solidFill>
                <a:latin typeface="Calibri" pitchFamily="34" charset="0"/>
                <a:ea typeface="Calibri" pitchFamily="34" charset="-122"/>
                <a:cs typeface="Calibri" pitchFamily="34" charset="-120"/>
              </a:rPr>
              <a:t>APPROACH</a:t>
            </a:r>
            <a:endParaRPr lang="en-US" sz="780" dirty="0"/>
          </a:p>
        </p:txBody>
      </p:sp>
      <p:sp>
        <p:nvSpPr>
          <p:cNvPr id="15" name="Text 13"/>
          <p:cNvSpPr/>
          <p:nvPr/>
        </p:nvSpPr>
        <p:spPr>
          <a:xfrm>
            <a:off x="1783080" y="3584448"/>
            <a:ext cx="5093208" cy="356616"/>
          </a:xfrm>
          <a:prstGeom prst="rect">
            <a:avLst/>
          </a:prstGeom>
          <a:noFill/>
          <a:ln/>
        </p:spPr>
        <p:txBody>
          <a:bodyPr wrap="square" rtlCol="0" anchor="t"/>
          <a:lstStyle/>
          <a:p>
            <a:pPr marL="0" indent="0">
              <a:lnSpc>
                <a:spcPct val="112000"/>
              </a:lnSpc>
              <a:buNone/>
            </a:pPr>
            <a:r>
              <a:rPr lang="en-US" sz="860" dirty="0">
                <a:solidFill>
                  <a:srgbClr val="2B2A27"/>
                </a:solidFill>
                <a:latin typeface="Calibri" pitchFamily="34" charset="0"/>
                <a:ea typeface="Calibri" pitchFamily="34" charset="-122"/>
                <a:cs typeface="Calibri" pitchFamily="34" charset="-120"/>
              </a:rPr>
              <a:t>Integrated pre-opening command structure: unified countdown plan, staged recruitment and training waves, procurement governance, and revenue systems live before soft opening.</a:t>
            </a:r>
            <a:endParaRPr lang="en-US" sz="860" dirty="0"/>
          </a:p>
        </p:txBody>
      </p:sp>
      <p:sp>
        <p:nvSpPr>
          <p:cNvPr id="16" name="Text 14"/>
          <p:cNvSpPr/>
          <p:nvPr/>
        </p:nvSpPr>
        <p:spPr>
          <a:xfrm>
            <a:off x="685800" y="3986784"/>
            <a:ext cx="1051560" cy="356616"/>
          </a:xfrm>
          <a:prstGeom prst="rect">
            <a:avLst/>
          </a:prstGeom>
          <a:noFill/>
          <a:ln/>
        </p:spPr>
        <p:txBody>
          <a:bodyPr wrap="square" rtlCol="0" anchor="t"/>
          <a:lstStyle/>
          <a:p>
            <a:pPr marL="0" indent="0">
              <a:buNone/>
            </a:pPr>
            <a:r>
              <a:rPr lang="en-US" sz="780" b="1" kern="0" spc="50" dirty="0">
                <a:solidFill>
                  <a:srgbClr val="C1501D"/>
                </a:solidFill>
                <a:latin typeface="Calibri" pitchFamily="34" charset="0"/>
                <a:ea typeface="Calibri" pitchFamily="34" charset="-122"/>
                <a:cs typeface="Calibri" pitchFamily="34" charset="-120"/>
              </a:rPr>
              <a:t>OUTCOME</a:t>
            </a:r>
            <a:endParaRPr lang="en-US" sz="780" dirty="0"/>
          </a:p>
        </p:txBody>
      </p:sp>
      <p:sp>
        <p:nvSpPr>
          <p:cNvPr id="17" name="Text 15"/>
          <p:cNvSpPr/>
          <p:nvPr/>
        </p:nvSpPr>
        <p:spPr>
          <a:xfrm>
            <a:off x="1783080" y="3986784"/>
            <a:ext cx="5093208" cy="356616"/>
          </a:xfrm>
          <a:prstGeom prst="rect">
            <a:avLst/>
          </a:prstGeom>
          <a:noFill/>
          <a:ln/>
        </p:spPr>
        <p:txBody>
          <a:bodyPr wrap="square" rtlCol="0" anchor="t"/>
          <a:lstStyle/>
          <a:p>
            <a:pPr marL="0" indent="0">
              <a:lnSpc>
                <a:spcPct val="112000"/>
              </a:lnSpc>
              <a:buNone/>
            </a:pPr>
            <a:r>
              <a:rPr lang="en-US" sz="860" dirty="0">
                <a:solidFill>
                  <a:srgbClr val="2B2A27"/>
                </a:solidFill>
                <a:latin typeface="Calibri" pitchFamily="34" charset="0"/>
                <a:ea typeface="Calibri" pitchFamily="34" charset="-122"/>
                <a:cs typeface="Calibri" pitchFamily="34" charset="-120"/>
              </a:rPr>
              <a:t>Both properties opened on schedule, transitioned to full operation, and reached market-leading profitability within the region.</a:t>
            </a:r>
            <a:endParaRPr lang="en-US" sz="860" dirty="0"/>
          </a:p>
        </p:txBody>
      </p:sp>
      <p:sp>
        <p:nvSpPr>
          <p:cNvPr id="18" name="Shape 16"/>
          <p:cNvSpPr/>
          <p:nvPr/>
        </p:nvSpPr>
        <p:spPr>
          <a:xfrm>
            <a:off x="685800" y="4498848"/>
            <a:ext cx="1419606" cy="457200"/>
          </a:xfrm>
          <a:prstGeom prst="roundRect">
            <a:avLst>
              <a:gd name="adj" fmla="val 8000"/>
            </a:avLst>
          </a:prstGeom>
          <a:solidFill>
            <a:srgbClr val="0B1B2B"/>
          </a:solidFill>
          <a:ln/>
        </p:spPr>
      </p:sp>
      <p:sp>
        <p:nvSpPr>
          <p:cNvPr id="19" name="Text 17"/>
          <p:cNvSpPr/>
          <p:nvPr/>
        </p:nvSpPr>
        <p:spPr>
          <a:xfrm>
            <a:off x="685800" y="4526280"/>
            <a:ext cx="1419606" cy="246888"/>
          </a:xfrm>
          <a:prstGeom prst="rect">
            <a:avLst/>
          </a:prstGeom>
          <a:noFill/>
          <a:ln/>
        </p:spPr>
        <p:txBody>
          <a:bodyPr wrap="square" rtlCol="0" anchor="ctr"/>
          <a:lstStyle/>
          <a:p>
            <a:pPr marL="0" indent="0" algn="ctr">
              <a:buNone/>
            </a:pPr>
            <a:r>
              <a:rPr lang="en-US" sz="1300" b="1" dirty="0">
                <a:solidFill>
                  <a:srgbClr val="E4C98A"/>
                </a:solidFill>
                <a:latin typeface="Cambria" pitchFamily="34" charset="0"/>
                <a:ea typeface="Cambria" pitchFamily="34" charset="-122"/>
                <a:cs typeface="Cambria" pitchFamily="34" charset="-120"/>
              </a:rPr>
              <a:t>2</a:t>
            </a:r>
            <a:endParaRPr lang="en-US" sz="1300" dirty="0"/>
          </a:p>
        </p:txBody>
      </p:sp>
      <p:sp>
        <p:nvSpPr>
          <p:cNvPr id="20" name="Text 18"/>
          <p:cNvSpPr/>
          <p:nvPr/>
        </p:nvSpPr>
        <p:spPr>
          <a:xfrm>
            <a:off x="713232" y="4773168"/>
            <a:ext cx="1364742" cy="164592"/>
          </a:xfrm>
          <a:prstGeom prst="rect">
            <a:avLst/>
          </a:prstGeom>
          <a:noFill/>
          <a:ln/>
        </p:spPr>
        <p:txBody>
          <a:bodyPr wrap="square" rtlCol="0" anchor="ctr"/>
          <a:lstStyle/>
          <a:p>
            <a:pPr marL="0" indent="0" algn="ctr">
              <a:buNone/>
            </a:pPr>
            <a:r>
              <a:rPr lang="en-US" sz="650" dirty="0">
                <a:solidFill>
                  <a:srgbClr val="B9C3CC"/>
                </a:solidFill>
                <a:latin typeface="Calibri" pitchFamily="34" charset="0"/>
                <a:ea typeface="Calibri" pitchFamily="34" charset="-122"/>
                <a:cs typeface="Calibri" pitchFamily="34" charset="-120"/>
              </a:rPr>
              <a:t>hotels, simultaneous</a:t>
            </a:r>
            <a:endParaRPr lang="en-US" sz="650" dirty="0"/>
          </a:p>
        </p:txBody>
      </p:sp>
      <p:sp>
        <p:nvSpPr>
          <p:cNvPr id="21" name="Shape 19"/>
          <p:cNvSpPr/>
          <p:nvPr/>
        </p:nvSpPr>
        <p:spPr>
          <a:xfrm>
            <a:off x="2215134" y="4498848"/>
            <a:ext cx="1419606" cy="457200"/>
          </a:xfrm>
          <a:prstGeom prst="roundRect">
            <a:avLst>
              <a:gd name="adj" fmla="val 8000"/>
            </a:avLst>
          </a:prstGeom>
          <a:solidFill>
            <a:srgbClr val="0B1B2B"/>
          </a:solidFill>
          <a:ln/>
        </p:spPr>
      </p:sp>
      <p:sp>
        <p:nvSpPr>
          <p:cNvPr id="22" name="Text 20"/>
          <p:cNvSpPr/>
          <p:nvPr/>
        </p:nvSpPr>
        <p:spPr>
          <a:xfrm>
            <a:off x="2215134" y="4526280"/>
            <a:ext cx="1419606" cy="246888"/>
          </a:xfrm>
          <a:prstGeom prst="rect">
            <a:avLst/>
          </a:prstGeom>
          <a:noFill/>
          <a:ln/>
        </p:spPr>
        <p:txBody>
          <a:bodyPr wrap="square" rtlCol="0" anchor="ctr"/>
          <a:lstStyle/>
          <a:p>
            <a:pPr marL="0" indent="0" algn="ctr">
              <a:buNone/>
            </a:pPr>
            <a:r>
              <a:rPr lang="en-US" sz="1300" b="1" dirty="0">
                <a:solidFill>
                  <a:srgbClr val="E4C98A"/>
                </a:solidFill>
                <a:latin typeface="Cambria" pitchFamily="34" charset="0"/>
                <a:ea typeface="Cambria" pitchFamily="34" charset="-122"/>
                <a:cs typeface="Cambria" pitchFamily="34" charset="-120"/>
              </a:rPr>
              <a:t>90–95%</a:t>
            </a:r>
            <a:endParaRPr lang="en-US" sz="1300" dirty="0"/>
          </a:p>
        </p:txBody>
      </p:sp>
      <p:sp>
        <p:nvSpPr>
          <p:cNvPr id="23" name="Text 21"/>
          <p:cNvSpPr/>
          <p:nvPr/>
        </p:nvSpPr>
        <p:spPr>
          <a:xfrm>
            <a:off x="2242566" y="4773168"/>
            <a:ext cx="1364742" cy="164592"/>
          </a:xfrm>
          <a:prstGeom prst="rect">
            <a:avLst/>
          </a:prstGeom>
          <a:noFill/>
          <a:ln/>
        </p:spPr>
        <p:txBody>
          <a:bodyPr wrap="square" rtlCol="0" anchor="ctr"/>
          <a:lstStyle/>
          <a:p>
            <a:pPr marL="0" indent="0" algn="ctr">
              <a:buNone/>
            </a:pPr>
            <a:r>
              <a:rPr lang="en-US" sz="650" dirty="0">
                <a:solidFill>
                  <a:srgbClr val="B9C3CC"/>
                </a:solidFill>
                <a:latin typeface="Calibri" pitchFamily="34" charset="0"/>
                <a:ea typeface="Calibri" pitchFamily="34" charset="-122"/>
                <a:cs typeface="Calibri" pitchFamily="34" charset="-120"/>
              </a:rPr>
              <a:t>readiness at launch</a:t>
            </a:r>
            <a:endParaRPr lang="en-US" sz="650" dirty="0"/>
          </a:p>
        </p:txBody>
      </p:sp>
      <p:sp>
        <p:nvSpPr>
          <p:cNvPr id="24" name="Shape 22"/>
          <p:cNvSpPr/>
          <p:nvPr/>
        </p:nvSpPr>
        <p:spPr>
          <a:xfrm>
            <a:off x="3744468" y="4498848"/>
            <a:ext cx="1419606" cy="457200"/>
          </a:xfrm>
          <a:prstGeom prst="roundRect">
            <a:avLst>
              <a:gd name="adj" fmla="val 8000"/>
            </a:avLst>
          </a:prstGeom>
          <a:solidFill>
            <a:srgbClr val="0B1B2B"/>
          </a:solidFill>
          <a:ln/>
        </p:spPr>
      </p:sp>
      <p:sp>
        <p:nvSpPr>
          <p:cNvPr id="25" name="Text 23"/>
          <p:cNvSpPr/>
          <p:nvPr/>
        </p:nvSpPr>
        <p:spPr>
          <a:xfrm>
            <a:off x="3744468" y="4526280"/>
            <a:ext cx="1419606" cy="246888"/>
          </a:xfrm>
          <a:prstGeom prst="rect">
            <a:avLst/>
          </a:prstGeom>
          <a:noFill/>
          <a:ln/>
        </p:spPr>
        <p:txBody>
          <a:bodyPr wrap="square" rtlCol="0" anchor="ctr"/>
          <a:lstStyle/>
          <a:p>
            <a:pPr marL="0" indent="0" algn="ctr">
              <a:buNone/>
            </a:pPr>
            <a:r>
              <a:rPr lang="en-US" sz="1300" b="1" dirty="0">
                <a:solidFill>
                  <a:srgbClr val="E4C98A"/>
                </a:solidFill>
                <a:latin typeface="Cambria" pitchFamily="34" charset="0"/>
                <a:ea typeface="Cambria" pitchFamily="34" charset="-122"/>
                <a:cs typeface="Cambria" pitchFamily="34" charset="-120"/>
              </a:rPr>
              <a:t>#1</a:t>
            </a:r>
            <a:endParaRPr lang="en-US" sz="1300" dirty="0"/>
          </a:p>
        </p:txBody>
      </p:sp>
      <p:sp>
        <p:nvSpPr>
          <p:cNvPr id="26" name="Text 24"/>
          <p:cNvSpPr/>
          <p:nvPr/>
        </p:nvSpPr>
        <p:spPr>
          <a:xfrm>
            <a:off x="3771900" y="4773168"/>
            <a:ext cx="1364742" cy="164592"/>
          </a:xfrm>
          <a:prstGeom prst="rect">
            <a:avLst/>
          </a:prstGeom>
          <a:noFill/>
          <a:ln/>
        </p:spPr>
        <p:txBody>
          <a:bodyPr wrap="square" rtlCol="0" anchor="ctr"/>
          <a:lstStyle/>
          <a:p>
            <a:pPr marL="0" indent="0" algn="ctr">
              <a:buNone/>
            </a:pPr>
            <a:r>
              <a:rPr lang="en-US" sz="650" dirty="0">
                <a:solidFill>
                  <a:srgbClr val="B9C3CC"/>
                </a:solidFill>
                <a:latin typeface="Calibri" pitchFamily="34" charset="0"/>
                <a:ea typeface="Calibri" pitchFamily="34" charset="-122"/>
                <a:cs typeface="Calibri" pitchFamily="34" charset="-120"/>
              </a:rPr>
              <a:t>GOP, region post-ramp</a:t>
            </a:r>
            <a:endParaRPr lang="en-US" sz="650" dirty="0"/>
          </a:p>
        </p:txBody>
      </p:sp>
      <p:sp>
        <p:nvSpPr>
          <p:cNvPr id="27" name="Shape 25"/>
          <p:cNvSpPr/>
          <p:nvPr/>
        </p:nvSpPr>
        <p:spPr>
          <a:xfrm>
            <a:off x="5273802" y="4498848"/>
            <a:ext cx="1419606" cy="457200"/>
          </a:xfrm>
          <a:prstGeom prst="roundRect">
            <a:avLst>
              <a:gd name="adj" fmla="val 8000"/>
            </a:avLst>
          </a:prstGeom>
          <a:solidFill>
            <a:srgbClr val="0B1B2B"/>
          </a:solidFill>
          <a:ln/>
        </p:spPr>
      </p:sp>
      <p:sp>
        <p:nvSpPr>
          <p:cNvPr id="28" name="Text 26"/>
          <p:cNvSpPr/>
          <p:nvPr/>
        </p:nvSpPr>
        <p:spPr>
          <a:xfrm>
            <a:off x="5273802" y="4526280"/>
            <a:ext cx="1419606" cy="246888"/>
          </a:xfrm>
          <a:prstGeom prst="rect">
            <a:avLst/>
          </a:prstGeom>
          <a:noFill/>
          <a:ln/>
        </p:spPr>
        <p:txBody>
          <a:bodyPr wrap="square" rtlCol="0" anchor="ctr"/>
          <a:lstStyle/>
          <a:p>
            <a:pPr marL="0" indent="0" algn="ctr">
              <a:buNone/>
            </a:pPr>
            <a:r>
              <a:rPr lang="en-US" sz="1300" b="1" dirty="0">
                <a:solidFill>
                  <a:srgbClr val="E4C98A"/>
                </a:solidFill>
                <a:latin typeface="Cambria" pitchFamily="34" charset="0"/>
                <a:ea typeface="Cambria" pitchFamily="34" charset="-122"/>
                <a:cs typeface="Cambria" pitchFamily="34" charset="-120"/>
              </a:rPr>
              <a:t>T-0</a:t>
            </a:r>
            <a:endParaRPr lang="en-US" sz="1300" dirty="0"/>
          </a:p>
        </p:txBody>
      </p:sp>
      <p:sp>
        <p:nvSpPr>
          <p:cNvPr id="29" name="Text 27"/>
          <p:cNvSpPr/>
          <p:nvPr/>
        </p:nvSpPr>
        <p:spPr>
          <a:xfrm>
            <a:off x="5301234" y="4773168"/>
            <a:ext cx="1364742" cy="164592"/>
          </a:xfrm>
          <a:prstGeom prst="rect">
            <a:avLst/>
          </a:prstGeom>
          <a:noFill/>
          <a:ln/>
        </p:spPr>
        <p:txBody>
          <a:bodyPr wrap="square" rtlCol="0" anchor="ctr"/>
          <a:lstStyle/>
          <a:p>
            <a:pPr marL="0" indent="0" algn="ctr">
              <a:buNone/>
            </a:pPr>
            <a:r>
              <a:rPr lang="en-US" sz="650" dirty="0">
                <a:solidFill>
                  <a:srgbClr val="B9C3CC"/>
                </a:solidFill>
                <a:latin typeface="Calibri" pitchFamily="34" charset="0"/>
                <a:ea typeface="Calibri" pitchFamily="34" charset="-122"/>
                <a:cs typeface="Calibri" pitchFamily="34" charset="-120"/>
              </a:rPr>
              <a:t>on-time opening</a:t>
            </a:r>
            <a:endParaRPr lang="en-US" sz="650" dirty="0"/>
          </a:p>
        </p:txBody>
      </p:sp>
      <p:sp>
        <p:nvSpPr>
          <p:cNvPr id="30" name="Shape 28"/>
          <p:cNvSpPr/>
          <p:nvPr/>
        </p:nvSpPr>
        <p:spPr>
          <a:xfrm>
            <a:off x="502920" y="5413248"/>
            <a:ext cx="6556248" cy="3200400"/>
          </a:xfrm>
          <a:prstGeom prst="roundRect">
            <a:avLst>
              <a:gd name="adj" fmla="val 1714"/>
            </a:avLst>
          </a:prstGeom>
          <a:solidFill>
            <a:srgbClr val="FFFFFF"/>
          </a:solidFill>
          <a:ln w="9525">
            <a:solidFill>
              <a:srgbClr val="E4DDCB"/>
            </a:solidFill>
            <a:prstDash val="solid"/>
          </a:ln>
        </p:spPr>
      </p:sp>
      <p:sp>
        <p:nvSpPr>
          <p:cNvPr id="31" name="Shape 29"/>
          <p:cNvSpPr/>
          <p:nvPr/>
        </p:nvSpPr>
        <p:spPr>
          <a:xfrm>
            <a:off x="685800" y="5577840"/>
            <a:ext cx="1828800" cy="274320"/>
          </a:xfrm>
          <a:prstGeom prst="roundRect">
            <a:avLst>
              <a:gd name="adj" fmla="val 50000"/>
            </a:avLst>
          </a:prstGeom>
          <a:solidFill>
            <a:srgbClr val="C9A15A"/>
          </a:solidFill>
          <a:ln/>
        </p:spPr>
      </p:sp>
      <p:sp>
        <p:nvSpPr>
          <p:cNvPr id="32" name="Text 30"/>
          <p:cNvSpPr/>
          <p:nvPr/>
        </p:nvSpPr>
        <p:spPr>
          <a:xfrm>
            <a:off x="685800" y="5577840"/>
            <a:ext cx="1828800" cy="274320"/>
          </a:xfrm>
          <a:prstGeom prst="rect">
            <a:avLst/>
          </a:prstGeom>
          <a:noFill/>
          <a:ln/>
        </p:spPr>
        <p:txBody>
          <a:bodyPr wrap="square" rtlCol="0" anchor="ctr"/>
          <a:lstStyle/>
          <a:p>
            <a:pPr marL="0" indent="0" algn="ctr">
              <a:buNone/>
            </a:pPr>
            <a:r>
              <a:rPr lang="en-US" sz="730" b="1" kern="0" spc="50" dirty="0">
                <a:solidFill>
                  <a:srgbClr val="0B1B2B"/>
                </a:solidFill>
                <a:latin typeface="Calibri" pitchFamily="34" charset="0"/>
                <a:ea typeface="Calibri" pitchFamily="34" charset="-122"/>
                <a:cs typeface="Calibri" pitchFamily="34" charset="-120"/>
              </a:rPr>
              <a:t>ILLUSTRATIVE CASE STUDY</a:t>
            </a:r>
            <a:endParaRPr lang="en-US" sz="730" dirty="0"/>
          </a:p>
        </p:txBody>
      </p:sp>
      <p:sp>
        <p:nvSpPr>
          <p:cNvPr id="33" name="Text 31"/>
          <p:cNvSpPr/>
          <p:nvPr/>
        </p:nvSpPr>
        <p:spPr>
          <a:xfrm>
            <a:off x="2651760" y="5577840"/>
            <a:ext cx="4224528" cy="274320"/>
          </a:xfrm>
          <a:prstGeom prst="rect">
            <a:avLst/>
          </a:prstGeom>
          <a:noFill/>
          <a:ln/>
        </p:spPr>
        <p:txBody>
          <a:bodyPr wrap="square" rtlCol="0" anchor="ctr"/>
          <a:lstStyle/>
          <a:p>
            <a:pPr marL="0" indent="0" algn="r">
              <a:buNone/>
            </a:pPr>
            <a:r>
              <a:rPr lang="en-US" sz="800" b="1" kern="0" spc="50" dirty="0">
                <a:solidFill>
                  <a:srgbClr val="6B675F"/>
                </a:solidFill>
                <a:latin typeface="Calibri" pitchFamily="34" charset="0"/>
                <a:ea typeface="Calibri" pitchFamily="34" charset="-122"/>
                <a:cs typeface="Calibri" pitchFamily="34" charset="-120"/>
              </a:rPr>
              <a:t>OWNER REPRESENTATION • RIYADH • 4 BRANDED ASSETS</a:t>
            </a:r>
            <a:endParaRPr lang="en-US" sz="800" dirty="0"/>
          </a:p>
        </p:txBody>
      </p:sp>
      <p:sp>
        <p:nvSpPr>
          <p:cNvPr id="34" name="Text 32"/>
          <p:cNvSpPr/>
          <p:nvPr/>
        </p:nvSpPr>
        <p:spPr>
          <a:xfrm>
            <a:off x="685800" y="5870448"/>
            <a:ext cx="6190488" cy="292608"/>
          </a:xfrm>
          <a:prstGeom prst="rect">
            <a:avLst/>
          </a:prstGeom>
          <a:noFill/>
          <a:ln/>
        </p:spPr>
        <p:txBody>
          <a:bodyPr wrap="square" rtlCol="0" anchor="ctr"/>
          <a:lstStyle/>
          <a:p>
            <a:pPr marL="0" indent="0">
              <a:buNone/>
            </a:pPr>
            <a:r>
              <a:rPr lang="en-US" sz="1450" b="1" dirty="0">
                <a:solidFill>
                  <a:srgbClr val="0B1B2B"/>
                </a:solidFill>
                <a:latin typeface="Cambria" pitchFamily="34" charset="0"/>
                <a:ea typeface="Cambria" pitchFamily="34" charset="-122"/>
                <a:cs typeface="Cambria" pitchFamily="34" charset="-120"/>
              </a:rPr>
              <a:t>Owner's Representative for a Branded Riyadh Portfolio</a:t>
            </a:r>
            <a:endParaRPr lang="en-US" sz="1450" dirty="0"/>
          </a:p>
        </p:txBody>
      </p:sp>
      <p:sp>
        <p:nvSpPr>
          <p:cNvPr id="35" name="Text 33"/>
          <p:cNvSpPr/>
          <p:nvPr/>
        </p:nvSpPr>
        <p:spPr>
          <a:xfrm>
            <a:off x="685800" y="6254496"/>
            <a:ext cx="1051560" cy="356616"/>
          </a:xfrm>
          <a:prstGeom prst="rect">
            <a:avLst/>
          </a:prstGeom>
          <a:noFill/>
          <a:ln/>
        </p:spPr>
        <p:txBody>
          <a:bodyPr wrap="square" rtlCol="0" anchor="t"/>
          <a:lstStyle/>
          <a:p>
            <a:pPr marL="0" indent="0">
              <a:buNone/>
            </a:pPr>
            <a:r>
              <a:rPr lang="en-US" sz="780" b="1" kern="0" spc="50" dirty="0">
                <a:solidFill>
                  <a:srgbClr val="C1501D"/>
                </a:solidFill>
                <a:latin typeface="Calibri" pitchFamily="34" charset="0"/>
                <a:ea typeface="Calibri" pitchFamily="34" charset="-122"/>
                <a:cs typeface="Calibri" pitchFamily="34" charset="-120"/>
              </a:rPr>
              <a:t>CLIENT</a:t>
            </a:r>
            <a:endParaRPr lang="en-US" sz="780" dirty="0"/>
          </a:p>
        </p:txBody>
      </p:sp>
      <p:sp>
        <p:nvSpPr>
          <p:cNvPr id="36" name="Text 34"/>
          <p:cNvSpPr/>
          <p:nvPr/>
        </p:nvSpPr>
        <p:spPr>
          <a:xfrm>
            <a:off x="1783080" y="6254496"/>
            <a:ext cx="5093208" cy="356616"/>
          </a:xfrm>
          <a:prstGeom prst="rect">
            <a:avLst/>
          </a:prstGeom>
          <a:noFill/>
          <a:ln/>
        </p:spPr>
        <p:txBody>
          <a:bodyPr wrap="square" rtlCol="0" anchor="t"/>
          <a:lstStyle/>
          <a:p>
            <a:pPr marL="0" indent="0">
              <a:lnSpc>
                <a:spcPct val="112000"/>
              </a:lnSpc>
              <a:buNone/>
            </a:pPr>
            <a:r>
              <a:rPr lang="en-US" sz="860" dirty="0">
                <a:solidFill>
                  <a:srgbClr val="2B2A27"/>
                </a:solidFill>
                <a:latin typeface="Calibri" pitchFamily="34" charset="0"/>
                <a:ea typeface="Calibri" pitchFamily="34" charset="-122"/>
                <a:cs typeface="Calibri" pitchFamily="34" charset="-120"/>
              </a:rPr>
              <a:t>An institutional owner developing four internationally branded hotels within a flagship Riyadh financial and technology district.</a:t>
            </a:r>
            <a:endParaRPr lang="en-US" sz="860" dirty="0"/>
          </a:p>
        </p:txBody>
      </p:sp>
      <p:sp>
        <p:nvSpPr>
          <p:cNvPr id="37" name="Text 35"/>
          <p:cNvSpPr/>
          <p:nvPr/>
        </p:nvSpPr>
        <p:spPr>
          <a:xfrm>
            <a:off x="685800" y="6656832"/>
            <a:ext cx="1051560" cy="356616"/>
          </a:xfrm>
          <a:prstGeom prst="rect">
            <a:avLst/>
          </a:prstGeom>
          <a:noFill/>
          <a:ln/>
        </p:spPr>
        <p:txBody>
          <a:bodyPr wrap="square" rtlCol="0" anchor="t"/>
          <a:lstStyle/>
          <a:p>
            <a:pPr marL="0" indent="0">
              <a:buNone/>
            </a:pPr>
            <a:r>
              <a:rPr lang="en-US" sz="780" b="1" kern="0" spc="50" dirty="0">
                <a:solidFill>
                  <a:srgbClr val="C1501D"/>
                </a:solidFill>
                <a:latin typeface="Calibri" pitchFamily="34" charset="0"/>
                <a:ea typeface="Calibri" pitchFamily="34" charset="-122"/>
                <a:cs typeface="Calibri" pitchFamily="34" charset="-120"/>
              </a:rPr>
              <a:t>CHALLENGE</a:t>
            </a:r>
            <a:endParaRPr lang="en-US" sz="780" dirty="0"/>
          </a:p>
        </p:txBody>
      </p:sp>
      <p:sp>
        <p:nvSpPr>
          <p:cNvPr id="38" name="Text 36"/>
          <p:cNvSpPr/>
          <p:nvPr/>
        </p:nvSpPr>
        <p:spPr>
          <a:xfrm>
            <a:off x="1783080" y="6656832"/>
            <a:ext cx="5093208" cy="356616"/>
          </a:xfrm>
          <a:prstGeom prst="rect">
            <a:avLst/>
          </a:prstGeom>
          <a:noFill/>
          <a:ln/>
        </p:spPr>
        <p:txBody>
          <a:bodyPr wrap="square" rtlCol="0" anchor="t"/>
          <a:lstStyle/>
          <a:p>
            <a:pPr marL="0" indent="0">
              <a:lnSpc>
                <a:spcPct val="112000"/>
              </a:lnSpc>
              <a:buNone/>
            </a:pPr>
            <a:r>
              <a:rPr lang="en-US" sz="860" dirty="0">
                <a:solidFill>
                  <a:srgbClr val="2B2A27"/>
                </a:solidFill>
                <a:latin typeface="Calibri" pitchFamily="34" charset="0"/>
                <a:ea typeface="Calibri" pitchFamily="34" charset="-122"/>
                <a:cs typeface="Calibri" pitchFamily="34" charset="-120"/>
              </a:rPr>
              <a:t>Supporting owner interests across HMA governance, technical services, procurement and OS&amp;E review, and operator handover, across four concurrent projects.</a:t>
            </a:r>
            <a:endParaRPr lang="en-US" sz="860" dirty="0"/>
          </a:p>
        </p:txBody>
      </p:sp>
      <p:sp>
        <p:nvSpPr>
          <p:cNvPr id="39" name="Text 37"/>
          <p:cNvSpPr/>
          <p:nvPr/>
        </p:nvSpPr>
        <p:spPr>
          <a:xfrm>
            <a:off x="685800" y="7059168"/>
            <a:ext cx="1051560" cy="356616"/>
          </a:xfrm>
          <a:prstGeom prst="rect">
            <a:avLst/>
          </a:prstGeom>
          <a:noFill/>
          <a:ln/>
        </p:spPr>
        <p:txBody>
          <a:bodyPr wrap="square" rtlCol="0" anchor="t"/>
          <a:lstStyle/>
          <a:p>
            <a:pPr marL="0" indent="0">
              <a:buNone/>
            </a:pPr>
            <a:r>
              <a:rPr lang="en-US" sz="780" b="1" kern="0" spc="50" dirty="0">
                <a:solidFill>
                  <a:srgbClr val="C1501D"/>
                </a:solidFill>
                <a:latin typeface="Calibri" pitchFamily="34" charset="0"/>
                <a:ea typeface="Calibri" pitchFamily="34" charset="-122"/>
                <a:cs typeface="Calibri" pitchFamily="34" charset="-120"/>
              </a:rPr>
              <a:t>APPROACH</a:t>
            </a:r>
            <a:endParaRPr lang="en-US" sz="780" dirty="0"/>
          </a:p>
        </p:txBody>
      </p:sp>
      <p:sp>
        <p:nvSpPr>
          <p:cNvPr id="40" name="Text 38"/>
          <p:cNvSpPr/>
          <p:nvPr/>
        </p:nvSpPr>
        <p:spPr>
          <a:xfrm>
            <a:off x="1783080" y="7059168"/>
            <a:ext cx="5093208" cy="356616"/>
          </a:xfrm>
          <a:prstGeom prst="rect">
            <a:avLst/>
          </a:prstGeom>
          <a:noFill/>
          <a:ln/>
        </p:spPr>
        <p:txBody>
          <a:bodyPr wrap="square" rtlCol="0" anchor="t"/>
          <a:lstStyle/>
          <a:p>
            <a:pPr marL="0" indent="0">
              <a:lnSpc>
                <a:spcPct val="112000"/>
              </a:lnSpc>
              <a:buNone/>
            </a:pPr>
            <a:r>
              <a:rPr lang="en-US" sz="860" dirty="0">
                <a:solidFill>
                  <a:srgbClr val="2B2A27"/>
                </a:solidFill>
                <a:latin typeface="Calibri" pitchFamily="34" charset="0"/>
                <a:ea typeface="Calibri" pitchFamily="34" charset="-122"/>
                <a:cs typeface="Calibri" pitchFamily="34" charset="-120"/>
              </a:rPr>
              <a:t>A dedicated owner-representation office: HMA compliance monitoring, design and procurement challenge, milestone-based contractor management, and structured building-handover protocols.</a:t>
            </a:r>
            <a:endParaRPr lang="en-US" sz="860" dirty="0"/>
          </a:p>
        </p:txBody>
      </p:sp>
      <p:sp>
        <p:nvSpPr>
          <p:cNvPr id="41" name="Text 39"/>
          <p:cNvSpPr/>
          <p:nvPr/>
        </p:nvSpPr>
        <p:spPr>
          <a:xfrm>
            <a:off x="685800" y="7461504"/>
            <a:ext cx="1051560" cy="356616"/>
          </a:xfrm>
          <a:prstGeom prst="rect">
            <a:avLst/>
          </a:prstGeom>
          <a:noFill/>
          <a:ln/>
        </p:spPr>
        <p:txBody>
          <a:bodyPr wrap="square" rtlCol="0" anchor="t"/>
          <a:lstStyle/>
          <a:p>
            <a:pPr marL="0" indent="0">
              <a:buNone/>
            </a:pPr>
            <a:r>
              <a:rPr lang="en-US" sz="780" b="1" kern="0" spc="50" dirty="0">
                <a:solidFill>
                  <a:srgbClr val="C1501D"/>
                </a:solidFill>
                <a:latin typeface="Calibri" pitchFamily="34" charset="0"/>
                <a:ea typeface="Calibri" pitchFamily="34" charset="-122"/>
                <a:cs typeface="Calibri" pitchFamily="34" charset="-120"/>
              </a:rPr>
              <a:t>OUTCOME</a:t>
            </a:r>
            <a:endParaRPr lang="en-US" sz="780" dirty="0"/>
          </a:p>
        </p:txBody>
      </p:sp>
      <p:sp>
        <p:nvSpPr>
          <p:cNvPr id="42" name="Text 40"/>
          <p:cNvSpPr/>
          <p:nvPr/>
        </p:nvSpPr>
        <p:spPr>
          <a:xfrm>
            <a:off x="1783080" y="7461504"/>
            <a:ext cx="5093208" cy="356616"/>
          </a:xfrm>
          <a:prstGeom prst="rect">
            <a:avLst/>
          </a:prstGeom>
          <a:noFill/>
          <a:ln/>
        </p:spPr>
        <p:txBody>
          <a:bodyPr wrap="square" rtlCol="0" anchor="t"/>
          <a:lstStyle/>
          <a:p>
            <a:pPr marL="0" indent="0">
              <a:lnSpc>
                <a:spcPct val="112000"/>
              </a:lnSpc>
              <a:buNone/>
            </a:pPr>
            <a:r>
              <a:rPr lang="en-US" sz="860" dirty="0">
                <a:solidFill>
                  <a:srgbClr val="2B2A27"/>
                </a:solidFill>
                <a:latin typeface="Calibri" pitchFamily="34" charset="0"/>
                <a:ea typeface="Calibri" pitchFamily="34" charset="-122"/>
                <a:cs typeface="Calibri" pitchFamily="34" charset="-120"/>
              </a:rPr>
              <a:t>Owner interests supported across all four assets: budgets defended, claims mitigated, and handovers executed to operator acceptance without material value erosion.</a:t>
            </a:r>
            <a:endParaRPr lang="en-US" sz="860" dirty="0"/>
          </a:p>
        </p:txBody>
      </p:sp>
      <p:sp>
        <p:nvSpPr>
          <p:cNvPr id="43" name="Shape 41"/>
          <p:cNvSpPr/>
          <p:nvPr/>
        </p:nvSpPr>
        <p:spPr>
          <a:xfrm>
            <a:off x="685800" y="7973568"/>
            <a:ext cx="1419606" cy="457200"/>
          </a:xfrm>
          <a:prstGeom prst="roundRect">
            <a:avLst>
              <a:gd name="adj" fmla="val 8000"/>
            </a:avLst>
          </a:prstGeom>
          <a:solidFill>
            <a:srgbClr val="0B1B2B"/>
          </a:solidFill>
          <a:ln/>
        </p:spPr>
      </p:sp>
      <p:sp>
        <p:nvSpPr>
          <p:cNvPr id="44" name="Text 42"/>
          <p:cNvSpPr/>
          <p:nvPr/>
        </p:nvSpPr>
        <p:spPr>
          <a:xfrm>
            <a:off x="685800" y="8001000"/>
            <a:ext cx="1419606" cy="246888"/>
          </a:xfrm>
          <a:prstGeom prst="rect">
            <a:avLst/>
          </a:prstGeom>
          <a:noFill/>
          <a:ln/>
        </p:spPr>
        <p:txBody>
          <a:bodyPr wrap="square" rtlCol="0" anchor="ctr"/>
          <a:lstStyle/>
          <a:p>
            <a:pPr marL="0" indent="0" algn="ctr">
              <a:buNone/>
            </a:pPr>
            <a:r>
              <a:rPr lang="en-US" sz="1300" b="1" dirty="0">
                <a:solidFill>
                  <a:srgbClr val="E4C98A"/>
                </a:solidFill>
                <a:latin typeface="Cambria" pitchFamily="34" charset="0"/>
                <a:ea typeface="Cambria" pitchFamily="34" charset="-122"/>
                <a:cs typeface="Cambria" pitchFamily="34" charset="-120"/>
              </a:rPr>
              <a:t>4</a:t>
            </a:r>
            <a:endParaRPr lang="en-US" sz="1300" dirty="0"/>
          </a:p>
        </p:txBody>
      </p:sp>
      <p:sp>
        <p:nvSpPr>
          <p:cNvPr id="45" name="Text 43"/>
          <p:cNvSpPr/>
          <p:nvPr/>
        </p:nvSpPr>
        <p:spPr>
          <a:xfrm>
            <a:off x="713232" y="8247888"/>
            <a:ext cx="1364742" cy="164592"/>
          </a:xfrm>
          <a:prstGeom prst="rect">
            <a:avLst/>
          </a:prstGeom>
          <a:noFill/>
          <a:ln/>
        </p:spPr>
        <p:txBody>
          <a:bodyPr wrap="square" rtlCol="0" anchor="ctr"/>
          <a:lstStyle/>
          <a:p>
            <a:pPr marL="0" indent="0" algn="ctr">
              <a:buNone/>
            </a:pPr>
            <a:r>
              <a:rPr lang="en-US" sz="650" dirty="0">
                <a:solidFill>
                  <a:srgbClr val="B9C3CC"/>
                </a:solidFill>
                <a:latin typeface="Calibri" pitchFamily="34" charset="0"/>
                <a:ea typeface="Calibri" pitchFamily="34" charset="-122"/>
                <a:cs typeface="Calibri" pitchFamily="34" charset="-120"/>
              </a:rPr>
              <a:t>branded assets</a:t>
            </a:r>
            <a:endParaRPr lang="en-US" sz="650" dirty="0"/>
          </a:p>
        </p:txBody>
      </p:sp>
      <p:sp>
        <p:nvSpPr>
          <p:cNvPr id="46" name="Shape 44"/>
          <p:cNvSpPr/>
          <p:nvPr/>
        </p:nvSpPr>
        <p:spPr>
          <a:xfrm>
            <a:off x="2215134" y="7973568"/>
            <a:ext cx="1419606" cy="457200"/>
          </a:xfrm>
          <a:prstGeom prst="roundRect">
            <a:avLst>
              <a:gd name="adj" fmla="val 8000"/>
            </a:avLst>
          </a:prstGeom>
          <a:solidFill>
            <a:srgbClr val="0B1B2B"/>
          </a:solidFill>
          <a:ln/>
        </p:spPr>
      </p:sp>
      <p:sp>
        <p:nvSpPr>
          <p:cNvPr id="47" name="Text 45"/>
          <p:cNvSpPr/>
          <p:nvPr/>
        </p:nvSpPr>
        <p:spPr>
          <a:xfrm>
            <a:off x="2215134" y="8001000"/>
            <a:ext cx="1419606" cy="246888"/>
          </a:xfrm>
          <a:prstGeom prst="rect">
            <a:avLst/>
          </a:prstGeom>
          <a:noFill/>
          <a:ln/>
        </p:spPr>
        <p:txBody>
          <a:bodyPr wrap="square" rtlCol="0" anchor="ctr"/>
          <a:lstStyle/>
          <a:p>
            <a:pPr marL="0" indent="0" algn="ctr">
              <a:buNone/>
            </a:pPr>
            <a:r>
              <a:rPr lang="en-US" sz="1300" b="1" dirty="0">
                <a:solidFill>
                  <a:srgbClr val="E4C98A"/>
                </a:solidFill>
                <a:latin typeface="Cambria" pitchFamily="34" charset="0"/>
                <a:ea typeface="Cambria" pitchFamily="34" charset="-122"/>
                <a:cs typeface="Cambria" pitchFamily="34" charset="-120"/>
              </a:rPr>
              <a:t>HMA</a:t>
            </a:r>
            <a:endParaRPr lang="en-US" sz="1300" dirty="0"/>
          </a:p>
        </p:txBody>
      </p:sp>
      <p:sp>
        <p:nvSpPr>
          <p:cNvPr id="48" name="Text 46"/>
          <p:cNvSpPr/>
          <p:nvPr/>
        </p:nvSpPr>
        <p:spPr>
          <a:xfrm>
            <a:off x="2242566" y="8247888"/>
            <a:ext cx="1364742" cy="164592"/>
          </a:xfrm>
          <a:prstGeom prst="rect">
            <a:avLst/>
          </a:prstGeom>
          <a:noFill/>
          <a:ln/>
        </p:spPr>
        <p:txBody>
          <a:bodyPr wrap="square" rtlCol="0" anchor="ctr"/>
          <a:lstStyle/>
          <a:p>
            <a:pPr marL="0" indent="0" algn="ctr">
              <a:buNone/>
            </a:pPr>
            <a:r>
              <a:rPr lang="en-US" sz="650" dirty="0">
                <a:solidFill>
                  <a:srgbClr val="B9C3CC"/>
                </a:solidFill>
                <a:latin typeface="Calibri" pitchFamily="34" charset="0"/>
                <a:ea typeface="Calibri" pitchFamily="34" charset="-122"/>
                <a:cs typeface="Calibri" pitchFamily="34" charset="-120"/>
              </a:rPr>
              <a:t>full agreement governance</a:t>
            </a:r>
            <a:endParaRPr lang="en-US" sz="650" dirty="0"/>
          </a:p>
        </p:txBody>
      </p:sp>
      <p:sp>
        <p:nvSpPr>
          <p:cNvPr id="49" name="Shape 47"/>
          <p:cNvSpPr/>
          <p:nvPr/>
        </p:nvSpPr>
        <p:spPr>
          <a:xfrm>
            <a:off x="3744468" y="7973568"/>
            <a:ext cx="1419606" cy="457200"/>
          </a:xfrm>
          <a:prstGeom prst="roundRect">
            <a:avLst>
              <a:gd name="adj" fmla="val 8000"/>
            </a:avLst>
          </a:prstGeom>
          <a:solidFill>
            <a:srgbClr val="0B1B2B"/>
          </a:solidFill>
          <a:ln/>
        </p:spPr>
      </p:sp>
      <p:sp>
        <p:nvSpPr>
          <p:cNvPr id="50" name="Text 48"/>
          <p:cNvSpPr/>
          <p:nvPr/>
        </p:nvSpPr>
        <p:spPr>
          <a:xfrm>
            <a:off x="3744468" y="8001000"/>
            <a:ext cx="1419606" cy="246888"/>
          </a:xfrm>
          <a:prstGeom prst="rect">
            <a:avLst/>
          </a:prstGeom>
          <a:noFill/>
          <a:ln/>
        </p:spPr>
        <p:txBody>
          <a:bodyPr wrap="square" rtlCol="0" anchor="ctr"/>
          <a:lstStyle/>
          <a:p>
            <a:pPr marL="0" indent="0" algn="ctr">
              <a:buNone/>
            </a:pPr>
            <a:r>
              <a:rPr lang="en-US" sz="1300" b="1" dirty="0">
                <a:solidFill>
                  <a:srgbClr val="E4C98A"/>
                </a:solidFill>
                <a:latin typeface="Cambria" pitchFamily="34" charset="0"/>
                <a:ea typeface="Cambria" pitchFamily="34" charset="-122"/>
                <a:cs typeface="Cambria" pitchFamily="34" charset="-120"/>
              </a:rPr>
              <a:t>OS&amp;E</a:t>
            </a:r>
            <a:endParaRPr lang="en-US" sz="1300" dirty="0"/>
          </a:p>
        </p:txBody>
      </p:sp>
      <p:sp>
        <p:nvSpPr>
          <p:cNvPr id="51" name="Text 49"/>
          <p:cNvSpPr/>
          <p:nvPr/>
        </p:nvSpPr>
        <p:spPr>
          <a:xfrm>
            <a:off x="3771900" y="8247888"/>
            <a:ext cx="1364742" cy="164592"/>
          </a:xfrm>
          <a:prstGeom prst="rect">
            <a:avLst/>
          </a:prstGeom>
          <a:noFill/>
          <a:ln/>
        </p:spPr>
        <p:txBody>
          <a:bodyPr wrap="square" rtlCol="0" anchor="ctr"/>
          <a:lstStyle/>
          <a:p>
            <a:pPr marL="0" indent="0" algn="ctr">
              <a:buNone/>
            </a:pPr>
            <a:r>
              <a:rPr lang="en-US" sz="650" dirty="0">
                <a:solidFill>
                  <a:srgbClr val="B9C3CC"/>
                </a:solidFill>
                <a:latin typeface="Calibri" pitchFamily="34" charset="0"/>
                <a:ea typeface="Calibri" pitchFamily="34" charset="-122"/>
                <a:cs typeface="Calibri" pitchFamily="34" charset="-120"/>
              </a:rPr>
              <a:t>procurement review</a:t>
            </a:r>
            <a:endParaRPr lang="en-US" sz="650" dirty="0"/>
          </a:p>
        </p:txBody>
      </p:sp>
      <p:sp>
        <p:nvSpPr>
          <p:cNvPr id="52" name="Shape 50"/>
          <p:cNvSpPr/>
          <p:nvPr/>
        </p:nvSpPr>
        <p:spPr>
          <a:xfrm>
            <a:off x="5273802" y="7973568"/>
            <a:ext cx="1419606" cy="457200"/>
          </a:xfrm>
          <a:prstGeom prst="roundRect">
            <a:avLst>
              <a:gd name="adj" fmla="val 8000"/>
            </a:avLst>
          </a:prstGeom>
          <a:solidFill>
            <a:srgbClr val="0B1B2B"/>
          </a:solidFill>
          <a:ln/>
        </p:spPr>
      </p:sp>
      <p:sp>
        <p:nvSpPr>
          <p:cNvPr id="53" name="Text 51"/>
          <p:cNvSpPr/>
          <p:nvPr/>
        </p:nvSpPr>
        <p:spPr>
          <a:xfrm>
            <a:off x="5273802" y="8001000"/>
            <a:ext cx="1419606" cy="246888"/>
          </a:xfrm>
          <a:prstGeom prst="rect">
            <a:avLst/>
          </a:prstGeom>
          <a:noFill/>
          <a:ln/>
        </p:spPr>
        <p:txBody>
          <a:bodyPr wrap="square" rtlCol="0" anchor="ctr"/>
          <a:lstStyle/>
          <a:p>
            <a:pPr marL="0" indent="0" algn="ctr">
              <a:buNone/>
            </a:pPr>
            <a:r>
              <a:rPr lang="en-US" sz="1300" b="1" dirty="0">
                <a:solidFill>
                  <a:srgbClr val="E4C98A"/>
                </a:solidFill>
                <a:latin typeface="Cambria" pitchFamily="34" charset="0"/>
                <a:ea typeface="Cambria" pitchFamily="34" charset="-122"/>
                <a:cs typeface="Cambria" pitchFamily="34" charset="-120"/>
              </a:rPr>
              <a:t>100%</a:t>
            </a:r>
            <a:endParaRPr lang="en-US" sz="1300" dirty="0"/>
          </a:p>
        </p:txBody>
      </p:sp>
      <p:sp>
        <p:nvSpPr>
          <p:cNvPr id="54" name="Text 52"/>
          <p:cNvSpPr/>
          <p:nvPr/>
        </p:nvSpPr>
        <p:spPr>
          <a:xfrm>
            <a:off x="5301234" y="8247888"/>
            <a:ext cx="1364742" cy="164592"/>
          </a:xfrm>
          <a:prstGeom prst="rect">
            <a:avLst/>
          </a:prstGeom>
          <a:noFill/>
          <a:ln/>
        </p:spPr>
        <p:txBody>
          <a:bodyPr wrap="square" rtlCol="0" anchor="ctr"/>
          <a:lstStyle/>
          <a:p>
            <a:pPr marL="0" indent="0" algn="ctr">
              <a:buNone/>
            </a:pPr>
            <a:r>
              <a:rPr lang="en-US" sz="650" dirty="0">
                <a:solidFill>
                  <a:srgbClr val="B9C3CC"/>
                </a:solidFill>
                <a:latin typeface="Calibri" pitchFamily="34" charset="0"/>
                <a:ea typeface="Calibri" pitchFamily="34" charset="-122"/>
                <a:cs typeface="Calibri" pitchFamily="34" charset="-120"/>
              </a:rPr>
              <a:t>handovers accepted</a:t>
            </a:r>
            <a:endParaRPr lang="en-US" sz="650" dirty="0"/>
          </a:p>
        </p:txBody>
      </p:sp>
      <p:sp>
        <p:nvSpPr>
          <p:cNvPr id="55" name="Shape 53"/>
          <p:cNvSpPr/>
          <p:nvPr/>
        </p:nvSpPr>
        <p:spPr>
          <a:xfrm>
            <a:off x="502920" y="10186416"/>
            <a:ext cx="6556248" cy="0"/>
          </a:xfrm>
          <a:prstGeom prst="line">
            <a:avLst/>
          </a:prstGeom>
          <a:noFill/>
          <a:ln w="9525">
            <a:solidFill>
              <a:srgbClr val="E4DDCB"/>
            </a:solidFill>
            <a:prstDash val="solid"/>
          </a:ln>
        </p:spPr>
      </p:sp>
      <p:sp>
        <p:nvSpPr>
          <p:cNvPr id="56" name="Text 54"/>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6B675F"/>
                </a:solidFill>
                <a:latin typeface="Calibri" pitchFamily="34" charset="0"/>
                <a:ea typeface="Calibri" pitchFamily="34" charset="-122"/>
                <a:cs typeface="Calibri" pitchFamily="34" charset="-120"/>
              </a:rPr>
              <a:t>ALTUS GULF</a:t>
            </a:r>
            <a:endParaRPr lang="en-US" sz="850" dirty="0"/>
          </a:p>
        </p:txBody>
      </p:sp>
      <p:sp>
        <p:nvSpPr>
          <p:cNvPr id="57" name="Text 55"/>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6B675F"/>
                </a:solidFill>
                <a:latin typeface="Calibri" pitchFamily="34" charset="0"/>
                <a:ea typeface="Calibri" pitchFamily="34" charset="-122"/>
                <a:cs typeface="Calibri" pitchFamily="34" charset="-120"/>
              </a:rPr>
              <a:t>CORPORATE PROFILE  •  17</a:t>
            </a:r>
            <a:endParaRPr lang="en-US" sz="85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C1501D"/>
                </a:solidFill>
                <a:latin typeface="Calibri" pitchFamily="34" charset="0"/>
                <a:ea typeface="Calibri" pitchFamily="34" charset="-122"/>
                <a:cs typeface="Calibri" pitchFamily="34" charset="-120"/>
              </a:rPr>
              <a:t>16  •  EXECUTIVE LEADERSHIP</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a:solidFill>
                  <a:srgbClr val="0B1B2B"/>
                </a:solidFill>
                <a:latin typeface="Cambria" pitchFamily="34" charset="0"/>
                <a:ea typeface="Cambria" pitchFamily="34" charset="-122"/>
                <a:cs typeface="Cambria" pitchFamily="34" charset="-120"/>
              </a:rPr>
              <a:t>Islam Mahrous</a:t>
            </a:r>
            <a:endParaRPr lang="en-US" sz="2700" dirty="0"/>
          </a:p>
        </p:txBody>
      </p:sp>
      <p:pic>
        <p:nvPicPr>
          <p:cNvPr id="4" name="Image 0" descr="/home/claude/assets/monogram.png"/>
          <p:cNvPicPr>
            <a:picLocks noChangeAspect="1"/>
          </p:cNvPicPr>
          <p:nvPr/>
        </p:nvPicPr>
        <p:blipFill>
          <a:blip r:embed="rId3">
            <a:alphaModFix amt="20000"/>
          </a:blip>
          <a:stretch>
            <a:fillRect/>
          </a:stretch>
        </p:blipFill>
        <p:spPr>
          <a:xfrm>
            <a:off x="1371600" y="2377440"/>
            <a:ext cx="1051560" cy="898855"/>
          </a:xfrm>
          <a:prstGeom prst="rect">
            <a:avLst/>
          </a:prstGeom>
        </p:spPr>
      </p:pic>
      <p:sp>
        <p:nvSpPr>
          <p:cNvPr id="5" name="Shape 2"/>
          <p:cNvSpPr/>
          <p:nvPr/>
        </p:nvSpPr>
        <p:spPr>
          <a:xfrm>
            <a:off x="502920" y="1417320"/>
            <a:ext cx="1737360" cy="1737360"/>
          </a:xfrm>
          <a:prstGeom prst="ellipse">
            <a:avLst/>
          </a:prstGeom>
          <a:solidFill>
            <a:srgbClr val="F3EEE4"/>
          </a:solidFill>
          <a:ln w="28575">
            <a:solidFill>
              <a:srgbClr val="C9A15A"/>
            </a:solidFill>
            <a:prstDash val="solid"/>
          </a:ln>
        </p:spPr>
      </p:sp>
      <p:pic>
        <p:nvPicPr>
          <p:cNvPr id="6" name="Image 1" descr="/home/claude/assets/founder_islam.jpg"/>
          <p:cNvPicPr>
            <a:picLocks noChangeAspect="1"/>
          </p:cNvPicPr>
          <p:nvPr/>
        </p:nvPicPr>
        <p:blipFill>
          <a:blip r:embed="rId4"/>
          <a:stretch>
            <a:fillRect/>
          </a:stretch>
        </p:blipFill>
        <p:spPr>
          <a:xfrm>
            <a:off x="589788" y="1504188"/>
            <a:ext cx="1563624" cy="1563624"/>
          </a:xfrm>
          <a:prstGeom prst="ellipse">
            <a:avLst/>
          </a:prstGeom>
        </p:spPr>
      </p:pic>
      <p:sp>
        <p:nvSpPr>
          <p:cNvPr id="7" name="Text 3"/>
          <p:cNvSpPr/>
          <p:nvPr/>
        </p:nvSpPr>
        <p:spPr>
          <a:xfrm>
            <a:off x="2514600" y="1435608"/>
            <a:ext cx="4544568" cy="548640"/>
          </a:xfrm>
          <a:prstGeom prst="rect">
            <a:avLst/>
          </a:prstGeom>
          <a:noFill/>
          <a:ln/>
        </p:spPr>
        <p:txBody>
          <a:bodyPr wrap="square" rtlCol="0" anchor="ctr"/>
          <a:lstStyle/>
          <a:p>
            <a:pPr marL="0" indent="0">
              <a:lnSpc>
                <a:spcPct val="120000"/>
              </a:lnSpc>
              <a:buNone/>
            </a:pPr>
            <a:r>
              <a:rPr lang="en-US" sz="1250" b="1" dirty="0">
                <a:solidFill>
                  <a:srgbClr val="0F5C42"/>
                </a:solidFill>
                <a:latin typeface="Calibri" pitchFamily="34" charset="0"/>
                <a:ea typeface="Calibri" pitchFamily="34" charset="-122"/>
                <a:cs typeface="Calibri" pitchFamily="34" charset="-120"/>
              </a:rPr>
              <a:t>CO-FOUNDER: BRAND, COMMERCIAL STRATEGY &amp; AI-DRIVEN DIGITAL TRANSFORMATION</a:t>
            </a:r>
            <a:endParaRPr lang="en-US" sz="1250" dirty="0"/>
          </a:p>
        </p:txBody>
      </p:sp>
      <p:sp>
        <p:nvSpPr>
          <p:cNvPr id="8" name="Text 4"/>
          <p:cNvSpPr/>
          <p:nvPr/>
        </p:nvSpPr>
        <p:spPr>
          <a:xfrm>
            <a:off x="2514600" y="2075688"/>
            <a:ext cx="4544568" cy="1143000"/>
          </a:xfrm>
          <a:prstGeom prst="rect">
            <a:avLst/>
          </a:prstGeom>
          <a:noFill/>
          <a:ln/>
        </p:spPr>
        <p:txBody>
          <a:bodyPr wrap="square" rtlCol="0" anchor="t"/>
          <a:lstStyle/>
          <a:p>
            <a:pPr marL="0" indent="0">
              <a:lnSpc>
                <a:spcPct val="128000"/>
              </a:lnSpc>
              <a:buNone/>
            </a:pPr>
            <a:r>
              <a:rPr lang="en-US" sz="1030" dirty="0">
                <a:solidFill>
                  <a:srgbClr val="2B2A27"/>
                </a:solidFill>
                <a:latin typeface="Calibri" pitchFamily="34" charset="0"/>
                <a:ea typeface="Calibri" pitchFamily="34" charset="-122"/>
                <a:cs typeface="Calibri" pitchFamily="34" charset="-120"/>
              </a:rPr>
              <a:t>Islam is the firm's growth innovator and its forward-looking technological edge: the bridge between traditional business models and the demands of the modern era. Across three decades of multi-brand leadership with Marriott, IHG, Starwood, and Accor, and independent asset management across Saudi Arabia, the GCC, Egypt, and North Africa, he has shown entrepreneurs and investors alike that digital modernisation and brand clarity can be direct, measurable drivers of enterprise value. He is the product architect of the Altus Gulf Hospitality Knowledge &amp; Performance platform.</a:t>
            </a:r>
            <a:endParaRPr lang="en-US" sz="1030" dirty="0"/>
          </a:p>
        </p:txBody>
      </p:sp>
      <p:sp>
        <p:nvSpPr>
          <p:cNvPr id="9" name="Text 5"/>
          <p:cNvSpPr/>
          <p:nvPr/>
        </p:nvSpPr>
        <p:spPr>
          <a:xfrm>
            <a:off x="502920" y="3566160"/>
            <a:ext cx="6556248" cy="237744"/>
          </a:xfrm>
          <a:prstGeom prst="rect">
            <a:avLst/>
          </a:prstGeom>
          <a:noFill/>
          <a:ln/>
        </p:spPr>
        <p:txBody>
          <a:bodyPr wrap="square" rtlCol="0" anchor="ctr"/>
          <a:lstStyle/>
          <a:p>
            <a:pPr marL="0" indent="0">
              <a:buNone/>
            </a:pPr>
            <a:r>
              <a:rPr lang="en-US" sz="1050" b="1" kern="0" spc="120" dirty="0">
                <a:solidFill>
                  <a:srgbClr val="C1501D"/>
                </a:solidFill>
                <a:latin typeface="Calibri" pitchFamily="34" charset="0"/>
                <a:ea typeface="Calibri" pitchFamily="34" charset="-122"/>
                <a:cs typeface="Calibri" pitchFamily="34" charset="-120"/>
              </a:rPr>
              <a:t>TRACK RECORD</a:t>
            </a:r>
            <a:endParaRPr lang="en-US" sz="1050" dirty="0"/>
          </a:p>
        </p:txBody>
      </p:sp>
      <p:sp>
        <p:nvSpPr>
          <p:cNvPr id="10" name="Shape 6"/>
          <p:cNvSpPr/>
          <p:nvPr/>
        </p:nvSpPr>
        <p:spPr>
          <a:xfrm>
            <a:off x="502920" y="3963924"/>
            <a:ext cx="73152" cy="73152"/>
          </a:xfrm>
          <a:prstGeom prst="ellipse">
            <a:avLst/>
          </a:prstGeom>
          <a:solidFill>
            <a:srgbClr val="0F5C42"/>
          </a:solidFill>
          <a:ln/>
        </p:spPr>
      </p:sp>
      <p:sp>
        <p:nvSpPr>
          <p:cNvPr id="11" name="Text 7"/>
          <p:cNvSpPr/>
          <p:nvPr/>
        </p:nvSpPr>
        <p:spPr>
          <a:xfrm>
            <a:off x="704088" y="3895344"/>
            <a:ext cx="6355080" cy="493776"/>
          </a:xfrm>
          <a:prstGeom prst="rect">
            <a:avLst/>
          </a:prstGeom>
          <a:noFill/>
          <a:ln/>
        </p:spPr>
        <p:txBody>
          <a:bodyPr wrap="square" rtlCol="0" anchor="t"/>
          <a:lstStyle/>
          <a:p>
            <a:pPr marL="0" indent="0">
              <a:lnSpc>
                <a:spcPct val="124000"/>
              </a:lnSpc>
              <a:buNone/>
            </a:pPr>
            <a:r>
              <a:rPr lang="en-US" sz="1040" dirty="0">
                <a:solidFill>
                  <a:srgbClr val="2B2A27"/>
                </a:solidFill>
                <a:latin typeface="Calibri" pitchFamily="34" charset="0"/>
                <a:ea typeface="Calibri" pitchFamily="34" charset="-122"/>
                <a:cs typeface="Calibri" pitchFamily="34" charset="-120"/>
              </a:rPr>
              <a:t>30+ years of multi-brand hospitality leadership across the GCC, Egypt, and North Africa: Marriott, IHG, Starwood, and Accor systems.</a:t>
            </a:r>
            <a:endParaRPr lang="en-US" sz="1040" dirty="0"/>
          </a:p>
        </p:txBody>
      </p:sp>
      <p:sp>
        <p:nvSpPr>
          <p:cNvPr id="12" name="Shape 8"/>
          <p:cNvSpPr/>
          <p:nvPr/>
        </p:nvSpPr>
        <p:spPr>
          <a:xfrm>
            <a:off x="502920" y="4604004"/>
            <a:ext cx="73152" cy="73152"/>
          </a:xfrm>
          <a:prstGeom prst="ellipse">
            <a:avLst/>
          </a:prstGeom>
          <a:solidFill>
            <a:srgbClr val="0F5C42"/>
          </a:solidFill>
          <a:ln/>
        </p:spPr>
      </p:sp>
      <p:sp>
        <p:nvSpPr>
          <p:cNvPr id="13" name="Text 9"/>
          <p:cNvSpPr/>
          <p:nvPr/>
        </p:nvSpPr>
        <p:spPr>
          <a:xfrm>
            <a:off x="704088" y="4535424"/>
            <a:ext cx="6355080" cy="493776"/>
          </a:xfrm>
          <a:prstGeom prst="rect">
            <a:avLst/>
          </a:prstGeom>
          <a:noFill/>
          <a:ln/>
        </p:spPr>
        <p:txBody>
          <a:bodyPr wrap="square" rtlCol="0" anchor="t"/>
          <a:lstStyle/>
          <a:p>
            <a:pPr marL="0" indent="0">
              <a:lnSpc>
                <a:spcPct val="124000"/>
              </a:lnSpc>
              <a:buNone/>
            </a:pPr>
            <a:r>
              <a:rPr lang="en-US" sz="1040" dirty="0">
                <a:solidFill>
                  <a:srgbClr val="2B2A27"/>
                </a:solidFill>
                <a:latin typeface="Calibri" pitchFamily="34" charset="0"/>
                <a:ea typeface="Calibri" pitchFamily="34" charset="-122"/>
                <a:cs typeface="Calibri" pitchFamily="34" charset="-120"/>
              </a:rPr>
              <a:t>Led a flagship branded resort to No. 1 in Marriott's Egypt competitive set for six consecutive years: +25% RevPAR and +30% guest satisfaction with sustained GOP margin expansion.</a:t>
            </a:r>
            <a:endParaRPr lang="en-US" sz="1040" dirty="0"/>
          </a:p>
        </p:txBody>
      </p:sp>
      <p:sp>
        <p:nvSpPr>
          <p:cNvPr id="14" name="Shape 10"/>
          <p:cNvSpPr/>
          <p:nvPr/>
        </p:nvSpPr>
        <p:spPr>
          <a:xfrm>
            <a:off x="502920" y="5244084"/>
            <a:ext cx="73152" cy="73152"/>
          </a:xfrm>
          <a:prstGeom prst="ellipse">
            <a:avLst/>
          </a:prstGeom>
          <a:solidFill>
            <a:srgbClr val="0F5C42"/>
          </a:solidFill>
          <a:ln/>
        </p:spPr>
      </p:sp>
      <p:sp>
        <p:nvSpPr>
          <p:cNvPr id="15" name="Text 11"/>
          <p:cNvSpPr/>
          <p:nvPr/>
        </p:nvSpPr>
        <p:spPr>
          <a:xfrm>
            <a:off x="704088" y="5175504"/>
            <a:ext cx="6355080" cy="493776"/>
          </a:xfrm>
          <a:prstGeom prst="rect">
            <a:avLst/>
          </a:prstGeom>
          <a:noFill/>
          <a:ln/>
        </p:spPr>
        <p:txBody>
          <a:bodyPr wrap="square" rtlCol="0" anchor="t"/>
          <a:lstStyle/>
          <a:p>
            <a:pPr marL="0" indent="0">
              <a:lnSpc>
                <a:spcPct val="124000"/>
              </a:lnSpc>
              <a:buNone/>
            </a:pPr>
            <a:r>
              <a:rPr lang="en-US" sz="1040" dirty="0">
                <a:solidFill>
                  <a:srgbClr val="2B2A27"/>
                </a:solidFill>
                <a:latin typeface="Calibri" pitchFamily="34" charset="0"/>
                <a:ea typeface="Calibri" pitchFamily="34" charset="-122"/>
                <a:cs typeface="Calibri" pitchFamily="34" charset="-120"/>
              </a:rPr>
              <a:t>Mandated by Marriott International to lead operational excellence across 19 hotels in Egypt (3,000+ rooms), lifting guest satisfaction 10% and F&amp;B revenue 8% within 18 months.</a:t>
            </a:r>
            <a:endParaRPr lang="en-US" sz="1040" dirty="0"/>
          </a:p>
        </p:txBody>
      </p:sp>
      <p:sp>
        <p:nvSpPr>
          <p:cNvPr id="16" name="Shape 12"/>
          <p:cNvSpPr/>
          <p:nvPr/>
        </p:nvSpPr>
        <p:spPr>
          <a:xfrm>
            <a:off x="502920" y="5884164"/>
            <a:ext cx="73152" cy="73152"/>
          </a:xfrm>
          <a:prstGeom prst="ellipse">
            <a:avLst/>
          </a:prstGeom>
          <a:solidFill>
            <a:srgbClr val="0F5C42"/>
          </a:solidFill>
          <a:ln/>
        </p:spPr>
      </p:sp>
      <p:sp>
        <p:nvSpPr>
          <p:cNvPr id="17" name="Text 13"/>
          <p:cNvSpPr/>
          <p:nvPr/>
        </p:nvSpPr>
        <p:spPr>
          <a:xfrm>
            <a:off x="704088" y="5815584"/>
            <a:ext cx="6355080" cy="493776"/>
          </a:xfrm>
          <a:prstGeom prst="rect">
            <a:avLst/>
          </a:prstGeom>
          <a:noFill/>
          <a:ln/>
        </p:spPr>
        <p:txBody>
          <a:bodyPr wrap="square" rtlCol="0" anchor="t"/>
          <a:lstStyle/>
          <a:p>
            <a:pPr marL="0" indent="0">
              <a:lnSpc>
                <a:spcPct val="124000"/>
              </a:lnSpc>
              <a:buNone/>
            </a:pPr>
            <a:r>
              <a:rPr lang="en-US" sz="1040" dirty="0">
                <a:solidFill>
                  <a:srgbClr val="2B2A27"/>
                </a:solidFill>
                <a:latin typeface="Calibri" pitchFamily="34" charset="0"/>
                <a:ea typeface="Calibri" pitchFamily="34" charset="-122"/>
                <a:cs typeface="Calibri" pitchFamily="34" charset="-120"/>
              </a:rPr>
              <a:t>Directed five pre-opening projects across Saudi Arabia, Libya, Egypt, and West Africa: 1,700+ rooms delivered at 90–95% operational readiness.</a:t>
            </a:r>
            <a:endParaRPr lang="en-US" sz="1040" dirty="0"/>
          </a:p>
        </p:txBody>
      </p:sp>
      <p:sp>
        <p:nvSpPr>
          <p:cNvPr id="18" name="Shape 14"/>
          <p:cNvSpPr/>
          <p:nvPr/>
        </p:nvSpPr>
        <p:spPr>
          <a:xfrm>
            <a:off x="502920" y="6524244"/>
            <a:ext cx="73152" cy="73152"/>
          </a:xfrm>
          <a:prstGeom prst="ellipse">
            <a:avLst/>
          </a:prstGeom>
          <a:solidFill>
            <a:srgbClr val="0F5C42"/>
          </a:solidFill>
          <a:ln/>
        </p:spPr>
      </p:sp>
      <p:sp>
        <p:nvSpPr>
          <p:cNvPr id="19" name="Text 15"/>
          <p:cNvSpPr/>
          <p:nvPr/>
        </p:nvSpPr>
        <p:spPr>
          <a:xfrm>
            <a:off x="704088" y="6455664"/>
            <a:ext cx="6355080" cy="493776"/>
          </a:xfrm>
          <a:prstGeom prst="rect">
            <a:avLst/>
          </a:prstGeom>
          <a:noFill/>
          <a:ln/>
        </p:spPr>
        <p:txBody>
          <a:bodyPr wrap="square" rtlCol="0" anchor="t"/>
          <a:lstStyle/>
          <a:p>
            <a:pPr marL="0" indent="0">
              <a:lnSpc>
                <a:spcPct val="124000"/>
              </a:lnSpc>
              <a:buNone/>
            </a:pPr>
            <a:r>
              <a:rPr lang="en-US" sz="1040" dirty="0">
                <a:solidFill>
                  <a:srgbClr val="2B2A27"/>
                </a:solidFill>
                <a:latin typeface="Calibri" pitchFamily="34" charset="0"/>
                <a:ea typeface="Calibri" pitchFamily="34" charset="-122"/>
                <a:cs typeface="Calibri" pitchFamily="34" charset="-120"/>
              </a:rPr>
              <a:t>Six Sigma Black Belt: four certified DMAIC projects, including a guest-journey redesign saving USD 340K annually.</a:t>
            </a:r>
            <a:endParaRPr lang="en-US" sz="1040" dirty="0"/>
          </a:p>
        </p:txBody>
      </p:sp>
      <p:sp>
        <p:nvSpPr>
          <p:cNvPr id="20" name="Shape 16"/>
          <p:cNvSpPr/>
          <p:nvPr/>
        </p:nvSpPr>
        <p:spPr>
          <a:xfrm>
            <a:off x="502920" y="7164324"/>
            <a:ext cx="73152" cy="73152"/>
          </a:xfrm>
          <a:prstGeom prst="ellipse">
            <a:avLst/>
          </a:prstGeom>
          <a:solidFill>
            <a:srgbClr val="0F5C42"/>
          </a:solidFill>
          <a:ln/>
        </p:spPr>
      </p:sp>
      <p:sp>
        <p:nvSpPr>
          <p:cNvPr id="21" name="Text 17"/>
          <p:cNvSpPr/>
          <p:nvPr/>
        </p:nvSpPr>
        <p:spPr>
          <a:xfrm>
            <a:off x="704088" y="7095744"/>
            <a:ext cx="6355080" cy="493776"/>
          </a:xfrm>
          <a:prstGeom prst="rect">
            <a:avLst/>
          </a:prstGeom>
          <a:noFill/>
          <a:ln/>
        </p:spPr>
        <p:txBody>
          <a:bodyPr wrap="square" rtlCol="0" anchor="t"/>
          <a:lstStyle/>
          <a:p>
            <a:pPr marL="0" indent="0">
              <a:lnSpc>
                <a:spcPct val="124000"/>
              </a:lnSpc>
              <a:buNone/>
            </a:pPr>
            <a:r>
              <a:rPr lang="en-US" sz="1040" dirty="0">
                <a:solidFill>
                  <a:srgbClr val="2B2A27"/>
                </a:solidFill>
                <a:latin typeface="Calibri" pitchFamily="34" charset="0"/>
                <a:ea typeface="Calibri" pitchFamily="34" charset="-122"/>
                <a:cs typeface="Calibri" pitchFamily="34" charset="-120"/>
              </a:rPr>
              <a:t>Oversaw a USD 10M+ capital renovation portfolio, delivering 7–20% cost savings with minimal disruption to the guest experience.</a:t>
            </a:r>
            <a:endParaRPr lang="en-US" sz="1040" dirty="0"/>
          </a:p>
        </p:txBody>
      </p:sp>
      <p:sp>
        <p:nvSpPr>
          <p:cNvPr id="22" name="Text 18"/>
          <p:cNvSpPr/>
          <p:nvPr/>
        </p:nvSpPr>
        <p:spPr>
          <a:xfrm>
            <a:off x="502920" y="7845552"/>
            <a:ext cx="6556248" cy="237744"/>
          </a:xfrm>
          <a:prstGeom prst="rect">
            <a:avLst/>
          </a:prstGeom>
          <a:noFill/>
          <a:ln/>
        </p:spPr>
        <p:txBody>
          <a:bodyPr wrap="square" rtlCol="0" anchor="ctr"/>
          <a:lstStyle/>
          <a:p>
            <a:pPr marL="0" indent="0">
              <a:buNone/>
            </a:pPr>
            <a:r>
              <a:rPr lang="en-US" sz="1050" b="1" kern="0" spc="120" dirty="0">
                <a:solidFill>
                  <a:srgbClr val="C1501D"/>
                </a:solidFill>
                <a:latin typeface="Calibri" pitchFamily="34" charset="0"/>
                <a:ea typeface="Calibri" pitchFamily="34" charset="-122"/>
                <a:cs typeface="Calibri" pitchFamily="34" charset="-120"/>
              </a:rPr>
              <a:t>RECOGNITION</a:t>
            </a:r>
            <a:endParaRPr lang="en-US" sz="1050" dirty="0"/>
          </a:p>
        </p:txBody>
      </p:sp>
      <p:sp>
        <p:nvSpPr>
          <p:cNvPr id="23" name="Shape 19"/>
          <p:cNvSpPr/>
          <p:nvPr/>
        </p:nvSpPr>
        <p:spPr>
          <a:xfrm>
            <a:off x="502920" y="8174736"/>
            <a:ext cx="3186684" cy="914400"/>
          </a:xfrm>
          <a:prstGeom prst="roundRect">
            <a:avLst>
              <a:gd name="adj" fmla="val 6000"/>
            </a:avLst>
          </a:prstGeom>
          <a:solidFill>
            <a:srgbClr val="0B1B2B"/>
          </a:solidFill>
          <a:ln/>
        </p:spPr>
      </p:sp>
      <p:sp>
        <p:nvSpPr>
          <p:cNvPr id="24" name="Shape 20"/>
          <p:cNvSpPr/>
          <p:nvPr/>
        </p:nvSpPr>
        <p:spPr>
          <a:xfrm>
            <a:off x="722376" y="8394192"/>
            <a:ext cx="475488" cy="475488"/>
          </a:xfrm>
          <a:prstGeom prst="ellipse">
            <a:avLst/>
          </a:prstGeom>
          <a:solidFill>
            <a:srgbClr val="C9A15A"/>
          </a:solidFill>
          <a:ln/>
        </p:spPr>
      </p:sp>
      <p:pic>
        <p:nvPicPr>
          <p:cNvPr id="25" name="Image 2" descr="/home/claude/assets/icons/award.png"/>
          <p:cNvPicPr>
            <a:picLocks noChangeAspect="1"/>
          </p:cNvPicPr>
          <p:nvPr/>
        </p:nvPicPr>
        <p:blipFill>
          <a:blip r:embed="rId5"/>
          <a:stretch>
            <a:fillRect/>
          </a:stretch>
        </p:blipFill>
        <p:spPr>
          <a:xfrm>
            <a:off x="836493" y="8508309"/>
            <a:ext cx="247254" cy="247254"/>
          </a:xfrm>
          <a:prstGeom prst="rect">
            <a:avLst/>
          </a:prstGeom>
        </p:spPr>
      </p:pic>
      <p:sp>
        <p:nvSpPr>
          <p:cNvPr id="26" name="Text 21"/>
          <p:cNvSpPr/>
          <p:nvPr/>
        </p:nvSpPr>
        <p:spPr>
          <a:xfrm>
            <a:off x="1344168" y="8302752"/>
            <a:ext cx="2162556" cy="658368"/>
          </a:xfrm>
          <a:prstGeom prst="rect">
            <a:avLst/>
          </a:prstGeom>
          <a:noFill/>
          <a:ln/>
        </p:spPr>
        <p:txBody>
          <a:bodyPr wrap="square" rtlCol="0" anchor="ctr"/>
          <a:lstStyle/>
          <a:p>
            <a:pPr marL="0" indent="0">
              <a:lnSpc>
                <a:spcPct val="122000"/>
              </a:lnSpc>
              <a:buNone/>
            </a:pPr>
            <a:r>
              <a:rPr lang="en-US" sz="960" dirty="0">
                <a:solidFill>
                  <a:srgbClr val="FFFFFF"/>
                </a:solidFill>
                <a:latin typeface="Calibri" pitchFamily="34" charset="0"/>
                <a:ea typeface="Calibri" pitchFamily="34" charset="-122"/>
                <a:cs typeface="Calibri" pitchFamily="34" charset="-120"/>
              </a:rPr>
              <a:t>Marriott GM Award for Customer Service Excellence: MEA, 2017 &amp; 2022</a:t>
            </a:r>
            <a:endParaRPr lang="en-US" sz="960" dirty="0"/>
          </a:p>
        </p:txBody>
      </p:sp>
      <p:sp>
        <p:nvSpPr>
          <p:cNvPr id="27" name="Shape 22"/>
          <p:cNvSpPr/>
          <p:nvPr/>
        </p:nvSpPr>
        <p:spPr>
          <a:xfrm>
            <a:off x="3872484" y="8174736"/>
            <a:ext cx="3186684" cy="914400"/>
          </a:xfrm>
          <a:prstGeom prst="roundRect">
            <a:avLst>
              <a:gd name="adj" fmla="val 6000"/>
            </a:avLst>
          </a:prstGeom>
          <a:solidFill>
            <a:srgbClr val="0B1B2B"/>
          </a:solidFill>
          <a:ln/>
        </p:spPr>
      </p:sp>
      <p:sp>
        <p:nvSpPr>
          <p:cNvPr id="28" name="Shape 23"/>
          <p:cNvSpPr/>
          <p:nvPr/>
        </p:nvSpPr>
        <p:spPr>
          <a:xfrm>
            <a:off x="4091940" y="8394192"/>
            <a:ext cx="475488" cy="475488"/>
          </a:xfrm>
          <a:prstGeom prst="ellipse">
            <a:avLst/>
          </a:prstGeom>
          <a:solidFill>
            <a:srgbClr val="C9A15A"/>
          </a:solidFill>
          <a:ln/>
        </p:spPr>
      </p:sp>
      <p:pic>
        <p:nvPicPr>
          <p:cNvPr id="29" name="Image 3" descr="/home/claude/assets/icons/award.png"/>
          <p:cNvPicPr>
            <a:picLocks noChangeAspect="1"/>
          </p:cNvPicPr>
          <p:nvPr/>
        </p:nvPicPr>
        <p:blipFill>
          <a:blip r:embed="rId5"/>
          <a:stretch>
            <a:fillRect/>
          </a:stretch>
        </p:blipFill>
        <p:spPr>
          <a:xfrm>
            <a:off x="4206057" y="8508309"/>
            <a:ext cx="247254" cy="247254"/>
          </a:xfrm>
          <a:prstGeom prst="rect">
            <a:avLst/>
          </a:prstGeom>
        </p:spPr>
      </p:pic>
      <p:sp>
        <p:nvSpPr>
          <p:cNvPr id="30" name="Text 24"/>
          <p:cNvSpPr/>
          <p:nvPr/>
        </p:nvSpPr>
        <p:spPr>
          <a:xfrm>
            <a:off x="4713732" y="8302752"/>
            <a:ext cx="2162556" cy="658368"/>
          </a:xfrm>
          <a:prstGeom prst="rect">
            <a:avLst/>
          </a:prstGeom>
          <a:noFill/>
          <a:ln/>
        </p:spPr>
        <p:txBody>
          <a:bodyPr wrap="square" rtlCol="0" anchor="ctr"/>
          <a:lstStyle/>
          <a:p>
            <a:pPr marL="0" indent="0">
              <a:lnSpc>
                <a:spcPct val="122000"/>
              </a:lnSpc>
              <a:buNone/>
            </a:pPr>
            <a:r>
              <a:rPr lang="en-US" sz="960" dirty="0">
                <a:solidFill>
                  <a:srgbClr val="FFFFFF"/>
                </a:solidFill>
                <a:latin typeface="Calibri" pitchFamily="34" charset="0"/>
                <a:ea typeface="Calibri" pitchFamily="34" charset="-122"/>
                <a:cs typeface="Calibri" pitchFamily="34" charset="-120"/>
              </a:rPr>
              <a:t>Starwood Best Operational Innovation Manager, 2007</a:t>
            </a:r>
            <a:endParaRPr lang="en-US" sz="960" dirty="0"/>
          </a:p>
        </p:txBody>
      </p:sp>
      <p:pic>
        <p:nvPicPr>
          <p:cNvPr id="31" name="Image 4" descr="/home/claude/assets/monogram.png"/>
          <p:cNvPicPr>
            <a:picLocks noChangeAspect="1"/>
          </p:cNvPicPr>
          <p:nvPr/>
        </p:nvPicPr>
        <p:blipFill>
          <a:blip r:embed="rId3">
            <a:alphaModFix amt="18000"/>
          </a:blip>
          <a:stretch>
            <a:fillRect/>
          </a:stretch>
        </p:blipFill>
        <p:spPr>
          <a:xfrm>
            <a:off x="3323844" y="9454896"/>
            <a:ext cx="914400" cy="781812"/>
          </a:xfrm>
          <a:prstGeom prst="rect">
            <a:avLst/>
          </a:prstGeom>
        </p:spPr>
      </p:pic>
      <p:sp>
        <p:nvSpPr>
          <p:cNvPr id="32" name="Shape 25"/>
          <p:cNvSpPr/>
          <p:nvPr/>
        </p:nvSpPr>
        <p:spPr>
          <a:xfrm>
            <a:off x="502920" y="10186416"/>
            <a:ext cx="6556248" cy="0"/>
          </a:xfrm>
          <a:prstGeom prst="line">
            <a:avLst/>
          </a:prstGeom>
          <a:noFill/>
          <a:ln w="9525">
            <a:solidFill>
              <a:srgbClr val="E4DDCB"/>
            </a:solidFill>
            <a:prstDash val="solid"/>
          </a:ln>
        </p:spPr>
      </p:sp>
      <p:sp>
        <p:nvSpPr>
          <p:cNvPr id="33" name="Text 26"/>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6B675F"/>
                </a:solidFill>
                <a:latin typeface="Calibri" pitchFamily="34" charset="0"/>
                <a:ea typeface="Calibri" pitchFamily="34" charset="-122"/>
                <a:cs typeface="Calibri" pitchFamily="34" charset="-120"/>
              </a:rPr>
              <a:t>ALTUS GULF</a:t>
            </a:r>
            <a:endParaRPr lang="en-US" sz="850" dirty="0"/>
          </a:p>
        </p:txBody>
      </p:sp>
      <p:sp>
        <p:nvSpPr>
          <p:cNvPr id="34" name="Text 27"/>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6B675F"/>
                </a:solidFill>
                <a:latin typeface="Calibri" pitchFamily="34" charset="0"/>
                <a:ea typeface="Calibri" pitchFamily="34" charset="-122"/>
                <a:cs typeface="Calibri" pitchFamily="34" charset="-120"/>
              </a:rPr>
              <a:t>CORPORATE PROFILE  •  18</a:t>
            </a:r>
            <a:endParaRPr lang="en-US" sz="85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C1501D"/>
                </a:solidFill>
                <a:latin typeface="Calibri" pitchFamily="34" charset="0"/>
                <a:ea typeface="Calibri" pitchFamily="34" charset="-122"/>
                <a:cs typeface="Calibri" pitchFamily="34" charset="-120"/>
              </a:rPr>
              <a:t>17  •  EXECUTIVE LEADERSHIP</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err="1" smtClean="0">
                <a:solidFill>
                  <a:srgbClr val="0B1B2B"/>
                </a:solidFill>
                <a:latin typeface="Cambria" pitchFamily="34" charset="0"/>
                <a:ea typeface="Cambria" pitchFamily="34" charset="-122"/>
                <a:cs typeface="Cambria" pitchFamily="34" charset="-120"/>
              </a:rPr>
              <a:t>HussamSmadi</a:t>
            </a:r>
            <a:endParaRPr lang="en-US" sz="2700" dirty="0"/>
          </a:p>
        </p:txBody>
      </p:sp>
      <p:pic>
        <p:nvPicPr>
          <p:cNvPr id="4" name="Image 0" descr="/home/claude/assets/monogram.png"/>
          <p:cNvPicPr>
            <a:picLocks noChangeAspect="1"/>
          </p:cNvPicPr>
          <p:nvPr/>
        </p:nvPicPr>
        <p:blipFill>
          <a:blip r:embed="rId3">
            <a:alphaModFix amt="20000"/>
          </a:blip>
          <a:stretch>
            <a:fillRect/>
          </a:stretch>
        </p:blipFill>
        <p:spPr>
          <a:xfrm>
            <a:off x="1371600" y="2377440"/>
            <a:ext cx="1051560" cy="898855"/>
          </a:xfrm>
          <a:prstGeom prst="rect">
            <a:avLst/>
          </a:prstGeom>
        </p:spPr>
      </p:pic>
      <p:sp>
        <p:nvSpPr>
          <p:cNvPr id="5" name="Shape 2"/>
          <p:cNvSpPr/>
          <p:nvPr/>
        </p:nvSpPr>
        <p:spPr>
          <a:xfrm>
            <a:off x="502920" y="1417320"/>
            <a:ext cx="1737360" cy="1737360"/>
          </a:xfrm>
          <a:prstGeom prst="ellipse">
            <a:avLst/>
          </a:prstGeom>
          <a:solidFill>
            <a:srgbClr val="F3EEE4"/>
          </a:solidFill>
          <a:ln w="28575">
            <a:solidFill>
              <a:srgbClr val="C9A15A"/>
            </a:solidFill>
            <a:prstDash val="solid"/>
          </a:ln>
        </p:spPr>
      </p:sp>
      <p:pic>
        <p:nvPicPr>
          <p:cNvPr id="6" name="Image 1" descr="/home/claude/assets/founder_hossam.jpg"/>
          <p:cNvPicPr>
            <a:picLocks noChangeAspect="1"/>
          </p:cNvPicPr>
          <p:nvPr/>
        </p:nvPicPr>
        <p:blipFill>
          <a:blip r:embed="rId4"/>
          <a:stretch>
            <a:fillRect/>
          </a:stretch>
        </p:blipFill>
        <p:spPr>
          <a:xfrm>
            <a:off x="589788" y="1504188"/>
            <a:ext cx="1563624" cy="1563624"/>
          </a:xfrm>
          <a:prstGeom prst="ellipse">
            <a:avLst/>
          </a:prstGeom>
        </p:spPr>
      </p:pic>
      <p:sp>
        <p:nvSpPr>
          <p:cNvPr id="7" name="Text 3"/>
          <p:cNvSpPr/>
          <p:nvPr/>
        </p:nvSpPr>
        <p:spPr>
          <a:xfrm>
            <a:off x="2514600" y="1435608"/>
            <a:ext cx="4544568" cy="548640"/>
          </a:xfrm>
          <a:prstGeom prst="rect">
            <a:avLst/>
          </a:prstGeom>
          <a:noFill/>
          <a:ln/>
        </p:spPr>
        <p:txBody>
          <a:bodyPr wrap="square" rtlCol="0" anchor="ctr"/>
          <a:lstStyle/>
          <a:p>
            <a:pPr marL="0" indent="0">
              <a:lnSpc>
                <a:spcPct val="120000"/>
              </a:lnSpc>
              <a:buNone/>
            </a:pPr>
            <a:r>
              <a:rPr lang="en-US" sz="1250" b="1" dirty="0">
                <a:solidFill>
                  <a:srgbClr val="0F5C42"/>
                </a:solidFill>
                <a:latin typeface="Calibri" pitchFamily="34" charset="0"/>
                <a:ea typeface="Calibri" pitchFamily="34" charset="-122"/>
                <a:cs typeface="Calibri" pitchFamily="34" charset="-120"/>
              </a:rPr>
              <a:t>CO-FOUNDER: HOSPITALITY OPERATIONS &amp; ASSET MANAGEMENT</a:t>
            </a:r>
            <a:endParaRPr lang="en-US" sz="1250" dirty="0"/>
          </a:p>
        </p:txBody>
      </p:sp>
      <p:sp>
        <p:nvSpPr>
          <p:cNvPr id="8" name="Text 4"/>
          <p:cNvSpPr/>
          <p:nvPr/>
        </p:nvSpPr>
        <p:spPr>
          <a:xfrm>
            <a:off x="2514600" y="2075688"/>
            <a:ext cx="4544568" cy="1143000"/>
          </a:xfrm>
          <a:prstGeom prst="rect">
            <a:avLst/>
          </a:prstGeom>
          <a:noFill/>
          <a:ln/>
        </p:spPr>
        <p:txBody>
          <a:bodyPr wrap="square" rtlCol="0" anchor="t"/>
          <a:lstStyle/>
          <a:p>
            <a:pPr marL="0" indent="0">
              <a:lnSpc>
                <a:spcPct val="128000"/>
              </a:lnSpc>
              <a:buNone/>
            </a:pPr>
            <a:r>
              <a:rPr lang="en-US" sz="1030" dirty="0" err="1" smtClean="0">
                <a:solidFill>
                  <a:srgbClr val="2B2A27"/>
                </a:solidFill>
                <a:latin typeface="Calibri" pitchFamily="34" charset="0"/>
                <a:ea typeface="Calibri" pitchFamily="34" charset="-122"/>
                <a:cs typeface="Calibri" pitchFamily="34" charset="-120"/>
              </a:rPr>
              <a:t>Hussamis</a:t>
            </a:r>
            <a:r>
              <a:rPr lang="en-US" sz="1030" dirty="0" smtClean="0">
                <a:solidFill>
                  <a:srgbClr val="2B2A27"/>
                </a:solidFill>
                <a:latin typeface="Calibri" pitchFamily="34" charset="0"/>
                <a:ea typeface="Calibri" pitchFamily="34" charset="-122"/>
                <a:cs typeface="Calibri" pitchFamily="34" charset="-120"/>
              </a:rPr>
              <a:t> </a:t>
            </a:r>
            <a:r>
              <a:rPr lang="en-US" sz="1030" dirty="0">
                <a:solidFill>
                  <a:srgbClr val="2B2A27"/>
                </a:solidFill>
                <a:latin typeface="Calibri" pitchFamily="34" charset="0"/>
                <a:ea typeface="Calibri" pitchFamily="34" charset="-122"/>
                <a:cs typeface="Calibri" pitchFamily="34" charset="-120"/>
              </a:rPr>
              <a:t>the firm's operational architect. With deep expertise in the operating complexities of international hospitality, his focus is converting physical assets into high-performing, operationally strong institutions. Across 30+ years of executive leadership in hotel operations and asset management throughout Saudi Arabia and Jordan, spanning global brands and independent groups, he helps bring high-level strategy to life carefully on the ground, with close adherence to quality standards.</a:t>
            </a:r>
            <a:endParaRPr lang="en-US" sz="1030" dirty="0"/>
          </a:p>
        </p:txBody>
      </p:sp>
      <p:sp>
        <p:nvSpPr>
          <p:cNvPr id="9" name="Text 5"/>
          <p:cNvSpPr/>
          <p:nvPr/>
        </p:nvSpPr>
        <p:spPr>
          <a:xfrm>
            <a:off x="502920" y="3566160"/>
            <a:ext cx="6556248" cy="237744"/>
          </a:xfrm>
          <a:prstGeom prst="rect">
            <a:avLst/>
          </a:prstGeom>
          <a:noFill/>
          <a:ln/>
        </p:spPr>
        <p:txBody>
          <a:bodyPr wrap="square" rtlCol="0" anchor="ctr"/>
          <a:lstStyle/>
          <a:p>
            <a:pPr marL="0" indent="0">
              <a:buNone/>
            </a:pPr>
            <a:r>
              <a:rPr lang="en-US" sz="1050" b="1" kern="0" spc="120" dirty="0">
                <a:solidFill>
                  <a:srgbClr val="C1501D"/>
                </a:solidFill>
                <a:latin typeface="Calibri" pitchFamily="34" charset="0"/>
                <a:ea typeface="Calibri" pitchFamily="34" charset="-122"/>
                <a:cs typeface="Calibri" pitchFamily="34" charset="-120"/>
              </a:rPr>
              <a:t>TRACK RECORD</a:t>
            </a:r>
            <a:endParaRPr lang="en-US" sz="1050" dirty="0"/>
          </a:p>
        </p:txBody>
      </p:sp>
      <p:sp>
        <p:nvSpPr>
          <p:cNvPr id="10" name="Shape 6"/>
          <p:cNvSpPr/>
          <p:nvPr/>
        </p:nvSpPr>
        <p:spPr>
          <a:xfrm>
            <a:off x="502920" y="3963924"/>
            <a:ext cx="73152" cy="73152"/>
          </a:xfrm>
          <a:prstGeom prst="ellipse">
            <a:avLst/>
          </a:prstGeom>
          <a:solidFill>
            <a:srgbClr val="0F5C42"/>
          </a:solidFill>
          <a:ln/>
        </p:spPr>
      </p:sp>
      <p:sp>
        <p:nvSpPr>
          <p:cNvPr id="11" name="Text 7"/>
          <p:cNvSpPr/>
          <p:nvPr/>
        </p:nvSpPr>
        <p:spPr>
          <a:xfrm>
            <a:off x="704088" y="3895344"/>
            <a:ext cx="6355080" cy="493776"/>
          </a:xfrm>
          <a:prstGeom prst="rect">
            <a:avLst/>
          </a:prstGeom>
          <a:noFill/>
          <a:ln/>
        </p:spPr>
        <p:txBody>
          <a:bodyPr wrap="square" rtlCol="0" anchor="t"/>
          <a:lstStyle/>
          <a:p>
            <a:pPr marL="0" indent="0">
              <a:lnSpc>
                <a:spcPct val="124000"/>
              </a:lnSpc>
              <a:buNone/>
            </a:pPr>
            <a:r>
              <a:rPr lang="en-US" sz="1040" dirty="0">
                <a:solidFill>
                  <a:srgbClr val="2B2A27"/>
                </a:solidFill>
                <a:latin typeface="Calibri" pitchFamily="34" charset="0"/>
                <a:ea typeface="Calibri" pitchFamily="34" charset="-122"/>
                <a:cs typeface="Calibri" pitchFamily="34" charset="-120"/>
              </a:rPr>
              <a:t>30+ years of executive leadership in hotel operations and asset management across Saudi Arabia and Jordan: global brands and independent groups.</a:t>
            </a:r>
            <a:endParaRPr lang="en-US" sz="1040" dirty="0"/>
          </a:p>
        </p:txBody>
      </p:sp>
      <p:sp>
        <p:nvSpPr>
          <p:cNvPr id="12" name="Shape 8"/>
          <p:cNvSpPr/>
          <p:nvPr/>
        </p:nvSpPr>
        <p:spPr>
          <a:xfrm>
            <a:off x="502920" y="4604004"/>
            <a:ext cx="73152" cy="73152"/>
          </a:xfrm>
          <a:prstGeom prst="ellipse">
            <a:avLst/>
          </a:prstGeom>
          <a:solidFill>
            <a:srgbClr val="0F5C42"/>
          </a:solidFill>
          <a:ln/>
        </p:spPr>
      </p:sp>
      <p:sp>
        <p:nvSpPr>
          <p:cNvPr id="13" name="Text 9"/>
          <p:cNvSpPr/>
          <p:nvPr/>
        </p:nvSpPr>
        <p:spPr>
          <a:xfrm>
            <a:off x="704088" y="4535424"/>
            <a:ext cx="6355080" cy="493776"/>
          </a:xfrm>
          <a:prstGeom prst="rect">
            <a:avLst/>
          </a:prstGeom>
          <a:noFill/>
          <a:ln/>
        </p:spPr>
        <p:txBody>
          <a:bodyPr wrap="square" rtlCol="0" anchor="t"/>
          <a:lstStyle/>
          <a:p>
            <a:pPr marL="0" indent="0">
              <a:lnSpc>
                <a:spcPct val="124000"/>
              </a:lnSpc>
              <a:buNone/>
            </a:pPr>
            <a:r>
              <a:rPr lang="en-US" sz="1040" dirty="0">
                <a:solidFill>
                  <a:srgbClr val="2B2A27"/>
                </a:solidFill>
                <a:latin typeface="Calibri" pitchFamily="34" charset="0"/>
                <a:ea typeface="Calibri" pitchFamily="34" charset="-122"/>
                <a:cs typeface="Calibri" pitchFamily="34" charset="-120"/>
              </a:rPr>
              <a:t>As General Manager, led a property from pre-opening to full operation and to the title of Best Economy Hotel in Saudi Arabia.</a:t>
            </a:r>
            <a:endParaRPr lang="en-US" sz="1040" dirty="0"/>
          </a:p>
        </p:txBody>
      </p:sp>
      <p:sp>
        <p:nvSpPr>
          <p:cNvPr id="14" name="Shape 10"/>
          <p:cNvSpPr/>
          <p:nvPr/>
        </p:nvSpPr>
        <p:spPr>
          <a:xfrm>
            <a:off x="502920" y="5244084"/>
            <a:ext cx="73152" cy="73152"/>
          </a:xfrm>
          <a:prstGeom prst="ellipse">
            <a:avLst/>
          </a:prstGeom>
          <a:solidFill>
            <a:srgbClr val="0F5C42"/>
          </a:solidFill>
          <a:ln/>
        </p:spPr>
      </p:sp>
      <p:sp>
        <p:nvSpPr>
          <p:cNvPr id="15" name="Text 11"/>
          <p:cNvSpPr/>
          <p:nvPr/>
        </p:nvSpPr>
        <p:spPr>
          <a:xfrm>
            <a:off x="704088" y="5175504"/>
            <a:ext cx="6355080" cy="493776"/>
          </a:xfrm>
          <a:prstGeom prst="rect">
            <a:avLst/>
          </a:prstGeom>
          <a:noFill/>
          <a:ln/>
        </p:spPr>
        <p:txBody>
          <a:bodyPr wrap="square" rtlCol="0" anchor="t"/>
          <a:lstStyle/>
          <a:p>
            <a:pPr marL="0" indent="0">
              <a:lnSpc>
                <a:spcPct val="124000"/>
              </a:lnSpc>
              <a:buNone/>
            </a:pPr>
            <a:r>
              <a:rPr lang="en-US" sz="1040" dirty="0">
                <a:solidFill>
                  <a:srgbClr val="2B2A27"/>
                </a:solidFill>
                <a:latin typeface="Calibri" pitchFamily="34" charset="0"/>
                <a:ea typeface="Calibri" pitchFamily="34" charset="-122"/>
                <a:cs typeface="Calibri" pitchFamily="34" charset="-120"/>
              </a:rPr>
              <a:t>Delivered the highest GOP in the Jazan region while leading Swiss Blue Hotels properties, through commercial discipline and strict cost governance.</a:t>
            </a:r>
            <a:endParaRPr lang="en-US" sz="1040" dirty="0"/>
          </a:p>
        </p:txBody>
      </p:sp>
      <p:sp>
        <p:nvSpPr>
          <p:cNvPr id="16" name="Shape 12"/>
          <p:cNvSpPr/>
          <p:nvPr/>
        </p:nvSpPr>
        <p:spPr>
          <a:xfrm>
            <a:off x="502920" y="5884164"/>
            <a:ext cx="73152" cy="73152"/>
          </a:xfrm>
          <a:prstGeom prst="ellipse">
            <a:avLst/>
          </a:prstGeom>
          <a:solidFill>
            <a:srgbClr val="0F5C42"/>
          </a:solidFill>
          <a:ln/>
        </p:spPr>
      </p:sp>
      <p:sp>
        <p:nvSpPr>
          <p:cNvPr id="17" name="Text 13"/>
          <p:cNvSpPr/>
          <p:nvPr/>
        </p:nvSpPr>
        <p:spPr>
          <a:xfrm>
            <a:off x="704088" y="5815584"/>
            <a:ext cx="6355080" cy="493776"/>
          </a:xfrm>
          <a:prstGeom prst="rect">
            <a:avLst/>
          </a:prstGeom>
          <a:noFill/>
          <a:ln/>
        </p:spPr>
        <p:txBody>
          <a:bodyPr wrap="square" rtlCol="0" anchor="t"/>
          <a:lstStyle/>
          <a:p>
            <a:pPr marL="0" indent="0">
              <a:lnSpc>
                <a:spcPct val="124000"/>
              </a:lnSpc>
              <a:buNone/>
            </a:pPr>
            <a:r>
              <a:rPr lang="en-US" sz="1040" dirty="0">
                <a:solidFill>
                  <a:srgbClr val="2B2A27"/>
                </a:solidFill>
                <a:latin typeface="Calibri" pitchFamily="34" charset="0"/>
                <a:ea typeface="Calibri" pitchFamily="34" charset="-122"/>
                <a:cs typeface="Calibri" pitchFamily="34" charset="-120"/>
              </a:rPr>
              <a:t>Successfully directed two simultaneous hotel openings in 2018, carrying both to full operation and revenue generation.</a:t>
            </a:r>
            <a:endParaRPr lang="en-US" sz="1040" dirty="0"/>
          </a:p>
        </p:txBody>
      </p:sp>
      <p:sp>
        <p:nvSpPr>
          <p:cNvPr id="18" name="Shape 14"/>
          <p:cNvSpPr/>
          <p:nvPr/>
        </p:nvSpPr>
        <p:spPr>
          <a:xfrm>
            <a:off x="502920" y="6524244"/>
            <a:ext cx="73152" cy="73152"/>
          </a:xfrm>
          <a:prstGeom prst="ellipse">
            <a:avLst/>
          </a:prstGeom>
          <a:solidFill>
            <a:srgbClr val="0F5C42"/>
          </a:solidFill>
          <a:ln/>
        </p:spPr>
      </p:sp>
      <p:sp>
        <p:nvSpPr>
          <p:cNvPr id="19" name="Text 15"/>
          <p:cNvSpPr/>
          <p:nvPr/>
        </p:nvSpPr>
        <p:spPr>
          <a:xfrm>
            <a:off x="704088" y="6455664"/>
            <a:ext cx="6355080" cy="493776"/>
          </a:xfrm>
          <a:prstGeom prst="rect">
            <a:avLst/>
          </a:prstGeom>
          <a:noFill/>
          <a:ln/>
        </p:spPr>
        <p:txBody>
          <a:bodyPr wrap="square" rtlCol="0" anchor="t"/>
          <a:lstStyle/>
          <a:p>
            <a:pPr marL="0" indent="0">
              <a:lnSpc>
                <a:spcPct val="124000"/>
              </a:lnSpc>
              <a:buNone/>
            </a:pPr>
            <a:r>
              <a:rPr lang="en-US" sz="1040" dirty="0">
                <a:solidFill>
                  <a:srgbClr val="2B2A27"/>
                </a:solidFill>
                <a:latin typeface="Calibri" pitchFamily="34" charset="0"/>
                <a:ea typeface="Calibri" pitchFamily="34" charset="-122"/>
                <a:cs typeface="Calibri" pitchFamily="34" charset="-120"/>
              </a:rPr>
              <a:t>Owner's Representative for four internationally branded Riyadh assets: Crowne Plaza Digital City, InterContinental, Hotel Indigo, and Wyndham Grand at KAFD.</a:t>
            </a:r>
            <a:endParaRPr lang="en-US" sz="1040" dirty="0"/>
          </a:p>
        </p:txBody>
      </p:sp>
      <p:sp>
        <p:nvSpPr>
          <p:cNvPr id="20" name="Shape 16"/>
          <p:cNvSpPr/>
          <p:nvPr/>
        </p:nvSpPr>
        <p:spPr>
          <a:xfrm>
            <a:off x="502920" y="7164324"/>
            <a:ext cx="73152" cy="73152"/>
          </a:xfrm>
          <a:prstGeom prst="ellipse">
            <a:avLst/>
          </a:prstGeom>
          <a:solidFill>
            <a:srgbClr val="0F5C42"/>
          </a:solidFill>
          <a:ln/>
        </p:spPr>
      </p:sp>
      <p:sp>
        <p:nvSpPr>
          <p:cNvPr id="21" name="Text 17"/>
          <p:cNvSpPr/>
          <p:nvPr/>
        </p:nvSpPr>
        <p:spPr>
          <a:xfrm>
            <a:off x="704088" y="7095744"/>
            <a:ext cx="6355080" cy="493776"/>
          </a:xfrm>
          <a:prstGeom prst="rect">
            <a:avLst/>
          </a:prstGeom>
          <a:noFill/>
          <a:ln/>
        </p:spPr>
        <p:txBody>
          <a:bodyPr wrap="square" rtlCol="0" anchor="t"/>
          <a:lstStyle/>
          <a:p>
            <a:pPr marL="0" indent="0">
              <a:lnSpc>
                <a:spcPct val="124000"/>
              </a:lnSpc>
              <a:buNone/>
            </a:pPr>
            <a:r>
              <a:rPr lang="en-US" sz="1040" dirty="0">
                <a:solidFill>
                  <a:srgbClr val="2B2A27"/>
                </a:solidFill>
                <a:latin typeface="Calibri" pitchFamily="34" charset="0"/>
                <a:ea typeface="Calibri" pitchFamily="34" charset="-122"/>
                <a:cs typeface="Calibri" pitchFamily="34" charset="-120"/>
              </a:rPr>
              <a:t>Directly governed Hotel Management Agreements (HMA), procurement and OS&amp;E reviews, and operator building-handover processes.</a:t>
            </a:r>
            <a:endParaRPr lang="en-US" sz="1040" dirty="0"/>
          </a:p>
        </p:txBody>
      </p:sp>
      <p:sp>
        <p:nvSpPr>
          <p:cNvPr id="22" name="Text 18"/>
          <p:cNvSpPr/>
          <p:nvPr/>
        </p:nvSpPr>
        <p:spPr>
          <a:xfrm>
            <a:off x="502920" y="7845552"/>
            <a:ext cx="6556248" cy="237744"/>
          </a:xfrm>
          <a:prstGeom prst="rect">
            <a:avLst/>
          </a:prstGeom>
          <a:noFill/>
          <a:ln/>
        </p:spPr>
        <p:txBody>
          <a:bodyPr wrap="square" rtlCol="0" anchor="ctr"/>
          <a:lstStyle/>
          <a:p>
            <a:pPr marL="0" indent="0">
              <a:buNone/>
            </a:pPr>
            <a:r>
              <a:rPr lang="en-US" sz="1050" b="1" kern="0" spc="120" dirty="0">
                <a:solidFill>
                  <a:srgbClr val="C1501D"/>
                </a:solidFill>
                <a:latin typeface="Calibri" pitchFamily="34" charset="0"/>
                <a:ea typeface="Calibri" pitchFamily="34" charset="-122"/>
                <a:cs typeface="Calibri" pitchFamily="34" charset="-120"/>
              </a:rPr>
              <a:t>RECOGNITION</a:t>
            </a:r>
            <a:endParaRPr lang="en-US" sz="1050" dirty="0"/>
          </a:p>
        </p:txBody>
      </p:sp>
      <p:sp>
        <p:nvSpPr>
          <p:cNvPr id="23" name="Shape 19"/>
          <p:cNvSpPr/>
          <p:nvPr/>
        </p:nvSpPr>
        <p:spPr>
          <a:xfrm>
            <a:off x="502920" y="8174736"/>
            <a:ext cx="3186684" cy="914400"/>
          </a:xfrm>
          <a:prstGeom prst="roundRect">
            <a:avLst>
              <a:gd name="adj" fmla="val 6000"/>
            </a:avLst>
          </a:prstGeom>
          <a:solidFill>
            <a:srgbClr val="0B1B2B"/>
          </a:solidFill>
          <a:ln/>
        </p:spPr>
      </p:sp>
      <p:sp>
        <p:nvSpPr>
          <p:cNvPr id="24" name="Shape 20"/>
          <p:cNvSpPr/>
          <p:nvPr/>
        </p:nvSpPr>
        <p:spPr>
          <a:xfrm>
            <a:off x="722376" y="8394192"/>
            <a:ext cx="475488" cy="475488"/>
          </a:xfrm>
          <a:prstGeom prst="ellipse">
            <a:avLst/>
          </a:prstGeom>
          <a:solidFill>
            <a:srgbClr val="C9A15A"/>
          </a:solidFill>
          <a:ln/>
        </p:spPr>
      </p:sp>
      <p:pic>
        <p:nvPicPr>
          <p:cNvPr id="25" name="Image 2" descr="/home/claude/assets/icons/award.png"/>
          <p:cNvPicPr>
            <a:picLocks noChangeAspect="1"/>
          </p:cNvPicPr>
          <p:nvPr/>
        </p:nvPicPr>
        <p:blipFill>
          <a:blip r:embed="rId5"/>
          <a:stretch>
            <a:fillRect/>
          </a:stretch>
        </p:blipFill>
        <p:spPr>
          <a:xfrm>
            <a:off x="836493" y="8508309"/>
            <a:ext cx="247254" cy="247254"/>
          </a:xfrm>
          <a:prstGeom prst="rect">
            <a:avLst/>
          </a:prstGeom>
        </p:spPr>
      </p:pic>
      <p:sp>
        <p:nvSpPr>
          <p:cNvPr id="26" name="Text 21"/>
          <p:cNvSpPr/>
          <p:nvPr/>
        </p:nvSpPr>
        <p:spPr>
          <a:xfrm>
            <a:off x="1344168" y="8302752"/>
            <a:ext cx="2162556" cy="658368"/>
          </a:xfrm>
          <a:prstGeom prst="rect">
            <a:avLst/>
          </a:prstGeom>
          <a:noFill/>
          <a:ln/>
        </p:spPr>
        <p:txBody>
          <a:bodyPr wrap="square" rtlCol="0" anchor="ctr"/>
          <a:lstStyle/>
          <a:p>
            <a:pPr marL="0" indent="0">
              <a:lnSpc>
                <a:spcPct val="122000"/>
              </a:lnSpc>
              <a:buNone/>
            </a:pPr>
            <a:r>
              <a:rPr lang="en-US" sz="960" dirty="0">
                <a:solidFill>
                  <a:srgbClr val="FFFFFF"/>
                </a:solidFill>
                <a:latin typeface="Calibri" pitchFamily="34" charset="0"/>
                <a:ea typeface="Calibri" pitchFamily="34" charset="-122"/>
                <a:cs typeface="Calibri" pitchFamily="34" charset="-120"/>
              </a:rPr>
              <a:t>Best Economy Hotel in Saudi Arabia, as General Manager</a:t>
            </a:r>
            <a:endParaRPr lang="en-US" sz="960" dirty="0"/>
          </a:p>
        </p:txBody>
      </p:sp>
      <p:sp>
        <p:nvSpPr>
          <p:cNvPr id="27" name="Shape 22"/>
          <p:cNvSpPr/>
          <p:nvPr/>
        </p:nvSpPr>
        <p:spPr>
          <a:xfrm>
            <a:off x="3872484" y="8174736"/>
            <a:ext cx="3186684" cy="914400"/>
          </a:xfrm>
          <a:prstGeom prst="roundRect">
            <a:avLst>
              <a:gd name="adj" fmla="val 6000"/>
            </a:avLst>
          </a:prstGeom>
          <a:solidFill>
            <a:srgbClr val="0B1B2B"/>
          </a:solidFill>
          <a:ln/>
        </p:spPr>
      </p:sp>
      <p:sp>
        <p:nvSpPr>
          <p:cNvPr id="28" name="Shape 23"/>
          <p:cNvSpPr/>
          <p:nvPr/>
        </p:nvSpPr>
        <p:spPr>
          <a:xfrm>
            <a:off x="4091940" y="8394192"/>
            <a:ext cx="475488" cy="475488"/>
          </a:xfrm>
          <a:prstGeom prst="ellipse">
            <a:avLst/>
          </a:prstGeom>
          <a:solidFill>
            <a:srgbClr val="C9A15A"/>
          </a:solidFill>
          <a:ln/>
        </p:spPr>
      </p:sp>
      <p:pic>
        <p:nvPicPr>
          <p:cNvPr id="29" name="Image 3" descr="/home/claude/assets/icons/award.png"/>
          <p:cNvPicPr>
            <a:picLocks noChangeAspect="1"/>
          </p:cNvPicPr>
          <p:nvPr/>
        </p:nvPicPr>
        <p:blipFill>
          <a:blip r:embed="rId5"/>
          <a:stretch>
            <a:fillRect/>
          </a:stretch>
        </p:blipFill>
        <p:spPr>
          <a:xfrm>
            <a:off x="4206057" y="8508309"/>
            <a:ext cx="247254" cy="247254"/>
          </a:xfrm>
          <a:prstGeom prst="rect">
            <a:avLst/>
          </a:prstGeom>
        </p:spPr>
      </p:pic>
      <p:sp>
        <p:nvSpPr>
          <p:cNvPr id="30" name="Text 24"/>
          <p:cNvSpPr/>
          <p:nvPr/>
        </p:nvSpPr>
        <p:spPr>
          <a:xfrm>
            <a:off x="4713732" y="8302752"/>
            <a:ext cx="2162556" cy="658368"/>
          </a:xfrm>
          <a:prstGeom prst="rect">
            <a:avLst/>
          </a:prstGeom>
          <a:noFill/>
          <a:ln/>
        </p:spPr>
        <p:txBody>
          <a:bodyPr wrap="square" rtlCol="0" anchor="ctr"/>
          <a:lstStyle/>
          <a:p>
            <a:pPr marL="0" indent="0">
              <a:lnSpc>
                <a:spcPct val="122000"/>
              </a:lnSpc>
              <a:buNone/>
            </a:pPr>
            <a:r>
              <a:rPr lang="en-US" sz="960" dirty="0">
                <a:solidFill>
                  <a:srgbClr val="FFFFFF"/>
                </a:solidFill>
                <a:latin typeface="Calibri" pitchFamily="34" charset="0"/>
                <a:ea typeface="Calibri" pitchFamily="34" charset="-122"/>
                <a:cs typeface="Calibri" pitchFamily="34" charset="-120"/>
              </a:rPr>
              <a:t>U.S. Embassy Riyadh recognition: Best Security Measures</a:t>
            </a:r>
            <a:endParaRPr lang="en-US" sz="960" dirty="0"/>
          </a:p>
        </p:txBody>
      </p:sp>
      <p:pic>
        <p:nvPicPr>
          <p:cNvPr id="31" name="Image 4" descr="/home/claude/assets/monogram.png"/>
          <p:cNvPicPr>
            <a:picLocks noChangeAspect="1"/>
          </p:cNvPicPr>
          <p:nvPr/>
        </p:nvPicPr>
        <p:blipFill>
          <a:blip r:embed="rId3">
            <a:alphaModFix amt="18000"/>
          </a:blip>
          <a:stretch>
            <a:fillRect/>
          </a:stretch>
        </p:blipFill>
        <p:spPr>
          <a:xfrm>
            <a:off x="3323844" y="9454896"/>
            <a:ext cx="914400" cy="781812"/>
          </a:xfrm>
          <a:prstGeom prst="rect">
            <a:avLst/>
          </a:prstGeom>
        </p:spPr>
      </p:pic>
      <p:sp>
        <p:nvSpPr>
          <p:cNvPr id="32" name="Shape 25"/>
          <p:cNvSpPr/>
          <p:nvPr/>
        </p:nvSpPr>
        <p:spPr>
          <a:xfrm>
            <a:off x="502920" y="10186416"/>
            <a:ext cx="6556248" cy="0"/>
          </a:xfrm>
          <a:prstGeom prst="line">
            <a:avLst/>
          </a:prstGeom>
          <a:noFill/>
          <a:ln w="9525">
            <a:solidFill>
              <a:srgbClr val="E4DDCB"/>
            </a:solidFill>
            <a:prstDash val="solid"/>
          </a:ln>
        </p:spPr>
      </p:sp>
      <p:sp>
        <p:nvSpPr>
          <p:cNvPr id="33" name="Text 26"/>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6B675F"/>
                </a:solidFill>
                <a:latin typeface="Calibri" pitchFamily="34" charset="0"/>
                <a:ea typeface="Calibri" pitchFamily="34" charset="-122"/>
                <a:cs typeface="Calibri" pitchFamily="34" charset="-120"/>
              </a:rPr>
              <a:t>ALTUS GULF</a:t>
            </a:r>
            <a:endParaRPr lang="en-US" sz="850" dirty="0"/>
          </a:p>
        </p:txBody>
      </p:sp>
      <p:sp>
        <p:nvSpPr>
          <p:cNvPr id="34" name="Text 27"/>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6B675F"/>
                </a:solidFill>
                <a:latin typeface="Calibri" pitchFamily="34" charset="0"/>
                <a:ea typeface="Calibri" pitchFamily="34" charset="-122"/>
                <a:cs typeface="Calibri" pitchFamily="34" charset="-120"/>
              </a:rPr>
              <a:t>CORPORATE PROFILE  •  19</a:t>
            </a:r>
            <a:endParaRPr lang="en-US" sz="85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C1501D"/>
                </a:solidFill>
                <a:latin typeface="Calibri" pitchFamily="34" charset="0"/>
                <a:ea typeface="Calibri" pitchFamily="34" charset="-122"/>
                <a:cs typeface="Calibri" pitchFamily="34" charset="-120"/>
              </a:rPr>
              <a:t>18  •  ECOSYSTEM &amp; ALLIANCES</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a:solidFill>
                  <a:srgbClr val="0B1B2B"/>
                </a:solidFill>
                <a:latin typeface="Cambria" pitchFamily="34" charset="0"/>
                <a:ea typeface="Cambria" pitchFamily="34" charset="-122"/>
                <a:cs typeface="Cambria" pitchFamily="34" charset="-120"/>
              </a:rPr>
              <a:t>Strategic Partnerships</a:t>
            </a:r>
            <a:endParaRPr lang="en-US" sz="2700" dirty="0"/>
          </a:p>
        </p:txBody>
      </p:sp>
      <p:sp>
        <p:nvSpPr>
          <p:cNvPr id="4" name="Text 2"/>
          <p:cNvSpPr/>
          <p:nvPr/>
        </p:nvSpPr>
        <p:spPr>
          <a:xfrm>
            <a:off x="502920" y="1280160"/>
            <a:ext cx="6556248" cy="566928"/>
          </a:xfrm>
          <a:prstGeom prst="rect">
            <a:avLst/>
          </a:prstGeom>
          <a:noFill/>
          <a:ln/>
        </p:spPr>
        <p:txBody>
          <a:bodyPr wrap="square" rtlCol="0" anchor="t"/>
          <a:lstStyle/>
          <a:p>
            <a:pPr marL="0" indent="0" algn="l">
              <a:lnSpc>
                <a:spcPct val="118000"/>
              </a:lnSpc>
              <a:buNone/>
            </a:pPr>
            <a:r>
              <a:rPr lang="en-US" sz="1150" dirty="0">
                <a:solidFill>
                  <a:srgbClr val="6B675F"/>
                </a:solidFill>
                <a:latin typeface="Calibri" pitchFamily="34" charset="0"/>
                <a:ea typeface="Calibri" pitchFamily="34" charset="-122"/>
                <a:cs typeface="Calibri" pitchFamily="34" charset="-120"/>
              </a:rPr>
              <a:t>Altus Gulf operates as the hub of a deliberately curated ecosystem: aligning operators, capital, technology, and government so that every mandate draws on best-in-class execution partners.</a:t>
            </a:r>
            <a:endParaRPr lang="en-US" sz="1150" dirty="0"/>
          </a:p>
        </p:txBody>
      </p:sp>
      <p:sp>
        <p:nvSpPr>
          <p:cNvPr id="5" name="Shape 3"/>
          <p:cNvSpPr/>
          <p:nvPr/>
        </p:nvSpPr>
        <p:spPr>
          <a:xfrm>
            <a:off x="502920" y="1938528"/>
            <a:ext cx="3163824" cy="1965960"/>
          </a:xfrm>
          <a:prstGeom prst="roundRect">
            <a:avLst>
              <a:gd name="adj" fmla="val 2791"/>
            </a:avLst>
          </a:prstGeom>
          <a:solidFill>
            <a:srgbClr val="FFFFFF"/>
          </a:solidFill>
          <a:ln w="9525">
            <a:solidFill>
              <a:srgbClr val="E4DDCB"/>
            </a:solidFill>
            <a:prstDash val="solid"/>
          </a:ln>
        </p:spPr>
      </p:sp>
      <p:sp>
        <p:nvSpPr>
          <p:cNvPr id="6" name="Shape 4"/>
          <p:cNvSpPr/>
          <p:nvPr/>
        </p:nvSpPr>
        <p:spPr>
          <a:xfrm>
            <a:off x="704088" y="2139696"/>
            <a:ext cx="402336" cy="402336"/>
          </a:xfrm>
          <a:prstGeom prst="ellipse">
            <a:avLst/>
          </a:prstGeom>
          <a:solidFill>
            <a:srgbClr val="0F5C42"/>
          </a:solidFill>
          <a:ln/>
        </p:spPr>
      </p:sp>
      <p:pic>
        <p:nvPicPr>
          <p:cNvPr id="7" name="Image 0" descr="/home/claude/assets/icons/building.png"/>
          <p:cNvPicPr>
            <a:picLocks noChangeAspect="1"/>
          </p:cNvPicPr>
          <p:nvPr/>
        </p:nvPicPr>
        <p:blipFill>
          <a:blip r:embed="rId3"/>
          <a:stretch>
            <a:fillRect/>
          </a:stretch>
        </p:blipFill>
        <p:spPr>
          <a:xfrm>
            <a:off x="800649" y="2236257"/>
            <a:ext cx="209215" cy="209215"/>
          </a:xfrm>
          <a:prstGeom prst="rect">
            <a:avLst/>
          </a:prstGeom>
        </p:spPr>
      </p:pic>
      <p:sp>
        <p:nvSpPr>
          <p:cNvPr id="8" name="Text 5"/>
          <p:cNvSpPr/>
          <p:nvPr/>
        </p:nvSpPr>
        <p:spPr>
          <a:xfrm>
            <a:off x="1271016" y="2121408"/>
            <a:ext cx="2194560" cy="47548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Hotel Operators &amp; Global Brands</a:t>
            </a:r>
            <a:endParaRPr lang="en-US" sz="1250" dirty="0"/>
          </a:p>
        </p:txBody>
      </p:sp>
      <p:sp>
        <p:nvSpPr>
          <p:cNvPr id="9" name="Text 6"/>
          <p:cNvSpPr/>
          <p:nvPr/>
        </p:nvSpPr>
        <p:spPr>
          <a:xfrm>
            <a:off x="704088" y="2706624"/>
            <a:ext cx="2761488" cy="1161288"/>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Working relationships across international operating systems: supporting informed HMA negotiation, brand selection, and operator performance governance on the owner's behalf.</a:t>
            </a:r>
            <a:endParaRPr lang="en-US" sz="970" dirty="0"/>
          </a:p>
        </p:txBody>
      </p:sp>
      <p:sp>
        <p:nvSpPr>
          <p:cNvPr id="10" name="Shape 7"/>
          <p:cNvSpPr/>
          <p:nvPr/>
        </p:nvSpPr>
        <p:spPr>
          <a:xfrm>
            <a:off x="3895344" y="1938528"/>
            <a:ext cx="3163824" cy="1965960"/>
          </a:xfrm>
          <a:prstGeom prst="roundRect">
            <a:avLst>
              <a:gd name="adj" fmla="val 2791"/>
            </a:avLst>
          </a:prstGeom>
          <a:solidFill>
            <a:srgbClr val="FFFFFF"/>
          </a:solidFill>
          <a:ln w="9525">
            <a:solidFill>
              <a:srgbClr val="E4DDCB"/>
            </a:solidFill>
            <a:prstDash val="solid"/>
          </a:ln>
        </p:spPr>
      </p:sp>
      <p:sp>
        <p:nvSpPr>
          <p:cNvPr id="11" name="Shape 8"/>
          <p:cNvSpPr/>
          <p:nvPr/>
        </p:nvSpPr>
        <p:spPr>
          <a:xfrm>
            <a:off x="4096512" y="2139696"/>
            <a:ext cx="402336" cy="402336"/>
          </a:xfrm>
          <a:prstGeom prst="ellipse">
            <a:avLst/>
          </a:prstGeom>
          <a:solidFill>
            <a:srgbClr val="0F5C42"/>
          </a:solidFill>
          <a:ln/>
        </p:spPr>
      </p:sp>
      <p:pic>
        <p:nvPicPr>
          <p:cNvPr id="12" name="Image 1" descr="/home/claude/assets/icons/coins.png"/>
          <p:cNvPicPr>
            <a:picLocks noChangeAspect="1"/>
          </p:cNvPicPr>
          <p:nvPr/>
        </p:nvPicPr>
        <p:blipFill>
          <a:blip r:embed="rId4"/>
          <a:stretch>
            <a:fillRect/>
          </a:stretch>
        </p:blipFill>
        <p:spPr>
          <a:xfrm>
            <a:off x="4193073" y="2236257"/>
            <a:ext cx="209215" cy="209215"/>
          </a:xfrm>
          <a:prstGeom prst="rect">
            <a:avLst/>
          </a:prstGeom>
        </p:spPr>
      </p:pic>
      <p:sp>
        <p:nvSpPr>
          <p:cNvPr id="13" name="Text 9"/>
          <p:cNvSpPr/>
          <p:nvPr/>
        </p:nvSpPr>
        <p:spPr>
          <a:xfrm>
            <a:off x="4663440" y="2121408"/>
            <a:ext cx="2194560" cy="47548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Investors, Funds &amp; Family Offices</a:t>
            </a:r>
            <a:endParaRPr lang="en-US" sz="1250" dirty="0"/>
          </a:p>
        </p:txBody>
      </p:sp>
      <p:sp>
        <p:nvSpPr>
          <p:cNvPr id="14" name="Text 10"/>
          <p:cNvSpPr/>
          <p:nvPr/>
        </p:nvSpPr>
        <p:spPr>
          <a:xfrm>
            <a:off x="4096512" y="2706624"/>
            <a:ext cx="2761488" cy="1161288"/>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Advisory alignment with institutional investors, developers, and family offices: feasibility validation, underwriting support, and asset-performance stewardship across the hold period.</a:t>
            </a:r>
            <a:endParaRPr lang="en-US" sz="970" dirty="0"/>
          </a:p>
        </p:txBody>
      </p:sp>
      <p:sp>
        <p:nvSpPr>
          <p:cNvPr id="15" name="Shape 11"/>
          <p:cNvSpPr/>
          <p:nvPr/>
        </p:nvSpPr>
        <p:spPr>
          <a:xfrm>
            <a:off x="502920" y="4105656"/>
            <a:ext cx="3163824" cy="1965960"/>
          </a:xfrm>
          <a:prstGeom prst="roundRect">
            <a:avLst>
              <a:gd name="adj" fmla="val 2791"/>
            </a:avLst>
          </a:prstGeom>
          <a:solidFill>
            <a:srgbClr val="FFFFFF"/>
          </a:solidFill>
          <a:ln w="9525">
            <a:solidFill>
              <a:srgbClr val="E4DDCB"/>
            </a:solidFill>
            <a:prstDash val="solid"/>
          </a:ln>
        </p:spPr>
      </p:sp>
      <p:sp>
        <p:nvSpPr>
          <p:cNvPr id="16" name="Shape 12"/>
          <p:cNvSpPr/>
          <p:nvPr/>
        </p:nvSpPr>
        <p:spPr>
          <a:xfrm>
            <a:off x="704088" y="4306824"/>
            <a:ext cx="402336" cy="402336"/>
          </a:xfrm>
          <a:prstGeom prst="ellipse">
            <a:avLst/>
          </a:prstGeom>
          <a:solidFill>
            <a:srgbClr val="0F5C42"/>
          </a:solidFill>
          <a:ln/>
        </p:spPr>
      </p:sp>
      <p:pic>
        <p:nvPicPr>
          <p:cNvPr id="17" name="Image 2" descr="/home/claude/assets/icons/microchip.png"/>
          <p:cNvPicPr>
            <a:picLocks noChangeAspect="1"/>
          </p:cNvPicPr>
          <p:nvPr/>
        </p:nvPicPr>
        <p:blipFill>
          <a:blip r:embed="rId5"/>
          <a:stretch>
            <a:fillRect/>
          </a:stretch>
        </p:blipFill>
        <p:spPr>
          <a:xfrm>
            <a:off x="800649" y="4403385"/>
            <a:ext cx="209215" cy="209215"/>
          </a:xfrm>
          <a:prstGeom prst="rect">
            <a:avLst/>
          </a:prstGeom>
        </p:spPr>
      </p:pic>
      <p:sp>
        <p:nvSpPr>
          <p:cNvPr id="18" name="Text 13"/>
          <p:cNvSpPr/>
          <p:nvPr/>
        </p:nvSpPr>
        <p:spPr>
          <a:xfrm>
            <a:off x="1271016" y="4288536"/>
            <a:ext cx="2194560" cy="29260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Technology &amp; Data Partners</a:t>
            </a:r>
            <a:endParaRPr lang="en-US" sz="1250" dirty="0"/>
          </a:p>
        </p:txBody>
      </p:sp>
      <p:sp>
        <p:nvSpPr>
          <p:cNvPr id="19" name="Text 14"/>
          <p:cNvSpPr/>
          <p:nvPr/>
        </p:nvSpPr>
        <p:spPr>
          <a:xfrm>
            <a:off x="704088" y="4690872"/>
            <a:ext cx="2761488" cy="1344168"/>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A vetted bench of PMS, revenue-management, BI, and AI solution providers: selected per mandate on merit, never on commission, preserving full advisory independence.</a:t>
            </a:r>
            <a:endParaRPr lang="en-US" sz="970" dirty="0"/>
          </a:p>
        </p:txBody>
      </p:sp>
      <p:sp>
        <p:nvSpPr>
          <p:cNvPr id="20" name="Shape 15"/>
          <p:cNvSpPr/>
          <p:nvPr/>
        </p:nvSpPr>
        <p:spPr>
          <a:xfrm>
            <a:off x="3895344" y="4105656"/>
            <a:ext cx="3163824" cy="1965960"/>
          </a:xfrm>
          <a:prstGeom prst="roundRect">
            <a:avLst>
              <a:gd name="adj" fmla="val 2791"/>
            </a:avLst>
          </a:prstGeom>
          <a:solidFill>
            <a:srgbClr val="FFFFFF"/>
          </a:solidFill>
          <a:ln w="9525">
            <a:solidFill>
              <a:srgbClr val="E4DDCB"/>
            </a:solidFill>
            <a:prstDash val="solid"/>
          </a:ln>
        </p:spPr>
      </p:sp>
      <p:sp>
        <p:nvSpPr>
          <p:cNvPr id="21" name="Shape 16"/>
          <p:cNvSpPr/>
          <p:nvPr/>
        </p:nvSpPr>
        <p:spPr>
          <a:xfrm>
            <a:off x="4096512" y="4306824"/>
            <a:ext cx="402336" cy="402336"/>
          </a:xfrm>
          <a:prstGeom prst="ellipse">
            <a:avLst/>
          </a:prstGeom>
          <a:solidFill>
            <a:srgbClr val="0F5C42"/>
          </a:solidFill>
          <a:ln/>
        </p:spPr>
      </p:sp>
      <p:pic>
        <p:nvPicPr>
          <p:cNvPr id="22" name="Image 3" descr="/home/claude/assets/icons/landmark.png"/>
          <p:cNvPicPr>
            <a:picLocks noChangeAspect="1"/>
          </p:cNvPicPr>
          <p:nvPr/>
        </p:nvPicPr>
        <p:blipFill>
          <a:blip r:embed="rId6"/>
          <a:stretch>
            <a:fillRect/>
          </a:stretch>
        </p:blipFill>
        <p:spPr>
          <a:xfrm>
            <a:off x="4193073" y="4403385"/>
            <a:ext cx="209215" cy="209215"/>
          </a:xfrm>
          <a:prstGeom prst="rect">
            <a:avLst/>
          </a:prstGeom>
        </p:spPr>
      </p:pic>
      <p:sp>
        <p:nvSpPr>
          <p:cNvPr id="23" name="Text 17"/>
          <p:cNvSpPr/>
          <p:nvPr/>
        </p:nvSpPr>
        <p:spPr>
          <a:xfrm>
            <a:off x="4663440" y="4288536"/>
            <a:ext cx="2194560" cy="47548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Government &amp; Development Authorities</a:t>
            </a:r>
            <a:endParaRPr lang="en-US" sz="1250" dirty="0"/>
          </a:p>
        </p:txBody>
      </p:sp>
      <p:sp>
        <p:nvSpPr>
          <p:cNvPr id="24" name="Text 18"/>
          <p:cNvSpPr/>
          <p:nvPr/>
        </p:nvSpPr>
        <p:spPr>
          <a:xfrm>
            <a:off x="4096512" y="4873752"/>
            <a:ext cx="2761488" cy="1161288"/>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Constructive engagement with ministries, destination authorities, and giga-project entities: aligning private asset strategy with national tourism and Vision 2030 priorities.</a:t>
            </a:r>
            <a:endParaRPr lang="en-US" sz="970" dirty="0"/>
          </a:p>
        </p:txBody>
      </p:sp>
      <p:sp>
        <p:nvSpPr>
          <p:cNvPr id="25" name="Shape 19"/>
          <p:cNvSpPr/>
          <p:nvPr/>
        </p:nvSpPr>
        <p:spPr>
          <a:xfrm>
            <a:off x="502920" y="6409944"/>
            <a:ext cx="6556248" cy="1371600"/>
          </a:xfrm>
          <a:prstGeom prst="roundRect">
            <a:avLst>
              <a:gd name="adj" fmla="val 4000"/>
            </a:avLst>
          </a:prstGeom>
          <a:solidFill>
            <a:srgbClr val="0B1B2B"/>
          </a:solidFill>
          <a:ln/>
        </p:spPr>
      </p:sp>
      <p:sp>
        <p:nvSpPr>
          <p:cNvPr id="26" name="Text 20"/>
          <p:cNvSpPr/>
          <p:nvPr/>
        </p:nvSpPr>
        <p:spPr>
          <a:xfrm>
            <a:off x="777240" y="6611112"/>
            <a:ext cx="6007608" cy="219456"/>
          </a:xfrm>
          <a:prstGeom prst="rect">
            <a:avLst/>
          </a:prstGeom>
          <a:noFill/>
          <a:ln/>
        </p:spPr>
        <p:txBody>
          <a:bodyPr wrap="square" rtlCol="0" anchor="ctr"/>
          <a:lstStyle/>
          <a:p>
            <a:pPr marL="0" indent="0">
              <a:buNone/>
            </a:pPr>
            <a:r>
              <a:rPr lang="en-US" sz="1000" b="1" kern="0" spc="120" dirty="0">
                <a:solidFill>
                  <a:srgbClr val="E4C98A"/>
                </a:solidFill>
                <a:latin typeface="Calibri" pitchFamily="34" charset="0"/>
                <a:ea typeface="Calibri" pitchFamily="34" charset="-122"/>
                <a:cs typeface="Calibri" pitchFamily="34" charset="-120"/>
              </a:rPr>
              <a:t>THE INDEPENDENCE PRINCIPLE</a:t>
            </a:r>
            <a:endParaRPr lang="en-US" sz="1000" dirty="0"/>
          </a:p>
        </p:txBody>
      </p:sp>
      <p:sp>
        <p:nvSpPr>
          <p:cNvPr id="27" name="Text 21"/>
          <p:cNvSpPr/>
          <p:nvPr/>
        </p:nvSpPr>
        <p:spPr>
          <a:xfrm>
            <a:off x="777240" y="6867144"/>
            <a:ext cx="6007608" cy="822960"/>
          </a:xfrm>
          <a:prstGeom prst="rect">
            <a:avLst/>
          </a:prstGeom>
          <a:noFill/>
          <a:ln/>
        </p:spPr>
        <p:txBody>
          <a:bodyPr wrap="square" rtlCol="0" anchor="t"/>
          <a:lstStyle/>
          <a:p>
            <a:pPr marL="0" indent="0">
              <a:lnSpc>
                <a:spcPct val="128000"/>
              </a:lnSpc>
              <a:buNone/>
            </a:pPr>
            <a:r>
              <a:rPr lang="en-US" sz="1200" i="1" dirty="0">
                <a:solidFill>
                  <a:srgbClr val="FFFFFF"/>
                </a:solidFill>
                <a:latin typeface="Cambria" pitchFamily="34" charset="0"/>
                <a:ea typeface="Cambria" pitchFamily="34" charset="-122"/>
                <a:cs typeface="Cambria" pitchFamily="34" charset="-120"/>
              </a:rPr>
              <a:t>We hold no equity in operators, take no vendor commissions, and carry no brand allegiance. Our partnerships exist to serve one interest: the client's. That independence sits behind every recommendation we make.</a:t>
            </a:r>
            <a:endParaRPr lang="en-US" sz="1200" dirty="0"/>
          </a:p>
        </p:txBody>
      </p:sp>
      <p:pic>
        <p:nvPicPr>
          <p:cNvPr id="28" name="Image 4" descr="/home/claude/assets/monogram.png"/>
          <p:cNvPicPr>
            <a:picLocks noChangeAspect="1"/>
          </p:cNvPicPr>
          <p:nvPr/>
        </p:nvPicPr>
        <p:blipFill>
          <a:blip r:embed="rId7">
            <a:alphaModFix amt="20000"/>
          </a:blip>
          <a:stretch>
            <a:fillRect/>
          </a:stretch>
        </p:blipFill>
        <p:spPr>
          <a:xfrm>
            <a:off x="3278124" y="8010144"/>
            <a:ext cx="1005840" cy="859536"/>
          </a:xfrm>
          <a:prstGeom prst="rect">
            <a:avLst/>
          </a:prstGeom>
        </p:spPr>
      </p:pic>
      <p:sp>
        <p:nvSpPr>
          <p:cNvPr id="29" name="Shape 22"/>
          <p:cNvSpPr/>
          <p:nvPr/>
        </p:nvSpPr>
        <p:spPr>
          <a:xfrm>
            <a:off x="502920" y="10186416"/>
            <a:ext cx="6556248" cy="0"/>
          </a:xfrm>
          <a:prstGeom prst="line">
            <a:avLst/>
          </a:prstGeom>
          <a:noFill/>
          <a:ln w="9525">
            <a:solidFill>
              <a:srgbClr val="E4DDCB"/>
            </a:solidFill>
            <a:prstDash val="solid"/>
          </a:ln>
        </p:spPr>
      </p:sp>
      <p:sp>
        <p:nvSpPr>
          <p:cNvPr id="30" name="Text 23"/>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6B675F"/>
                </a:solidFill>
                <a:latin typeface="Calibri" pitchFamily="34" charset="0"/>
                <a:ea typeface="Calibri" pitchFamily="34" charset="-122"/>
                <a:cs typeface="Calibri" pitchFamily="34" charset="-120"/>
              </a:rPr>
              <a:t>ALTUS GULF</a:t>
            </a:r>
            <a:endParaRPr lang="en-US" sz="850" dirty="0"/>
          </a:p>
        </p:txBody>
      </p:sp>
      <p:sp>
        <p:nvSpPr>
          <p:cNvPr id="31" name="Text 24"/>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6B675F"/>
                </a:solidFill>
                <a:latin typeface="Calibri" pitchFamily="34" charset="0"/>
                <a:ea typeface="Calibri" pitchFamily="34" charset="-122"/>
                <a:cs typeface="Calibri" pitchFamily="34" charset="-120"/>
              </a:rPr>
              <a:t>CORPORATE PROFILE  •  20</a:t>
            </a:r>
            <a:endParaRPr lang="en-US" sz="85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C1501D"/>
                </a:solidFill>
                <a:latin typeface="Calibri" pitchFamily="34" charset="0"/>
                <a:ea typeface="Calibri" pitchFamily="34" charset="-122"/>
                <a:cs typeface="Calibri" pitchFamily="34" charset="-120"/>
              </a:rPr>
              <a:t>19  •  WHAT WE STAND FOR</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a:solidFill>
                  <a:srgbClr val="0B1B2B"/>
                </a:solidFill>
                <a:latin typeface="Cambria" pitchFamily="34" charset="0"/>
                <a:ea typeface="Cambria" pitchFamily="34" charset="-122"/>
                <a:cs typeface="Cambria" pitchFamily="34" charset="-120"/>
              </a:rPr>
              <a:t>Our Values</a:t>
            </a:r>
            <a:endParaRPr lang="en-US" sz="2700" dirty="0"/>
          </a:p>
        </p:txBody>
      </p:sp>
      <p:sp>
        <p:nvSpPr>
          <p:cNvPr id="4" name="Text 2"/>
          <p:cNvSpPr/>
          <p:nvPr/>
        </p:nvSpPr>
        <p:spPr>
          <a:xfrm>
            <a:off x="502920" y="1280160"/>
            <a:ext cx="6556248" cy="566928"/>
          </a:xfrm>
          <a:prstGeom prst="rect">
            <a:avLst/>
          </a:prstGeom>
          <a:noFill/>
          <a:ln/>
        </p:spPr>
        <p:txBody>
          <a:bodyPr wrap="square" rtlCol="0" anchor="t"/>
          <a:lstStyle/>
          <a:p>
            <a:pPr marL="0" indent="0" algn="l">
              <a:lnSpc>
                <a:spcPct val="118000"/>
              </a:lnSpc>
              <a:buNone/>
            </a:pPr>
            <a:r>
              <a:rPr lang="en-US" sz="1150" dirty="0">
                <a:solidFill>
                  <a:srgbClr val="6B675F"/>
                </a:solidFill>
                <a:latin typeface="Calibri" pitchFamily="34" charset="0"/>
                <a:ea typeface="Calibri" pitchFamily="34" charset="-122"/>
                <a:cs typeface="Calibri" pitchFamily="34" charset="-120"/>
              </a:rPr>
              <a:t>Seven commitments that guide how we advise, how we execute, and how we behave when no one is watching.</a:t>
            </a:r>
            <a:endParaRPr lang="en-US" sz="1150" dirty="0"/>
          </a:p>
        </p:txBody>
      </p:sp>
      <p:sp>
        <p:nvSpPr>
          <p:cNvPr id="5" name="Shape 3"/>
          <p:cNvSpPr/>
          <p:nvPr/>
        </p:nvSpPr>
        <p:spPr>
          <a:xfrm>
            <a:off x="502920" y="1938528"/>
            <a:ext cx="6556248" cy="950976"/>
          </a:xfrm>
          <a:prstGeom prst="roundRect">
            <a:avLst>
              <a:gd name="adj" fmla="val 4808"/>
            </a:avLst>
          </a:prstGeom>
          <a:solidFill>
            <a:srgbClr val="FFFFFF"/>
          </a:solidFill>
          <a:ln w="9525">
            <a:solidFill>
              <a:srgbClr val="E4DDCB"/>
            </a:solidFill>
            <a:prstDash val="solid"/>
          </a:ln>
        </p:spPr>
      </p:sp>
      <p:sp>
        <p:nvSpPr>
          <p:cNvPr id="6" name="Shape 4"/>
          <p:cNvSpPr/>
          <p:nvPr/>
        </p:nvSpPr>
        <p:spPr>
          <a:xfrm>
            <a:off x="658368" y="2185416"/>
            <a:ext cx="457200" cy="457200"/>
          </a:xfrm>
          <a:prstGeom prst="ellipse">
            <a:avLst/>
          </a:prstGeom>
          <a:solidFill>
            <a:srgbClr val="0F5C42"/>
          </a:solidFill>
          <a:ln/>
        </p:spPr>
      </p:sp>
      <p:pic>
        <p:nvPicPr>
          <p:cNvPr id="7" name="Image 0" descr="/home/claude/assets/icons/shield.png"/>
          <p:cNvPicPr>
            <a:picLocks noChangeAspect="1"/>
          </p:cNvPicPr>
          <p:nvPr/>
        </p:nvPicPr>
        <p:blipFill>
          <a:blip r:embed="rId3"/>
          <a:stretch>
            <a:fillRect/>
          </a:stretch>
        </p:blipFill>
        <p:spPr>
          <a:xfrm>
            <a:off x="768096" y="2295144"/>
            <a:ext cx="237744" cy="237744"/>
          </a:xfrm>
          <a:prstGeom prst="rect">
            <a:avLst/>
          </a:prstGeom>
        </p:spPr>
      </p:pic>
      <p:sp>
        <p:nvSpPr>
          <p:cNvPr id="8" name="Shape 5"/>
          <p:cNvSpPr/>
          <p:nvPr/>
        </p:nvSpPr>
        <p:spPr>
          <a:xfrm>
            <a:off x="2331720" y="2084832"/>
            <a:ext cx="0" cy="658368"/>
          </a:xfrm>
          <a:prstGeom prst="line">
            <a:avLst/>
          </a:prstGeom>
          <a:noFill/>
          <a:ln w="19050">
            <a:solidFill>
              <a:srgbClr val="C9A15A"/>
            </a:solidFill>
            <a:prstDash val="solid"/>
          </a:ln>
        </p:spPr>
      </p:sp>
      <p:sp>
        <p:nvSpPr>
          <p:cNvPr id="9" name="Text 6"/>
          <p:cNvSpPr/>
          <p:nvPr/>
        </p:nvSpPr>
        <p:spPr>
          <a:xfrm>
            <a:off x="1252728" y="2048256"/>
            <a:ext cx="1005840" cy="841248"/>
          </a:xfrm>
          <a:prstGeom prst="rect">
            <a:avLst/>
          </a:prstGeom>
          <a:noFill/>
          <a:ln/>
        </p:spPr>
        <p:txBody>
          <a:bodyPr wrap="square" rtlCol="0" anchor="ctr"/>
          <a:lstStyle/>
          <a:p>
            <a:pPr marL="0" indent="0">
              <a:lnSpc>
                <a:spcPct val="105000"/>
              </a:lnSpc>
              <a:buNone/>
            </a:pPr>
            <a:r>
              <a:rPr lang="en-US" sz="1150" b="1" dirty="0">
                <a:solidFill>
                  <a:srgbClr val="0B1B2B"/>
                </a:solidFill>
                <a:latin typeface="Calibri" pitchFamily="34" charset="0"/>
                <a:ea typeface="Calibri" pitchFamily="34" charset="-122"/>
                <a:cs typeface="Calibri" pitchFamily="34" charset="-120"/>
              </a:rPr>
              <a:t>Integrity</a:t>
            </a:r>
            <a:endParaRPr lang="en-US" sz="1150" dirty="0"/>
          </a:p>
        </p:txBody>
      </p:sp>
      <p:sp>
        <p:nvSpPr>
          <p:cNvPr id="10" name="Text 7"/>
          <p:cNvSpPr/>
          <p:nvPr/>
        </p:nvSpPr>
        <p:spPr>
          <a:xfrm>
            <a:off x="2532888" y="2029968"/>
            <a:ext cx="4343400" cy="877824"/>
          </a:xfrm>
          <a:prstGeom prst="rect">
            <a:avLst/>
          </a:prstGeom>
          <a:noFill/>
          <a:ln/>
        </p:spPr>
        <p:txBody>
          <a:bodyPr wrap="square" rtlCol="0" anchor="ctr"/>
          <a:lstStyle/>
          <a:p>
            <a:pPr marL="0" indent="0">
              <a:lnSpc>
                <a:spcPct val="120000"/>
              </a:lnSpc>
              <a:buNone/>
            </a:pPr>
            <a:r>
              <a:rPr lang="en-US" sz="960" dirty="0">
                <a:solidFill>
                  <a:srgbClr val="2B2A27"/>
                </a:solidFill>
                <a:latin typeface="Calibri" pitchFamily="34" charset="0"/>
                <a:ea typeface="Calibri" pitchFamily="34" charset="-122"/>
                <a:cs typeface="Calibri" pitchFamily="34" charset="-120"/>
              </a:rPr>
              <a:t>We act as a genuine partner on the client's side: realistic diagnostics, transparent reporting, and advice that serves your interest even when it costs us the engagement.</a:t>
            </a:r>
            <a:endParaRPr lang="en-US" sz="960" dirty="0"/>
          </a:p>
        </p:txBody>
      </p:sp>
      <p:sp>
        <p:nvSpPr>
          <p:cNvPr id="11" name="Shape 8"/>
          <p:cNvSpPr/>
          <p:nvPr/>
        </p:nvSpPr>
        <p:spPr>
          <a:xfrm>
            <a:off x="502920" y="3017520"/>
            <a:ext cx="6556248" cy="950976"/>
          </a:xfrm>
          <a:prstGeom prst="roundRect">
            <a:avLst>
              <a:gd name="adj" fmla="val 4808"/>
            </a:avLst>
          </a:prstGeom>
          <a:solidFill>
            <a:srgbClr val="FFFFFF"/>
          </a:solidFill>
          <a:ln w="9525">
            <a:solidFill>
              <a:srgbClr val="E4DDCB"/>
            </a:solidFill>
            <a:prstDash val="solid"/>
          </a:ln>
        </p:spPr>
      </p:sp>
      <p:sp>
        <p:nvSpPr>
          <p:cNvPr id="12" name="Shape 9"/>
          <p:cNvSpPr/>
          <p:nvPr/>
        </p:nvSpPr>
        <p:spPr>
          <a:xfrm>
            <a:off x="658368" y="3264408"/>
            <a:ext cx="457200" cy="457200"/>
          </a:xfrm>
          <a:prstGeom prst="ellipse">
            <a:avLst/>
          </a:prstGeom>
          <a:solidFill>
            <a:srgbClr val="0F5C42"/>
          </a:solidFill>
          <a:ln/>
        </p:spPr>
      </p:sp>
      <p:pic>
        <p:nvPicPr>
          <p:cNvPr id="13" name="Image 1" descr="/home/claude/assets/icons/gem.png"/>
          <p:cNvPicPr>
            <a:picLocks noChangeAspect="1"/>
          </p:cNvPicPr>
          <p:nvPr/>
        </p:nvPicPr>
        <p:blipFill>
          <a:blip r:embed="rId4"/>
          <a:stretch>
            <a:fillRect/>
          </a:stretch>
        </p:blipFill>
        <p:spPr>
          <a:xfrm>
            <a:off x="768096" y="3374136"/>
            <a:ext cx="237744" cy="237744"/>
          </a:xfrm>
          <a:prstGeom prst="rect">
            <a:avLst/>
          </a:prstGeom>
        </p:spPr>
      </p:pic>
      <p:sp>
        <p:nvSpPr>
          <p:cNvPr id="14" name="Shape 10"/>
          <p:cNvSpPr/>
          <p:nvPr/>
        </p:nvSpPr>
        <p:spPr>
          <a:xfrm>
            <a:off x="2331720" y="3163824"/>
            <a:ext cx="0" cy="658368"/>
          </a:xfrm>
          <a:prstGeom prst="line">
            <a:avLst/>
          </a:prstGeom>
          <a:noFill/>
          <a:ln w="19050">
            <a:solidFill>
              <a:srgbClr val="C9A15A"/>
            </a:solidFill>
            <a:prstDash val="solid"/>
          </a:ln>
        </p:spPr>
      </p:sp>
      <p:sp>
        <p:nvSpPr>
          <p:cNvPr id="15" name="Text 11"/>
          <p:cNvSpPr/>
          <p:nvPr/>
        </p:nvSpPr>
        <p:spPr>
          <a:xfrm>
            <a:off x="1252728" y="3127248"/>
            <a:ext cx="1005840" cy="841248"/>
          </a:xfrm>
          <a:prstGeom prst="rect">
            <a:avLst/>
          </a:prstGeom>
          <a:noFill/>
          <a:ln/>
        </p:spPr>
        <p:txBody>
          <a:bodyPr wrap="square" rtlCol="0" anchor="ctr"/>
          <a:lstStyle/>
          <a:p>
            <a:pPr marL="0" indent="0">
              <a:lnSpc>
                <a:spcPct val="105000"/>
              </a:lnSpc>
              <a:buNone/>
            </a:pPr>
            <a:r>
              <a:rPr lang="en-US" sz="1150" b="1" dirty="0">
                <a:solidFill>
                  <a:srgbClr val="0B1B2B"/>
                </a:solidFill>
                <a:latin typeface="Calibri" pitchFamily="34" charset="0"/>
                <a:ea typeface="Calibri" pitchFamily="34" charset="-122"/>
                <a:cs typeface="Calibri" pitchFamily="34" charset="-120"/>
              </a:rPr>
              <a:t>Excellence</a:t>
            </a:r>
            <a:endParaRPr lang="en-US" sz="1150" dirty="0"/>
          </a:p>
        </p:txBody>
      </p:sp>
      <p:sp>
        <p:nvSpPr>
          <p:cNvPr id="16" name="Text 12"/>
          <p:cNvSpPr/>
          <p:nvPr/>
        </p:nvSpPr>
        <p:spPr>
          <a:xfrm>
            <a:off x="2532888" y="3108960"/>
            <a:ext cx="4343400" cy="877824"/>
          </a:xfrm>
          <a:prstGeom prst="rect">
            <a:avLst/>
          </a:prstGeom>
          <a:noFill/>
          <a:ln/>
        </p:spPr>
        <p:txBody>
          <a:bodyPr wrap="square" rtlCol="0" anchor="ctr"/>
          <a:lstStyle/>
          <a:p>
            <a:pPr marL="0" indent="0">
              <a:lnSpc>
                <a:spcPct val="120000"/>
              </a:lnSpc>
              <a:buNone/>
            </a:pPr>
            <a:r>
              <a:rPr lang="en-US" sz="960" dirty="0">
                <a:solidFill>
                  <a:srgbClr val="2B2A27"/>
                </a:solidFill>
                <a:latin typeface="Calibri" pitchFamily="34" charset="0"/>
                <a:ea typeface="Calibri" pitchFamily="34" charset="-122"/>
                <a:cs typeface="Calibri" pitchFamily="34" charset="-120"/>
              </a:rPr>
              <a:t>Consistently high standards: a refusal of mediocrity through close attention to execution detail and strong global benchmarks.</a:t>
            </a:r>
            <a:endParaRPr lang="en-US" sz="960" dirty="0"/>
          </a:p>
        </p:txBody>
      </p:sp>
      <p:sp>
        <p:nvSpPr>
          <p:cNvPr id="17" name="Shape 13"/>
          <p:cNvSpPr/>
          <p:nvPr/>
        </p:nvSpPr>
        <p:spPr>
          <a:xfrm>
            <a:off x="502920" y="4096512"/>
            <a:ext cx="6556248" cy="950976"/>
          </a:xfrm>
          <a:prstGeom prst="roundRect">
            <a:avLst>
              <a:gd name="adj" fmla="val 4808"/>
            </a:avLst>
          </a:prstGeom>
          <a:solidFill>
            <a:srgbClr val="FFFFFF"/>
          </a:solidFill>
          <a:ln w="9525">
            <a:solidFill>
              <a:srgbClr val="E4DDCB"/>
            </a:solidFill>
            <a:prstDash val="solid"/>
          </a:ln>
        </p:spPr>
      </p:sp>
      <p:sp>
        <p:nvSpPr>
          <p:cNvPr id="18" name="Shape 14"/>
          <p:cNvSpPr/>
          <p:nvPr/>
        </p:nvSpPr>
        <p:spPr>
          <a:xfrm>
            <a:off x="658368" y="4343400"/>
            <a:ext cx="457200" cy="457200"/>
          </a:xfrm>
          <a:prstGeom prst="ellipse">
            <a:avLst/>
          </a:prstGeom>
          <a:solidFill>
            <a:srgbClr val="0F5C42"/>
          </a:solidFill>
          <a:ln/>
        </p:spPr>
      </p:sp>
      <p:pic>
        <p:nvPicPr>
          <p:cNvPr id="19" name="Image 2" descr="/home/claude/assets/icons/lightbulb.png"/>
          <p:cNvPicPr>
            <a:picLocks noChangeAspect="1"/>
          </p:cNvPicPr>
          <p:nvPr/>
        </p:nvPicPr>
        <p:blipFill>
          <a:blip r:embed="rId5"/>
          <a:stretch>
            <a:fillRect/>
          </a:stretch>
        </p:blipFill>
        <p:spPr>
          <a:xfrm>
            <a:off x="768096" y="4453128"/>
            <a:ext cx="237744" cy="237744"/>
          </a:xfrm>
          <a:prstGeom prst="rect">
            <a:avLst/>
          </a:prstGeom>
        </p:spPr>
      </p:pic>
      <p:sp>
        <p:nvSpPr>
          <p:cNvPr id="20" name="Shape 15"/>
          <p:cNvSpPr/>
          <p:nvPr/>
        </p:nvSpPr>
        <p:spPr>
          <a:xfrm>
            <a:off x="2331720" y="4242816"/>
            <a:ext cx="0" cy="658368"/>
          </a:xfrm>
          <a:prstGeom prst="line">
            <a:avLst/>
          </a:prstGeom>
          <a:noFill/>
          <a:ln w="19050">
            <a:solidFill>
              <a:srgbClr val="C9A15A"/>
            </a:solidFill>
            <a:prstDash val="solid"/>
          </a:ln>
        </p:spPr>
      </p:sp>
      <p:sp>
        <p:nvSpPr>
          <p:cNvPr id="21" name="Text 16"/>
          <p:cNvSpPr/>
          <p:nvPr/>
        </p:nvSpPr>
        <p:spPr>
          <a:xfrm>
            <a:off x="1252728" y="4206240"/>
            <a:ext cx="1005840" cy="841248"/>
          </a:xfrm>
          <a:prstGeom prst="rect">
            <a:avLst/>
          </a:prstGeom>
          <a:noFill/>
          <a:ln/>
        </p:spPr>
        <p:txBody>
          <a:bodyPr wrap="square" rtlCol="0" anchor="ctr"/>
          <a:lstStyle/>
          <a:p>
            <a:pPr marL="0" indent="0">
              <a:lnSpc>
                <a:spcPct val="105000"/>
              </a:lnSpc>
              <a:buNone/>
            </a:pPr>
            <a:r>
              <a:rPr lang="en-US" sz="1150" b="1" dirty="0">
                <a:solidFill>
                  <a:srgbClr val="0B1B2B"/>
                </a:solidFill>
                <a:latin typeface="Calibri" pitchFamily="34" charset="0"/>
                <a:ea typeface="Calibri" pitchFamily="34" charset="-122"/>
                <a:cs typeface="Calibri" pitchFamily="34" charset="-120"/>
              </a:rPr>
              <a:t>Innovation</a:t>
            </a:r>
            <a:endParaRPr lang="en-US" sz="1150" dirty="0"/>
          </a:p>
        </p:txBody>
      </p:sp>
      <p:sp>
        <p:nvSpPr>
          <p:cNvPr id="22" name="Text 17"/>
          <p:cNvSpPr/>
          <p:nvPr/>
        </p:nvSpPr>
        <p:spPr>
          <a:xfrm>
            <a:off x="2532888" y="4187952"/>
            <a:ext cx="4343400" cy="877824"/>
          </a:xfrm>
          <a:prstGeom prst="rect">
            <a:avLst/>
          </a:prstGeom>
          <a:noFill/>
          <a:ln/>
        </p:spPr>
        <p:txBody>
          <a:bodyPr wrap="square" rtlCol="0" anchor="ctr"/>
          <a:lstStyle/>
          <a:p>
            <a:pPr marL="0" indent="0">
              <a:lnSpc>
                <a:spcPct val="120000"/>
              </a:lnSpc>
              <a:buNone/>
            </a:pPr>
            <a:r>
              <a:rPr lang="en-US" sz="960" dirty="0">
                <a:solidFill>
                  <a:srgbClr val="2B2A27"/>
                </a:solidFill>
                <a:latin typeface="Calibri" pitchFamily="34" charset="0"/>
                <a:ea typeface="Calibri" pitchFamily="34" charset="-122"/>
                <a:cs typeface="Calibri" pitchFamily="34" charset="-120"/>
              </a:rPr>
              <a:t>An agile pursuit of digital progress: actively seeking, testing, and integrating new capability as a competitive advantage.</a:t>
            </a:r>
            <a:endParaRPr lang="en-US" sz="960" dirty="0"/>
          </a:p>
        </p:txBody>
      </p:sp>
      <p:sp>
        <p:nvSpPr>
          <p:cNvPr id="23" name="Shape 18"/>
          <p:cNvSpPr/>
          <p:nvPr/>
        </p:nvSpPr>
        <p:spPr>
          <a:xfrm>
            <a:off x="502920" y="5175504"/>
            <a:ext cx="6556248" cy="950976"/>
          </a:xfrm>
          <a:prstGeom prst="roundRect">
            <a:avLst>
              <a:gd name="adj" fmla="val 4808"/>
            </a:avLst>
          </a:prstGeom>
          <a:solidFill>
            <a:srgbClr val="FFFFFF"/>
          </a:solidFill>
          <a:ln w="9525">
            <a:solidFill>
              <a:srgbClr val="E4DDCB"/>
            </a:solidFill>
            <a:prstDash val="solid"/>
          </a:ln>
        </p:spPr>
      </p:sp>
      <p:sp>
        <p:nvSpPr>
          <p:cNvPr id="24" name="Shape 19"/>
          <p:cNvSpPr/>
          <p:nvPr/>
        </p:nvSpPr>
        <p:spPr>
          <a:xfrm>
            <a:off x="658368" y="5422392"/>
            <a:ext cx="457200" cy="457200"/>
          </a:xfrm>
          <a:prstGeom prst="ellipse">
            <a:avLst/>
          </a:prstGeom>
          <a:solidFill>
            <a:srgbClr val="0F5C42"/>
          </a:solidFill>
          <a:ln/>
        </p:spPr>
      </p:sp>
      <p:pic>
        <p:nvPicPr>
          <p:cNvPr id="25" name="Image 3" descr="/home/claude/assets/icons/concierge.png"/>
          <p:cNvPicPr>
            <a:picLocks noChangeAspect="1"/>
          </p:cNvPicPr>
          <p:nvPr/>
        </p:nvPicPr>
        <p:blipFill>
          <a:blip r:embed="rId6"/>
          <a:stretch>
            <a:fillRect/>
          </a:stretch>
        </p:blipFill>
        <p:spPr>
          <a:xfrm>
            <a:off x="768096" y="5532120"/>
            <a:ext cx="237744" cy="237744"/>
          </a:xfrm>
          <a:prstGeom prst="rect">
            <a:avLst/>
          </a:prstGeom>
        </p:spPr>
      </p:pic>
      <p:sp>
        <p:nvSpPr>
          <p:cNvPr id="26" name="Shape 20"/>
          <p:cNvSpPr/>
          <p:nvPr/>
        </p:nvSpPr>
        <p:spPr>
          <a:xfrm>
            <a:off x="2331720" y="5321808"/>
            <a:ext cx="0" cy="658368"/>
          </a:xfrm>
          <a:prstGeom prst="line">
            <a:avLst/>
          </a:prstGeom>
          <a:noFill/>
          <a:ln w="19050">
            <a:solidFill>
              <a:srgbClr val="C9A15A"/>
            </a:solidFill>
            <a:prstDash val="solid"/>
          </a:ln>
        </p:spPr>
      </p:sp>
      <p:sp>
        <p:nvSpPr>
          <p:cNvPr id="27" name="Text 21"/>
          <p:cNvSpPr/>
          <p:nvPr/>
        </p:nvSpPr>
        <p:spPr>
          <a:xfrm>
            <a:off x="1252728" y="5285232"/>
            <a:ext cx="1005840" cy="841248"/>
          </a:xfrm>
          <a:prstGeom prst="rect">
            <a:avLst/>
          </a:prstGeom>
          <a:noFill/>
          <a:ln/>
        </p:spPr>
        <p:txBody>
          <a:bodyPr wrap="square" rtlCol="0" anchor="ctr"/>
          <a:lstStyle/>
          <a:p>
            <a:pPr marL="0" indent="0">
              <a:lnSpc>
                <a:spcPct val="105000"/>
              </a:lnSpc>
              <a:buNone/>
            </a:pPr>
            <a:r>
              <a:rPr lang="en-US" sz="1150" b="1" dirty="0">
                <a:solidFill>
                  <a:srgbClr val="0B1B2B"/>
                </a:solidFill>
                <a:latin typeface="Calibri" pitchFamily="34" charset="0"/>
                <a:ea typeface="Calibri" pitchFamily="34" charset="-122"/>
                <a:cs typeface="Calibri" pitchFamily="34" charset="-120"/>
              </a:rPr>
              <a:t>Hospitality</a:t>
            </a:r>
            <a:endParaRPr lang="en-US" sz="1150" dirty="0"/>
          </a:p>
        </p:txBody>
      </p:sp>
      <p:sp>
        <p:nvSpPr>
          <p:cNvPr id="28" name="Text 22"/>
          <p:cNvSpPr/>
          <p:nvPr/>
        </p:nvSpPr>
        <p:spPr>
          <a:xfrm>
            <a:off x="2532888" y="5266944"/>
            <a:ext cx="4343400" cy="877824"/>
          </a:xfrm>
          <a:prstGeom prst="rect">
            <a:avLst/>
          </a:prstGeom>
          <a:noFill/>
          <a:ln/>
        </p:spPr>
        <p:txBody>
          <a:bodyPr wrap="square" rtlCol="0" anchor="ctr"/>
          <a:lstStyle/>
          <a:p>
            <a:pPr marL="0" indent="0">
              <a:lnSpc>
                <a:spcPct val="120000"/>
              </a:lnSpc>
              <a:buNone/>
            </a:pPr>
            <a:r>
              <a:rPr lang="en-US" sz="960" dirty="0">
                <a:solidFill>
                  <a:srgbClr val="2B2A27"/>
                </a:solidFill>
                <a:latin typeface="Calibri" pitchFamily="34" charset="0"/>
                <a:ea typeface="Calibri" pitchFamily="34" charset="-122"/>
                <a:cs typeface="Calibri" pitchFamily="34" charset="-120"/>
              </a:rPr>
              <a:t>Service is our native language. The guest's experience, and the owner's return on it, sit at the centre of every decision.</a:t>
            </a:r>
            <a:endParaRPr lang="en-US" sz="960" dirty="0"/>
          </a:p>
        </p:txBody>
      </p:sp>
      <p:sp>
        <p:nvSpPr>
          <p:cNvPr id="29" name="Shape 23"/>
          <p:cNvSpPr/>
          <p:nvPr/>
        </p:nvSpPr>
        <p:spPr>
          <a:xfrm>
            <a:off x="502920" y="6254496"/>
            <a:ext cx="6556248" cy="950976"/>
          </a:xfrm>
          <a:prstGeom prst="roundRect">
            <a:avLst>
              <a:gd name="adj" fmla="val 4808"/>
            </a:avLst>
          </a:prstGeom>
          <a:solidFill>
            <a:srgbClr val="FFFFFF"/>
          </a:solidFill>
          <a:ln w="9525">
            <a:solidFill>
              <a:srgbClr val="E4DDCB"/>
            </a:solidFill>
            <a:prstDash val="solid"/>
          </a:ln>
        </p:spPr>
      </p:sp>
      <p:sp>
        <p:nvSpPr>
          <p:cNvPr id="30" name="Shape 24"/>
          <p:cNvSpPr/>
          <p:nvPr/>
        </p:nvSpPr>
        <p:spPr>
          <a:xfrm>
            <a:off x="658368" y="6501384"/>
            <a:ext cx="457200" cy="457200"/>
          </a:xfrm>
          <a:prstGeom prst="ellipse">
            <a:avLst/>
          </a:prstGeom>
          <a:solidFill>
            <a:srgbClr val="0F5C42"/>
          </a:solidFill>
          <a:ln/>
        </p:spPr>
      </p:sp>
      <p:pic>
        <p:nvPicPr>
          <p:cNvPr id="31" name="Image 4" descr="/home/claude/assets/icons/chartline.png"/>
          <p:cNvPicPr>
            <a:picLocks noChangeAspect="1"/>
          </p:cNvPicPr>
          <p:nvPr/>
        </p:nvPicPr>
        <p:blipFill>
          <a:blip r:embed="rId7"/>
          <a:stretch>
            <a:fillRect/>
          </a:stretch>
        </p:blipFill>
        <p:spPr>
          <a:xfrm>
            <a:off x="768096" y="6611112"/>
            <a:ext cx="237744" cy="237744"/>
          </a:xfrm>
          <a:prstGeom prst="rect">
            <a:avLst/>
          </a:prstGeom>
        </p:spPr>
      </p:pic>
      <p:sp>
        <p:nvSpPr>
          <p:cNvPr id="32" name="Shape 25"/>
          <p:cNvSpPr/>
          <p:nvPr/>
        </p:nvSpPr>
        <p:spPr>
          <a:xfrm>
            <a:off x="2331720" y="6400800"/>
            <a:ext cx="0" cy="658368"/>
          </a:xfrm>
          <a:prstGeom prst="line">
            <a:avLst/>
          </a:prstGeom>
          <a:noFill/>
          <a:ln w="19050">
            <a:solidFill>
              <a:srgbClr val="C9A15A"/>
            </a:solidFill>
            <a:prstDash val="solid"/>
          </a:ln>
        </p:spPr>
      </p:sp>
      <p:sp>
        <p:nvSpPr>
          <p:cNvPr id="33" name="Text 26"/>
          <p:cNvSpPr/>
          <p:nvPr/>
        </p:nvSpPr>
        <p:spPr>
          <a:xfrm>
            <a:off x="1252728" y="6364224"/>
            <a:ext cx="1005840" cy="841248"/>
          </a:xfrm>
          <a:prstGeom prst="rect">
            <a:avLst/>
          </a:prstGeom>
          <a:noFill/>
          <a:ln/>
        </p:spPr>
        <p:txBody>
          <a:bodyPr wrap="square" rtlCol="0" anchor="ctr"/>
          <a:lstStyle/>
          <a:p>
            <a:pPr marL="0" indent="0">
              <a:lnSpc>
                <a:spcPct val="105000"/>
              </a:lnSpc>
              <a:buNone/>
            </a:pPr>
            <a:r>
              <a:rPr lang="en-US" sz="1150" b="1" dirty="0">
                <a:solidFill>
                  <a:srgbClr val="0B1B2B"/>
                </a:solidFill>
                <a:latin typeface="Calibri" pitchFamily="34" charset="0"/>
                <a:ea typeface="Calibri" pitchFamily="34" charset="-122"/>
                <a:cs typeface="Calibri" pitchFamily="34" charset="-120"/>
              </a:rPr>
              <a:t>Performance</a:t>
            </a:r>
            <a:endParaRPr lang="en-US" sz="1150" dirty="0"/>
          </a:p>
        </p:txBody>
      </p:sp>
      <p:sp>
        <p:nvSpPr>
          <p:cNvPr id="34" name="Text 27"/>
          <p:cNvSpPr/>
          <p:nvPr/>
        </p:nvSpPr>
        <p:spPr>
          <a:xfrm>
            <a:off x="2532888" y="6345936"/>
            <a:ext cx="4343400" cy="877824"/>
          </a:xfrm>
          <a:prstGeom prst="rect">
            <a:avLst/>
          </a:prstGeom>
          <a:noFill/>
          <a:ln/>
        </p:spPr>
        <p:txBody>
          <a:bodyPr wrap="square" rtlCol="0" anchor="ctr"/>
          <a:lstStyle/>
          <a:p>
            <a:pPr marL="0" indent="0">
              <a:lnSpc>
                <a:spcPct val="120000"/>
              </a:lnSpc>
              <a:buNone/>
            </a:pPr>
            <a:r>
              <a:rPr lang="en-US" sz="960" dirty="0">
                <a:solidFill>
                  <a:srgbClr val="2B2A27"/>
                </a:solidFill>
                <a:latin typeface="Calibri" pitchFamily="34" charset="0"/>
                <a:ea typeface="Calibri" pitchFamily="34" charset="-122"/>
                <a:cs typeface="Calibri" pitchFamily="34" charset="-120"/>
              </a:rPr>
              <a:t>Data-driven precision: intuition deliberately replaced by empirical analytics, AI, and financial modelling. Impact that is measured, not asserted.</a:t>
            </a:r>
            <a:endParaRPr lang="en-US" sz="960" dirty="0"/>
          </a:p>
        </p:txBody>
      </p:sp>
      <p:sp>
        <p:nvSpPr>
          <p:cNvPr id="35" name="Shape 28"/>
          <p:cNvSpPr/>
          <p:nvPr/>
        </p:nvSpPr>
        <p:spPr>
          <a:xfrm>
            <a:off x="502920" y="7333488"/>
            <a:ext cx="6556248" cy="950976"/>
          </a:xfrm>
          <a:prstGeom prst="roundRect">
            <a:avLst>
              <a:gd name="adj" fmla="val 4808"/>
            </a:avLst>
          </a:prstGeom>
          <a:solidFill>
            <a:srgbClr val="FFFFFF"/>
          </a:solidFill>
          <a:ln w="9525">
            <a:solidFill>
              <a:srgbClr val="E4DDCB"/>
            </a:solidFill>
            <a:prstDash val="solid"/>
          </a:ln>
        </p:spPr>
      </p:sp>
      <p:sp>
        <p:nvSpPr>
          <p:cNvPr id="36" name="Shape 29"/>
          <p:cNvSpPr/>
          <p:nvPr/>
        </p:nvSpPr>
        <p:spPr>
          <a:xfrm>
            <a:off x="658368" y="7580376"/>
            <a:ext cx="457200" cy="457200"/>
          </a:xfrm>
          <a:prstGeom prst="ellipse">
            <a:avLst/>
          </a:prstGeom>
          <a:solidFill>
            <a:srgbClr val="0F5C42"/>
          </a:solidFill>
          <a:ln/>
        </p:spPr>
      </p:sp>
      <p:pic>
        <p:nvPicPr>
          <p:cNvPr id="37" name="Image 5" descr="/home/claude/assets/icons/heart.png"/>
          <p:cNvPicPr>
            <a:picLocks noChangeAspect="1"/>
          </p:cNvPicPr>
          <p:nvPr/>
        </p:nvPicPr>
        <p:blipFill>
          <a:blip r:embed="rId8"/>
          <a:stretch>
            <a:fillRect/>
          </a:stretch>
        </p:blipFill>
        <p:spPr>
          <a:xfrm>
            <a:off x="768096" y="7690104"/>
            <a:ext cx="237744" cy="237744"/>
          </a:xfrm>
          <a:prstGeom prst="rect">
            <a:avLst/>
          </a:prstGeom>
        </p:spPr>
      </p:pic>
      <p:sp>
        <p:nvSpPr>
          <p:cNvPr id="38" name="Shape 30"/>
          <p:cNvSpPr/>
          <p:nvPr/>
        </p:nvSpPr>
        <p:spPr>
          <a:xfrm>
            <a:off x="2331720" y="7479792"/>
            <a:ext cx="0" cy="658368"/>
          </a:xfrm>
          <a:prstGeom prst="line">
            <a:avLst/>
          </a:prstGeom>
          <a:noFill/>
          <a:ln w="19050">
            <a:solidFill>
              <a:srgbClr val="C9A15A"/>
            </a:solidFill>
            <a:prstDash val="solid"/>
          </a:ln>
        </p:spPr>
      </p:sp>
      <p:sp>
        <p:nvSpPr>
          <p:cNvPr id="39" name="Text 31"/>
          <p:cNvSpPr/>
          <p:nvPr/>
        </p:nvSpPr>
        <p:spPr>
          <a:xfrm>
            <a:off x="1252728" y="7443216"/>
            <a:ext cx="1005840" cy="841248"/>
          </a:xfrm>
          <a:prstGeom prst="rect">
            <a:avLst/>
          </a:prstGeom>
          <a:noFill/>
          <a:ln/>
        </p:spPr>
        <p:txBody>
          <a:bodyPr wrap="square" rtlCol="0" anchor="ctr"/>
          <a:lstStyle/>
          <a:p>
            <a:pPr marL="0" indent="0">
              <a:lnSpc>
                <a:spcPct val="105000"/>
              </a:lnSpc>
              <a:buNone/>
            </a:pPr>
            <a:r>
              <a:rPr lang="en-US" sz="1150" b="1" dirty="0">
                <a:solidFill>
                  <a:srgbClr val="0B1B2B"/>
                </a:solidFill>
                <a:latin typeface="Calibri" pitchFamily="34" charset="0"/>
                <a:ea typeface="Calibri" pitchFamily="34" charset="-122"/>
                <a:cs typeface="Calibri" pitchFamily="34" charset="-120"/>
              </a:rPr>
              <a:t>Trust</a:t>
            </a:r>
            <a:endParaRPr lang="en-US" sz="1150" dirty="0"/>
          </a:p>
        </p:txBody>
      </p:sp>
      <p:sp>
        <p:nvSpPr>
          <p:cNvPr id="40" name="Text 32"/>
          <p:cNvSpPr/>
          <p:nvPr/>
        </p:nvSpPr>
        <p:spPr>
          <a:xfrm>
            <a:off x="2532888" y="7424928"/>
            <a:ext cx="4343400" cy="877824"/>
          </a:xfrm>
          <a:prstGeom prst="rect">
            <a:avLst/>
          </a:prstGeom>
          <a:noFill/>
          <a:ln/>
        </p:spPr>
        <p:txBody>
          <a:bodyPr wrap="square" rtlCol="0" anchor="ctr"/>
          <a:lstStyle/>
          <a:p>
            <a:pPr marL="0" indent="0">
              <a:lnSpc>
                <a:spcPct val="120000"/>
              </a:lnSpc>
              <a:buNone/>
            </a:pPr>
            <a:r>
              <a:rPr lang="en-US" sz="960" dirty="0">
                <a:solidFill>
                  <a:srgbClr val="2B2A27"/>
                </a:solidFill>
                <a:latin typeface="Calibri" pitchFamily="34" charset="0"/>
                <a:ea typeface="Calibri" pitchFamily="34" charset="-122"/>
                <a:cs typeface="Calibri" pitchFamily="34" charset="-120"/>
              </a:rPr>
              <a:t>Earned through candour, confidentiality, and consistency: the currency of every boardroom relationship we hold.</a:t>
            </a:r>
            <a:endParaRPr lang="en-US" sz="960" dirty="0"/>
          </a:p>
        </p:txBody>
      </p:sp>
      <p:sp>
        <p:nvSpPr>
          <p:cNvPr id="41" name="Shape 33"/>
          <p:cNvSpPr/>
          <p:nvPr/>
        </p:nvSpPr>
        <p:spPr>
          <a:xfrm>
            <a:off x="502920" y="8412480"/>
            <a:ext cx="6556248" cy="950976"/>
          </a:xfrm>
          <a:prstGeom prst="roundRect">
            <a:avLst>
              <a:gd name="adj" fmla="val 4808"/>
            </a:avLst>
          </a:prstGeom>
          <a:solidFill>
            <a:srgbClr val="FFFFFF"/>
          </a:solidFill>
          <a:ln w="9525">
            <a:solidFill>
              <a:srgbClr val="E4DDCB"/>
            </a:solidFill>
            <a:prstDash val="solid"/>
          </a:ln>
        </p:spPr>
      </p:sp>
      <p:sp>
        <p:nvSpPr>
          <p:cNvPr id="42" name="Shape 34"/>
          <p:cNvSpPr/>
          <p:nvPr/>
        </p:nvSpPr>
        <p:spPr>
          <a:xfrm>
            <a:off x="658368" y="8659368"/>
            <a:ext cx="457200" cy="457200"/>
          </a:xfrm>
          <a:prstGeom prst="ellipse">
            <a:avLst/>
          </a:prstGeom>
          <a:solidFill>
            <a:srgbClr val="0F5C42"/>
          </a:solidFill>
          <a:ln/>
        </p:spPr>
      </p:sp>
      <p:pic>
        <p:nvPicPr>
          <p:cNvPr id="43" name="Image 6" descr="/home/claude/assets/icons/handshake.png"/>
          <p:cNvPicPr>
            <a:picLocks noChangeAspect="1"/>
          </p:cNvPicPr>
          <p:nvPr/>
        </p:nvPicPr>
        <p:blipFill>
          <a:blip r:embed="rId9"/>
          <a:stretch>
            <a:fillRect/>
          </a:stretch>
        </p:blipFill>
        <p:spPr>
          <a:xfrm>
            <a:off x="768096" y="8769096"/>
            <a:ext cx="237744" cy="237744"/>
          </a:xfrm>
          <a:prstGeom prst="rect">
            <a:avLst/>
          </a:prstGeom>
        </p:spPr>
      </p:pic>
      <p:sp>
        <p:nvSpPr>
          <p:cNvPr id="44" name="Shape 35"/>
          <p:cNvSpPr/>
          <p:nvPr/>
        </p:nvSpPr>
        <p:spPr>
          <a:xfrm>
            <a:off x="2331720" y="8558784"/>
            <a:ext cx="0" cy="658368"/>
          </a:xfrm>
          <a:prstGeom prst="line">
            <a:avLst/>
          </a:prstGeom>
          <a:noFill/>
          <a:ln w="19050">
            <a:solidFill>
              <a:srgbClr val="C9A15A"/>
            </a:solidFill>
            <a:prstDash val="solid"/>
          </a:ln>
        </p:spPr>
      </p:sp>
      <p:sp>
        <p:nvSpPr>
          <p:cNvPr id="45" name="Text 36"/>
          <p:cNvSpPr/>
          <p:nvPr/>
        </p:nvSpPr>
        <p:spPr>
          <a:xfrm>
            <a:off x="1252728" y="8522208"/>
            <a:ext cx="1005840" cy="841248"/>
          </a:xfrm>
          <a:prstGeom prst="rect">
            <a:avLst/>
          </a:prstGeom>
          <a:noFill/>
          <a:ln/>
        </p:spPr>
        <p:txBody>
          <a:bodyPr wrap="square" rtlCol="0" anchor="ctr"/>
          <a:lstStyle/>
          <a:p>
            <a:pPr marL="0" indent="0">
              <a:lnSpc>
                <a:spcPct val="105000"/>
              </a:lnSpc>
              <a:buNone/>
            </a:pPr>
            <a:r>
              <a:rPr lang="en-US" sz="1150" b="1" dirty="0">
                <a:solidFill>
                  <a:srgbClr val="0B1B2B"/>
                </a:solidFill>
                <a:latin typeface="Calibri" pitchFamily="34" charset="0"/>
                <a:ea typeface="Calibri" pitchFamily="34" charset="-122"/>
                <a:cs typeface="Calibri" pitchFamily="34" charset="-120"/>
              </a:rPr>
              <a:t>Collaboration</a:t>
            </a:r>
            <a:endParaRPr lang="en-US" sz="1150" dirty="0"/>
          </a:p>
        </p:txBody>
      </p:sp>
      <p:sp>
        <p:nvSpPr>
          <p:cNvPr id="46" name="Text 37"/>
          <p:cNvSpPr/>
          <p:nvPr/>
        </p:nvSpPr>
        <p:spPr>
          <a:xfrm>
            <a:off x="2532888" y="8503920"/>
            <a:ext cx="4343400" cy="877824"/>
          </a:xfrm>
          <a:prstGeom prst="rect">
            <a:avLst/>
          </a:prstGeom>
          <a:noFill/>
          <a:ln/>
        </p:spPr>
        <p:txBody>
          <a:bodyPr wrap="square" rtlCol="0" anchor="ctr"/>
          <a:lstStyle/>
          <a:p>
            <a:pPr marL="0" indent="0">
              <a:lnSpc>
                <a:spcPct val="120000"/>
              </a:lnSpc>
              <a:buNone/>
            </a:pPr>
            <a:r>
              <a:rPr lang="en-US" sz="960" dirty="0">
                <a:solidFill>
                  <a:srgbClr val="2B2A27"/>
                </a:solidFill>
                <a:latin typeface="Calibri" pitchFamily="34" charset="0"/>
                <a:ea typeface="Calibri" pitchFamily="34" charset="-122"/>
                <a:cs typeface="Calibri" pitchFamily="34" charset="-120"/>
              </a:rPr>
              <a:t>Human-centred empowerment: we build alongside client teams and local talent, transferring capability rather than creating dependency.</a:t>
            </a:r>
            <a:endParaRPr lang="en-US" sz="960" dirty="0"/>
          </a:p>
        </p:txBody>
      </p:sp>
      <p:sp>
        <p:nvSpPr>
          <p:cNvPr id="47" name="Shape 38"/>
          <p:cNvSpPr/>
          <p:nvPr/>
        </p:nvSpPr>
        <p:spPr>
          <a:xfrm>
            <a:off x="502920" y="10186416"/>
            <a:ext cx="6556248" cy="0"/>
          </a:xfrm>
          <a:prstGeom prst="line">
            <a:avLst/>
          </a:prstGeom>
          <a:noFill/>
          <a:ln w="9525">
            <a:solidFill>
              <a:srgbClr val="E4DDCB"/>
            </a:solidFill>
            <a:prstDash val="solid"/>
          </a:ln>
        </p:spPr>
      </p:sp>
      <p:sp>
        <p:nvSpPr>
          <p:cNvPr id="48" name="Text 39"/>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6B675F"/>
                </a:solidFill>
                <a:latin typeface="Calibri" pitchFamily="34" charset="0"/>
                <a:ea typeface="Calibri" pitchFamily="34" charset="-122"/>
                <a:cs typeface="Calibri" pitchFamily="34" charset="-120"/>
              </a:rPr>
              <a:t>ALTUS GULF</a:t>
            </a:r>
            <a:endParaRPr lang="en-US" sz="850" dirty="0"/>
          </a:p>
        </p:txBody>
      </p:sp>
      <p:sp>
        <p:nvSpPr>
          <p:cNvPr id="49" name="Text 40"/>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6B675F"/>
                </a:solidFill>
                <a:latin typeface="Calibri" pitchFamily="34" charset="0"/>
                <a:ea typeface="Calibri" pitchFamily="34" charset="-122"/>
                <a:cs typeface="Calibri" pitchFamily="34" charset="-120"/>
              </a:rPr>
              <a:t>CORPORATE PROFILE  •  21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C1501D"/>
                </a:solidFill>
                <a:latin typeface="Calibri" pitchFamily="34" charset="0"/>
                <a:ea typeface="Calibri" pitchFamily="34" charset="-122"/>
                <a:cs typeface="Calibri" pitchFamily="34" charset="-120"/>
              </a:rPr>
              <a:t>20  •  RESPONSIBLE PERFORMANCE</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a:solidFill>
                  <a:srgbClr val="0B1B2B"/>
                </a:solidFill>
                <a:latin typeface="Cambria" pitchFamily="34" charset="0"/>
                <a:ea typeface="Cambria" pitchFamily="34" charset="-122"/>
                <a:cs typeface="Cambria" pitchFamily="34" charset="-120"/>
              </a:rPr>
              <a:t>ESG &amp; Sustainability</a:t>
            </a:r>
            <a:endParaRPr lang="en-US" sz="2700" dirty="0"/>
          </a:p>
        </p:txBody>
      </p:sp>
      <p:sp>
        <p:nvSpPr>
          <p:cNvPr id="4" name="Text 2"/>
          <p:cNvSpPr/>
          <p:nvPr/>
        </p:nvSpPr>
        <p:spPr>
          <a:xfrm>
            <a:off x="502920" y="1280160"/>
            <a:ext cx="6556248" cy="566928"/>
          </a:xfrm>
          <a:prstGeom prst="rect">
            <a:avLst/>
          </a:prstGeom>
          <a:noFill/>
          <a:ln/>
        </p:spPr>
        <p:txBody>
          <a:bodyPr wrap="square" rtlCol="0" anchor="t"/>
          <a:lstStyle/>
          <a:p>
            <a:pPr marL="0" indent="0" algn="l">
              <a:lnSpc>
                <a:spcPct val="118000"/>
              </a:lnSpc>
              <a:buNone/>
            </a:pPr>
            <a:r>
              <a:rPr lang="en-US" sz="1150" dirty="0">
                <a:solidFill>
                  <a:srgbClr val="6B675F"/>
                </a:solidFill>
                <a:latin typeface="Calibri" pitchFamily="34" charset="0"/>
                <a:ea typeface="Calibri" pitchFamily="34" charset="-122"/>
                <a:cs typeface="Calibri" pitchFamily="34" charset="-120"/>
              </a:rPr>
              <a:t>Sustainable performance is not a compliance exercise; it is an asset-value strategy. We help embed environmental, social, and governance discipline into the operating model itself.</a:t>
            </a:r>
            <a:endParaRPr lang="en-US" sz="1150" dirty="0"/>
          </a:p>
        </p:txBody>
      </p:sp>
      <p:sp>
        <p:nvSpPr>
          <p:cNvPr id="5" name="Shape 3"/>
          <p:cNvSpPr/>
          <p:nvPr/>
        </p:nvSpPr>
        <p:spPr>
          <a:xfrm>
            <a:off x="502920" y="1938528"/>
            <a:ext cx="3163824" cy="2148840"/>
          </a:xfrm>
          <a:prstGeom prst="roundRect">
            <a:avLst>
              <a:gd name="adj" fmla="val 2553"/>
            </a:avLst>
          </a:prstGeom>
          <a:solidFill>
            <a:srgbClr val="FFFFFF"/>
          </a:solidFill>
          <a:ln w="9525">
            <a:solidFill>
              <a:srgbClr val="E4DDCB"/>
            </a:solidFill>
            <a:prstDash val="solid"/>
          </a:ln>
        </p:spPr>
      </p:sp>
      <p:sp>
        <p:nvSpPr>
          <p:cNvPr id="6" name="Shape 4"/>
          <p:cNvSpPr/>
          <p:nvPr/>
        </p:nvSpPr>
        <p:spPr>
          <a:xfrm>
            <a:off x="704088" y="2139696"/>
            <a:ext cx="402336" cy="402336"/>
          </a:xfrm>
          <a:prstGeom prst="ellipse">
            <a:avLst/>
          </a:prstGeom>
          <a:solidFill>
            <a:srgbClr val="0F5C42"/>
          </a:solidFill>
          <a:ln/>
        </p:spPr>
      </p:sp>
      <p:pic>
        <p:nvPicPr>
          <p:cNvPr id="7" name="Image 0" descr="/home/claude/assets/icons/gavel.png"/>
          <p:cNvPicPr>
            <a:picLocks noChangeAspect="1"/>
          </p:cNvPicPr>
          <p:nvPr/>
        </p:nvPicPr>
        <p:blipFill>
          <a:blip r:embed="rId3"/>
          <a:stretch>
            <a:fillRect/>
          </a:stretch>
        </p:blipFill>
        <p:spPr>
          <a:xfrm>
            <a:off x="800649" y="2236257"/>
            <a:ext cx="209215" cy="209215"/>
          </a:xfrm>
          <a:prstGeom prst="rect">
            <a:avLst/>
          </a:prstGeom>
        </p:spPr>
      </p:pic>
      <p:sp>
        <p:nvSpPr>
          <p:cNvPr id="8" name="Text 5"/>
          <p:cNvSpPr/>
          <p:nvPr/>
        </p:nvSpPr>
        <p:spPr>
          <a:xfrm>
            <a:off x="1271016" y="2121408"/>
            <a:ext cx="2194560" cy="29260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Governance</a:t>
            </a:r>
            <a:endParaRPr lang="en-US" sz="1250" dirty="0"/>
          </a:p>
        </p:txBody>
      </p:sp>
      <p:sp>
        <p:nvSpPr>
          <p:cNvPr id="9" name="Text 6"/>
          <p:cNvSpPr/>
          <p:nvPr/>
        </p:nvSpPr>
        <p:spPr>
          <a:xfrm>
            <a:off x="704088" y="2523744"/>
            <a:ext cx="2761488" cy="1527048"/>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Transparent owner reporting, HMA and procurement integrity, anti-leakage controls, and board-grade assurance frameworks: the governance architecture that supports capital discipline and reputation alike.</a:t>
            </a:r>
            <a:endParaRPr lang="en-US" sz="970" dirty="0"/>
          </a:p>
        </p:txBody>
      </p:sp>
      <p:sp>
        <p:nvSpPr>
          <p:cNvPr id="10" name="Shape 7"/>
          <p:cNvSpPr/>
          <p:nvPr/>
        </p:nvSpPr>
        <p:spPr>
          <a:xfrm>
            <a:off x="3895344" y="1938528"/>
            <a:ext cx="3163824" cy="2148840"/>
          </a:xfrm>
          <a:prstGeom prst="roundRect">
            <a:avLst>
              <a:gd name="adj" fmla="val 2553"/>
            </a:avLst>
          </a:prstGeom>
          <a:solidFill>
            <a:srgbClr val="FFFFFF"/>
          </a:solidFill>
          <a:ln w="9525">
            <a:solidFill>
              <a:srgbClr val="E4DDCB"/>
            </a:solidFill>
            <a:prstDash val="solid"/>
          </a:ln>
        </p:spPr>
      </p:sp>
      <p:sp>
        <p:nvSpPr>
          <p:cNvPr id="11" name="Shape 8"/>
          <p:cNvSpPr/>
          <p:nvPr/>
        </p:nvSpPr>
        <p:spPr>
          <a:xfrm>
            <a:off x="4096512" y="2139696"/>
            <a:ext cx="402336" cy="402336"/>
          </a:xfrm>
          <a:prstGeom prst="ellipse">
            <a:avLst/>
          </a:prstGeom>
          <a:solidFill>
            <a:srgbClr val="0F5C42"/>
          </a:solidFill>
          <a:ln/>
        </p:spPr>
      </p:sp>
      <p:pic>
        <p:nvPicPr>
          <p:cNvPr id="12" name="Image 1" descr="/home/claude/assets/icons/leaf.png"/>
          <p:cNvPicPr>
            <a:picLocks noChangeAspect="1"/>
          </p:cNvPicPr>
          <p:nvPr/>
        </p:nvPicPr>
        <p:blipFill>
          <a:blip r:embed="rId4"/>
          <a:stretch>
            <a:fillRect/>
          </a:stretch>
        </p:blipFill>
        <p:spPr>
          <a:xfrm>
            <a:off x="4193073" y="2236257"/>
            <a:ext cx="209215" cy="209215"/>
          </a:xfrm>
          <a:prstGeom prst="rect">
            <a:avLst/>
          </a:prstGeom>
        </p:spPr>
      </p:pic>
      <p:sp>
        <p:nvSpPr>
          <p:cNvPr id="13" name="Text 9"/>
          <p:cNvSpPr/>
          <p:nvPr/>
        </p:nvSpPr>
        <p:spPr>
          <a:xfrm>
            <a:off x="4663440" y="2121408"/>
            <a:ext cx="2194560" cy="29260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Responsible Tourism</a:t>
            </a:r>
            <a:endParaRPr lang="en-US" sz="1250" dirty="0"/>
          </a:p>
        </p:txBody>
      </p:sp>
      <p:sp>
        <p:nvSpPr>
          <p:cNvPr id="14" name="Text 10"/>
          <p:cNvSpPr/>
          <p:nvPr/>
        </p:nvSpPr>
        <p:spPr>
          <a:xfrm>
            <a:off x="4096512" y="2523744"/>
            <a:ext cx="2761488" cy="1527048"/>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Destination stewardship aligned with Vision 2030's regenerative tourism agenda: visitor-impact management, heritage protection, and guest experiences designed to give back more than they take.</a:t>
            </a:r>
            <a:endParaRPr lang="en-US" sz="970" dirty="0"/>
          </a:p>
        </p:txBody>
      </p:sp>
      <p:sp>
        <p:nvSpPr>
          <p:cNvPr id="15" name="Shape 11"/>
          <p:cNvSpPr/>
          <p:nvPr/>
        </p:nvSpPr>
        <p:spPr>
          <a:xfrm>
            <a:off x="502920" y="4315968"/>
            <a:ext cx="3163824" cy="2148840"/>
          </a:xfrm>
          <a:prstGeom prst="roundRect">
            <a:avLst>
              <a:gd name="adj" fmla="val 2553"/>
            </a:avLst>
          </a:prstGeom>
          <a:solidFill>
            <a:srgbClr val="FFFFFF"/>
          </a:solidFill>
          <a:ln w="9525">
            <a:solidFill>
              <a:srgbClr val="E4DDCB"/>
            </a:solidFill>
            <a:prstDash val="solid"/>
          </a:ln>
        </p:spPr>
      </p:sp>
      <p:sp>
        <p:nvSpPr>
          <p:cNvPr id="16" name="Shape 12"/>
          <p:cNvSpPr/>
          <p:nvPr/>
        </p:nvSpPr>
        <p:spPr>
          <a:xfrm>
            <a:off x="704088" y="4517136"/>
            <a:ext cx="402336" cy="402336"/>
          </a:xfrm>
          <a:prstGeom prst="ellipse">
            <a:avLst/>
          </a:prstGeom>
          <a:solidFill>
            <a:srgbClr val="0F5C42"/>
          </a:solidFill>
          <a:ln/>
        </p:spPr>
      </p:sp>
      <p:pic>
        <p:nvPicPr>
          <p:cNvPr id="17" name="Image 2" descr="/home/claude/assets/icons/users.png"/>
          <p:cNvPicPr>
            <a:picLocks noChangeAspect="1"/>
          </p:cNvPicPr>
          <p:nvPr/>
        </p:nvPicPr>
        <p:blipFill>
          <a:blip r:embed="rId5"/>
          <a:stretch>
            <a:fillRect/>
          </a:stretch>
        </p:blipFill>
        <p:spPr>
          <a:xfrm>
            <a:off x="800649" y="4613697"/>
            <a:ext cx="209215" cy="209215"/>
          </a:xfrm>
          <a:prstGeom prst="rect">
            <a:avLst/>
          </a:prstGeom>
        </p:spPr>
      </p:pic>
      <p:sp>
        <p:nvSpPr>
          <p:cNvPr id="18" name="Text 13"/>
          <p:cNvSpPr/>
          <p:nvPr/>
        </p:nvSpPr>
        <p:spPr>
          <a:xfrm>
            <a:off x="1271016" y="4498848"/>
            <a:ext cx="2194560" cy="29260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Community &amp; People</a:t>
            </a:r>
            <a:endParaRPr lang="en-US" sz="1250" dirty="0"/>
          </a:p>
        </p:txBody>
      </p:sp>
      <p:sp>
        <p:nvSpPr>
          <p:cNvPr id="19" name="Text 14"/>
          <p:cNvSpPr/>
          <p:nvPr/>
        </p:nvSpPr>
        <p:spPr>
          <a:xfrm>
            <a:off x="704088" y="4901184"/>
            <a:ext cx="2761488" cy="1527048"/>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Saudization-first talent strategies, local supplier development, fair and dignified workplaces, and structured knowledge transfer that aims to leave communities stronger than we found them.</a:t>
            </a:r>
            <a:endParaRPr lang="en-US" sz="970" dirty="0"/>
          </a:p>
        </p:txBody>
      </p:sp>
      <p:sp>
        <p:nvSpPr>
          <p:cNvPr id="20" name="Shape 15"/>
          <p:cNvSpPr/>
          <p:nvPr/>
        </p:nvSpPr>
        <p:spPr>
          <a:xfrm>
            <a:off x="3895344" y="4315968"/>
            <a:ext cx="3163824" cy="2148840"/>
          </a:xfrm>
          <a:prstGeom prst="roundRect">
            <a:avLst>
              <a:gd name="adj" fmla="val 2553"/>
            </a:avLst>
          </a:prstGeom>
          <a:solidFill>
            <a:srgbClr val="FFFFFF"/>
          </a:solidFill>
          <a:ln w="9525">
            <a:solidFill>
              <a:srgbClr val="E4DDCB"/>
            </a:solidFill>
            <a:prstDash val="solid"/>
          </a:ln>
        </p:spPr>
      </p:sp>
      <p:sp>
        <p:nvSpPr>
          <p:cNvPr id="21" name="Shape 16"/>
          <p:cNvSpPr/>
          <p:nvPr/>
        </p:nvSpPr>
        <p:spPr>
          <a:xfrm>
            <a:off x="4096512" y="4517136"/>
            <a:ext cx="402336" cy="402336"/>
          </a:xfrm>
          <a:prstGeom prst="ellipse">
            <a:avLst/>
          </a:prstGeom>
          <a:solidFill>
            <a:srgbClr val="0F5C42"/>
          </a:solidFill>
          <a:ln/>
        </p:spPr>
      </p:sp>
      <p:pic>
        <p:nvPicPr>
          <p:cNvPr id="22" name="Image 3" descr="/home/claude/assets/icons/recycle.png"/>
          <p:cNvPicPr>
            <a:picLocks noChangeAspect="1"/>
          </p:cNvPicPr>
          <p:nvPr/>
        </p:nvPicPr>
        <p:blipFill>
          <a:blip r:embed="rId6"/>
          <a:stretch>
            <a:fillRect/>
          </a:stretch>
        </p:blipFill>
        <p:spPr>
          <a:xfrm>
            <a:off x="4193073" y="4613697"/>
            <a:ext cx="209215" cy="209215"/>
          </a:xfrm>
          <a:prstGeom prst="rect">
            <a:avLst/>
          </a:prstGeom>
        </p:spPr>
      </p:pic>
      <p:sp>
        <p:nvSpPr>
          <p:cNvPr id="23" name="Text 17"/>
          <p:cNvSpPr/>
          <p:nvPr/>
        </p:nvSpPr>
        <p:spPr>
          <a:xfrm>
            <a:off x="4663440" y="4498848"/>
            <a:ext cx="2194560" cy="292608"/>
          </a:xfrm>
          <a:prstGeom prst="rect">
            <a:avLst/>
          </a:prstGeom>
          <a:noFill/>
          <a:ln/>
        </p:spPr>
        <p:txBody>
          <a:bodyPr wrap="square" rtlCol="0" anchor="t"/>
          <a:lstStyle/>
          <a:p>
            <a:pPr marL="0" indent="0">
              <a:lnSpc>
                <a:spcPct val="108000"/>
              </a:lnSpc>
              <a:buNone/>
            </a:pPr>
            <a:r>
              <a:rPr lang="en-US" sz="1250" b="1" dirty="0">
                <a:solidFill>
                  <a:srgbClr val="0B1B2B"/>
                </a:solidFill>
                <a:latin typeface="Calibri" pitchFamily="34" charset="0"/>
                <a:ea typeface="Calibri" pitchFamily="34" charset="-122"/>
                <a:cs typeface="Calibri" pitchFamily="34" charset="-120"/>
              </a:rPr>
              <a:t>Operational Sustainability</a:t>
            </a:r>
            <a:endParaRPr lang="en-US" sz="1250" dirty="0"/>
          </a:p>
        </p:txBody>
      </p:sp>
      <p:sp>
        <p:nvSpPr>
          <p:cNvPr id="24" name="Text 18"/>
          <p:cNvSpPr/>
          <p:nvPr/>
        </p:nvSpPr>
        <p:spPr>
          <a:xfrm>
            <a:off x="4096512" y="4901184"/>
            <a:ext cx="2761488" cy="1527048"/>
          </a:xfrm>
          <a:prstGeom prst="rect">
            <a:avLst/>
          </a:prstGeom>
          <a:noFill/>
          <a:ln/>
        </p:spPr>
        <p:txBody>
          <a:bodyPr wrap="square" rtlCol="0" anchor="t"/>
          <a:lstStyle/>
          <a:p>
            <a:pPr marL="0" indent="0">
              <a:lnSpc>
                <a:spcPct val="116000"/>
              </a:lnSpc>
              <a:buNone/>
            </a:pPr>
            <a:r>
              <a:rPr lang="en-US" sz="970" dirty="0">
                <a:solidFill>
                  <a:srgbClr val="6B675F"/>
                </a:solidFill>
                <a:latin typeface="Calibri" pitchFamily="34" charset="0"/>
                <a:ea typeface="Calibri" pitchFamily="34" charset="-122"/>
                <a:cs typeface="Calibri" pitchFamily="34" charset="-120"/>
              </a:rPr>
              <a:t>Energy, water, and waste efficiency engineered into SOPs and capex plans: utilities intelligence and lifecycle costing that can reduce footprint while supporting GOP.</a:t>
            </a:r>
            <a:endParaRPr lang="en-US" sz="970" dirty="0"/>
          </a:p>
        </p:txBody>
      </p:sp>
      <p:pic>
        <p:nvPicPr>
          <p:cNvPr id="25" name="Image 4" descr="/home/claude/assets/monogram.png"/>
          <p:cNvPicPr>
            <a:picLocks noChangeAspect="1"/>
          </p:cNvPicPr>
          <p:nvPr/>
        </p:nvPicPr>
        <p:blipFill>
          <a:blip r:embed="rId7"/>
          <a:stretch>
            <a:fillRect/>
          </a:stretch>
        </p:blipFill>
        <p:spPr>
          <a:xfrm>
            <a:off x="3323844" y="7150608"/>
            <a:ext cx="914400" cy="781812"/>
          </a:xfrm>
          <a:prstGeom prst="rect">
            <a:avLst/>
          </a:prstGeom>
        </p:spPr>
      </p:pic>
      <p:sp>
        <p:nvSpPr>
          <p:cNvPr id="26" name="Text 19"/>
          <p:cNvSpPr/>
          <p:nvPr/>
        </p:nvSpPr>
        <p:spPr>
          <a:xfrm>
            <a:off x="502920" y="8110728"/>
            <a:ext cx="6556248" cy="365760"/>
          </a:xfrm>
          <a:prstGeom prst="rect">
            <a:avLst/>
          </a:prstGeom>
          <a:noFill/>
          <a:ln/>
        </p:spPr>
        <p:txBody>
          <a:bodyPr wrap="square" rtlCol="0" anchor="ctr"/>
          <a:lstStyle/>
          <a:p>
            <a:pPr marL="0" indent="0" algn="ctr">
              <a:buNone/>
            </a:pPr>
            <a:r>
              <a:rPr lang="en-US" sz="1300" i="1" dirty="0">
                <a:solidFill>
                  <a:srgbClr val="C1501D"/>
                </a:solidFill>
                <a:latin typeface="Cambria" pitchFamily="34" charset="0"/>
                <a:ea typeface="Cambria" pitchFamily="34" charset="-122"/>
                <a:cs typeface="Cambria" pitchFamily="34" charset="-120"/>
              </a:rPr>
              <a:t>Assets that respect their destination tend to outperform those that merely occupy it.</a:t>
            </a:r>
            <a:endParaRPr lang="en-US" sz="1300" dirty="0"/>
          </a:p>
        </p:txBody>
      </p:sp>
      <p:sp>
        <p:nvSpPr>
          <p:cNvPr id="27" name="Shape 20"/>
          <p:cNvSpPr/>
          <p:nvPr/>
        </p:nvSpPr>
        <p:spPr>
          <a:xfrm>
            <a:off x="502920" y="10186416"/>
            <a:ext cx="6556248" cy="0"/>
          </a:xfrm>
          <a:prstGeom prst="line">
            <a:avLst/>
          </a:prstGeom>
          <a:noFill/>
          <a:ln w="9525">
            <a:solidFill>
              <a:srgbClr val="E4DDCB"/>
            </a:solidFill>
            <a:prstDash val="solid"/>
          </a:ln>
        </p:spPr>
      </p:sp>
      <p:sp>
        <p:nvSpPr>
          <p:cNvPr id="28" name="Text 21"/>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6B675F"/>
                </a:solidFill>
                <a:latin typeface="Calibri" pitchFamily="34" charset="0"/>
                <a:ea typeface="Calibri" pitchFamily="34" charset="-122"/>
                <a:cs typeface="Calibri" pitchFamily="34" charset="-120"/>
              </a:rPr>
              <a:t>ALTUS GULF</a:t>
            </a:r>
            <a:endParaRPr lang="en-US" sz="850" dirty="0"/>
          </a:p>
        </p:txBody>
      </p:sp>
      <p:sp>
        <p:nvSpPr>
          <p:cNvPr id="29" name="Text 22"/>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6B675F"/>
                </a:solidFill>
                <a:latin typeface="Calibri" pitchFamily="34" charset="0"/>
                <a:ea typeface="Calibri" pitchFamily="34" charset="-122"/>
                <a:cs typeface="Calibri" pitchFamily="34" charset="-120"/>
              </a:rPr>
              <a:t>CORPORATE PROFILE  •  22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E4C98A"/>
                </a:solidFill>
                <a:latin typeface="Calibri" pitchFamily="34" charset="0"/>
                <a:ea typeface="Calibri" pitchFamily="34" charset="-122"/>
                <a:cs typeface="Calibri" pitchFamily="34" charset="-120"/>
              </a:rPr>
              <a:t>21  •  THE INTELLIGENCE LAYER</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a:solidFill>
                  <a:srgbClr val="FFFFFF"/>
                </a:solidFill>
                <a:latin typeface="Cambria" pitchFamily="34" charset="0"/>
                <a:ea typeface="Cambria" pitchFamily="34" charset="-122"/>
                <a:cs typeface="Cambria" pitchFamily="34" charset="-120"/>
              </a:rPr>
              <a:t>Digital &amp; AI</a:t>
            </a:r>
            <a:endParaRPr lang="en-US" sz="2700" dirty="0"/>
          </a:p>
        </p:txBody>
      </p:sp>
      <p:sp>
        <p:nvSpPr>
          <p:cNvPr id="4" name="Text 2"/>
          <p:cNvSpPr/>
          <p:nvPr/>
        </p:nvSpPr>
        <p:spPr>
          <a:xfrm>
            <a:off x="502920" y="1280160"/>
            <a:ext cx="6556248" cy="566928"/>
          </a:xfrm>
          <a:prstGeom prst="rect">
            <a:avLst/>
          </a:prstGeom>
          <a:noFill/>
          <a:ln/>
        </p:spPr>
        <p:txBody>
          <a:bodyPr wrap="square" rtlCol="0" anchor="t"/>
          <a:lstStyle/>
          <a:p>
            <a:pPr marL="0" indent="0" algn="l">
              <a:lnSpc>
                <a:spcPct val="118000"/>
              </a:lnSpc>
              <a:buNone/>
            </a:pPr>
            <a:r>
              <a:rPr lang="en-US" sz="1150" dirty="0">
                <a:solidFill>
                  <a:srgbClr val="B9C3CC"/>
                </a:solidFill>
                <a:latin typeface="Calibri" pitchFamily="34" charset="0"/>
                <a:ea typeface="Calibri" pitchFamily="34" charset="-122"/>
                <a:cs typeface="Calibri" pitchFamily="34" charset="-120"/>
              </a:rPr>
              <a:t>Every Altus Gulf mandate ships with an intelligence layer: the instrumentation that turns operations into evidence, and evidence into advantage.</a:t>
            </a:r>
            <a:endParaRPr lang="en-US" sz="1150" dirty="0"/>
          </a:p>
        </p:txBody>
      </p:sp>
      <p:sp>
        <p:nvSpPr>
          <p:cNvPr id="5" name="Shape 3"/>
          <p:cNvSpPr/>
          <p:nvPr/>
        </p:nvSpPr>
        <p:spPr>
          <a:xfrm>
            <a:off x="502920" y="1938528"/>
            <a:ext cx="3163824" cy="1463040"/>
          </a:xfrm>
          <a:prstGeom prst="roundRect">
            <a:avLst>
              <a:gd name="adj" fmla="val 3750"/>
            </a:avLst>
          </a:prstGeom>
          <a:solidFill>
            <a:srgbClr val="13273A"/>
          </a:solidFill>
          <a:ln w="9525">
            <a:solidFill>
              <a:srgbClr val="2A3B4C"/>
            </a:solidFill>
            <a:prstDash val="solid"/>
          </a:ln>
        </p:spPr>
      </p:sp>
      <p:sp>
        <p:nvSpPr>
          <p:cNvPr id="6" name="Shape 4"/>
          <p:cNvSpPr/>
          <p:nvPr/>
        </p:nvSpPr>
        <p:spPr>
          <a:xfrm>
            <a:off x="704088" y="2139696"/>
            <a:ext cx="402336" cy="402336"/>
          </a:xfrm>
          <a:prstGeom prst="ellipse">
            <a:avLst/>
          </a:prstGeom>
          <a:solidFill>
            <a:srgbClr val="C9A15A"/>
          </a:solidFill>
          <a:ln/>
        </p:spPr>
      </p:sp>
      <p:pic>
        <p:nvPicPr>
          <p:cNvPr id="7" name="Image 0" descr="/home/claude/assets/icons/chartbar.png"/>
          <p:cNvPicPr>
            <a:picLocks noChangeAspect="1"/>
          </p:cNvPicPr>
          <p:nvPr/>
        </p:nvPicPr>
        <p:blipFill>
          <a:blip r:embed="rId3"/>
          <a:stretch>
            <a:fillRect/>
          </a:stretch>
        </p:blipFill>
        <p:spPr>
          <a:xfrm>
            <a:off x="800649" y="2236257"/>
            <a:ext cx="209215" cy="209215"/>
          </a:xfrm>
          <a:prstGeom prst="rect">
            <a:avLst/>
          </a:prstGeom>
        </p:spPr>
      </p:pic>
      <p:sp>
        <p:nvSpPr>
          <p:cNvPr id="8" name="Text 5"/>
          <p:cNvSpPr/>
          <p:nvPr/>
        </p:nvSpPr>
        <p:spPr>
          <a:xfrm>
            <a:off x="1271016" y="2121408"/>
            <a:ext cx="2194560" cy="292608"/>
          </a:xfrm>
          <a:prstGeom prst="rect">
            <a:avLst/>
          </a:prstGeom>
          <a:noFill/>
          <a:ln/>
        </p:spPr>
        <p:txBody>
          <a:bodyPr wrap="square" rtlCol="0" anchor="t"/>
          <a:lstStyle/>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Business Intelligence</a:t>
            </a:r>
            <a:endParaRPr lang="en-US" sz="1250" dirty="0"/>
          </a:p>
        </p:txBody>
      </p:sp>
      <p:sp>
        <p:nvSpPr>
          <p:cNvPr id="9" name="Text 6"/>
          <p:cNvSpPr/>
          <p:nvPr/>
        </p:nvSpPr>
        <p:spPr>
          <a:xfrm>
            <a:off x="704088" y="2523744"/>
            <a:ext cx="2761488" cy="841248"/>
          </a:xfrm>
          <a:prstGeom prst="rect">
            <a:avLst/>
          </a:prstGeom>
          <a:noFill/>
          <a:ln/>
        </p:spPr>
        <p:txBody>
          <a:bodyPr wrap="square" rtlCol="0" anchor="t"/>
          <a:lstStyle/>
          <a:p>
            <a:pPr marL="0" indent="0">
              <a:lnSpc>
                <a:spcPct val="116000"/>
              </a:lnSpc>
              <a:buNone/>
            </a:pPr>
            <a:r>
              <a:rPr lang="en-US" sz="970" dirty="0">
                <a:solidFill>
                  <a:srgbClr val="B9C3CC"/>
                </a:solidFill>
                <a:latin typeface="Calibri" pitchFamily="34" charset="0"/>
                <a:ea typeface="Calibri" pitchFamily="34" charset="-122"/>
                <a:cs typeface="Calibri" pitchFamily="34" charset="-120"/>
              </a:rPr>
              <a:t>A single source of truth across PMS, POS, channel, and financial data: unified, cleansed, and decision-ready.</a:t>
            </a:r>
            <a:endParaRPr lang="en-US" sz="970" dirty="0"/>
          </a:p>
        </p:txBody>
      </p:sp>
      <p:sp>
        <p:nvSpPr>
          <p:cNvPr id="10" name="Shape 7"/>
          <p:cNvSpPr/>
          <p:nvPr/>
        </p:nvSpPr>
        <p:spPr>
          <a:xfrm>
            <a:off x="3895344" y="1938528"/>
            <a:ext cx="3163824" cy="1463040"/>
          </a:xfrm>
          <a:prstGeom prst="roundRect">
            <a:avLst>
              <a:gd name="adj" fmla="val 3750"/>
            </a:avLst>
          </a:prstGeom>
          <a:solidFill>
            <a:srgbClr val="13273A"/>
          </a:solidFill>
          <a:ln w="9525">
            <a:solidFill>
              <a:srgbClr val="2A3B4C"/>
            </a:solidFill>
            <a:prstDash val="solid"/>
          </a:ln>
        </p:spPr>
      </p:sp>
      <p:sp>
        <p:nvSpPr>
          <p:cNvPr id="11" name="Shape 8"/>
          <p:cNvSpPr/>
          <p:nvPr/>
        </p:nvSpPr>
        <p:spPr>
          <a:xfrm>
            <a:off x="4096512" y="2139696"/>
            <a:ext cx="402336" cy="402336"/>
          </a:xfrm>
          <a:prstGeom prst="ellipse">
            <a:avLst/>
          </a:prstGeom>
          <a:solidFill>
            <a:srgbClr val="C9A15A"/>
          </a:solidFill>
          <a:ln/>
        </p:spPr>
      </p:sp>
      <p:pic>
        <p:nvPicPr>
          <p:cNvPr id="12" name="Image 1" descr="/home/claude/assets/icons/tachometer.png"/>
          <p:cNvPicPr>
            <a:picLocks noChangeAspect="1"/>
          </p:cNvPicPr>
          <p:nvPr/>
        </p:nvPicPr>
        <p:blipFill>
          <a:blip r:embed="rId4"/>
          <a:stretch>
            <a:fillRect/>
          </a:stretch>
        </p:blipFill>
        <p:spPr>
          <a:xfrm>
            <a:off x="4193073" y="2236257"/>
            <a:ext cx="209215" cy="209215"/>
          </a:xfrm>
          <a:prstGeom prst="rect">
            <a:avLst/>
          </a:prstGeom>
        </p:spPr>
      </p:pic>
      <p:sp>
        <p:nvSpPr>
          <p:cNvPr id="13" name="Text 9"/>
          <p:cNvSpPr/>
          <p:nvPr/>
        </p:nvSpPr>
        <p:spPr>
          <a:xfrm>
            <a:off x="4663440" y="2121408"/>
            <a:ext cx="2194560" cy="292608"/>
          </a:xfrm>
          <a:prstGeom prst="rect">
            <a:avLst/>
          </a:prstGeom>
          <a:noFill/>
          <a:ln/>
        </p:spPr>
        <p:txBody>
          <a:bodyPr wrap="square" rtlCol="0" anchor="t"/>
          <a:lstStyle/>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Executive Dashboards</a:t>
            </a:r>
            <a:endParaRPr lang="en-US" sz="1250" dirty="0"/>
          </a:p>
        </p:txBody>
      </p:sp>
      <p:sp>
        <p:nvSpPr>
          <p:cNvPr id="14" name="Text 10"/>
          <p:cNvSpPr/>
          <p:nvPr/>
        </p:nvSpPr>
        <p:spPr>
          <a:xfrm>
            <a:off x="4096512" y="2523744"/>
            <a:ext cx="2761488" cy="841248"/>
          </a:xfrm>
          <a:prstGeom prst="rect">
            <a:avLst/>
          </a:prstGeom>
          <a:noFill/>
          <a:ln/>
        </p:spPr>
        <p:txBody>
          <a:bodyPr wrap="square" rtlCol="0" anchor="t"/>
          <a:lstStyle/>
          <a:p>
            <a:pPr marL="0" indent="0">
              <a:lnSpc>
                <a:spcPct val="116000"/>
              </a:lnSpc>
              <a:buNone/>
            </a:pPr>
            <a:r>
              <a:rPr lang="en-US" sz="970" dirty="0">
                <a:solidFill>
                  <a:srgbClr val="B9C3CC"/>
                </a:solidFill>
                <a:latin typeface="Calibri" pitchFamily="34" charset="0"/>
                <a:ea typeface="Calibri" pitchFamily="34" charset="-122"/>
                <a:cs typeface="Calibri" pitchFamily="34" charset="-120"/>
              </a:rPr>
              <a:t>Owner- and board-grade dashboards: RevPAR, GOPPAR, pickup, sentiment, and payroll productivity in one live view.</a:t>
            </a:r>
            <a:endParaRPr lang="en-US" sz="970" dirty="0"/>
          </a:p>
        </p:txBody>
      </p:sp>
      <p:sp>
        <p:nvSpPr>
          <p:cNvPr id="15" name="Shape 11"/>
          <p:cNvSpPr/>
          <p:nvPr/>
        </p:nvSpPr>
        <p:spPr>
          <a:xfrm>
            <a:off x="502920" y="3584448"/>
            <a:ext cx="3163824" cy="1463040"/>
          </a:xfrm>
          <a:prstGeom prst="roundRect">
            <a:avLst>
              <a:gd name="adj" fmla="val 3750"/>
            </a:avLst>
          </a:prstGeom>
          <a:solidFill>
            <a:srgbClr val="13273A"/>
          </a:solidFill>
          <a:ln w="9525">
            <a:solidFill>
              <a:srgbClr val="2A3B4C"/>
            </a:solidFill>
            <a:prstDash val="solid"/>
          </a:ln>
        </p:spPr>
      </p:sp>
      <p:sp>
        <p:nvSpPr>
          <p:cNvPr id="16" name="Shape 12"/>
          <p:cNvSpPr/>
          <p:nvPr/>
        </p:nvSpPr>
        <p:spPr>
          <a:xfrm>
            <a:off x="704088" y="3785616"/>
            <a:ext cx="402336" cy="402336"/>
          </a:xfrm>
          <a:prstGeom prst="ellipse">
            <a:avLst/>
          </a:prstGeom>
          <a:solidFill>
            <a:srgbClr val="C9A15A"/>
          </a:solidFill>
          <a:ln/>
        </p:spPr>
      </p:sp>
      <p:pic>
        <p:nvPicPr>
          <p:cNvPr id="17" name="Image 2" descr="/home/claude/assets/icons/robot.png"/>
          <p:cNvPicPr>
            <a:picLocks noChangeAspect="1"/>
          </p:cNvPicPr>
          <p:nvPr/>
        </p:nvPicPr>
        <p:blipFill>
          <a:blip r:embed="rId5"/>
          <a:stretch>
            <a:fillRect/>
          </a:stretch>
        </p:blipFill>
        <p:spPr>
          <a:xfrm>
            <a:off x="800649" y="3882177"/>
            <a:ext cx="209215" cy="209215"/>
          </a:xfrm>
          <a:prstGeom prst="rect">
            <a:avLst/>
          </a:prstGeom>
        </p:spPr>
      </p:pic>
      <p:sp>
        <p:nvSpPr>
          <p:cNvPr id="18" name="Text 13"/>
          <p:cNvSpPr/>
          <p:nvPr/>
        </p:nvSpPr>
        <p:spPr>
          <a:xfrm>
            <a:off x="1271016" y="3767328"/>
            <a:ext cx="2194560" cy="292608"/>
          </a:xfrm>
          <a:prstGeom prst="rect">
            <a:avLst/>
          </a:prstGeom>
          <a:noFill/>
          <a:ln/>
        </p:spPr>
        <p:txBody>
          <a:bodyPr wrap="square" rtlCol="0" anchor="t"/>
          <a:lstStyle/>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Applied AI</a:t>
            </a:r>
            <a:endParaRPr lang="en-US" sz="1250" dirty="0"/>
          </a:p>
        </p:txBody>
      </p:sp>
      <p:sp>
        <p:nvSpPr>
          <p:cNvPr id="19" name="Text 14"/>
          <p:cNvSpPr/>
          <p:nvPr/>
        </p:nvSpPr>
        <p:spPr>
          <a:xfrm>
            <a:off x="704088" y="4169664"/>
            <a:ext cx="2761488" cy="841248"/>
          </a:xfrm>
          <a:prstGeom prst="rect">
            <a:avLst/>
          </a:prstGeom>
          <a:noFill/>
          <a:ln/>
        </p:spPr>
        <p:txBody>
          <a:bodyPr wrap="square" rtlCol="0" anchor="t"/>
          <a:lstStyle/>
          <a:p>
            <a:pPr marL="0" indent="0">
              <a:lnSpc>
                <a:spcPct val="116000"/>
              </a:lnSpc>
              <a:buNone/>
            </a:pPr>
            <a:r>
              <a:rPr lang="en-US" sz="970" dirty="0">
                <a:solidFill>
                  <a:srgbClr val="B9C3CC"/>
                </a:solidFill>
                <a:latin typeface="Calibri" pitchFamily="34" charset="0"/>
                <a:ea typeface="Calibri" pitchFamily="34" charset="-122"/>
                <a:cs typeface="Calibri" pitchFamily="34" charset="-120"/>
              </a:rPr>
              <a:t>Dynamic pricing matrices, predictive yield management, demand forecasting, and AI-readiness roadmaps deployed in phases.</a:t>
            </a:r>
            <a:endParaRPr lang="en-US" sz="970" dirty="0"/>
          </a:p>
        </p:txBody>
      </p:sp>
      <p:sp>
        <p:nvSpPr>
          <p:cNvPr id="20" name="Shape 15"/>
          <p:cNvSpPr/>
          <p:nvPr/>
        </p:nvSpPr>
        <p:spPr>
          <a:xfrm>
            <a:off x="3895344" y="3584448"/>
            <a:ext cx="3163824" cy="1463040"/>
          </a:xfrm>
          <a:prstGeom prst="roundRect">
            <a:avLst>
              <a:gd name="adj" fmla="val 3750"/>
            </a:avLst>
          </a:prstGeom>
          <a:solidFill>
            <a:srgbClr val="13273A"/>
          </a:solidFill>
          <a:ln w="9525">
            <a:solidFill>
              <a:srgbClr val="2A3B4C"/>
            </a:solidFill>
            <a:prstDash val="solid"/>
          </a:ln>
        </p:spPr>
      </p:sp>
      <p:sp>
        <p:nvSpPr>
          <p:cNvPr id="21" name="Shape 16"/>
          <p:cNvSpPr/>
          <p:nvPr/>
        </p:nvSpPr>
        <p:spPr>
          <a:xfrm>
            <a:off x="4096512" y="3785616"/>
            <a:ext cx="402336" cy="402336"/>
          </a:xfrm>
          <a:prstGeom prst="ellipse">
            <a:avLst/>
          </a:prstGeom>
          <a:solidFill>
            <a:srgbClr val="C9A15A"/>
          </a:solidFill>
          <a:ln/>
        </p:spPr>
      </p:sp>
      <p:pic>
        <p:nvPicPr>
          <p:cNvPr id="22" name="Image 3" descr="/home/claude/assets/icons/database.png"/>
          <p:cNvPicPr>
            <a:picLocks noChangeAspect="1"/>
          </p:cNvPicPr>
          <p:nvPr/>
        </p:nvPicPr>
        <p:blipFill>
          <a:blip r:embed="rId6"/>
          <a:stretch>
            <a:fillRect/>
          </a:stretch>
        </p:blipFill>
        <p:spPr>
          <a:xfrm>
            <a:off x="4193073" y="3882177"/>
            <a:ext cx="209215" cy="209215"/>
          </a:xfrm>
          <a:prstGeom prst="rect">
            <a:avLst/>
          </a:prstGeom>
        </p:spPr>
      </p:pic>
      <p:sp>
        <p:nvSpPr>
          <p:cNvPr id="23" name="Text 17"/>
          <p:cNvSpPr/>
          <p:nvPr/>
        </p:nvSpPr>
        <p:spPr>
          <a:xfrm>
            <a:off x="4663440" y="3767328"/>
            <a:ext cx="2194560" cy="292608"/>
          </a:xfrm>
          <a:prstGeom prst="rect">
            <a:avLst/>
          </a:prstGeom>
          <a:noFill/>
          <a:ln/>
        </p:spPr>
        <p:txBody>
          <a:bodyPr wrap="square" rtlCol="0" anchor="t"/>
          <a:lstStyle/>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Advanced Analytics</a:t>
            </a:r>
            <a:endParaRPr lang="en-US" sz="1250" dirty="0"/>
          </a:p>
        </p:txBody>
      </p:sp>
      <p:sp>
        <p:nvSpPr>
          <p:cNvPr id="24" name="Text 18"/>
          <p:cNvSpPr/>
          <p:nvPr/>
        </p:nvSpPr>
        <p:spPr>
          <a:xfrm>
            <a:off x="4096512" y="4169664"/>
            <a:ext cx="2761488" cy="841248"/>
          </a:xfrm>
          <a:prstGeom prst="rect">
            <a:avLst/>
          </a:prstGeom>
          <a:noFill/>
          <a:ln/>
        </p:spPr>
        <p:txBody>
          <a:bodyPr wrap="square" rtlCol="0" anchor="t"/>
          <a:lstStyle/>
          <a:p>
            <a:pPr marL="0" indent="0">
              <a:lnSpc>
                <a:spcPct val="116000"/>
              </a:lnSpc>
              <a:buNone/>
            </a:pPr>
            <a:r>
              <a:rPr lang="en-US" sz="970" dirty="0">
                <a:solidFill>
                  <a:srgbClr val="B9C3CC"/>
                </a:solidFill>
                <a:latin typeface="Calibri" pitchFamily="34" charset="0"/>
                <a:ea typeface="Calibri" pitchFamily="34" charset="-122"/>
                <a:cs typeface="Calibri" pitchFamily="34" charset="-120"/>
              </a:rPr>
              <a:t>Channel economics, guest-sentiment mining, cost-driver analysis, and scenario modelling for capital decisions.</a:t>
            </a:r>
            <a:endParaRPr lang="en-US" sz="970" dirty="0"/>
          </a:p>
        </p:txBody>
      </p:sp>
      <p:sp>
        <p:nvSpPr>
          <p:cNvPr id="25" name="Shape 19"/>
          <p:cNvSpPr/>
          <p:nvPr/>
        </p:nvSpPr>
        <p:spPr>
          <a:xfrm>
            <a:off x="502920" y="5230368"/>
            <a:ext cx="3163824" cy="1463040"/>
          </a:xfrm>
          <a:prstGeom prst="roundRect">
            <a:avLst>
              <a:gd name="adj" fmla="val 3750"/>
            </a:avLst>
          </a:prstGeom>
          <a:solidFill>
            <a:srgbClr val="13273A"/>
          </a:solidFill>
          <a:ln w="9525">
            <a:solidFill>
              <a:srgbClr val="2A3B4C"/>
            </a:solidFill>
            <a:prstDash val="solid"/>
          </a:ln>
        </p:spPr>
      </p:sp>
      <p:sp>
        <p:nvSpPr>
          <p:cNvPr id="26" name="Shape 20"/>
          <p:cNvSpPr/>
          <p:nvPr/>
        </p:nvSpPr>
        <p:spPr>
          <a:xfrm>
            <a:off x="704088" y="5431536"/>
            <a:ext cx="402336" cy="402336"/>
          </a:xfrm>
          <a:prstGeom prst="ellipse">
            <a:avLst/>
          </a:prstGeom>
          <a:solidFill>
            <a:srgbClr val="C9A15A"/>
          </a:solidFill>
          <a:ln/>
        </p:spPr>
      </p:sp>
      <p:pic>
        <p:nvPicPr>
          <p:cNvPr id="27" name="Image 4" descr="/home/claude/assets/icons/eye.png"/>
          <p:cNvPicPr>
            <a:picLocks noChangeAspect="1"/>
          </p:cNvPicPr>
          <p:nvPr/>
        </p:nvPicPr>
        <p:blipFill>
          <a:blip r:embed="rId7"/>
          <a:stretch>
            <a:fillRect/>
          </a:stretch>
        </p:blipFill>
        <p:spPr>
          <a:xfrm>
            <a:off x="800649" y="5528097"/>
            <a:ext cx="209215" cy="209215"/>
          </a:xfrm>
          <a:prstGeom prst="rect">
            <a:avLst/>
          </a:prstGeom>
        </p:spPr>
      </p:pic>
      <p:sp>
        <p:nvSpPr>
          <p:cNvPr id="28" name="Text 21"/>
          <p:cNvSpPr/>
          <p:nvPr/>
        </p:nvSpPr>
        <p:spPr>
          <a:xfrm>
            <a:off x="1271016" y="5413248"/>
            <a:ext cx="2194560" cy="292608"/>
          </a:xfrm>
          <a:prstGeom prst="rect">
            <a:avLst/>
          </a:prstGeom>
          <a:noFill/>
          <a:ln/>
        </p:spPr>
        <p:txBody>
          <a:bodyPr wrap="square" rtlCol="0" anchor="t"/>
          <a:lstStyle/>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Performance Monitoring</a:t>
            </a:r>
            <a:endParaRPr lang="en-US" sz="1250" dirty="0"/>
          </a:p>
        </p:txBody>
      </p:sp>
      <p:sp>
        <p:nvSpPr>
          <p:cNvPr id="29" name="Text 22"/>
          <p:cNvSpPr/>
          <p:nvPr/>
        </p:nvSpPr>
        <p:spPr>
          <a:xfrm>
            <a:off x="704088" y="5815584"/>
            <a:ext cx="2761488" cy="841248"/>
          </a:xfrm>
          <a:prstGeom prst="rect">
            <a:avLst/>
          </a:prstGeom>
          <a:noFill/>
          <a:ln/>
        </p:spPr>
        <p:txBody>
          <a:bodyPr wrap="square" rtlCol="0" anchor="t"/>
          <a:lstStyle/>
          <a:p>
            <a:pPr marL="0" indent="0">
              <a:lnSpc>
                <a:spcPct val="116000"/>
              </a:lnSpc>
              <a:buNone/>
            </a:pPr>
            <a:r>
              <a:rPr lang="en-US" sz="970" dirty="0">
                <a:solidFill>
                  <a:srgbClr val="B9C3CC"/>
                </a:solidFill>
                <a:latin typeface="Calibri" pitchFamily="34" charset="0"/>
                <a:ea typeface="Calibri" pitchFamily="34" charset="-122"/>
                <a:cs typeface="Calibri" pitchFamily="34" charset="-120"/>
              </a:rPr>
              <a:t>Continuous KPI instrumentation with alerting: variances surfaced in days, not at month-end post-mortems.</a:t>
            </a:r>
            <a:endParaRPr lang="en-US" sz="970" dirty="0"/>
          </a:p>
        </p:txBody>
      </p:sp>
      <p:sp>
        <p:nvSpPr>
          <p:cNvPr id="30" name="Shape 23"/>
          <p:cNvSpPr/>
          <p:nvPr/>
        </p:nvSpPr>
        <p:spPr>
          <a:xfrm>
            <a:off x="3895344" y="5230368"/>
            <a:ext cx="3163824" cy="1463040"/>
          </a:xfrm>
          <a:prstGeom prst="roundRect">
            <a:avLst>
              <a:gd name="adj" fmla="val 3750"/>
            </a:avLst>
          </a:prstGeom>
          <a:solidFill>
            <a:srgbClr val="13273A"/>
          </a:solidFill>
          <a:ln w="9525">
            <a:solidFill>
              <a:srgbClr val="2A3B4C"/>
            </a:solidFill>
            <a:prstDash val="solid"/>
          </a:ln>
        </p:spPr>
      </p:sp>
      <p:sp>
        <p:nvSpPr>
          <p:cNvPr id="31" name="Shape 24"/>
          <p:cNvSpPr/>
          <p:nvPr/>
        </p:nvSpPr>
        <p:spPr>
          <a:xfrm>
            <a:off x="4096512" y="5431536"/>
            <a:ext cx="402336" cy="402336"/>
          </a:xfrm>
          <a:prstGeom prst="ellipse">
            <a:avLst/>
          </a:prstGeom>
          <a:solidFill>
            <a:srgbClr val="C9A15A"/>
          </a:solidFill>
          <a:ln/>
        </p:spPr>
      </p:sp>
      <p:pic>
        <p:nvPicPr>
          <p:cNvPr id="32" name="Image 5" descr="/home/claude/assets/icons/rocket.png"/>
          <p:cNvPicPr>
            <a:picLocks noChangeAspect="1"/>
          </p:cNvPicPr>
          <p:nvPr/>
        </p:nvPicPr>
        <p:blipFill>
          <a:blip r:embed="rId8"/>
          <a:stretch>
            <a:fillRect/>
          </a:stretch>
        </p:blipFill>
        <p:spPr>
          <a:xfrm>
            <a:off x="4193073" y="5528097"/>
            <a:ext cx="209215" cy="209215"/>
          </a:xfrm>
          <a:prstGeom prst="rect">
            <a:avLst/>
          </a:prstGeom>
        </p:spPr>
      </p:pic>
      <p:sp>
        <p:nvSpPr>
          <p:cNvPr id="33" name="Text 25"/>
          <p:cNvSpPr/>
          <p:nvPr/>
        </p:nvSpPr>
        <p:spPr>
          <a:xfrm>
            <a:off x="4663440" y="5413248"/>
            <a:ext cx="2194560" cy="292608"/>
          </a:xfrm>
          <a:prstGeom prst="rect">
            <a:avLst/>
          </a:prstGeom>
          <a:noFill/>
          <a:ln/>
        </p:spPr>
        <p:txBody>
          <a:bodyPr wrap="square" rtlCol="0" anchor="t"/>
          <a:lstStyle/>
          <a:p>
            <a:pPr marL="0" indent="0">
              <a:lnSpc>
                <a:spcPct val="108000"/>
              </a:lnSpc>
              <a:buNone/>
            </a:pPr>
            <a:r>
              <a:rPr lang="en-US" sz="1250" b="1" dirty="0">
                <a:solidFill>
                  <a:srgbClr val="FFFFFF"/>
                </a:solidFill>
                <a:latin typeface="Calibri" pitchFamily="34" charset="0"/>
                <a:ea typeface="Calibri" pitchFamily="34" charset="-122"/>
                <a:cs typeface="Calibri" pitchFamily="34" charset="-120"/>
              </a:rPr>
              <a:t>Digital Transformation</a:t>
            </a:r>
            <a:endParaRPr lang="en-US" sz="1250" dirty="0"/>
          </a:p>
        </p:txBody>
      </p:sp>
      <p:sp>
        <p:nvSpPr>
          <p:cNvPr id="34" name="Text 26"/>
          <p:cNvSpPr/>
          <p:nvPr/>
        </p:nvSpPr>
        <p:spPr>
          <a:xfrm>
            <a:off x="4096512" y="5815584"/>
            <a:ext cx="2761488" cy="841248"/>
          </a:xfrm>
          <a:prstGeom prst="rect">
            <a:avLst/>
          </a:prstGeom>
          <a:noFill/>
          <a:ln/>
        </p:spPr>
        <p:txBody>
          <a:bodyPr wrap="square" rtlCol="0" anchor="t"/>
          <a:lstStyle/>
          <a:p>
            <a:pPr marL="0" indent="0">
              <a:lnSpc>
                <a:spcPct val="116000"/>
              </a:lnSpc>
              <a:buNone/>
            </a:pPr>
            <a:r>
              <a:rPr lang="en-US" sz="970" dirty="0">
                <a:solidFill>
                  <a:srgbClr val="B9C3CC"/>
                </a:solidFill>
                <a:latin typeface="Calibri" pitchFamily="34" charset="0"/>
                <a:ea typeface="Calibri" pitchFamily="34" charset="-122"/>
                <a:cs typeface="Calibri" pitchFamily="34" charset="-120"/>
              </a:rPr>
              <a:t>CRM architecture, cloud migration, and integrated technology blueprints that help cut long-run IT overheads.</a:t>
            </a:r>
            <a:endParaRPr lang="en-US" sz="970" dirty="0"/>
          </a:p>
        </p:txBody>
      </p:sp>
      <p:sp>
        <p:nvSpPr>
          <p:cNvPr id="35" name="Shape 27"/>
          <p:cNvSpPr/>
          <p:nvPr/>
        </p:nvSpPr>
        <p:spPr>
          <a:xfrm>
            <a:off x="502920" y="7013448"/>
            <a:ext cx="6556248" cy="777240"/>
          </a:xfrm>
          <a:prstGeom prst="roundRect">
            <a:avLst>
              <a:gd name="adj" fmla="val 5882"/>
            </a:avLst>
          </a:prstGeom>
          <a:ln w="12700">
            <a:solidFill>
              <a:srgbClr val="C1501D"/>
            </a:solidFill>
            <a:prstDash val="solid"/>
          </a:ln>
        </p:spPr>
      </p:sp>
      <p:sp>
        <p:nvSpPr>
          <p:cNvPr id="36" name="Text 28"/>
          <p:cNvSpPr/>
          <p:nvPr/>
        </p:nvSpPr>
        <p:spPr>
          <a:xfrm>
            <a:off x="758952" y="7104888"/>
            <a:ext cx="6044184" cy="594360"/>
          </a:xfrm>
          <a:prstGeom prst="rect">
            <a:avLst/>
          </a:prstGeom>
          <a:noFill/>
          <a:ln/>
        </p:spPr>
        <p:txBody>
          <a:bodyPr wrap="square" rtlCol="0" anchor="ctr"/>
          <a:lstStyle/>
          <a:p>
            <a:pPr marL="0" indent="0">
              <a:lnSpc>
                <a:spcPct val="122000"/>
              </a:lnSpc>
              <a:buNone/>
            </a:pPr>
            <a:r>
              <a:rPr lang="en-US" sz="1050" b="1" dirty="0">
                <a:solidFill>
                  <a:srgbClr val="E4C98A"/>
                </a:solidFill>
                <a:latin typeface="Calibri" pitchFamily="34" charset="0"/>
                <a:ea typeface="Calibri" pitchFamily="34" charset="-122"/>
                <a:cs typeface="Calibri" pitchFamily="34" charset="-120"/>
              </a:rPr>
              <a:t>Flagship product: </a:t>
            </a:r>
            <a:r>
              <a:rPr lang="en-US" sz="1050" i="1" dirty="0">
                <a:solidFill>
                  <a:srgbClr val="FFFFFF"/>
                </a:solidFill>
                <a:latin typeface="Calibri" pitchFamily="34" charset="0"/>
                <a:ea typeface="Calibri" pitchFamily="34" charset="-122"/>
                <a:cs typeface="Calibri" pitchFamily="34" charset="-120"/>
              </a:rPr>
              <a:t>Altus Gulf Hospitality Knowledge &amp; Performance</a:t>
            </a:r>
            <a:r>
              <a:rPr lang="en-US" sz="1050" dirty="0">
                <a:solidFill>
                  <a:srgbClr val="B9C3CC"/>
                </a:solidFill>
                <a:latin typeface="Calibri" pitchFamily="34" charset="0"/>
                <a:ea typeface="Calibri" pitchFamily="34" charset="-122"/>
                <a:cs typeface="Calibri" pitchFamily="34" charset="-120"/>
              </a:rPr>
              <a:t>, the platform that institutionalises this intelligence layer inside every client property (pages 08 and 09).</a:t>
            </a:r>
            <a:endParaRPr lang="en-US" sz="1050" dirty="0"/>
          </a:p>
        </p:txBody>
      </p:sp>
      <p:sp>
        <p:nvSpPr>
          <p:cNvPr id="37" name="Text 29"/>
          <p:cNvSpPr/>
          <p:nvPr/>
        </p:nvSpPr>
        <p:spPr>
          <a:xfrm>
            <a:off x="502920" y="7973568"/>
            <a:ext cx="6556248" cy="365760"/>
          </a:xfrm>
          <a:prstGeom prst="rect">
            <a:avLst/>
          </a:prstGeom>
          <a:noFill/>
          <a:ln/>
        </p:spPr>
        <p:txBody>
          <a:bodyPr wrap="square" rtlCol="0" anchor="ctr"/>
          <a:lstStyle/>
          <a:p>
            <a:pPr marL="0" indent="0" algn="ctr">
              <a:buNone/>
            </a:pPr>
            <a:r>
              <a:rPr lang="en-US" sz="1300" i="1" dirty="0">
                <a:solidFill>
                  <a:srgbClr val="E4C98A"/>
                </a:solidFill>
                <a:latin typeface="Cambria" pitchFamily="34" charset="0"/>
                <a:ea typeface="Cambria" pitchFamily="34" charset="-122"/>
                <a:cs typeface="Cambria" pitchFamily="34" charset="-120"/>
              </a:rPr>
              <a:t>From gut feel to ground truth: replacing intuition with empirical analytics, deliberately and everywhere.</a:t>
            </a:r>
            <a:endParaRPr lang="en-US" sz="1300" dirty="0"/>
          </a:p>
        </p:txBody>
      </p:sp>
      <p:sp>
        <p:nvSpPr>
          <p:cNvPr id="38" name="Shape 30"/>
          <p:cNvSpPr/>
          <p:nvPr/>
        </p:nvSpPr>
        <p:spPr>
          <a:xfrm>
            <a:off x="502920" y="10186416"/>
            <a:ext cx="6556248" cy="0"/>
          </a:xfrm>
          <a:prstGeom prst="line">
            <a:avLst/>
          </a:prstGeom>
          <a:noFill/>
          <a:ln w="9525">
            <a:solidFill>
              <a:srgbClr val="2A3B4C"/>
            </a:solidFill>
            <a:prstDash val="solid"/>
          </a:ln>
        </p:spPr>
      </p:sp>
      <p:sp>
        <p:nvSpPr>
          <p:cNvPr id="39" name="Text 31"/>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B9C3CC"/>
                </a:solidFill>
                <a:latin typeface="Calibri" pitchFamily="34" charset="0"/>
                <a:ea typeface="Calibri" pitchFamily="34" charset="-122"/>
                <a:cs typeface="Calibri" pitchFamily="34" charset="-120"/>
              </a:rPr>
              <a:t>ALTUS GULF</a:t>
            </a:r>
            <a:endParaRPr lang="en-US" sz="850" dirty="0"/>
          </a:p>
        </p:txBody>
      </p:sp>
      <p:sp>
        <p:nvSpPr>
          <p:cNvPr id="40" name="Text 32"/>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B9C3CC"/>
                </a:solidFill>
                <a:latin typeface="Calibri" pitchFamily="34" charset="0"/>
                <a:ea typeface="Calibri" pitchFamily="34" charset="-122"/>
                <a:cs typeface="Calibri" pitchFamily="34" charset="-120"/>
              </a:rPr>
              <a:t>CORPORATE PROFILE  •  23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7F0"/>
        </a:solidFill>
        <a:effectLst/>
      </p:bgPr>
    </p:bg>
    <p:spTree>
      <p:nvGrpSpPr>
        <p:cNvPr id="1" name=""/>
        <p:cNvGrpSpPr/>
        <p:nvPr/>
      </p:nvGrpSpPr>
      <p:grpSpPr>
        <a:xfrm>
          <a:off x="0" y="0"/>
          <a:ext cx="0" cy="0"/>
          <a:chOff x="0" y="0"/>
          <a:chExt cx="0" cy="0"/>
        </a:xfrm>
      </p:grpSpPr>
      <p:sp>
        <p:nvSpPr>
          <p:cNvPr id="2" name="Text 0"/>
          <p:cNvSpPr/>
          <p:nvPr/>
        </p:nvSpPr>
        <p:spPr>
          <a:xfrm>
            <a:off x="502920" y="502920"/>
            <a:ext cx="6556248" cy="237744"/>
          </a:xfrm>
          <a:prstGeom prst="rect">
            <a:avLst/>
          </a:prstGeom>
          <a:noFill/>
          <a:ln/>
        </p:spPr>
        <p:txBody>
          <a:bodyPr wrap="square" rtlCol="0" anchor="ctr"/>
          <a:lstStyle/>
          <a:p>
            <a:pPr marL="0" indent="0" algn="l">
              <a:buNone/>
            </a:pPr>
            <a:r>
              <a:rPr lang="en-US" sz="1050" b="1" kern="0" spc="200" dirty="0">
                <a:solidFill>
                  <a:srgbClr val="C1501D"/>
                </a:solidFill>
                <a:latin typeface="Calibri" pitchFamily="34" charset="0"/>
                <a:ea typeface="Calibri" pitchFamily="34" charset="-122"/>
                <a:cs typeface="Calibri" pitchFamily="34" charset="-120"/>
              </a:rPr>
              <a:t>22  •  THE DECISION IN ONE PAGE</a:t>
            </a:r>
            <a:endParaRPr lang="en-US" sz="1050" dirty="0"/>
          </a:p>
        </p:txBody>
      </p:sp>
      <p:sp>
        <p:nvSpPr>
          <p:cNvPr id="3" name="Text 1"/>
          <p:cNvSpPr/>
          <p:nvPr/>
        </p:nvSpPr>
        <p:spPr>
          <a:xfrm>
            <a:off x="502920" y="749808"/>
            <a:ext cx="6556248" cy="502920"/>
          </a:xfrm>
          <a:prstGeom prst="rect">
            <a:avLst/>
          </a:prstGeom>
          <a:noFill/>
          <a:ln/>
        </p:spPr>
        <p:txBody>
          <a:bodyPr wrap="square" rtlCol="0" anchor="ctr"/>
          <a:lstStyle/>
          <a:p>
            <a:pPr marL="0" indent="0" algn="l">
              <a:buNone/>
            </a:pPr>
            <a:r>
              <a:rPr lang="en-US" sz="2700" dirty="0">
                <a:solidFill>
                  <a:srgbClr val="0B1B2B"/>
                </a:solidFill>
                <a:latin typeface="Cambria" pitchFamily="34" charset="0"/>
                <a:ea typeface="Cambria" pitchFamily="34" charset="-122"/>
                <a:cs typeface="Cambria" pitchFamily="34" charset="-120"/>
              </a:rPr>
              <a:t>Why Clients Choose Altus Gulf</a:t>
            </a:r>
            <a:endParaRPr lang="en-US" sz="2700" dirty="0"/>
          </a:p>
        </p:txBody>
      </p:sp>
      <p:sp>
        <p:nvSpPr>
          <p:cNvPr id="4" name="Text 2"/>
          <p:cNvSpPr/>
          <p:nvPr/>
        </p:nvSpPr>
        <p:spPr>
          <a:xfrm>
            <a:off x="502920" y="1280160"/>
            <a:ext cx="6556248" cy="566928"/>
          </a:xfrm>
          <a:prstGeom prst="rect">
            <a:avLst/>
          </a:prstGeom>
          <a:noFill/>
          <a:ln/>
        </p:spPr>
        <p:txBody>
          <a:bodyPr wrap="square" rtlCol="0" anchor="t"/>
          <a:lstStyle/>
          <a:p>
            <a:pPr marL="0" indent="0" algn="l">
              <a:lnSpc>
                <a:spcPct val="118000"/>
              </a:lnSpc>
              <a:buNone/>
            </a:pPr>
            <a:r>
              <a:rPr lang="en-US" sz="1150" dirty="0">
                <a:solidFill>
                  <a:srgbClr val="6B675F"/>
                </a:solidFill>
                <a:latin typeface="Calibri" pitchFamily="34" charset="0"/>
                <a:ea typeface="Calibri" pitchFamily="34" charset="-122"/>
                <a:cs typeface="Calibri" pitchFamily="34" charset="-120"/>
              </a:rPr>
              <a:t>A candid comparison: how the Altus Gulf model differs from conventional consulting engagements, dimension by dimension.</a:t>
            </a:r>
            <a:endParaRPr lang="en-US" sz="11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938528"/>
          <a:ext cx="6556248" cy="4937760"/>
        </p:xfrm>
        <a:graphic>
          <a:graphicData uri="http://schemas.openxmlformats.org/drawingml/2006/table">
            <a:tbl>
              <a:tblPr/>
              <a:tblGrid>
                <a:gridCol w="1234440">
                  <a:extLst>
                    <a:ext uri="{9D8B030D-6E8A-4147-A177-3AD203B41FA5}">
                      <a16:colId xmlns:a16="http://schemas.microsoft.com/office/drawing/2014/main" val="20000"/>
                    </a:ext>
                  </a:extLst>
                </a:gridCol>
                <a:gridCol w="2432304">
                  <a:extLst>
                    <a:ext uri="{9D8B030D-6E8A-4147-A177-3AD203B41FA5}">
                      <a16:colId xmlns:a16="http://schemas.microsoft.com/office/drawing/2014/main" val="20001"/>
                    </a:ext>
                  </a:extLst>
                </a:gridCol>
                <a:gridCol w="2889504">
                  <a:extLst>
                    <a:ext uri="{9D8B030D-6E8A-4147-A177-3AD203B41FA5}">
                      <a16:colId xmlns:a16="http://schemas.microsoft.com/office/drawing/2014/main" val="20002"/>
                    </a:ext>
                  </a:extLst>
                </a:gridCol>
              </a:tblGrid>
              <a:tr h="493776">
                <a:tc>
                  <a:txBody>
                    <a:bodyPr/>
                    <a:lstStyle/>
                    <a:p>
                      <a:pPr marL="0" indent="0">
                        <a:buNone/>
                      </a:pPr>
                      <a:r>
                        <a:rPr lang="en-US" sz="850" b="1" dirty="0">
                          <a:solidFill>
                            <a:srgbClr val="FFFFFF"/>
                          </a:solidFill>
                        </a:rPr>
                        <a:t>DIMENSION</a:t>
                      </a:r>
                      <a:endParaRPr lang="en-US" sz="85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0B1B2B"/>
                    </a:solidFill>
                  </a:tcPr>
                </a:tc>
                <a:tc>
                  <a:txBody>
                    <a:bodyPr/>
                    <a:lstStyle/>
                    <a:p>
                      <a:pPr marL="0" indent="0">
                        <a:buNone/>
                      </a:pPr>
                      <a:r>
                        <a:rPr lang="en-US" sz="850" b="1" dirty="0">
                          <a:solidFill>
                            <a:srgbClr val="FFFFFF"/>
                          </a:solidFill>
                        </a:rPr>
                        <a:t>TRADITIONAL CONSULTING</a:t>
                      </a:r>
                      <a:endParaRPr lang="en-US" sz="85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0B1B2B"/>
                    </a:solidFill>
                  </a:tcPr>
                </a:tc>
                <a:tc>
                  <a:txBody>
                    <a:bodyPr/>
                    <a:lstStyle/>
                    <a:p>
                      <a:pPr marL="0" indent="0">
                        <a:buNone/>
                      </a:pPr>
                      <a:r>
                        <a:rPr lang="en-US" sz="850" b="1" dirty="0">
                          <a:solidFill>
                            <a:srgbClr val="FFFFFF"/>
                          </a:solidFill>
                        </a:rPr>
                        <a:t>ALTUS GULF</a:t>
                      </a:r>
                      <a:endParaRPr lang="en-US" sz="85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0F5C42"/>
                    </a:solidFill>
                  </a:tcPr>
                </a:tc>
                <a:extLst>
                  <a:ext uri="{0D108BD9-81ED-4DB2-BD59-A6C34878D82A}">
                    <a16:rowId xmlns:a16="http://schemas.microsoft.com/office/drawing/2014/main" val="10000"/>
                  </a:ext>
                </a:extLst>
              </a:tr>
              <a:tr h="493776">
                <a:tc>
                  <a:txBody>
                    <a:bodyPr/>
                    <a:lstStyle/>
                    <a:p>
                      <a:pPr marL="0" indent="0">
                        <a:buNone/>
                      </a:pPr>
                      <a:r>
                        <a:rPr lang="en-US" sz="820" b="1" dirty="0">
                          <a:solidFill>
                            <a:srgbClr val="0B1B2B"/>
                          </a:solidFill>
                        </a:rPr>
                        <a:t>Perspective</a:t>
                      </a:r>
                      <a:endParaRPr lang="en-US" sz="82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tc>
                  <a:txBody>
                    <a:bodyPr/>
                    <a:lstStyle/>
                    <a:p>
                      <a:pPr marL="0" indent="0">
                        <a:buNone/>
                      </a:pPr>
                      <a:r>
                        <a:rPr lang="en-US" sz="790" dirty="0">
                          <a:solidFill>
                            <a:srgbClr val="6B675F"/>
                          </a:solidFill>
                        </a:rPr>
                        <a:t>Operator- or vendor-influenced viewpoints</a:t>
                      </a:r>
                      <a:endParaRPr lang="en-US" sz="79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buNone/>
                      </a:pPr>
                      <a:r>
                        <a:rPr lang="en-US" sz="790" b="1" dirty="0">
                          <a:solidFill>
                            <a:srgbClr val="0F5C42"/>
                          </a:solidFill>
                        </a:rPr>
                        <a:t>Owner-side, independent, and client-focused</a:t>
                      </a:r>
                      <a:endParaRPr lang="en-US" sz="79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extLst>
                  <a:ext uri="{0D108BD9-81ED-4DB2-BD59-A6C34878D82A}">
                    <a16:rowId xmlns:a16="http://schemas.microsoft.com/office/drawing/2014/main" val="10001"/>
                  </a:ext>
                </a:extLst>
              </a:tr>
              <a:tr h="493776">
                <a:tc>
                  <a:txBody>
                    <a:bodyPr/>
                    <a:lstStyle/>
                    <a:p>
                      <a:pPr marL="0" indent="0">
                        <a:buNone/>
                      </a:pPr>
                      <a:r>
                        <a:rPr lang="en-US" sz="820" b="1" dirty="0">
                          <a:solidFill>
                            <a:srgbClr val="0B1B2B"/>
                          </a:solidFill>
                        </a:rPr>
                        <a:t>Delivery team</a:t>
                      </a:r>
                      <a:endParaRPr lang="en-US" sz="82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tc>
                  <a:txBody>
                    <a:bodyPr/>
                    <a:lstStyle/>
                    <a:p>
                      <a:pPr marL="0" indent="0">
                        <a:buNone/>
                      </a:pPr>
                      <a:r>
                        <a:rPr lang="en-US" sz="790" dirty="0">
                          <a:solidFill>
                            <a:srgbClr val="6B675F"/>
                          </a:solidFill>
                        </a:rPr>
                        <a:t>Partner sells, junior bench delivers</a:t>
                      </a:r>
                      <a:endParaRPr lang="en-US" sz="79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buNone/>
                      </a:pPr>
                      <a:r>
                        <a:rPr lang="en-US" sz="790" b="1" dirty="0">
                          <a:solidFill>
                            <a:srgbClr val="0F5C42"/>
                          </a:solidFill>
                        </a:rPr>
                        <a:t>Principals deliver every mandate personally</a:t>
                      </a:r>
                      <a:endParaRPr lang="en-US" sz="79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extLst>
                  <a:ext uri="{0D108BD9-81ED-4DB2-BD59-A6C34878D82A}">
                    <a16:rowId xmlns:a16="http://schemas.microsoft.com/office/drawing/2014/main" val="10002"/>
                  </a:ext>
                </a:extLst>
              </a:tr>
              <a:tr h="493776">
                <a:tc>
                  <a:txBody>
                    <a:bodyPr/>
                    <a:lstStyle/>
                    <a:p>
                      <a:pPr marL="0" indent="0">
                        <a:buNone/>
                      </a:pPr>
                      <a:r>
                        <a:rPr lang="en-US" sz="820" b="1" dirty="0">
                          <a:solidFill>
                            <a:srgbClr val="0B1B2B"/>
                          </a:solidFill>
                        </a:rPr>
                        <a:t>Grounding</a:t>
                      </a:r>
                      <a:endParaRPr lang="en-US" sz="82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tc>
                  <a:txBody>
                    <a:bodyPr/>
                    <a:lstStyle/>
                    <a:p>
                      <a:pPr marL="0" indent="0">
                        <a:buNone/>
                      </a:pPr>
                      <a:r>
                        <a:rPr lang="en-US" sz="790" dirty="0">
                          <a:solidFill>
                            <a:srgbClr val="6B675F"/>
                          </a:solidFill>
                        </a:rPr>
                        <a:t>Frameworks and benchmarks from the outside</a:t>
                      </a:r>
                      <a:endParaRPr lang="en-US" sz="79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buNone/>
                      </a:pPr>
                      <a:r>
                        <a:rPr lang="en-US" sz="790" b="1" dirty="0">
                          <a:solidFill>
                            <a:srgbClr val="0F5C42"/>
                          </a:solidFill>
                        </a:rPr>
                        <a:t>60+ years of hands-on P&amp;L leadership inside global brands</a:t>
                      </a:r>
                      <a:endParaRPr lang="en-US" sz="79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extLst>
                  <a:ext uri="{0D108BD9-81ED-4DB2-BD59-A6C34878D82A}">
                    <a16:rowId xmlns:a16="http://schemas.microsoft.com/office/drawing/2014/main" val="10003"/>
                  </a:ext>
                </a:extLst>
              </a:tr>
              <a:tr h="493776">
                <a:tc>
                  <a:txBody>
                    <a:bodyPr/>
                    <a:lstStyle/>
                    <a:p>
                      <a:pPr marL="0" indent="0">
                        <a:buNone/>
                      </a:pPr>
                      <a:r>
                        <a:rPr lang="en-US" sz="820" b="1" dirty="0">
                          <a:solidFill>
                            <a:srgbClr val="0B1B2B"/>
                          </a:solidFill>
                        </a:rPr>
                        <a:t>Scope logic</a:t>
                      </a:r>
                      <a:endParaRPr lang="en-US" sz="82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tc>
                  <a:txBody>
                    <a:bodyPr/>
                    <a:lstStyle/>
                    <a:p>
                      <a:pPr marL="0" indent="0">
                        <a:buNone/>
                      </a:pPr>
                      <a:r>
                        <a:rPr lang="en-US" sz="790" dirty="0">
                          <a:solidFill>
                            <a:srgbClr val="6B675F"/>
                          </a:solidFill>
                        </a:rPr>
                        <a:t>Operations or digital, sold separately</a:t>
                      </a:r>
                      <a:endParaRPr lang="en-US" sz="79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buNone/>
                      </a:pPr>
                      <a:r>
                        <a:rPr lang="en-US" sz="790" b="1" dirty="0">
                          <a:solidFill>
                            <a:srgbClr val="0F5C42"/>
                          </a:solidFill>
                        </a:rPr>
                        <a:t>One integrated mandate across operations, commercial, and AI</a:t>
                      </a:r>
                      <a:endParaRPr lang="en-US" sz="79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extLst>
                  <a:ext uri="{0D108BD9-81ED-4DB2-BD59-A6C34878D82A}">
                    <a16:rowId xmlns:a16="http://schemas.microsoft.com/office/drawing/2014/main" val="10004"/>
                  </a:ext>
                </a:extLst>
              </a:tr>
              <a:tr h="493776">
                <a:tc>
                  <a:txBody>
                    <a:bodyPr/>
                    <a:lstStyle/>
                    <a:p>
                      <a:pPr marL="0" indent="0">
                        <a:buNone/>
                      </a:pPr>
                      <a:r>
                        <a:rPr lang="en-US" sz="820" b="1" dirty="0">
                          <a:solidFill>
                            <a:srgbClr val="0B1B2B"/>
                          </a:solidFill>
                        </a:rPr>
                        <a:t>Evidence</a:t>
                      </a:r>
                      <a:endParaRPr lang="en-US" sz="82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tc>
                  <a:txBody>
                    <a:bodyPr/>
                    <a:lstStyle/>
                    <a:p>
                      <a:pPr marL="0" indent="0">
                        <a:buNone/>
                      </a:pPr>
                      <a:r>
                        <a:rPr lang="en-US" sz="790" dirty="0">
                          <a:solidFill>
                            <a:srgbClr val="6B675F"/>
                          </a:solidFill>
                        </a:rPr>
                        <a:t>Opinion-led recommendations</a:t>
                      </a:r>
                      <a:endParaRPr lang="en-US" sz="79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buNone/>
                      </a:pPr>
                      <a:r>
                        <a:rPr lang="en-US" sz="790" b="1" dirty="0">
                          <a:solidFill>
                            <a:srgbClr val="0F5C42"/>
                          </a:solidFill>
                        </a:rPr>
                        <a:t>Empirical analytics, Six Sigma discipline, measurable KPIs</a:t>
                      </a:r>
                      <a:endParaRPr lang="en-US" sz="79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extLst>
                  <a:ext uri="{0D108BD9-81ED-4DB2-BD59-A6C34878D82A}">
                    <a16:rowId xmlns:a16="http://schemas.microsoft.com/office/drawing/2014/main" val="10005"/>
                  </a:ext>
                </a:extLst>
              </a:tr>
              <a:tr h="493776">
                <a:tc>
                  <a:txBody>
                    <a:bodyPr/>
                    <a:lstStyle/>
                    <a:p>
                      <a:pPr marL="0" indent="0">
                        <a:buNone/>
                      </a:pPr>
                      <a:r>
                        <a:rPr lang="en-US" sz="820" b="1" dirty="0">
                          <a:solidFill>
                            <a:srgbClr val="0B1B2B"/>
                          </a:solidFill>
                        </a:rPr>
                        <a:t>Digital enablement</a:t>
                      </a:r>
                      <a:endParaRPr lang="en-US" sz="82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tc>
                  <a:txBody>
                    <a:bodyPr/>
                    <a:lstStyle/>
                    <a:p>
                      <a:pPr marL="0" indent="0">
                        <a:buNone/>
                      </a:pPr>
                      <a:r>
                        <a:rPr lang="en-US" sz="790" dirty="0">
                          <a:solidFill>
                            <a:srgbClr val="6B675F"/>
                          </a:solidFill>
                        </a:rPr>
                        <a:t>Advice ends at the report</a:t>
                      </a:r>
                      <a:endParaRPr lang="en-US" sz="79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buNone/>
                      </a:pPr>
                      <a:r>
                        <a:rPr lang="en-US" sz="790" b="1" dirty="0">
                          <a:solidFill>
                            <a:srgbClr val="0F5C42"/>
                          </a:solidFill>
                        </a:rPr>
                        <a:t>Altus Gulf HK&amp;P: a proprietary learning and performance platform that lives on inside the client</a:t>
                      </a:r>
                      <a:endParaRPr lang="en-US" sz="79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extLst>
                  <a:ext uri="{0D108BD9-81ED-4DB2-BD59-A6C34878D82A}">
                    <a16:rowId xmlns:a16="http://schemas.microsoft.com/office/drawing/2014/main" val="10006"/>
                  </a:ext>
                </a:extLst>
              </a:tr>
              <a:tr h="493776">
                <a:tc>
                  <a:txBody>
                    <a:bodyPr/>
                    <a:lstStyle/>
                    <a:p>
                      <a:pPr marL="0" indent="0">
                        <a:buNone/>
                      </a:pPr>
                      <a:r>
                        <a:rPr lang="en-US" sz="820" b="1" dirty="0">
                          <a:solidFill>
                            <a:srgbClr val="0B1B2B"/>
                          </a:solidFill>
                        </a:rPr>
                        <a:t>Engagement end</a:t>
                      </a:r>
                      <a:endParaRPr lang="en-US" sz="82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tc>
                  <a:txBody>
                    <a:bodyPr/>
                    <a:lstStyle/>
                    <a:p>
                      <a:pPr marL="0" indent="0">
                        <a:buNone/>
                      </a:pPr>
                      <a:r>
                        <a:rPr lang="en-US" sz="790" dirty="0">
                          <a:solidFill>
                            <a:srgbClr val="6B675F"/>
                          </a:solidFill>
                        </a:rPr>
                        <a:t>Report handover closes the file</a:t>
                      </a:r>
                      <a:endParaRPr lang="en-US" sz="79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buNone/>
                      </a:pPr>
                      <a:r>
                        <a:rPr lang="en-US" sz="790" b="1" dirty="0">
                          <a:solidFill>
                            <a:srgbClr val="0F5C42"/>
                          </a:solidFill>
                        </a:rPr>
                        <a:t>Playbooks, capability transfer, and an enduring alliance</a:t>
                      </a:r>
                      <a:endParaRPr lang="en-US" sz="79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extLst>
                  <a:ext uri="{0D108BD9-81ED-4DB2-BD59-A6C34878D82A}">
                    <a16:rowId xmlns:a16="http://schemas.microsoft.com/office/drawing/2014/main" val="10007"/>
                  </a:ext>
                </a:extLst>
              </a:tr>
              <a:tr h="493776">
                <a:tc>
                  <a:txBody>
                    <a:bodyPr/>
                    <a:lstStyle/>
                    <a:p>
                      <a:pPr marL="0" indent="0">
                        <a:buNone/>
                      </a:pPr>
                      <a:r>
                        <a:rPr lang="en-US" sz="820" b="1" dirty="0">
                          <a:solidFill>
                            <a:srgbClr val="0B1B2B"/>
                          </a:solidFill>
                        </a:rPr>
                        <a:t>Regional depth</a:t>
                      </a:r>
                      <a:endParaRPr lang="en-US" sz="82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tc>
                  <a:txBody>
                    <a:bodyPr/>
                    <a:lstStyle/>
                    <a:p>
                      <a:pPr marL="0" indent="0">
                        <a:buNone/>
                      </a:pPr>
                      <a:r>
                        <a:rPr lang="en-US" sz="790" dirty="0">
                          <a:solidFill>
                            <a:srgbClr val="6B675F"/>
                          </a:solidFill>
                        </a:rPr>
                        <a:t>Fly-in, fly-out coverage</a:t>
                      </a:r>
                      <a:endParaRPr lang="en-US" sz="79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buNone/>
                      </a:pPr>
                      <a:r>
                        <a:rPr lang="en-US" sz="790" b="1" dirty="0">
                          <a:solidFill>
                            <a:srgbClr val="0F5C42"/>
                          </a:solidFill>
                        </a:rPr>
                        <a:t>Riyadh-rooted, bilingual, Vision 2030-aligned by design</a:t>
                      </a:r>
                      <a:endParaRPr lang="en-US" sz="79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extLst>
                  <a:ext uri="{0D108BD9-81ED-4DB2-BD59-A6C34878D82A}">
                    <a16:rowId xmlns:a16="http://schemas.microsoft.com/office/drawing/2014/main" val="10008"/>
                  </a:ext>
                </a:extLst>
              </a:tr>
              <a:tr h="493776">
                <a:tc>
                  <a:txBody>
                    <a:bodyPr/>
                    <a:lstStyle/>
                    <a:p>
                      <a:pPr marL="0" indent="0">
                        <a:buNone/>
                      </a:pPr>
                      <a:r>
                        <a:rPr lang="en-US" sz="820" b="1" dirty="0">
                          <a:solidFill>
                            <a:srgbClr val="0B1B2B"/>
                          </a:solidFill>
                        </a:rPr>
                        <a:t>Fee philosophy</a:t>
                      </a:r>
                      <a:endParaRPr lang="en-US" sz="82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3EEE4"/>
                    </a:solidFill>
                  </a:tcPr>
                </a:tc>
                <a:tc>
                  <a:txBody>
                    <a:bodyPr/>
                    <a:lstStyle/>
                    <a:p>
                      <a:pPr marL="0" indent="0">
                        <a:buNone/>
                      </a:pPr>
                      <a:r>
                        <a:rPr lang="en-US" sz="790" dirty="0">
                          <a:solidFill>
                            <a:srgbClr val="6B675F"/>
                          </a:solidFill>
                        </a:rPr>
                        <a:t>Billable hours as the objective</a:t>
                      </a:r>
                      <a:endParaRPr lang="en-US" sz="79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FFFFFF"/>
                    </a:solidFill>
                  </a:tcPr>
                </a:tc>
                <a:tc>
                  <a:txBody>
                    <a:bodyPr/>
                    <a:lstStyle/>
                    <a:p>
                      <a:pPr marL="0" indent="0">
                        <a:buNone/>
                      </a:pPr>
                      <a:r>
                        <a:rPr lang="en-US" sz="790" b="1" dirty="0">
                          <a:solidFill>
                            <a:srgbClr val="0F5C42"/>
                          </a:solidFill>
                        </a:rPr>
                        <a:t>Client success first: commercial terms follow outcomes</a:t>
                      </a:r>
                      <a:endParaRPr lang="en-US" sz="790" dirty="0"/>
                    </a:p>
                  </a:txBody>
                  <a:tcPr marL="76200" marR="76200" marT="50800" marB="50800" anchor="ctr">
                    <a:lnL w="6350" cap="flat" cmpd="sng" algn="ctr">
                      <a:solidFill>
                        <a:srgbClr val="E4DDCB"/>
                      </a:solidFill>
                      <a:prstDash val="solid"/>
                      <a:round/>
                      <a:headEnd type="none" w="med" len="med"/>
                      <a:tailEnd type="none" w="med" len="med"/>
                    </a:lnL>
                    <a:lnR w="6350" cap="flat" cmpd="sng" algn="ctr">
                      <a:solidFill>
                        <a:srgbClr val="E4DDCB"/>
                      </a:solidFill>
                      <a:prstDash val="solid"/>
                      <a:round/>
                      <a:headEnd type="none" w="med" len="med"/>
                      <a:tailEnd type="none" w="med" len="med"/>
                    </a:lnR>
                    <a:lnT w="6350" cap="flat" cmpd="sng" algn="ctr">
                      <a:solidFill>
                        <a:srgbClr val="E4DDCB"/>
                      </a:solidFill>
                      <a:prstDash val="solid"/>
                      <a:round/>
                      <a:headEnd type="none" w="med" len="med"/>
                      <a:tailEnd type="none" w="med" len="med"/>
                    </a:lnT>
                    <a:lnB w="6350" cap="flat" cmpd="sng" algn="ctr">
                      <a:solidFill>
                        <a:srgbClr val="E4DDCB"/>
                      </a:solidFill>
                      <a:prstDash val="solid"/>
                      <a:round/>
                      <a:headEnd type="none" w="med" len="med"/>
                      <a:tailEnd type="none" w="med" len="med"/>
                    </a:lnB>
                    <a:solidFill>
                      <a:srgbClr val="EAF2ED"/>
                    </a:solidFill>
                  </a:tcPr>
                </a:tc>
                <a:extLst>
                  <a:ext uri="{0D108BD9-81ED-4DB2-BD59-A6C34878D82A}">
                    <a16:rowId xmlns:a16="http://schemas.microsoft.com/office/drawing/2014/main" val="10009"/>
                  </a:ext>
                </a:extLst>
              </a:tr>
            </a:tbl>
          </a:graphicData>
        </a:graphic>
      </p:graphicFrame>
      <p:sp>
        <p:nvSpPr>
          <p:cNvPr id="6" name="Text 3"/>
          <p:cNvSpPr/>
          <p:nvPr/>
        </p:nvSpPr>
        <p:spPr>
          <a:xfrm>
            <a:off x="502920" y="7059168"/>
            <a:ext cx="6556248" cy="365760"/>
          </a:xfrm>
          <a:prstGeom prst="rect">
            <a:avLst/>
          </a:prstGeom>
          <a:noFill/>
          <a:ln/>
        </p:spPr>
        <p:txBody>
          <a:bodyPr wrap="square" rtlCol="0" anchor="ctr"/>
          <a:lstStyle/>
          <a:p>
            <a:pPr marL="0" indent="0" algn="ctr">
              <a:buNone/>
            </a:pPr>
            <a:r>
              <a:rPr lang="en-US" sz="1300" i="1" dirty="0">
                <a:solidFill>
                  <a:srgbClr val="C1501D"/>
                </a:solidFill>
                <a:latin typeface="Cambria" pitchFamily="34" charset="0"/>
                <a:ea typeface="Cambria" pitchFamily="34" charset="-122"/>
                <a:cs typeface="Cambria" pitchFamily="34" charset="-120"/>
              </a:rPr>
              <a:t>The comparison is candid by intent: clients deserve to know exactly what they are buying.</a:t>
            </a:r>
            <a:endParaRPr lang="en-US" sz="1300" dirty="0"/>
          </a:p>
        </p:txBody>
      </p:sp>
      <p:sp>
        <p:nvSpPr>
          <p:cNvPr id="7" name="Shape 4"/>
          <p:cNvSpPr/>
          <p:nvPr/>
        </p:nvSpPr>
        <p:spPr>
          <a:xfrm>
            <a:off x="502920" y="7516368"/>
            <a:ext cx="6556248" cy="1051560"/>
          </a:xfrm>
          <a:prstGeom prst="roundRect">
            <a:avLst>
              <a:gd name="adj" fmla="val 5217"/>
            </a:avLst>
          </a:prstGeom>
          <a:solidFill>
            <a:srgbClr val="0B1B2B"/>
          </a:solidFill>
          <a:ln/>
        </p:spPr>
      </p:sp>
      <p:sp>
        <p:nvSpPr>
          <p:cNvPr id="8" name="Text 5"/>
          <p:cNvSpPr/>
          <p:nvPr/>
        </p:nvSpPr>
        <p:spPr>
          <a:xfrm>
            <a:off x="777240" y="7626096"/>
            <a:ext cx="6007608" cy="841248"/>
          </a:xfrm>
          <a:prstGeom prst="rect">
            <a:avLst/>
          </a:prstGeom>
          <a:noFill/>
          <a:ln/>
        </p:spPr>
        <p:txBody>
          <a:bodyPr wrap="square" rtlCol="0" anchor="ctr"/>
          <a:lstStyle/>
          <a:p>
            <a:pPr marL="0" indent="0">
              <a:lnSpc>
                <a:spcPct val="132000"/>
              </a:lnSpc>
              <a:buNone/>
            </a:pPr>
            <a:r>
              <a:rPr lang="en-US" sz="1300" b="1" i="1" dirty="0">
                <a:solidFill>
                  <a:srgbClr val="E4C98A"/>
                </a:solidFill>
                <a:latin typeface="Cambria" pitchFamily="34" charset="0"/>
                <a:ea typeface="Cambria" pitchFamily="34" charset="-122"/>
                <a:cs typeface="Cambria" pitchFamily="34" charset="-120"/>
              </a:rPr>
              <a:t>The Altus Gulf difference in one sentence:  </a:t>
            </a:r>
            <a:r>
              <a:rPr lang="en-US" sz="1300" i="1" dirty="0">
                <a:solidFill>
                  <a:srgbClr val="FFFFFF"/>
                </a:solidFill>
                <a:latin typeface="Cambria" pitchFamily="34" charset="0"/>
                <a:ea typeface="Cambria" pitchFamily="34" charset="-122"/>
                <a:cs typeface="Cambria" pitchFamily="34" charset="-120"/>
              </a:rPr>
              <a:t>we stay close to your business, measured by practical outcomes, and focused on the result, not simply the report.</a:t>
            </a:r>
            <a:endParaRPr lang="en-US" sz="1300" dirty="0"/>
          </a:p>
        </p:txBody>
      </p:sp>
      <p:sp>
        <p:nvSpPr>
          <p:cNvPr id="9" name="Shape 6"/>
          <p:cNvSpPr/>
          <p:nvPr/>
        </p:nvSpPr>
        <p:spPr>
          <a:xfrm>
            <a:off x="502920" y="10186416"/>
            <a:ext cx="6556248" cy="0"/>
          </a:xfrm>
          <a:prstGeom prst="line">
            <a:avLst/>
          </a:prstGeom>
          <a:noFill/>
          <a:ln w="9525">
            <a:solidFill>
              <a:srgbClr val="E4DDCB"/>
            </a:solidFill>
            <a:prstDash val="solid"/>
          </a:ln>
        </p:spPr>
      </p:sp>
      <p:sp>
        <p:nvSpPr>
          <p:cNvPr id="10" name="Text 7"/>
          <p:cNvSpPr/>
          <p:nvPr/>
        </p:nvSpPr>
        <p:spPr>
          <a:xfrm>
            <a:off x="502920" y="10250424"/>
            <a:ext cx="2743200" cy="274320"/>
          </a:xfrm>
          <a:prstGeom prst="rect">
            <a:avLst/>
          </a:prstGeom>
          <a:noFill/>
          <a:ln/>
        </p:spPr>
        <p:txBody>
          <a:bodyPr wrap="square" rtlCol="0" anchor="ctr"/>
          <a:lstStyle/>
          <a:p>
            <a:pPr marL="0" indent="0">
              <a:buNone/>
            </a:pPr>
            <a:r>
              <a:rPr lang="en-US" sz="850" b="1" kern="0" spc="150" dirty="0">
                <a:solidFill>
                  <a:srgbClr val="6B675F"/>
                </a:solidFill>
                <a:latin typeface="Calibri" pitchFamily="34" charset="0"/>
                <a:ea typeface="Calibri" pitchFamily="34" charset="-122"/>
                <a:cs typeface="Calibri" pitchFamily="34" charset="-120"/>
              </a:rPr>
              <a:t>ALTUS GULF</a:t>
            </a:r>
            <a:endParaRPr lang="en-US" sz="850" dirty="0"/>
          </a:p>
        </p:txBody>
      </p:sp>
      <p:sp>
        <p:nvSpPr>
          <p:cNvPr id="11" name="Text 8"/>
          <p:cNvSpPr/>
          <p:nvPr/>
        </p:nvSpPr>
        <p:spPr>
          <a:xfrm>
            <a:off x="4315968" y="10250424"/>
            <a:ext cx="2743200" cy="274320"/>
          </a:xfrm>
          <a:prstGeom prst="rect">
            <a:avLst/>
          </a:prstGeom>
          <a:noFill/>
          <a:ln/>
        </p:spPr>
        <p:txBody>
          <a:bodyPr wrap="square" rtlCol="0" anchor="ctr"/>
          <a:lstStyle/>
          <a:p>
            <a:pPr marL="0" indent="0" algn="r">
              <a:buNone/>
            </a:pPr>
            <a:r>
              <a:rPr lang="en-US" sz="850" kern="0" spc="150" dirty="0">
                <a:solidFill>
                  <a:srgbClr val="6B675F"/>
                </a:solidFill>
                <a:latin typeface="Calibri" pitchFamily="34" charset="0"/>
                <a:ea typeface="Calibri" pitchFamily="34" charset="-122"/>
                <a:cs typeface="Calibri" pitchFamily="34" charset="-120"/>
              </a:rPr>
              <a:t>CORPORATE PROFILE  •  24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502920" y="777240"/>
            <a:ext cx="6556248" cy="274320"/>
          </a:xfrm>
          <a:prstGeom prst="rect">
            <a:avLst/>
          </a:prstGeom>
          <a:noFill/>
          <a:ln/>
        </p:spPr>
        <p:txBody>
          <a:bodyPr wrap="square" rtlCol="0" anchor="ctr"/>
          <a:lstStyle/>
          <a:p>
            <a:pPr marL="0" indent="0" algn="ctr">
              <a:buNone/>
            </a:pPr>
            <a:r>
              <a:rPr lang="en-US" sz="1100" b="1" kern="0" spc="250" dirty="0">
                <a:solidFill>
                  <a:srgbClr val="C1501D"/>
                </a:solidFill>
                <a:latin typeface="Calibri" pitchFamily="34" charset="0"/>
                <a:ea typeface="Calibri" pitchFamily="34" charset="-122"/>
                <a:cs typeface="Calibri" pitchFamily="34" charset="-120"/>
              </a:rPr>
              <a:t>LET'S SHAPE THE NEXT STAGE, TOGETHER</a:t>
            </a:r>
            <a:endParaRPr lang="en-US" sz="1100" dirty="0"/>
          </a:p>
        </p:txBody>
      </p:sp>
      <p:pic>
        <p:nvPicPr>
          <p:cNvPr id="3" name="Image 0" descr="/home/claude/assets/logo_transparent.png"/>
          <p:cNvPicPr>
            <a:picLocks noChangeAspect="1"/>
          </p:cNvPicPr>
          <p:nvPr/>
        </p:nvPicPr>
        <p:blipFill>
          <a:blip r:embed="rId3"/>
          <a:stretch>
            <a:fillRect/>
          </a:stretch>
        </p:blipFill>
        <p:spPr>
          <a:xfrm>
            <a:off x="2592324" y="1188720"/>
            <a:ext cx="2377440" cy="1584655"/>
          </a:xfrm>
          <a:prstGeom prst="rect">
            <a:avLst/>
          </a:prstGeom>
        </p:spPr>
      </p:pic>
      <p:sp>
        <p:nvSpPr>
          <p:cNvPr id="4" name="Shape 1"/>
          <p:cNvSpPr/>
          <p:nvPr/>
        </p:nvSpPr>
        <p:spPr>
          <a:xfrm>
            <a:off x="2775204" y="2880360"/>
            <a:ext cx="2011680" cy="0"/>
          </a:xfrm>
          <a:prstGeom prst="line">
            <a:avLst/>
          </a:prstGeom>
          <a:noFill/>
          <a:ln w="12700">
            <a:solidFill>
              <a:srgbClr val="C9A15A"/>
            </a:solidFill>
            <a:prstDash val="solid"/>
          </a:ln>
        </p:spPr>
      </p:sp>
      <p:sp>
        <p:nvSpPr>
          <p:cNvPr id="5" name="Shape 2"/>
          <p:cNvSpPr/>
          <p:nvPr/>
        </p:nvSpPr>
        <p:spPr>
          <a:xfrm>
            <a:off x="3749040" y="2848356"/>
            <a:ext cx="64008" cy="64008"/>
          </a:xfrm>
          <a:prstGeom prst="ellipse">
            <a:avLst/>
          </a:prstGeom>
          <a:solidFill>
            <a:srgbClr val="C1501D"/>
          </a:solidFill>
          <a:ln/>
        </p:spPr>
      </p:sp>
      <p:sp>
        <p:nvSpPr>
          <p:cNvPr id="6" name="Text 3"/>
          <p:cNvSpPr/>
          <p:nvPr/>
        </p:nvSpPr>
        <p:spPr>
          <a:xfrm>
            <a:off x="731520" y="3154680"/>
            <a:ext cx="6099048" cy="914400"/>
          </a:xfrm>
          <a:prstGeom prst="rect">
            <a:avLst/>
          </a:prstGeom>
          <a:noFill/>
          <a:ln/>
        </p:spPr>
        <p:txBody>
          <a:bodyPr wrap="square" rtlCol="0" anchor="ctr"/>
          <a:lstStyle/>
          <a:p>
            <a:pPr marL="0" indent="0" algn="ctr">
              <a:lnSpc>
                <a:spcPct val="135000"/>
              </a:lnSpc>
              <a:buNone/>
            </a:pPr>
            <a:r>
              <a:rPr lang="en-US" sz="1350" i="1" dirty="0">
                <a:solidFill>
                  <a:srgbClr val="FFFFFF"/>
                </a:solidFill>
                <a:latin typeface="Cambria" pitchFamily="34" charset="0"/>
                <a:ea typeface="Cambria" pitchFamily="34" charset="-122"/>
                <a:cs typeface="Cambria" pitchFamily="34" charset="-120"/>
              </a:rPr>
              <a:t>Wherever your establishment is today, the next stage starts with clarity.</a:t>
            </a:r>
            <a:endParaRPr lang="en-US" sz="1350" dirty="0"/>
          </a:p>
          <a:p>
            <a:pPr marL="0" indent="0" algn="ctr">
              <a:lnSpc>
                <a:spcPct val="135000"/>
              </a:lnSpc>
              <a:buNone/>
            </a:pPr>
            <a:r>
              <a:rPr lang="en-US" sz="1350" i="1" dirty="0">
                <a:solidFill>
                  <a:srgbClr val="FFFFFF"/>
                </a:solidFill>
                <a:latin typeface="Cambria" pitchFamily="34" charset="0"/>
                <a:ea typeface="Cambria" pitchFamily="34" charset="-122"/>
                <a:cs typeface="Cambria" pitchFamily="34" charset="-120"/>
              </a:rPr>
              <a:t>Altus Gulf can help define the priorities, identify the opportunities,</a:t>
            </a:r>
            <a:endParaRPr lang="en-US" sz="1350" dirty="0"/>
          </a:p>
          <a:p>
            <a:pPr marL="0" indent="0" algn="ctr">
              <a:lnSpc>
                <a:spcPct val="135000"/>
              </a:lnSpc>
              <a:buNone/>
            </a:pPr>
            <a:r>
              <a:rPr lang="en-US" sz="1350" i="1" dirty="0">
                <a:solidFill>
                  <a:srgbClr val="FFFFFF"/>
                </a:solidFill>
                <a:latin typeface="Cambria" pitchFamily="34" charset="0"/>
                <a:ea typeface="Cambria" pitchFamily="34" charset="-122"/>
                <a:cs typeface="Cambria" pitchFamily="34" charset="-120"/>
              </a:rPr>
              <a:t>and build a practical path forward.</a:t>
            </a:r>
            <a:endParaRPr lang="en-US" sz="1350" dirty="0"/>
          </a:p>
        </p:txBody>
      </p:sp>
      <p:sp>
        <p:nvSpPr>
          <p:cNvPr id="7" name="Shape 4"/>
          <p:cNvSpPr/>
          <p:nvPr/>
        </p:nvSpPr>
        <p:spPr>
          <a:xfrm>
            <a:off x="2592324" y="4251960"/>
            <a:ext cx="2377440" cy="457200"/>
          </a:xfrm>
          <a:prstGeom prst="roundRect">
            <a:avLst>
              <a:gd name="adj" fmla="val 50000"/>
            </a:avLst>
          </a:prstGeom>
          <a:solidFill>
            <a:srgbClr val="C1501D"/>
          </a:solidFill>
          <a:ln/>
        </p:spPr>
      </p:sp>
      <p:sp>
        <p:nvSpPr>
          <p:cNvPr id="8" name="Text 5"/>
          <p:cNvSpPr/>
          <p:nvPr/>
        </p:nvSpPr>
        <p:spPr>
          <a:xfrm>
            <a:off x="2592324" y="4251960"/>
            <a:ext cx="2377440" cy="457200"/>
          </a:xfrm>
          <a:prstGeom prst="rect">
            <a:avLst/>
          </a:prstGeom>
          <a:noFill/>
          <a:ln/>
        </p:spPr>
        <p:txBody>
          <a:bodyPr wrap="square" rtlCol="0" anchor="ct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YOUR NEXT STAGE STARTS HERE</a:t>
            </a:r>
            <a:endParaRPr lang="en-US" sz="1050" dirty="0"/>
          </a:p>
        </p:txBody>
      </p:sp>
      <p:sp>
        <p:nvSpPr>
          <p:cNvPr id="9" name="Shape 6"/>
          <p:cNvSpPr/>
          <p:nvPr/>
        </p:nvSpPr>
        <p:spPr>
          <a:xfrm>
            <a:off x="1952244" y="5120640"/>
            <a:ext cx="1005840" cy="1005840"/>
          </a:xfrm>
          <a:prstGeom prst="ellipse">
            <a:avLst/>
          </a:prstGeom>
          <a:solidFill>
            <a:srgbClr val="13273A"/>
          </a:solidFill>
          <a:ln w="19050">
            <a:solidFill>
              <a:srgbClr val="C9A15A"/>
            </a:solidFill>
            <a:prstDash val="solid"/>
          </a:ln>
        </p:spPr>
      </p:sp>
      <p:pic>
        <p:nvPicPr>
          <p:cNvPr id="10" name="Image 1" descr="/home/claude/assets/founder_islam.jpg"/>
          <p:cNvPicPr>
            <a:picLocks noChangeAspect="1"/>
          </p:cNvPicPr>
          <p:nvPr/>
        </p:nvPicPr>
        <p:blipFill>
          <a:blip r:embed="rId4"/>
          <a:stretch>
            <a:fillRect/>
          </a:stretch>
        </p:blipFill>
        <p:spPr>
          <a:xfrm>
            <a:off x="2025396" y="5193792"/>
            <a:ext cx="859536" cy="859536"/>
          </a:xfrm>
          <a:prstGeom prst="ellipse">
            <a:avLst/>
          </a:prstGeom>
        </p:spPr>
      </p:pic>
      <p:sp>
        <p:nvSpPr>
          <p:cNvPr id="11" name="Text 7"/>
          <p:cNvSpPr/>
          <p:nvPr/>
        </p:nvSpPr>
        <p:spPr>
          <a:xfrm>
            <a:off x="1266444" y="6144768"/>
            <a:ext cx="237744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Islam Mahrous</a:t>
            </a:r>
            <a:endParaRPr lang="en-US" sz="1100" dirty="0"/>
          </a:p>
        </p:txBody>
      </p:sp>
      <p:sp>
        <p:nvSpPr>
          <p:cNvPr id="12" name="Text 8"/>
          <p:cNvSpPr/>
          <p:nvPr/>
        </p:nvSpPr>
        <p:spPr>
          <a:xfrm>
            <a:off x="1266444" y="6382512"/>
            <a:ext cx="2377440" cy="201168"/>
          </a:xfrm>
          <a:prstGeom prst="rect">
            <a:avLst/>
          </a:prstGeom>
          <a:noFill/>
          <a:ln/>
        </p:spPr>
        <p:txBody>
          <a:bodyPr wrap="square" rtlCol="0" anchor="ctr"/>
          <a:lstStyle/>
          <a:p>
            <a:pPr marL="0" indent="0" algn="ctr">
              <a:buNone/>
            </a:pPr>
            <a:r>
              <a:rPr lang="en-US" sz="800" kern="0" spc="150" dirty="0">
                <a:solidFill>
                  <a:srgbClr val="B9C3CC"/>
                </a:solidFill>
                <a:latin typeface="Calibri" pitchFamily="34" charset="0"/>
                <a:ea typeface="Calibri" pitchFamily="34" charset="-122"/>
                <a:cs typeface="Calibri" pitchFamily="34" charset="-120"/>
              </a:rPr>
              <a:t>CO-FOUNDER</a:t>
            </a:r>
            <a:endParaRPr lang="en-US" sz="800" dirty="0"/>
          </a:p>
        </p:txBody>
      </p:sp>
      <p:sp>
        <p:nvSpPr>
          <p:cNvPr id="13" name="Shape 9"/>
          <p:cNvSpPr/>
          <p:nvPr/>
        </p:nvSpPr>
        <p:spPr>
          <a:xfrm>
            <a:off x="4604004" y="5120640"/>
            <a:ext cx="1005840" cy="1005840"/>
          </a:xfrm>
          <a:prstGeom prst="ellipse">
            <a:avLst/>
          </a:prstGeom>
          <a:solidFill>
            <a:srgbClr val="13273A"/>
          </a:solidFill>
          <a:ln w="19050">
            <a:solidFill>
              <a:srgbClr val="C9A15A"/>
            </a:solidFill>
            <a:prstDash val="solid"/>
          </a:ln>
        </p:spPr>
      </p:sp>
      <p:pic>
        <p:nvPicPr>
          <p:cNvPr id="14" name="Image 2" descr="/home/claude/assets/founder_hossam.jpg"/>
          <p:cNvPicPr>
            <a:picLocks noChangeAspect="1"/>
          </p:cNvPicPr>
          <p:nvPr/>
        </p:nvPicPr>
        <p:blipFill>
          <a:blip r:embed="rId5"/>
          <a:stretch>
            <a:fillRect/>
          </a:stretch>
        </p:blipFill>
        <p:spPr>
          <a:xfrm>
            <a:off x="4677156" y="5193792"/>
            <a:ext cx="859536" cy="859536"/>
          </a:xfrm>
          <a:prstGeom prst="ellipse">
            <a:avLst/>
          </a:prstGeom>
        </p:spPr>
      </p:pic>
      <p:sp>
        <p:nvSpPr>
          <p:cNvPr id="15" name="Text 10"/>
          <p:cNvSpPr/>
          <p:nvPr/>
        </p:nvSpPr>
        <p:spPr>
          <a:xfrm>
            <a:off x="3918204" y="6144768"/>
            <a:ext cx="2377440" cy="256032"/>
          </a:xfrm>
          <a:prstGeom prst="rect">
            <a:avLst/>
          </a:prstGeom>
          <a:noFill/>
          <a:ln/>
        </p:spPr>
        <p:txBody>
          <a:bodyPr wrap="square" rtlCol="0" anchor="ctr"/>
          <a:lstStyle/>
          <a:p>
            <a:pPr marL="0" indent="0" algn="ctr">
              <a:buNone/>
            </a:pPr>
            <a:r>
              <a:rPr lang="en-US" sz="1100" b="1" dirty="0" err="1" smtClean="0">
                <a:solidFill>
                  <a:srgbClr val="FFFFFF"/>
                </a:solidFill>
                <a:latin typeface="Calibri" pitchFamily="34" charset="0"/>
                <a:ea typeface="Calibri" pitchFamily="34" charset="-122"/>
                <a:cs typeface="Calibri" pitchFamily="34" charset="-120"/>
              </a:rPr>
              <a:t>Hussam</a:t>
            </a:r>
            <a:r>
              <a:rPr lang="en-US" sz="1100" b="1" dirty="0" smtClean="0">
                <a:solidFill>
                  <a:srgbClr val="FFFFFF"/>
                </a:solidFill>
                <a:latin typeface="Calibri" pitchFamily="34" charset="0"/>
                <a:ea typeface="Calibri" pitchFamily="34" charset="-122"/>
                <a:cs typeface="Calibri" pitchFamily="34" charset="-120"/>
              </a:rPr>
              <a:t> </a:t>
            </a:r>
            <a:r>
              <a:rPr lang="en-US" sz="1100" b="1" dirty="0" err="1" smtClean="0">
                <a:solidFill>
                  <a:srgbClr val="FFFFFF"/>
                </a:solidFill>
                <a:latin typeface="Calibri" pitchFamily="34" charset="0"/>
                <a:ea typeface="Calibri" pitchFamily="34" charset="-122"/>
                <a:cs typeface="Calibri" pitchFamily="34" charset="-120"/>
              </a:rPr>
              <a:t>Smadi</a:t>
            </a:r>
            <a:endParaRPr lang="en-US" sz="1100" dirty="0"/>
          </a:p>
        </p:txBody>
      </p:sp>
      <p:sp>
        <p:nvSpPr>
          <p:cNvPr id="16" name="Text 11"/>
          <p:cNvSpPr/>
          <p:nvPr/>
        </p:nvSpPr>
        <p:spPr>
          <a:xfrm>
            <a:off x="3918204" y="6382512"/>
            <a:ext cx="2377440" cy="201168"/>
          </a:xfrm>
          <a:prstGeom prst="rect">
            <a:avLst/>
          </a:prstGeom>
          <a:noFill/>
          <a:ln/>
        </p:spPr>
        <p:txBody>
          <a:bodyPr wrap="square" rtlCol="0" anchor="ctr"/>
          <a:lstStyle/>
          <a:p>
            <a:pPr marL="0" indent="0" algn="ctr">
              <a:buNone/>
            </a:pPr>
            <a:r>
              <a:rPr lang="en-US" sz="800" kern="0" spc="150" dirty="0">
                <a:solidFill>
                  <a:srgbClr val="B9C3CC"/>
                </a:solidFill>
                <a:latin typeface="Calibri" pitchFamily="34" charset="0"/>
                <a:ea typeface="Calibri" pitchFamily="34" charset="-122"/>
                <a:cs typeface="Calibri" pitchFamily="34" charset="-120"/>
              </a:rPr>
              <a:t>CO-FOUNDER</a:t>
            </a:r>
            <a:endParaRPr lang="en-US" sz="800" dirty="0"/>
          </a:p>
        </p:txBody>
      </p:sp>
      <p:sp>
        <p:nvSpPr>
          <p:cNvPr id="17" name="Shape 12"/>
          <p:cNvSpPr/>
          <p:nvPr/>
        </p:nvSpPr>
        <p:spPr>
          <a:xfrm>
            <a:off x="502920" y="7040880"/>
            <a:ext cx="6556248" cy="0"/>
          </a:xfrm>
          <a:prstGeom prst="line">
            <a:avLst/>
          </a:prstGeom>
          <a:noFill/>
          <a:ln w="9525">
            <a:solidFill>
              <a:srgbClr val="2A3B4C"/>
            </a:solidFill>
            <a:prstDash val="solid"/>
          </a:ln>
        </p:spPr>
      </p:sp>
      <p:sp>
        <p:nvSpPr>
          <p:cNvPr id="18" name="Shape 13"/>
          <p:cNvSpPr/>
          <p:nvPr/>
        </p:nvSpPr>
        <p:spPr>
          <a:xfrm>
            <a:off x="502920" y="7296912"/>
            <a:ext cx="365760" cy="365760"/>
          </a:xfrm>
          <a:prstGeom prst="ellipse">
            <a:avLst/>
          </a:prstGeom>
          <a:solidFill>
            <a:srgbClr val="C1501D"/>
          </a:solidFill>
          <a:ln/>
        </p:spPr>
      </p:sp>
      <p:pic>
        <p:nvPicPr>
          <p:cNvPr id="19" name="Image 3" descr="/home/claude/assets/icons/mapmarker.png"/>
          <p:cNvPicPr>
            <a:picLocks noChangeAspect="1"/>
          </p:cNvPicPr>
          <p:nvPr/>
        </p:nvPicPr>
        <p:blipFill>
          <a:blip r:embed="rId6"/>
          <a:stretch>
            <a:fillRect/>
          </a:stretch>
        </p:blipFill>
        <p:spPr>
          <a:xfrm>
            <a:off x="590702" y="7384694"/>
            <a:ext cx="190195" cy="190195"/>
          </a:xfrm>
          <a:prstGeom prst="rect">
            <a:avLst/>
          </a:prstGeom>
        </p:spPr>
      </p:pic>
      <p:sp>
        <p:nvSpPr>
          <p:cNvPr id="20" name="Text 14"/>
          <p:cNvSpPr/>
          <p:nvPr/>
        </p:nvSpPr>
        <p:spPr>
          <a:xfrm>
            <a:off x="960120" y="7315200"/>
            <a:ext cx="4727448" cy="329184"/>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Riyadh, Kingdom of Saudi Arabia  •  [Office address]</a:t>
            </a:r>
            <a:endParaRPr lang="en-US" sz="1000" dirty="0"/>
          </a:p>
        </p:txBody>
      </p:sp>
      <p:sp>
        <p:nvSpPr>
          <p:cNvPr id="21" name="Shape 15"/>
          <p:cNvSpPr/>
          <p:nvPr/>
        </p:nvSpPr>
        <p:spPr>
          <a:xfrm>
            <a:off x="502920" y="7717536"/>
            <a:ext cx="365760" cy="365760"/>
          </a:xfrm>
          <a:prstGeom prst="ellipse">
            <a:avLst/>
          </a:prstGeom>
          <a:solidFill>
            <a:srgbClr val="C1501D"/>
          </a:solidFill>
          <a:ln/>
        </p:spPr>
      </p:sp>
      <p:pic>
        <p:nvPicPr>
          <p:cNvPr id="22" name="Image 4" descr="/home/claude/assets/icons/globe.png"/>
          <p:cNvPicPr>
            <a:picLocks noChangeAspect="1"/>
          </p:cNvPicPr>
          <p:nvPr/>
        </p:nvPicPr>
        <p:blipFill>
          <a:blip r:embed="rId7"/>
          <a:stretch>
            <a:fillRect/>
          </a:stretch>
        </p:blipFill>
        <p:spPr>
          <a:xfrm>
            <a:off x="590702" y="7805318"/>
            <a:ext cx="190195" cy="190195"/>
          </a:xfrm>
          <a:prstGeom prst="rect">
            <a:avLst/>
          </a:prstGeom>
        </p:spPr>
      </p:pic>
      <p:sp>
        <p:nvSpPr>
          <p:cNvPr id="23" name="Text 16"/>
          <p:cNvSpPr/>
          <p:nvPr/>
        </p:nvSpPr>
        <p:spPr>
          <a:xfrm>
            <a:off x="960120" y="7735824"/>
            <a:ext cx="4727448" cy="329184"/>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www.altusgulf.com  [placeholder]</a:t>
            </a:r>
            <a:endParaRPr lang="en-US" sz="1000" dirty="0"/>
          </a:p>
        </p:txBody>
      </p:sp>
      <p:sp>
        <p:nvSpPr>
          <p:cNvPr id="24" name="Shape 17"/>
          <p:cNvSpPr/>
          <p:nvPr/>
        </p:nvSpPr>
        <p:spPr>
          <a:xfrm>
            <a:off x="502920" y="8138160"/>
            <a:ext cx="365760" cy="365760"/>
          </a:xfrm>
          <a:prstGeom prst="ellipse">
            <a:avLst/>
          </a:prstGeom>
          <a:solidFill>
            <a:srgbClr val="C1501D"/>
          </a:solidFill>
          <a:ln/>
        </p:spPr>
      </p:sp>
      <p:pic>
        <p:nvPicPr>
          <p:cNvPr id="25" name="Image 5" descr="/home/claude/assets/icons/envelope.png"/>
          <p:cNvPicPr>
            <a:picLocks noChangeAspect="1"/>
          </p:cNvPicPr>
          <p:nvPr/>
        </p:nvPicPr>
        <p:blipFill>
          <a:blip r:embed="rId8"/>
          <a:stretch>
            <a:fillRect/>
          </a:stretch>
        </p:blipFill>
        <p:spPr>
          <a:xfrm>
            <a:off x="590702" y="8225942"/>
            <a:ext cx="190195" cy="190195"/>
          </a:xfrm>
          <a:prstGeom prst="rect">
            <a:avLst/>
          </a:prstGeom>
        </p:spPr>
      </p:pic>
      <p:sp>
        <p:nvSpPr>
          <p:cNvPr id="26" name="Text 18"/>
          <p:cNvSpPr/>
          <p:nvPr/>
        </p:nvSpPr>
        <p:spPr>
          <a:xfrm>
            <a:off x="960120" y="8156448"/>
            <a:ext cx="4727448" cy="329184"/>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advisory@altusgulf.com  [placeholder]</a:t>
            </a:r>
            <a:endParaRPr lang="en-US" sz="1000" dirty="0"/>
          </a:p>
        </p:txBody>
      </p:sp>
      <p:sp>
        <p:nvSpPr>
          <p:cNvPr id="27" name="Shape 19"/>
          <p:cNvSpPr/>
          <p:nvPr/>
        </p:nvSpPr>
        <p:spPr>
          <a:xfrm>
            <a:off x="502920" y="8558784"/>
            <a:ext cx="365760" cy="365760"/>
          </a:xfrm>
          <a:prstGeom prst="ellipse">
            <a:avLst/>
          </a:prstGeom>
          <a:solidFill>
            <a:srgbClr val="C1501D"/>
          </a:solidFill>
          <a:ln/>
        </p:spPr>
      </p:sp>
      <p:pic>
        <p:nvPicPr>
          <p:cNvPr id="28" name="Image 6" descr="/home/claude/assets/icons/linkedin.png"/>
          <p:cNvPicPr>
            <a:picLocks noChangeAspect="1"/>
          </p:cNvPicPr>
          <p:nvPr/>
        </p:nvPicPr>
        <p:blipFill>
          <a:blip r:embed="rId9"/>
          <a:stretch>
            <a:fillRect/>
          </a:stretch>
        </p:blipFill>
        <p:spPr>
          <a:xfrm>
            <a:off x="590702" y="8646566"/>
            <a:ext cx="190195" cy="190195"/>
          </a:xfrm>
          <a:prstGeom prst="rect">
            <a:avLst/>
          </a:prstGeom>
        </p:spPr>
      </p:pic>
      <p:sp>
        <p:nvSpPr>
          <p:cNvPr id="29" name="Text 20"/>
          <p:cNvSpPr/>
          <p:nvPr/>
        </p:nvSpPr>
        <p:spPr>
          <a:xfrm>
            <a:off x="960120" y="8577072"/>
            <a:ext cx="4727448" cy="329184"/>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linkedin.com/company/altus-gulf  [placeholder]</a:t>
            </a:r>
            <a:endParaRPr lang="en-US" sz="1000" dirty="0"/>
          </a:p>
        </p:txBody>
      </p:sp>
      <p:sp>
        <p:nvSpPr>
          <p:cNvPr id="30" name="Shape 21"/>
          <p:cNvSpPr/>
          <p:nvPr/>
        </p:nvSpPr>
        <p:spPr>
          <a:xfrm>
            <a:off x="5824728" y="7040880"/>
            <a:ext cx="1234440" cy="1234440"/>
          </a:xfrm>
          <a:prstGeom prst="roundRect">
            <a:avLst>
              <a:gd name="adj" fmla="val 4444"/>
            </a:avLst>
          </a:prstGeom>
          <a:ln w="12700">
            <a:solidFill>
              <a:srgbClr val="B9C3CC"/>
            </a:solidFill>
            <a:prstDash val="solid"/>
          </a:ln>
        </p:spPr>
      </p:sp>
      <p:sp>
        <p:nvSpPr>
          <p:cNvPr id="31" name="Shape 22"/>
          <p:cNvSpPr/>
          <p:nvPr/>
        </p:nvSpPr>
        <p:spPr>
          <a:xfrm>
            <a:off x="6190488" y="7356348"/>
            <a:ext cx="502920" cy="502920"/>
          </a:xfrm>
          <a:prstGeom prst="ellipse">
            <a:avLst/>
          </a:prstGeom>
          <a:solidFill>
            <a:srgbClr val="13273A"/>
          </a:solidFill>
          <a:ln/>
        </p:spPr>
      </p:sp>
      <p:pic>
        <p:nvPicPr>
          <p:cNvPr id="32" name="Image 7" descr="/home/claude/assets/icons/key.png"/>
          <p:cNvPicPr>
            <a:picLocks noChangeAspect="1"/>
          </p:cNvPicPr>
          <p:nvPr/>
        </p:nvPicPr>
        <p:blipFill>
          <a:blip r:embed="rId10"/>
          <a:stretch>
            <a:fillRect/>
          </a:stretch>
        </p:blipFill>
        <p:spPr>
          <a:xfrm>
            <a:off x="6311189" y="7477049"/>
            <a:ext cx="261518" cy="261518"/>
          </a:xfrm>
          <a:prstGeom prst="rect">
            <a:avLst/>
          </a:prstGeom>
        </p:spPr>
      </p:pic>
      <p:sp>
        <p:nvSpPr>
          <p:cNvPr id="33" name="Text 23"/>
          <p:cNvSpPr/>
          <p:nvPr/>
        </p:nvSpPr>
        <p:spPr>
          <a:xfrm>
            <a:off x="5824728" y="7973568"/>
            <a:ext cx="1234440" cy="228600"/>
          </a:xfrm>
          <a:prstGeom prst="rect">
            <a:avLst/>
          </a:prstGeom>
          <a:noFill/>
          <a:ln/>
        </p:spPr>
        <p:txBody>
          <a:bodyPr wrap="square" rtlCol="0" anchor="ctr"/>
          <a:lstStyle/>
          <a:p>
            <a:pPr marL="0" indent="0" algn="ctr">
              <a:buNone/>
            </a:pPr>
            <a:r>
              <a:rPr lang="en-US" sz="800" kern="0" spc="150" dirty="0">
                <a:solidFill>
                  <a:srgbClr val="B9C3CC"/>
                </a:solidFill>
                <a:latin typeface="Calibri" pitchFamily="34" charset="0"/>
                <a:ea typeface="Calibri" pitchFamily="34" charset="-122"/>
                <a:cs typeface="Calibri" pitchFamily="34" charset="-120"/>
              </a:rPr>
              <a:t>QR</a:t>
            </a:r>
            <a:endParaRPr lang="en-US" sz="800" dirty="0"/>
          </a:p>
        </p:txBody>
      </p:sp>
      <p:sp>
        <p:nvSpPr>
          <p:cNvPr id="34" name="Shape 24"/>
          <p:cNvSpPr/>
          <p:nvPr/>
        </p:nvSpPr>
        <p:spPr>
          <a:xfrm>
            <a:off x="502920" y="8869680"/>
            <a:ext cx="6556248" cy="0"/>
          </a:xfrm>
          <a:prstGeom prst="line">
            <a:avLst/>
          </a:prstGeom>
          <a:noFill/>
          <a:ln w="9525">
            <a:solidFill>
              <a:srgbClr val="2A3B4C"/>
            </a:solidFill>
            <a:prstDash val="solid"/>
          </a:ln>
        </p:spPr>
      </p:sp>
      <p:sp>
        <p:nvSpPr>
          <p:cNvPr id="35" name="Text 25"/>
          <p:cNvSpPr/>
          <p:nvPr/>
        </p:nvSpPr>
        <p:spPr>
          <a:xfrm>
            <a:off x="502920" y="9034272"/>
            <a:ext cx="6556248" cy="274320"/>
          </a:xfrm>
          <a:prstGeom prst="rect">
            <a:avLst/>
          </a:prstGeom>
          <a:noFill/>
          <a:ln/>
        </p:spPr>
        <p:txBody>
          <a:bodyPr wrap="square" rtlCol="0" anchor="ctr"/>
          <a:lstStyle/>
          <a:p>
            <a:pPr marL="0" indent="0" algn="ctr">
              <a:buNone/>
            </a:pPr>
            <a:r>
              <a:rPr lang="en-US" sz="950" b="1" kern="0" spc="200" dirty="0">
                <a:solidFill>
                  <a:srgbClr val="C1501D"/>
                </a:solidFill>
                <a:latin typeface="Calibri" pitchFamily="34" charset="0"/>
                <a:ea typeface="Calibri" pitchFamily="34" charset="-122"/>
                <a:cs typeface="Calibri" pitchFamily="34" charset="-120"/>
              </a:rPr>
              <a:t>ELEVATING HOSPITALITY &amp; BUSINESS PERFORMANCE</a:t>
            </a:r>
            <a:endParaRPr lang="en-US" sz="950" dirty="0"/>
          </a:p>
        </p:txBody>
      </p:sp>
      <p:sp>
        <p:nvSpPr>
          <p:cNvPr id="36" name="Text 26"/>
          <p:cNvSpPr/>
          <p:nvPr/>
        </p:nvSpPr>
        <p:spPr>
          <a:xfrm>
            <a:off x="502920" y="9372600"/>
            <a:ext cx="6556248" cy="274320"/>
          </a:xfrm>
          <a:prstGeom prst="rect">
            <a:avLst/>
          </a:prstGeom>
          <a:noFill/>
          <a:ln/>
        </p:spPr>
        <p:txBody>
          <a:bodyPr wrap="square" rtlCol="0" anchor="ctr"/>
          <a:lstStyle/>
          <a:p>
            <a:pPr marL="0" indent="0" algn="ctr">
              <a:buNone/>
            </a:pPr>
            <a:r>
              <a:rPr lang="en-US" sz="800" dirty="0">
                <a:solidFill>
                  <a:srgbClr val="B9C3CC"/>
                </a:solidFill>
                <a:latin typeface="Calibri" pitchFamily="34" charset="0"/>
                <a:ea typeface="Calibri" pitchFamily="34" charset="-122"/>
                <a:cs typeface="Calibri" pitchFamily="34" charset="-120"/>
              </a:rPr>
              <a:t>© 2026 Altus Gulf. All rights reserved.  •  Strategic Advisory &amp; Business Consultancy</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5567</Words>
  <Application>Microsoft Office PowerPoint</Application>
  <PresentationFormat>Custom</PresentationFormat>
  <Paragraphs>686</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Mahrous.islam@outlook.com</cp:lastModifiedBy>
  <cp:revision>3</cp:revision>
  <dcterms:created xsi:type="dcterms:W3CDTF">2026-09-28T09:19:14Z</dcterms:created>
  <dcterms:modified xsi:type="dcterms:W3CDTF">2026-09-28T09:21:57Z</dcterms:modified>
</cp:coreProperties>
</file>